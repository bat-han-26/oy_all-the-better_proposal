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6"/>
  </p:notesMasterIdLst>
  <p:sldIdLst>
    <p:sldId id="447" r:id="rId5"/>
    <p:sldId id="444" r:id="rId6"/>
    <p:sldId id="465" r:id="rId7"/>
    <p:sldId id="466" r:id="rId8"/>
    <p:sldId id="462" r:id="rId9"/>
    <p:sldId id="463" r:id="rId10"/>
    <p:sldId id="468" r:id="rId11"/>
    <p:sldId id="469" r:id="rId12"/>
    <p:sldId id="471" r:id="rId13"/>
    <p:sldId id="467" r:id="rId14"/>
    <p:sldId id="470" r:id="rId15"/>
    <p:sldId id="472" r:id="rId16"/>
    <p:sldId id="474" r:id="rId17"/>
    <p:sldId id="473" r:id="rId18"/>
    <p:sldId id="475" r:id="rId19"/>
    <p:sldId id="476" r:id="rId20"/>
    <p:sldId id="477" r:id="rId21"/>
    <p:sldId id="478" r:id="rId22"/>
    <p:sldId id="480" r:id="rId23"/>
    <p:sldId id="265" r:id="rId82"/>
    <p:sldId id="266" r:id="rId83"/>
    <p:sldId id="481" r:id="rId24"/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503" r:id="rId33"/>
    <p:sldId id="2147483638" r:id="rId34"/>
    <p:sldId id="479" r:id="rId35"/>
    <p:sldId id="482" r:id="rId36"/>
    <p:sldId id="483" r:id="rId37"/>
    <p:sldId id="492" r:id="rId38"/>
    <p:sldId id="493" r:id="rId39"/>
    <p:sldId id="496" r:id="rId40"/>
    <p:sldId id="494" r:id="rId41"/>
    <p:sldId id="495" r:id="rId42"/>
    <p:sldId id="497" r:id="rId43"/>
    <p:sldId id="498" r:id="rId44"/>
    <p:sldId id="499" r:id="rId45"/>
    <p:sldId id="500" r:id="rId46"/>
    <p:sldId id="2147483639" r:id="rId47"/>
    <p:sldId id="2147483640" r:id="rId48"/>
    <p:sldId id="2147483641" r:id="rId49"/>
    <p:sldId id="2147483642" r:id="rId50"/>
    <p:sldId id="2147483643" r:id="rId51"/>
    <p:sldId id="2147483644" r:id="rId52"/>
    <p:sldId id="2147483645" r:id="rId53"/>
    <p:sldId id="2147483646" r:id="rId54"/>
    <p:sldId id="2147483647" r:id="rId55"/>
    <p:sldId id="484" r:id="rId56"/>
    <p:sldId id="502" r:id="rId57"/>
    <p:sldId id="485" r:id="rId58"/>
    <p:sldId id="486" r:id="rId59"/>
    <p:sldId id="487" r:id="rId60"/>
    <p:sldId id="488" r:id="rId61"/>
    <p:sldId id="489" r:id="rId62"/>
    <p:sldId id="490" r:id="rId63"/>
    <p:sldId id="491" r:id="rId64"/>
    <p:sldId id="366" r:id="rId65"/>
    <p:sldId id="364" r:id="rId66"/>
    <p:sldId id="356" r:id="rId67"/>
    <p:sldId id="445" r:id="rId68"/>
    <p:sldId id="358" r:id="rId69"/>
    <p:sldId id="264" r:id="rId70"/>
    <p:sldId id="302" r:id="rId71"/>
    <p:sldId id="303" r:id="rId72"/>
    <p:sldId id="360" r:id="rId73"/>
    <p:sldId id="361" r:id="rId74"/>
    <p:sldId id="269" r:id="rId7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인트로" id="{CDC2933B-DC49-4A06-8EE3-121644AAF5AB}">
          <p14:sldIdLst>
            <p14:sldId id="447"/>
            <p14:sldId id="444"/>
            <p14:sldId id="465"/>
            <p14:sldId id="466"/>
          </p14:sldIdLst>
        </p14:section>
        <p14:section name="마케팅 전략" id="{9A463C78-8A43-4488-9CF2-A5394164C7BA}">
          <p14:sldIdLst>
            <p14:sldId id="462"/>
            <p14:sldId id="463"/>
            <p14:sldId id="468"/>
            <p14:sldId id="469"/>
            <p14:sldId id="471"/>
            <p14:sldId id="467"/>
            <p14:sldId id="470"/>
          </p14:sldIdLst>
        </p14:section>
        <p14:section name="제품/메시지" id="{4C2FBB78-55B6-4239-86F3-D1FB6D3C14D1}">
          <p14:sldIdLst>
            <p14:sldId id="472"/>
            <p14:sldId id="474"/>
            <p14:sldId id="473"/>
            <p14:sldId id="475"/>
            <p14:sldId id="476"/>
          </p14:sldIdLst>
        </p14:section>
        <p14:section name="시딩 콘텐츠" id="{C9C34570-2290-4482-9E21-5AC925D33EA9}">
          <p14:sldIdLst>
            <p14:sldId id="477"/>
            <p14:sldId id="478"/>
            <p14:sldId id="480"/>
            <p14:sldId id="481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503"/>
          </p14:sldIdLst>
        </p14:section>
        <p14:section name="제목 없는 구역" id="{47AF6C90-DAB4-489C-8EB8-52136BDD03B2}">
          <p14:sldIdLst>
            <p14:sldId id="2147483638"/>
            <p14:sldId id="479"/>
            <p14:sldId id="482"/>
            <p14:sldId id="483"/>
          </p14:sldIdLst>
        </p14:section>
        <p14:section name="퍼포먼스" id="{35C3748E-EDAA-4A66-9CEA-B432456A603C}">
          <p14:sldIdLst/>
        </p14:section>
        <p14:section name="캠페인 운영" id="{42D8A704-7E9A-42E1-875C-DAE71B83BA96}">
          <p14:sldIdLst>
            <p14:sldId id="492"/>
            <p14:sldId id="493"/>
            <p14:sldId id="496"/>
            <p14:sldId id="494"/>
            <p14:sldId id="495"/>
            <p14:sldId id="497"/>
          </p14:sldIdLst>
        </p14:section>
        <p14:section name="BAT" id="{16FF30FD-B2BA-4FAC-807D-A972B58A6293}">
          <p14:sldIdLst>
            <p14:sldId id="498"/>
            <p14:sldId id="499"/>
            <p14:sldId id="500"/>
            <p14:sldId id="2147483639"/>
            <p14:sldId id="2147483640"/>
            <p14:sldId id="2147483641"/>
            <p14:sldId id="2147483642"/>
            <p14:sldId id="2147483643"/>
            <p14:sldId id="2147483644"/>
            <p14:sldId id="2147483645"/>
            <p14:sldId id="2147483646"/>
            <p14:sldId id="2147483647"/>
            <p14:sldId id="484"/>
            <p14:sldId id="502"/>
            <p14:sldId id="485"/>
            <p14:sldId id="486"/>
            <p14:sldId id="487"/>
            <p14:sldId id="488"/>
            <p14:sldId id="489"/>
            <p14:sldId id="490"/>
            <p14:sldId id="491"/>
            <p14:sldId id="366"/>
          </p14:sldIdLst>
        </p14:section>
        <p14:section name="프레임" id="{3C9A946F-9589-479B-B5CC-691C667C7514}">
          <p14:sldIdLst>
            <p14:sldId id="364"/>
            <p14:sldId id="356"/>
            <p14:sldId id="445"/>
            <p14:sldId id="358"/>
            <p14:sldId id="264"/>
            <p14:sldId id="302"/>
            <p14:sldId id="303"/>
            <p14:sldId id="360"/>
            <p14:sldId id="361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  <a:srgbClr val="FEFFA1"/>
    <a:srgbClr val="181800"/>
    <a:srgbClr val="A9E5E6"/>
    <a:srgbClr val="3AB8B4"/>
    <a:srgbClr val="5FD0CE"/>
    <a:srgbClr val="3BB9B5"/>
    <a:srgbClr val="C5EDDE"/>
    <a:srgbClr val="67D3AF"/>
    <a:srgbClr val="E1F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9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microsoft.com/office/2016/11/relationships/changesInfo" Target="changesInfos/changesInfo1.xml"/><Relationship Id="rId82" Type="http://schemas.openxmlformats.org/officeDocument/2006/relationships/slide" Target="slides/slide72.xml"/><Relationship Id="rId83" Type="http://schemas.openxmlformats.org/officeDocument/2006/relationships/slide" Target="slides/slide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안 창현" userId="be006346-2122-4e92-94a7-2021cb4e2e92" providerId="ADAL" clId="{4BB58871-5F43-431E-8609-C455DB627142}"/>
    <pc:docChg chg="delSld delMainMaster modSection">
      <pc:chgData name="안 창현" userId="be006346-2122-4e92-94a7-2021cb4e2e92" providerId="ADAL" clId="{4BB58871-5F43-431E-8609-C455DB627142}" dt="2026-06-11T02:24:38.159" v="8" actId="47"/>
      <pc:docMkLst>
        <pc:docMk/>
      </pc:docMkLst>
      <pc:sldChg chg="del">
        <pc:chgData name="안 창현" userId="be006346-2122-4e92-94a7-2021cb4e2e92" providerId="ADAL" clId="{4BB58871-5F43-431E-8609-C455DB627142}" dt="2026-06-11T02:24:06.970" v="0" actId="47"/>
        <pc:sldMkLst>
          <pc:docMk/>
          <pc:sldMk cId="2172574494" sldId="261"/>
        </pc:sldMkLst>
      </pc:sldChg>
      <pc:sldChg chg="del">
        <pc:chgData name="안 창현" userId="be006346-2122-4e92-94a7-2021cb4e2e92" providerId="ADAL" clId="{4BB58871-5F43-431E-8609-C455DB627142}" dt="2026-06-11T02:24:38.159" v="8" actId="47"/>
        <pc:sldMkLst>
          <pc:docMk/>
          <pc:sldMk cId="1684156138" sldId="262"/>
        </pc:sldMkLst>
      </pc:sldChg>
      <pc:sldChg chg="del">
        <pc:chgData name="안 창현" userId="be006346-2122-4e92-94a7-2021cb4e2e92" providerId="ADAL" clId="{4BB58871-5F43-431E-8609-C455DB627142}" dt="2026-06-11T02:24:38.159" v="8" actId="47"/>
        <pc:sldMkLst>
          <pc:docMk/>
          <pc:sldMk cId="2564705982" sldId="265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1027591137" sldId="271"/>
        </pc:sldMkLst>
      </pc:sldChg>
      <pc:sldChg chg="del">
        <pc:chgData name="안 창현" userId="be006346-2122-4e92-94a7-2021cb4e2e92" providerId="ADAL" clId="{4BB58871-5F43-431E-8609-C455DB627142}" dt="2026-06-11T02:24:34.694" v="7" actId="47"/>
        <pc:sldMkLst>
          <pc:docMk/>
          <pc:sldMk cId="1056916486" sldId="272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4221874640" sldId="276"/>
        </pc:sldMkLst>
      </pc:sldChg>
      <pc:sldChg chg="del">
        <pc:chgData name="안 창현" userId="be006346-2122-4e92-94a7-2021cb4e2e92" providerId="ADAL" clId="{4BB58871-5F43-431E-8609-C455DB627142}" dt="2026-06-11T02:24:30.012" v="6" actId="47"/>
        <pc:sldMkLst>
          <pc:docMk/>
          <pc:sldMk cId="4051766895" sldId="314"/>
        </pc:sldMkLst>
      </pc:sldChg>
      <pc:sldChg chg="del">
        <pc:chgData name="안 창현" userId="be006346-2122-4e92-94a7-2021cb4e2e92" providerId="ADAL" clId="{4BB58871-5F43-431E-8609-C455DB627142}" dt="2026-06-11T02:24:30.012" v="6" actId="47"/>
        <pc:sldMkLst>
          <pc:docMk/>
          <pc:sldMk cId="467362211" sldId="315"/>
        </pc:sldMkLst>
      </pc:sldChg>
      <pc:sldChg chg="del">
        <pc:chgData name="안 창현" userId="be006346-2122-4e92-94a7-2021cb4e2e92" providerId="ADAL" clId="{4BB58871-5F43-431E-8609-C455DB627142}" dt="2026-06-11T02:24:34.694" v="7" actId="47"/>
        <pc:sldMkLst>
          <pc:docMk/>
          <pc:sldMk cId="2590001127" sldId="326"/>
        </pc:sldMkLst>
      </pc:sldChg>
      <pc:sldChg chg="del">
        <pc:chgData name="안 창현" userId="be006346-2122-4e92-94a7-2021cb4e2e92" providerId="ADAL" clId="{4BB58871-5F43-431E-8609-C455DB627142}" dt="2026-06-11T02:24:30.012" v="6" actId="47"/>
        <pc:sldMkLst>
          <pc:docMk/>
          <pc:sldMk cId="3005069426" sldId="331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3990778422" sldId="340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3260495659" sldId="343"/>
        </pc:sldMkLst>
      </pc:sldChg>
      <pc:sldChg chg="del">
        <pc:chgData name="안 창현" userId="be006346-2122-4e92-94a7-2021cb4e2e92" providerId="ADAL" clId="{4BB58871-5F43-431E-8609-C455DB627142}" dt="2026-06-11T02:24:11.263" v="1" actId="47"/>
        <pc:sldMkLst>
          <pc:docMk/>
          <pc:sldMk cId="1509034526" sldId="344"/>
        </pc:sldMkLst>
      </pc:sldChg>
      <pc:sldChg chg="del">
        <pc:chgData name="안 창현" userId="be006346-2122-4e92-94a7-2021cb4e2e92" providerId="ADAL" clId="{4BB58871-5F43-431E-8609-C455DB627142}" dt="2026-06-11T02:24:11.263" v="1" actId="47"/>
        <pc:sldMkLst>
          <pc:docMk/>
          <pc:sldMk cId="48456271" sldId="346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798178667" sldId="347"/>
        </pc:sldMkLst>
      </pc:sldChg>
      <pc:sldChg chg="del">
        <pc:chgData name="안 창현" userId="be006346-2122-4e92-94a7-2021cb4e2e92" providerId="ADAL" clId="{4BB58871-5F43-431E-8609-C455DB627142}" dt="2026-06-11T02:24:11.263" v="1" actId="47"/>
        <pc:sldMkLst>
          <pc:docMk/>
          <pc:sldMk cId="369964320" sldId="348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3360987081" sldId="349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759456237" sldId="351"/>
        </pc:sldMkLst>
      </pc:sldChg>
      <pc:sldChg chg="del">
        <pc:chgData name="안 창현" userId="be006346-2122-4e92-94a7-2021cb4e2e92" providerId="ADAL" clId="{4BB58871-5F43-431E-8609-C455DB627142}" dt="2026-06-11T02:24:15.328" v="2" actId="47"/>
        <pc:sldMkLst>
          <pc:docMk/>
          <pc:sldMk cId="845492619" sldId="353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822793541" sldId="365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1819466237" sldId="375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3118706213" sldId="377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857924062" sldId="380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367751195" sldId="382"/>
        </pc:sldMkLst>
      </pc:sldChg>
      <pc:sldChg chg="del">
        <pc:chgData name="안 창현" userId="be006346-2122-4e92-94a7-2021cb4e2e92" providerId="ADAL" clId="{4BB58871-5F43-431E-8609-C455DB627142}" dt="2026-06-11T02:24:30.012" v="6" actId="47"/>
        <pc:sldMkLst>
          <pc:docMk/>
          <pc:sldMk cId="3607254519" sldId="385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3563941724" sldId="398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2854210796" sldId="401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3272866764" sldId="402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3635777813" sldId="404"/>
        </pc:sldMkLst>
      </pc:sldChg>
      <pc:sldChg chg="del">
        <pc:chgData name="안 창현" userId="be006346-2122-4e92-94a7-2021cb4e2e92" providerId="ADAL" clId="{4BB58871-5F43-431E-8609-C455DB627142}" dt="2026-06-11T02:24:34.694" v="7" actId="47"/>
        <pc:sldMkLst>
          <pc:docMk/>
          <pc:sldMk cId="4122375970" sldId="405"/>
        </pc:sldMkLst>
      </pc:sldChg>
      <pc:sldChg chg="del">
        <pc:chgData name="안 창현" userId="be006346-2122-4e92-94a7-2021cb4e2e92" providerId="ADAL" clId="{4BB58871-5F43-431E-8609-C455DB627142}" dt="2026-06-11T02:24:24.054" v="4" actId="47"/>
        <pc:sldMkLst>
          <pc:docMk/>
          <pc:sldMk cId="3146173663" sldId="406"/>
        </pc:sldMkLst>
      </pc:sldChg>
      <pc:sldChg chg="del">
        <pc:chgData name="안 창현" userId="be006346-2122-4e92-94a7-2021cb4e2e92" providerId="ADAL" clId="{4BB58871-5F43-431E-8609-C455DB627142}" dt="2026-06-11T02:24:15.328" v="2" actId="47"/>
        <pc:sldMkLst>
          <pc:docMk/>
          <pc:sldMk cId="323460618" sldId="440"/>
        </pc:sldMkLst>
      </pc:sldChg>
      <pc:sldChg chg="del">
        <pc:chgData name="안 창현" userId="be006346-2122-4e92-94a7-2021cb4e2e92" providerId="ADAL" clId="{4BB58871-5F43-431E-8609-C455DB627142}" dt="2026-06-11T02:24:15.328" v="2" actId="47"/>
        <pc:sldMkLst>
          <pc:docMk/>
          <pc:sldMk cId="798530162" sldId="504"/>
        </pc:sldMkLst>
      </pc:sldChg>
      <pc:sldChg chg="del">
        <pc:chgData name="안 창현" userId="be006346-2122-4e92-94a7-2021cb4e2e92" providerId="ADAL" clId="{4BB58871-5F43-431E-8609-C455DB627142}" dt="2026-06-11T02:24:15.328" v="2" actId="47"/>
        <pc:sldMkLst>
          <pc:docMk/>
          <pc:sldMk cId="2809848288" sldId="505"/>
        </pc:sldMkLst>
      </pc:sldChg>
      <pc:sldChg chg="del">
        <pc:chgData name="안 창현" userId="be006346-2122-4e92-94a7-2021cb4e2e92" providerId="ADAL" clId="{4BB58871-5F43-431E-8609-C455DB627142}" dt="2026-06-11T02:24:15.328" v="2" actId="47"/>
        <pc:sldMkLst>
          <pc:docMk/>
          <pc:sldMk cId="1620490352" sldId="506"/>
        </pc:sldMkLst>
      </pc:sldChg>
      <pc:sldChg chg="del">
        <pc:chgData name="안 창현" userId="be006346-2122-4e92-94a7-2021cb4e2e92" providerId="ADAL" clId="{4BB58871-5F43-431E-8609-C455DB627142}" dt="2026-06-11T02:24:15.328" v="2" actId="47"/>
        <pc:sldMkLst>
          <pc:docMk/>
          <pc:sldMk cId="2054518931" sldId="507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3545219277" sldId="508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387442167" sldId="509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1522894102" sldId="510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2142002916" sldId="511"/>
        </pc:sldMkLst>
      </pc:sldChg>
      <pc:sldChg chg="del">
        <pc:chgData name="안 창현" userId="be006346-2122-4e92-94a7-2021cb4e2e92" providerId="ADAL" clId="{4BB58871-5F43-431E-8609-C455DB627142}" dt="2026-06-11T02:24:19.953" v="3" actId="47"/>
        <pc:sldMkLst>
          <pc:docMk/>
          <pc:sldMk cId="1778483935" sldId="512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2512669843" sldId="523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1873077173" sldId="524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4023291678" sldId="525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2589236491" sldId="526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3515462527" sldId="527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266465007" sldId="531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538934786" sldId="532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811155427" sldId="533"/>
        </pc:sldMkLst>
      </pc:sldChg>
      <pc:sldChg chg="del">
        <pc:chgData name="안 창현" userId="be006346-2122-4e92-94a7-2021cb4e2e92" providerId="ADAL" clId="{4BB58871-5F43-431E-8609-C455DB627142}" dt="2026-06-11T02:24:11.263" v="1" actId="47"/>
        <pc:sldMkLst>
          <pc:docMk/>
          <pc:sldMk cId="481614509" sldId="2147483559"/>
        </pc:sldMkLst>
      </pc:sldChg>
      <pc:sldChg chg="del">
        <pc:chgData name="안 창현" userId="be006346-2122-4e92-94a7-2021cb4e2e92" providerId="ADAL" clId="{4BB58871-5F43-431E-8609-C455DB627142}" dt="2026-06-11T02:24:11.263" v="1" actId="47"/>
        <pc:sldMkLst>
          <pc:docMk/>
          <pc:sldMk cId="4251089427" sldId="2147483561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3290180874" sldId="2147483635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4053438379" sldId="2147483636"/>
        </pc:sldMkLst>
      </pc:sldChg>
      <pc:sldChg chg="del">
        <pc:chgData name="안 창현" userId="be006346-2122-4e92-94a7-2021cb4e2e92" providerId="ADAL" clId="{4BB58871-5F43-431E-8609-C455DB627142}" dt="2026-06-11T02:24:26.843" v="5" actId="47"/>
        <pc:sldMkLst>
          <pc:docMk/>
          <pc:sldMk cId="3821005004" sldId="2147483637"/>
        </pc:sldMkLst>
      </pc:sldChg>
      <pc:sldMasterChg chg="del delSldLayout">
        <pc:chgData name="안 창현" userId="be006346-2122-4e92-94a7-2021cb4e2e92" providerId="ADAL" clId="{4BB58871-5F43-431E-8609-C455DB627142}" dt="2026-06-11T02:24:38.159" v="8" actId="47"/>
        <pc:sldMasterMkLst>
          <pc:docMk/>
          <pc:sldMasterMk cId="3450918473" sldId="2147483675"/>
        </pc:sldMasterMkLst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2032340465" sldId="2147483676"/>
          </pc:sldLayoutMkLst>
        </pc:sldLayoutChg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1173159653" sldId="2147483677"/>
          </pc:sldLayoutMkLst>
        </pc:sldLayoutChg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4253119000" sldId="2147483678"/>
          </pc:sldLayoutMkLst>
        </pc:sldLayoutChg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3970949038" sldId="2147483679"/>
          </pc:sldLayoutMkLst>
        </pc:sldLayoutChg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1069090513" sldId="2147483680"/>
          </pc:sldLayoutMkLst>
        </pc:sldLayoutChg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4094931919" sldId="2147483681"/>
          </pc:sldLayoutMkLst>
        </pc:sldLayoutChg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521506916" sldId="2147483682"/>
          </pc:sldLayoutMkLst>
        </pc:sldLayoutChg>
        <pc:sldLayoutChg chg="del">
          <pc:chgData name="안 창현" userId="be006346-2122-4e92-94a7-2021cb4e2e92" providerId="ADAL" clId="{4BB58871-5F43-431E-8609-C455DB627142}" dt="2026-06-11T02:24:30.012" v="6" actId="47"/>
          <pc:sldLayoutMkLst>
            <pc:docMk/>
            <pc:sldMasterMk cId="3450918473" sldId="2147483675"/>
            <pc:sldLayoutMk cId="532310816" sldId="2147483683"/>
          </pc:sldLayoutMkLst>
        </pc:sldLayoutChg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3246906371" sldId="2147483684"/>
          </pc:sldLayoutMkLst>
        </pc:sldLayoutChg>
        <pc:sldLayoutChg chg="del">
          <pc:chgData name="안 창현" userId="be006346-2122-4e92-94a7-2021cb4e2e92" providerId="ADAL" clId="{4BB58871-5F43-431E-8609-C455DB627142}" dt="2026-06-11T02:24:38.159" v="8" actId="47"/>
          <pc:sldLayoutMkLst>
            <pc:docMk/>
            <pc:sldMasterMk cId="3450918473" sldId="2147483675"/>
            <pc:sldLayoutMk cId="2934607499" sldId="2147483685"/>
          </pc:sldLayoutMkLst>
        </pc:sldLayoutChg>
      </pc:sldMasterChg>
      <pc:sldMasterChg chg="del delSldLayout">
        <pc:chgData name="안 창현" userId="be006346-2122-4e92-94a7-2021cb4e2e92" providerId="ADAL" clId="{4BB58871-5F43-431E-8609-C455DB627142}" dt="2026-06-11T02:24:34.694" v="7" actId="47"/>
        <pc:sldMasterMkLst>
          <pc:docMk/>
          <pc:sldMasterMk cId="3733320797" sldId="2147483686"/>
        </pc:sldMasterMkLst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2216526808" sldId="2147483687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850500017" sldId="2147483688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1153837726" sldId="2147483689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3604310494" sldId="2147483690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4114970574" sldId="2147483691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2583090086" sldId="2147483692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472351453" sldId="2147483693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1437595291" sldId="2147483694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4023612339" sldId="2147483695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2879021812" sldId="2147483696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2863696150" sldId="2147483697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1784973811" sldId="2147483698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3854753338" sldId="2147483699"/>
          </pc:sldLayoutMkLst>
        </pc:sldLayoutChg>
        <pc:sldLayoutChg chg="del">
          <pc:chgData name="안 창현" userId="be006346-2122-4e92-94a7-2021cb4e2e92" providerId="ADAL" clId="{4BB58871-5F43-431E-8609-C455DB627142}" dt="2026-06-11T02:24:34.694" v="7" actId="47"/>
          <pc:sldLayoutMkLst>
            <pc:docMk/>
            <pc:sldMasterMk cId="3733320797" sldId="2147483686"/>
            <pc:sldLayoutMk cId="364425493" sldId="2147483700"/>
          </pc:sldLayoutMkLst>
        </pc:sldLayoutChg>
      </pc:sldMasterChg>
      <pc:sldMasterChg chg="del delSldLayout">
        <pc:chgData name="안 창현" userId="be006346-2122-4e92-94a7-2021cb4e2e92" providerId="ADAL" clId="{4BB58871-5F43-431E-8609-C455DB627142}" dt="2026-06-11T02:24:26.843" v="5" actId="47"/>
        <pc:sldMasterMkLst>
          <pc:docMk/>
          <pc:sldMasterMk cId="280153824" sldId="2147483701"/>
        </pc:sldMasterMkLst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2459665517" sldId="2147483702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1662182872" sldId="2147483703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3865301834" sldId="2147483704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4001416655" sldId="2147483705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2023918352" sldId="2147483706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2348140603" sldId="2147483707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1490114458" sldId="2147483708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3689765338" sldId="2147483709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3976528495" sldId="2147483710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2169158877" sldId="2147483711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4064702001" sldId="2147483712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3104512252" sldId="2147483713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3277655571" sldId="2147483714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1651051721" sldId="2147483715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1122357956" sldId="2147483716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871889282" sldId="2147483717"/>
          </pc:sldLayoutMkLst>
        </pc:sldLayoutChg>
        <pc:sldLayoutChg chg="del">
          <pc:chgData name="안 창현" userId="be006346-2122-4e92-94a7-2021cb4e2e92" providerId="ADAL" clId="{4BB58871-5F43-431E-8609-C455DB627142}" dt="2026-06-11T02:24:26.843" v="5" actId="47"/>
          <pc:sldLayoutMkLst>
            <pc:docMk/>
            <pc:sldMasterMk cId="280153824" sldId="2147483701"/>
            <pc:sldLayoutMk cId="1367572485" sldId="2147483718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D797E-8482-47D8-8C36-A31AEA2F9477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2A84A-51BF-48EE-974E-BD62FEF88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16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ECA2C0B-1CF7-3152-677D-64E1F82DAD5A}"/>
              </a:ext>
            </a:extLst>
          </p:cNvPr>
          <p:cNvSpPr/>
          <p:nvPr userDrawn="1"/>
        </p:nvSpPr>
        <p:spPr>
          <a:xfrm>
            <a:off x="1" y="0"/>
            <a:ext cx="12192000" cy="4023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59DECF83-A097-D12F-A4A0-5369E6ED9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타이틀</a:t>
            </a:r>
            <a:br>
              <a:rPr lang="en-US" altLang="ko-KR" dirty="0"/>
            </a:br>
            <a:r>
              <a:rPr lang="ko-KR" altLang="en-US" dirty="0"/>
              <a:t>타이틀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8A67272-F957-1820-4F58-902342F7F3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tx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 dirty="0"/>
              <a:t>설명</a:t>
            </a:r>
            <a:endParaRPr lang="en-US" altLang="ko-KR" dirty="0"/>
          </a:p>
          <a:p>
            <a:pPr lvl="0"/>
            <a:r>
              <a:rPr lang="ko-KR" altLang="en-US" dirty="0"/>
              <a:t>설명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90D9C8BB-B2EC-13E1-870B-E1A4B606D1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120" y="77549"/>
            <a:ext cx="3021914" cy="2472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spc="-100" baseline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lvl="0"/>
            <a:r>
              <a:rPr lang="ko-KR" altLang="en-US" dirty="0"/>
              <a:t>파트 대분류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F4CD22-2778-0E52-0347-82EE0F1A5BBE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 dirty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 dirty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752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-1">
    <p:bg>
      <p:bgPr>
        <a:solidFill>
          <a:schemeClr val="accent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AB20E-110B-30D8-84FB-47A3C3FCA99D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 dirty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 dirty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10" name="제목 11">
            <a:extLst>
              <a:ext uri="{FF2B5EF4-FFF2-40B4-BE49-F238E27FC236}">
                <a16:creationId xmlns:a16="http://schemas.microsoft.com/office/drawing/2014/main" id="{456745D3-8559-EE11-F83E-5331979444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타이틀</a:t>
            </a:r>
            <a:br>
              <a:rPr lang="en-US" altLang="ko-KR" dirty="0"/>
            </a:br>
            <a:r>
              <a:rPr lang="ko-KR" altLang="en-US" dirty="0"/>
              <a:t>타이틀</a:t>
            </a:r>
          </a:p>
        </p:txBody>
      </p:sp>
      <p:sp>
        <p:nvSpPr>
          <p:cNvPr id="11" name="텍스트 개체 틀 13">
            <a:extLst>
              <a:ext uri="{FF2B5EF4-FFF2-40B4-BE49-F238E27FC236}">
                <a16:creationId xmlns:a16="http://schemas.microsoft.com/office/drawing/2014/main" id="{256F6B9E-B0FB-E026-F20C-4499E18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tx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 dirty="0"/>
              <a:t>설명</a:t>
            </a:r>
            <a:endParaRPr lang="en-US" altLang="ko-KR" dirty="0"/>
          </a:p>
          <a:p>
            <a:pPr lvl="0"/>
            <a:r>
              <a:rPr lang="ko-KR" altLang="en-US" dirty="0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131621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-2">
    <p:bg>
      <p:bgPr>
        <a:solidFill>
          <a:srgbClr val="181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4547434-7796-7BAE-C928-515CC5647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56AA7F-EEDF-CB32-AA44-8036329C1B73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 dirty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 dirty="0">
              <a:solidFill>
                <a:schemeClr val="bg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11">
            <a:extLst>
              <a:ext uri="{FF2B5EF4-FFF2-40B4-BE49-F238E27FC236}">
                <a16:creationId xmlns:a16="http://schemas.microsoft.com/office/drawing/2014/main" id="{0C6A4340-8D28-CC1E-37FD-E30C730C9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493650"/>
            <a:ext cx="11520000" cy="852550"/>
          </a:xfrm>
          <a:prstGeom prst="rect">
            <a:avLst/>
          </a:prstGeom>
        </p:spPr>
        <p:txBody>
          <a:bodyPr anchor="ctr"/>
          <a:lstStyle>
            <a:lvl1pPr algn="ctr">
              <a:defRPr sz="2800" spc="-100" baseline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 dirty="0"/>
              <a:t>타이틀</a:t>
            </a:r>
            <a:br>
              <a:rPr lang="en-US" altLang="ko-KR" dirty="0"/>
            </a:br>
            <a:r>
              <a:rPr lang="ko-KR" altLang="en-US" dirty="0"/>
              <a:t>타이틀</a:t>
            </a:r>
          </a:p>
        </p:txBody>
      </p:sp>
      <p:sp>
        <p:nvSpPr>
          <p:cNvPr id="5" name="텍스트 개체 틀 13">
            <a:extLst>
              <a:ext uri="{FF2B5EF4-FFF2-40B4-BE49-F238E27FC236}">
                <a16:creationId xmlns:a16="http://schemas.microsoft.com/office/drawing/2014/main" id="{A807FC09-FB26-5E13-EED7-40D29A301B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000" y="1401261"/>
            <a:ext cx="11520000" cy="7647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300"/>
              </a:spcAft>
              <a:buNone/>
              <a:defRPr sz="1600" spc="-100" baseline="0">
                <a:solidFill>
                  <a:schemeClr val="bg1"/>
                </a:solidFill>
                <a:latin typeface="+mn-ea"/>
                <a:ea typeface="+mn-ea"/>
                <a:cs typeface="Pretendard Light" panose="02000403000000020004" pitchFamily="50" charset="-127"/>
              </a:defRPr>
            </a:lvl1pPr>
          </a:lstStyle>
          <a:p>
            <a:pPr lvl="0"/>
            <a:r>
              <a:rPr lang="ko-KR" altLang="en-US" dirty="0"/>
              <a:t>설명</a:t>
            </a:r>
            <a:endParaRPr lang="en-US" altLang="ko-KR" dirty="0"/>
          </a:p>
          <a:p>
            <a:pPr lvl="0"/>
            <a:r>
              <a:rPr lang="ko-KR" altLang="en-US" dirty="0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397847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파트 간지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5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pPr lvl="0"/>
            <a:r>
              <a:rPr lang="en-US" altLang="ko-KR" dirty="0">
                <a:solidFill>
                  <a:schemeClr val="tx1"/>
                </a:solidFill>
              </a:rPr>
              <a:t>© 2026 BAT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tx1"/>
                </a:solidFill>
              </a:defRPr>
            </a:lvl1pPr>
          </a:lstStyle>
          <a:p>
            <a:fld id="{BC187FAE-240F-48B2-ACE2-2EBC6C0B0371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5" name="텍스트 개체 틀 8">
            <a:extLst>
              <a:ext uri="{FF2B5EF4-FFF2-40B4-BE49-F238E27FC236}">
                <a16:creationId xmlns:a16="http://schemas.microsoft.com/office/drawing/2014/main" id="{21E609F5-977E-62B1-02D1-BEE69FB224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001" y="558546"/>
            <a:ext cx="11432418" cy="566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spc="-1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 dirty="0"/>
              <a:t>00</a:t>
            </a:r>
          </a:p>
        </p:txBody>
      </p:sp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13294B8B-A910-ED84-E7EA-0EB3A3103B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1" y="1140714"/>
            <a:ext cx="11432418" cy="1053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 dirty="0"/>
              <a:t>파트 간지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490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간 간지"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 dirty="0">
                <a:solidFill>
                  <a:schemeClr val="tx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 dirty="0">
              <a:solidFill>
                <a:schemeClr val="tx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2" name="텍스트 개체 틀 8">
            <a:extLst>
              <a:ext uri="{FF2B5EF4-FFF2-40B4-BE49-F238E27FC236}">
                <a16:creationId xmlns:a16="http://schemas.microsoft.com/office/drawing/2014/main" id="{09D671FE-32E7-4C73-92CB-38A5686466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000" y="558546"/>
            <a:ext cx="11520000" cy="566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spc="-100" baseline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en-US" altLang="ko-KR" dirty="0"/>
              <a:t>00-0</a:t>
            </a:r>
          </a:p>
        </p:txBody>
      </p:sp>
      <p:sp>
        <p:nvSpPr>
          <p:cNvPr id="5" name="텍스트 개체 틀 8">
            <a:extLst>
              <a:ext uri="{FF2B5EF4-FFF2-40B4-BE49-F238E27FC236}">
                <a16:creationId xmlns:a16="http://schemas.microsoft.com/office/drawing/2014/main" id="{CEAB5840-D80A-AD95-7E6F-2103827D40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000" y="1140714"/>
            <a:ext cx="11520000" cy="1053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-100" baseline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 dirty="0"/>
              <a:t>파트 중간 간지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3852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595045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 dirty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 dirty="0">
              <a:solidFill>
                <a:srgbClr val="595045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3319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4AEAAC-F1B4-E474-9AB0-039935695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FE2AC-E4A6-7256-C8C1-1F6ACEFC64B9}"/>
              </a:ext>
            </a:extLst>
          </p:cNvPr>
          <p:cNvSpPr txBox="1"/>
          <p:nvPr userDrawn="1"/>
        </p:nvSpPr>
        <p:spPr>
          <a:xfrm>
            <a:off x="128016" y="6518333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00" baseline="0" dirty="0">
                <a:solidFill>
                  <a:schemeClr val="bg1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t>© 2026 BAT</a:t>
            </a:r>
            <a:endParaRPr lang="ko-KR" altLang="en-US" sz="1200" spc="-100" baseline="0" dirty="0">
              <a:solidFill>
                <a:schemeClr val="bg1"/>
              </a:solidFill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179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FF248DFB-A779-F828-0ADF-1408809F6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0784" y="64742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-100" baseline="0">
                <a:solidFill>
                  <a:srgbClr val="595045"/>
                </a:solidFill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defRPr>
            </a:lvl1pPr>
          </a:lstStyle>
          <a:p>
            <a:fld id="{BC187FAE-240F-48B2-ACE2-2EBC6C0B037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B63D27-D70F-CD4C-A780-7C9AFE4B4AF1}"/>
              </a:ext>
            </a:extLst>
          </p:cNvPr>
          <p:cNvSpPr/>
          <p:nvPr userDrawn="1"/>
        </p:nvSpPr>
        <p:spPr>
          <a:xfrm>
            <a:off x="-740269" y="0"/>
            <a:ext cx="606582" cy="651849"/>
          </a:xfrm>
          <a:prstGeom prst="rect">
            <a:avLst/>
          </a:prstGeom>
          <a:solidFill>
            <a:srgbClr val="FEF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2DC411-CC4C-2984-192E-DACFBE70243D}"/>
              </a:ext>
            </a:extLst>
          </p:cNvPr>
          <p:cNvSpPr/>
          <p:nvPr userDrawn="1"/>
        </p:nvSpPr>
        <p:spPr>
          <a:xfrm>
            <a:off x="-740269" y="732451"/>
            <a:ext cx="606582" cy="651849"/>
          </a:xfrm>
          <a:prstGeom prst="rect">
            <a:avLst/>
          </a:prstGeom>
          <a:solidFill>
            <a:srgbClr val="4734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990334-042E-4A19-114F-7CCF3F9D7929}"/>
              </a:ext>
            </a:extLst>
          </p:cNvPr>
          <p:cNvSpPr txBox="1"/>
          <p:nvPr userDrawn="1"/>
        </p:nvSpPr>
        <p:spPr>
          <a:xfrm>
            <a:off x="-1892300" y="138152"/>
            <a:ext cx="1152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dirty="0"/>
              <a:t>메인 컬러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246ABD-148F-8CB0-A552-FE5CDE89BEBE}"/>
              </a:ext>
            </a:extLst>
          </p:cNvPr>
          <p:cNvSpPr txBox="1"/>
          <p:nvPr userDrawn="1"/>
        </p:nvSpPr>
        <p:spPr>
          <a:xfrm>
            <a:off x="-2552700" y="870603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dirty="0" err="1"/>
              <a:t>강조색</a:t>
            </a:r>
            <a:r>
              <a:rPr lang="ko-KR" altLang="en-US" b="1" spc="-100" baseline="0" dirty="0"/>
              <a:t> </a:t>
            </a:r>
            <a:r>
              <a:rPr lang="en-US" altLang="ko-KR" b="1" spc="-100" baseline="0" dirty="0"/>
              <a:t>1</a:t>
            </a:r>
            <a:endParaRPr lang="ko-KR" altLang="en-US" b="1" spc="-100" baseline="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A52FAA-C21E-96AA-F623-4B5188D44061}"/>
              </a:ext>
            </a:extLst>
          </p:cNvPr>
          <p:cNvSpPr/>
          <p:nvPr userDrawn="1"/>
        </p:nvSpPr>
        <p:spPr>
          <a:xfrm>
            <a:off x="-740269" y="2195816"/>
            <a:ext cx="606582" cy="651849"/>
          </a:xfrm>
          <a:prstGeom prst="rect">
            <a:avLst/>
          </a:prstGeom>
          <a:solidFill>
            <a:srgbClr val="8D94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E6636-B775-30F8-A977-9DFA075A7F70}"/>
              </a:ext>
            </a:extLst>
          </p:cNvPr>
          <p:cNvSpPr txBox="1"/>
          <p:nvPr userDrawn="1"/>
        </p:nvSpPr>
        <p:spPr>
          <a:xfrm>
            <a:off x="-2552700" y="3063312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dirty="0"/>
              <a:t>서브 컬러 </a:t>
            </a:r>
            <a:r>
              <a:rPr lang="en-US" altLang="ko-KR" b="1" spc="-100" baseline="0" dirty="0"/>
              <a:t>2</a:t>
            </a:r>
            <a:endParaRPr lang="ko-KR" altLang="en-US" b="1" spc="-100" baseline="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DD12B2-AAA2-EAA0-46BC-05319F59DD46}"/>
              </a:ext>
            </a:extLst>
          </p:cNvPr>
          <p:cNvSpPr/>
          <p:nvPr userDrawn="1"/>
        </p:nvSpPr>
        <p:spPr>
          <a:xfrm>
            <a:off x="-740269" y="2922054"/>
            <a:ext cx="606582" cy="651849"/>
          </a:xfrm>
          <a:prstGeom prst="rect">
            <a:avLst/>
          </a:prstGeom>
          <a:solidFill>
            <a:srgbClr val="C5C2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D5E3B4-3866-AD63-078B-B0CEE0108FE8}"/>
              </a:ext>
            </a:extLst>
          </p:cNvPr>
          <p:cNvSpPr/>
          <p:nvPr userDrawn="1"/>
        </p:nvSpPr>
        <p:spPr>
          <a:xfrm>
            <a:off x="-740269" y="3648292"/>
            <a:ext cx="606582" cy="651849"/>
          </a:xfrm>
          <a:prstGeom prst="rect">
            <a:avLst/>
          </a:prstGeom>
          <a:solidFill>
            <a:srgbClr val="F3C8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5E374B-C6E8-B5CF-1802-3E61CF593DC7}"/>
              </a:ext>
            </a:extLst>
          </p:cNvPr>
          <p:cNvSpPr/>
          <p:nvPr userDrawn="1"/>
        </p:nvSpPr>
        <p:spPr>
          <a:xfrm>
            <a:off x="-740269" y="1467240"/>
            <a:ext cx="606582" cy="651849"/>
          </a:xfrm>
          <a:prstGeom prst="rect">
            <a:avLst/>
          </a:prstGeom>
          <a:solidFill>
            <a:srgbClr val="095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8CB44-8E9E-71E6-4416-5734346AF094}"/>
              </a:ext>
            </a:extLst>
          </p:cNvPr>
          <p:cNvSpPr txBox="1"/>
          <p:nvPr userDrawn="1"/>
        </p:nvSpPr>
        <p:spPr>
          <a:xfrm>
            <a:off x="-2552700" y="1608498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dirty="0" err="1"/>
              <a:t>강조색</a:t>
            </a:r>
            <a:r>
              <a:rPr lang="ko-KR" altLang="en-US" b="1" spc="-100" baseline="0" dirty="0"/>
              <a:t> </a:t>
            </a:r>
            <a:r>
              <a:rPr lang="en-US" altLang="ko-KR" b="1" spc="-100" baseline="0" dirty="0"/>
              <a:t>2</a:t>
            </a:r>
            <a:endParaRPr lang="ko-KR" altLang="en-US" b="1" spc="-100" baseline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F665C-9CA0-99C9-2CE8-997778F73B04}"/>
              </a:ext>
            </a:extLst>
          </p:cNvPr>
          <p:cNvSpPr txBox="1"/>
          <p:nvPr userDrawn="1"/>
        </p:nvSpPr>
        <p:spPr>
          <a:xfrm>
            <a:off x="-2552700" y="2337074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dirty="0"/>
              <a:t>서브 컬러 </a:t>
            </a:r>
            <a:r>
              <a:rPr lang="en-US" altLang="ko-KR" b="1" spc="-100" baseline="0" dirty="0"/>
              <a:t>1</a:t>
            </a:r>
            <a:endParaRPr lang="ko-KR" altLang="en-US" b="1" spc="-100" baseline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DD40A-BCF8-2983-5BD8-28EE4075CC30}"/>
              </a:ext>
            </a:extLst>
          </p:cNvPr>
          <p:cNvSpPr txBox="1"/>
          <p:nvPr userDrawn="1"/>
        </p:nvSpPr>
        <p:spPr>
          <a:xfrm>
            <a:off x="-2552700" y="3790348"/>
            <a:ext cx="181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spc="-100" baseline="0" dirty="0"/>
              <a:t>서브 컬러 </a:t>
            </a:r>
            <a:r>
              <a:rPr lang="en-US" altLang="ko-KR" b="1" spc="-100" baseline="0" dirty="0"/>
              <a:t>3</a:t>
            </a:r>
            <a:endParaRPr lang="ko-KR" altLang="en-US" b="1" spc="-100" baseline="0" dirty="0"/>
          </a:p>
        </p:txBody>
      </p:sp>
    </p:spTree>
    <p:extLst>
      <p:ext uri="{BB962C8B-B14F-4D97-AF65-F5344CB8AC3E}">
        <p14:creationId xmlns:p14="http://schemas.microsoft.com/office/powerpoint/2010/main" val="338632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68" r:id="rId4"/>
    <p:sldLayoutId id="2147483669" r:id="rId5"/>
    <p:sldLayoutId id="2147483662" r:id="rId6"/>
    <p:sldLayoutId id="2147483667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3C8B7"/>
          </p15:clr>
        </p15:guide>
        <p15:guide id="2" pos="3840" userDrawn="1">
          <p15:clr>
            <a:srgbClr val="F3C8B7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4EF0A-69B5-7655-752E-3803E080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29EA21-AD9C-C991-A79A-E4C4730BA6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69BB2-09D8-A41B-115D-6122747CFC96}"/>
              </a:ext>
            </a:extLst>
          </p:cNvPr>
          <p:cNvSpPr txBox="1"/>
          <p:nvPr/>
        </p:nvSpPr>
        <p:spPr>
          <a:xfrm>
            <a:off x="1053296" y="3075057"/>
            <a:ext cx="10085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-100" normalizeH="0" baseline="0" noProof="0" dirty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올리브영 플랫폼 </a:t>
            </a:r>
            <a:r>
              <a:rPr kumimoji="0" lang="en-US" altLang="ko-KR" sz="4000" b="0" i="0" u="none" strike="noStrike" kern="1200" cap="none" spc="-100" normalizeH="0" baseline="0" noProof="0" dirty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PB </a:t>
            </a:r>
            <a:r>
              <a:rPr kumimoji="0" lang="ko-KR" altLang="en-US" sz="4000" b="0" i="0" u="none" strike="noStrike" kern="1200" cap="none" spc="-100" normalizeH="0" baseline="0" noProof="0" dirty="0">
                <a:ln>
                  <a:noFill/>
                </a:ln>
                <a:solidFill>
                  <a:srgbClr val="473417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마케팅 제안</a:t>
            </a:r>
            <a:endParaRPr kumimoji="0" lang="en-US" altLang="ko-KR" sz="4000" b="0" i="0" u="none" strike="noStrike" kern="1200" cap="none" spc="-100" normalizeH="0" baseline="0" noProof="0" dirty="0">
              <a:ln>
                <a:noFill/>
              </a:ln>
              <a:solidFill>
                <a:srgbClr val="473417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632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3E4B1-9C0B-60D8-DF04-5B6CAE86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C646C3D-CD19-78E2-9694-8E2A7638B46C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ore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마켓 산스 Medium"/>
              <a:ea typeface="G마켓 산스 Medium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3C5F2-B3D2-1A54-6CBF-38BDD33D391D}"/>
              </a:ext>
            </a:extLst>
          </p:cNvPr>
          <p:cNvSpPr txBox="1"/>
          <p:nvPr/>
        </p:nvSpPr>
        <p:spPr>
          <a:xfrm>
            <a:off x="6925539" y="432316"/>
            <a:ext cx="5266462" cy="32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RFP / Campaign Brief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재해석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7B510-D922-8F86-9DE4-B2E9BBCCF479}"/>
              </a:ext>
            </a:extLst>
          </p:cNvPr>
          <p:cNvSpPr txBox="1"/>
          <p:nvPr/>
        </p:nvSpPr>
        <p:spPr>
          <a:xfrm>
            <a:off x="6512584" y="432316"/>
            <a:ext cx="686441" cy="329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CE70D-76A9-C83A-6644-4BDC9CF687E7}"/>
              </a:ext>
            </a:extLst>
          </p:cNvPr>
          <p:cNvSpPr txBox="1"/>
          <p:nvPr/>
        </p:nvSpPr>
        <p:spPr>
          <a:xfrm>
            <a:off x="251382" y="0"/>
            <a:ext cx="3875247" cy="178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0" b="0" i="0" u="none" strike="noStrike" kern="1200" cap="none" spc="-30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Index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264BCE-971E-9BE2-A402-2F0731FA6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883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1D89A4-942E-F00A-79D9-C071C3941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C977093-4610-A275-0126-D8B38AD4CB56}"/>
              </a:ext>
            </a:extLst>
          </p:cNvPr>
          <p:cNvGrpSpPr/>
          <p:nvPr/>
        </p:nvGrpSpPr>
        <p:grpSpPr>
          <a:xfrm>
            <a:off x="325120" y="2424222"/>
            <a:ext cx="11541760" cy="2009557"/>
            <a:chOff x="325120" y="2736503"/>
            <a:chExt cx="11541760" cy="200955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EFC9FB-5AC6-F534-F058-A58F0FFEB155}"/>
                </a:ext>
              </a:extLst>
            </p:cNvPr>
            <p:cNvSpPr txBox="1"/>
            <p:nvPr/>
          </p:nvSpPr>
          <p:spPr>
            <a:xfrm>
              <a:off x="325120" y="2736503"/>
              <a:ext cx="1154176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2800" b="0" i="0" u="none" strike="noStrike" kern="1200" cap="none" spc="-10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올더베러는</a:t>
              </a:r>
              <a:r>
                <a:rPr kumimoji="0" lang="ko-KR" altLang="en-US" sz="2800" b="0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안 팔리는 브랜드가 아닙니다</a:t>
              </a:r>
              <a:r>
                <a:rPr kumimoji="0" lang="en-US" altLang="ko-KR" sz="2800" b="0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.</a:t>
              </a:r>
              <a:br>
                <a:rPr kumimoji="0" lang="en-US" altLang="ko-KR" sz="2800" b="0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</a:br>
              <a:r>
                <a:rPr kumimoji="0" lang="ko-KR" altLang="en-US" sz="2800" b="0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문제는 소비자가 </a:t>
              </a:r>
              <a:r>
                <a:rPr kumimoji="0" lang="ko-KR" altLang="en-US" sz="2800" b="0" i="0" u="none" strike="noStrike" kern="1200" cap="none" spc="-10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올더베러를</a:t>
              </a:r>
              <a:r>
                <a:rPr kumimoji="0" lang="ko-KR" altLang="en-US" sz="2800" b="0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‘이름으로’ 선택하지 않는다는 점입니다</a:t>
              </a:r>
              <a:r>
                <a:rPr kumimoji="0" lang="en-US" altLang="ko-KR" sz="2800" b="0" i="0" u="none" strike="noStrike" kern="1200" cap="none" spc="-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.</a:t>
              </a:r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08A7CB-FD09-E9ED-70C9-CA2E643BCA9A}"/>
                </a:ext>
              </a:extLst>
            </p:cNvPr>
            <p:cNvSpPr txBox="1"/>
            <p:nvPr/>
          </p:nvSpPr>
          <p:spPr>
            <a:xfrm>
              <a:off x="325120" y="3915063"/>
              <a:ext cx="1154176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10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올더베러는</a:t>
              </a:r>
              <a:r>
                <a:rPr kumimoji="0" lang="ko-KR" altLang="en-US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 이미 올리브영이라는 강력한 홈그라운드 안에서 판매 가능성을 증명하고 있습니다</a:t>
              </a:r>
              <a:r>
                <a:rPr kumimoji="0" lang="en-US" altLang="ko-KR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.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그러나 아직 독립 브랜드로 각인되어 있다고 보기 어렵습니다</a:t>
              </a:r>
              <a:r>
                <a:rPr kumimoji="0" lang="en-US" altLang="ko-KR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.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소비자는 매대에서 제품을 집어 들 수는 있지만</a:t>
              </a:r>
              <a:r>
                <a:rPr kumimoji="0" lang="en-US" altLang="ko-KR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, </a:t>
              </a:r>
              <a:r>
                <a:rPr kumimoji="0" lang="ko-KR" altLang="en-US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그 선택을 “</a:t>
              </a:r>
              <a:r>
                <a:rPr kumimoji="0" lang="ko-KR" altLang="en-US" sz="1600" b="0" i="0" u="none" strike="noStrike" kern="1200" cap="none" spc="-10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올더베러를</a:t>
              </a:r>
              <a:r>
                <a:rPr kumimoji="0" lang="ko-KR" altLang="en-US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 </a:t>
              </a:r>
              <a:r>
                <a:rPr kumimoji="0" lang="ko-KR" altLang="en-US" sz="1600" b="0" i="0" u="none" strike="noStrike" kern="1200" cap="none" spc="-10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선택했다”는</a:t>
              </a:r>
              <a:r>
                <a:rPr kumimoji="0" lang="ko-KR" altLang="en-US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 기억으로 저장하지 않습니다</a:t>
              </a:r>
              <a:r>
                <a:rPr kumimoji="0" lang="en-US" altLang="ko-KR" sz="1600" b="0" i="0" u="none" strike="noStrike" kern="1200" cap="none" spc="-1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886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1F6B58-96BF-001E-3086-BE3692852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D59F1-FFE0-5209-D0F1-8B7F6062EF24}"/>
              </a:ext>
            </a:extLst>
          </p:cNvPr>
          <p:cNvSpPr txBox="1"/>
          <p:nvPr/>
        </p:nvSpPr>
        <p:spPr>
          <a:xfrm>
            <a:off x="325120" y="2767281"/>
            <a:ext cx="11541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따라서 이번 캠페인의 목표는 단순히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올더베러를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많이 노출하는 것이 아닙니다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  <a:endParaRPr lang="en-US" altLang="ko-KR" sz="1600" spc="-100" dirty="0">
              <a:solidFill>
                <a:schemeClr val="bg1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2.5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억이라는 제한된 예산 안에서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올더베러가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가장 빠르게 브랜드 자산을 만들 수 있는 방법은</a:t>
            </a: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올영세일에서 상위 랭킹 또는 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1</a:t>
            </a: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위라는 선택 근거를 먼저 만들고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그 성과를 콘텐츠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·</a:t>
            </a: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후기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·</a:t>
            </a: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검색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·CRM </a:t>
            </a: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자산으로 반복 전환하는 것입니다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  <a:endParaRPr kumimoji="0" lang="en-US" altLang="ko-KR" sz="1600" b="1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76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F319E2-BFE7-5901-E8E7-E678AB63E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5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7BA714-BFC7-B2D0-05D3-2DFD7975AA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C92CCC-AC37-8DA2-60FB-0D46B205DE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Strategy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6532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2D91853-524D-5802-F1D9-D344B4C44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A5C713-CDB1-8246-0B0E-C7A13200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 err="1"/>
              <a:t>웰니스</a:t>
            </a:r>
            <a:r>
              <a:rPr lang="ko-KR" altLang="ko-KR" b="1" dirty="0"/>
              <a:t> 시장: 폭발 직전, 그러나 갇혀 있다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7C7868-20EB-D490-3A9E-C00B42C739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CE595E-04AE-1BFA-CD97-8EAFDD2ED6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915297-1A14-6EF6-3DA1-5E6059E70D5C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국내 건강기능식품 시장은 </a:t>
            </a:r>
            <a:r>
              <a:rPr lang="en-US" altLang="ko-KR" sz="1600" spc="-100" dirty="0">
                <a:solidFill>
                  <a:schemeClr val="tx1"/>
                </a:solidFill>
              </a:rPr>
              <a:t>2023</a:t>
            </a:r>
            <a:r>
              <a:rPr lang="ko-KR" altLang="en-US" sz="1600" spc="-100" dirty="0">
                <a:solidFill>
                  <a:schemeClr val="tx1"/>
                </a:solidFill>
              </a:rPr>
              <a:t>년 </a:t>
            </a:r>
            <a:r>
              <a:rPr lang="en-US" altLang="ko-KR" sz="1600" spc="-100" dirty="0">
                <a:solidFill>
                  <a:schemeClr val="tx1"/>
                </a:solidFill>
              </a:rPr>
              <a:t>6.1</a:t>
            </a:r>
            <a:r>
              <a:rPr lang="ko-KR" altLang="en-US" sz="1600" spc="-100" dirty="0">
                <a:solidFill>
                  <a:schemeClr val="tx1"/>
                </a:solidFill>
              </a:rPr>
              <a:t>조 → </a:t>
            </a:r>
            <a:r>
              <a:rPr lang="en-US" altLang="ko-KR" sz="1600" spc="-100" dirty="0">
                <a:solidFill>
                  <a:schemeClr val="tx1"/>
                </a:solidFill>
              </a:rPr>
              <a:t>2024</a:t>
            </a:r>
            <a:r>
              <a:rPr lang="ko-KR" altLang="en-US" sz="1600" spc="-100" dirty="0">
                <a:solidFill>
                  <a:schemeClr val="tx1"/>
                </a:solidFill>
              </a:rPr>
              <a:t>년 약 </a:t>
            </a:r>
            <a:r>
              <a:rPr lang="en-US" altLang="ko-KR" sz="1600" spc="-100" dirty="0">
                <a:solidFill>
                  <a:schemeClr val="tx1"/>
                </a:solidFill>
              </a:rPr>
              <a:t>5.95</a:t>
            </a:r>
            <a:r>
              <a:rPr lang="ko-KR" altLang="en-US" sz="1600" spc="-100" dirty="0">
                <a:solidFill>
                  <a:schemeClr val="tx1"/>
                </a:solidFill>
              </a:rPr>
              <a:t>조로 소폭 조정 후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2025</a:t>
            </a:r>
            <a:r>
              <a:rPr lang="ko-KR" altLang="en-US" sz="1600" spc="-100" dirty="0">
                <a:solidFill>
                  <a:schemeClr val="tx1"/>
                </a:solidFill>
              </a:rPr>
              <a:t>년 약 </a:t>
            </a:r>
            <a:r>
              <a:rPr lang="en-US" altLang="ko-KR" sz="1600" spc="-100" dirty="0">
                <a:solidFill>
                  <a:schemeClr val="tx1"/>
                </a:solidFill>
              </a:rPr>
              <a:t>6.4</a:t>
            </a:r>
            <a:r>
              <a:rPr lang="ko-KR" altLang="en-US" sz="1600" spc="-100" dirty="0">
                <a:solidFill>
                  <a:schemeClr val="tx1"/>
                </a:solidFill>
              </a:rPr>
              <a:t>조</a:t>
            </a:r>
            <a:r>
              <a:rPr lang="en-US" altLang="ko-KR" sz="1600" spc="-100" dirty="0">
                <a:solidFill>
                  <a:schemeClr val="tx1"/>
                </a:solidFill>
              </a:rPr>
              <a:t>(+5.2%)</a:t>
            </a:r>
            <a:r>
              <a:rPr lang="ko-KR" altLang="en-US" sz="1600" spc="-100" dirty="0">
                <a:solidFill>
                  <a:schemeClr val="tx1"/>
                </a:solidFill>
              </a:rPr>
              <a:t>로 반등</a:t>
            </a:r>
            <a:r>
              <a:rPr lang="en-US" altLang="ko-KR" sz="1600" spc="-100" dirty="0">
                <a:solidFill>
                  <a:schemeClr val="tx1"/>
                </a:solidFill>
              </a:rPr>
              <a:t>, 2028</a:t>
            </a:r>
            <a:r>
              <a:rPr lang="ko-KR" altLang="en-US" sz="1600" spc="-100" dirty="0">
                <a:solidFill>
                  <a:schemeClr val="tx1"/>
                </a:solidFill>
              </a:rPr>
              <a:t>년 </a:t>
            </a:r>
            <a:r>
              <a:rPr lang="en-US" altLang="ko-KR" sz="1600" spc="-100" dirty="0">
                <a:solidFill>
                  <a:schemeClr val="tx1"/>
                </a:solidFill>
              </a:rPr>
              <a:t>7.5</a:t>
            </a:r>
            <a:r>
              <a:rPr lang="ko-KR" altLang="en-US" sz="1600" spc="-100" dirty="0">
                <a:solidFill>
                  <a:schemeClr val="tx1"/>
                </a:solidFill>
              </a:rPr>
              <a:t>조 돌파 전망</a:t>
            </a:r>
            <a:r>
              <a:rPr lang="en-US" altLang="ko-KR" sz="1600" spc="-100" dirty="0">
                <a:solidFill>
                  <a:schemeClr val="tx1"/>
                </a:solidFill>
              </a:rPr>
              <a:t>(CAGR 4.8~6.2%). </a:t>
            </a:r>
            <a:r>
              <a:rPr lang="ko-KR" altLang="en-US" sz="1600" b="1" spc="-100" dirty="0">
                <a:solidFill>
                  <a:schemeClr val="tx1"/>
                </a:solidFill>
              </a:rPr>
              <a:t>정체기를 지나 재성장 국면</a:t>
            </a:r>
            <a:r>
              <a:rPr lang="en-US" altLang="ko-KR" sz="1600" spc="-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온라인 구매 비중은 </a:t>
            </a:r>
            <a:r>
              <a:rPr lang="en-US" altLang="ko-KR" sz="1600" spc="-100" dirty="0">
                <a:solidFill>
                  <a:schemeClr val="tx1"/>
                </a:solidFill>
              </a:rPr>
              <a:t>2024</a:t>
            </a:r>
            <a:r>
              <a:rPr lang="ko-KR" altLang="en-US" sz="1600" spc="-100" dirty="0">
                <a:solidFill>
                  <a:schemeClr val="tx1"/>
                </a:solidFill>
              </a:rPr>
              <a:t>년 </a:t>
            </a:r>
            <a:r>
              <a:rPr lang="en-US" altLang="ko-KR" sz="1600" spc="-100" dirty="0">
                <a:solidFill>
                  <a:schemeClr val="tx1"/>
                </a:solidFill>
              </a:rPr>
              <a:t>54% → 2025</a:t>
            </a:r>
            <a:r>
              <a:rPr lang="ko-KR" altLang="en-US" sz="1600" spc="-100" dirty="0">
                <a:solidFill>
                  <a:schemeClr val="tx1"/>
                </a:solidFill>
              </a:rPr>
              <a:t>년 </a:t>
            </a:r>
            <a:r>
              <a:rPr lang="en-US" altLang="ko-KR" sz="1600" spc="-100" dirty="0">
                <a:solidFill>
                  <a:schemeClr val="tx1"/>
                </a:solidFill>
              </a:rPr>
              <a:t>59%</a:t>
            </a:r>
            <a:r>
              <a:rPr lang="ko-KR" altLang="en-US" sz="1600" spc="-100" dirty="0">
                <a:solidFill>
                  <a:schemeClr val="tx1"/>
                </a:solidFill>
              </a:rPr>
              <a:t>로 상승</a:t>
            </a:r>
            <a:r>
              <a:rPr lang="en-US" altLang="ko-KR" sz="1600" spc="-100" dirty="0">
                <a:solidFill>
                  <a:schemeClr val="tx1"/>
                </a:solidFill>
              </a:rPr>
              <a:t>. </a:t>
            </a:r>
            <a:r>
              <a:rPr lang="ko-KR" altLang="en-US" sz="1600" b="1" spc="-100" dirty="0">
                <a:solidFill>
                  <a:schemeClr val="tx1"/>
                </a:solidFill>
              </a:rPr>
              <a:t>디지털 콘텐츠가 구매를 만든다</a:t>
            </a:r>
            <a:r>
              <a:rPr lang="en-US" altLang="ko-KR" sz="1600" spc="-1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올더베러의</a:t>
            </a:r>
            <a:r>
              <a:rPr lang="ko-KR" altLang="en-US" sz="1600" spc="-100" dirty="0">
                <a:solidFill>
                  <a:schemeClr val="tx1"/>
                </a:solidFill>
              </a:rPr>
              <a:t> 진짜 경쟁자는 전통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건기식</a:t>
            </a:r>
            <a:r>
              <a:rPr lang="ko-KR" altLang="en-US" sz="1600" spc="-100" dirty="0">
                <a:solidFill>
                  <a:schemeClr val="tx1"/>
                </a:solidFill>
              </a:rPr>
              <a:t> 브랜드가 아니라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낫띵베럴</a:t>
            </a:r>
            <a:r>
              <a:rPr lang="ko-KR" altLang="en-US" sz="1600" b="1" spc="-100" dirty="0">
                <a:solidFill>
                  <a:schemeClr val="tx1"/>
                </a:solidFill>
              </a:rPr>
              <a:t> 같은 라이프스타일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웰니스</a:t>
            </a:r>
            <a:r>
              <a:rPr lang="ko-KR" altLang="en-US" sz="1600" b="1" spc="-100" dirty="0">
                <a:solidFill>
                  <a:schemeClr val="tx1"/>
                </a:solidFill>
              </a:rPr>
              <a:t> 브랜드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spc="-100" dirty="0" err="1">
                <a:solidFill>
                  <a:schemeClr val="tx1"/>
                </a:solidFill>
              </a:rPr>
              <a:t>웰니스</a:t>
            </a:r>
            <a:r>
              <a:rPr lang="ko-KR" altLang="en-US" sz="2000" spc="-100" dirty="0">
                <a:solidFill>
                  <a:schemeClr val="tx1"/>
                </a:solidFill>
              </a:rPr>
              <a:t> 시장은 이미 성장하고 있지만</a:t>
            </a:r>
            <a:r>
              <a:rPr lang="en-US" altLang="ko-KR" sz="2000" spc="-100" dirty="0">
                <a:solidFill>
                  <a:schemeClr val="tx1"/>
                </a:solidFill>
              </a:rPr>
              <a:t>, </a:t>
            </a:r>
            <a:r>
              <a:rPr lang="ko-KR" altLang="en-US" sz="2000" spc="-100" dirty="0">
                <a:solidFill>
                  <a:schemeClr val="tx1"/>
                </a:solidFill>
              </a:rPr>
              <a:t>기존 </a:t>
            </a:r>
            <a:r>
              <a:rPr lang="ko-KR" altLang="en-US" sz="2000" spc="-100" dirty="0" err="1">
                <a:solidFill>
                  <a:schemeClr val="tx1"/>
                </a:solidFill>
              </a:rPr>
              <a:t>건기식</a:t>
            </a:r>
            <a:r>
              <a:rPr lang="ko-KR" altLang="en-US" sz="2000" spc="-100" dirty="0">
                <a:solidFill>
                  <a:schemeClr val="tx1"/>
                </a:solidFill>
              </a:rPr>
              <a:t> 브랜드들은 기능성</a:t>
            </a:r>
            <a:r>
              <a:rPr lang="en-US" altLang="ko-KR" sz="2000" spc="-100" dirty="0">
                <a:solidFill>
                  <a:schemeClr val="tx1"/>
                </a:solidFill>
              </a:rPr>
              <a:t>/</a:t>
            </a:r>
            <a:r>
              <a:rPr lang="ko-KR" altLang="en-US" sz="2000" spc="-100" dirty="0">
                <a:solidFill>
                  <a:schemeClr val="tx1"/>
                </a:solidFill>
              </a:rPr>
              <a:t>신뢰성 확보에 집중하며</a:t>
            </a:r>
            <a:endParaRPr lang="en-US" altLang="ko-KR" sz="20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b="1" spc="-100" dirty="0">
                <a:solidFill>
                  <a:schemeClr val="tx1"/>
                </a:solidFill>
              </a:rPr>
              <a:t>소비자 머릿속에 명확히 각인된 ‘일상형 </a:t>
            </a:r>
            <a:r>
              <a:rPr lang="ko-KR" altLang="en-US" sz="2000" b="1" spc="-100" dirty="0" err="1">
                <a:solidFill>
                  <a:schemeClr val="tx1"/>
                </a:solidFill>
              </a:rPr>
              <a:t>웰니스</a:t>
            </a:r>
            <a:r>
              <a:rPr lang="en-US" altLang="ko-KR" sz="2000" b="1" spc="-100" dirty="0">
                <a:solidFill>
                  <a:schemeClr val="tx1"/>
                </a:solidFill>
              </a:rPr>
              <a:t> </a:t>
            </a:r>
            <a:r>
              <a:rPr lang="ko-KR" altLang="en-US" sz="2000" b="1" spc="-100" dirty="0" err="1">
                <a:solidFill>
                  <a:schemeClr val="tx1"/>
                </a:solidFill>
              </a:rPr>
              <a:t>브랜드’는</a:t>
            </a:r>
            <a:r>
              <a:rPr lang="ko-KR" altLang="en-US" sz="2000" b="1" spc="-100" dirty="0">
                <a:solidFill>
                  <a:schemeClr val="tx1"/>
                </a:solidFill>
              </a:rPr>
              <a:t> 아직 부재</a:t>
            </a:r>
            <a:endParaRPr lang="en-US" altLang="ko-KR" sz="2000" b="1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947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13772A-626F-A011-C79A-6A32B2120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C65524-5B62-C1D0-739D-CAA9B5EA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올리브영</a:t>
            </a:r>
            <a:r>
              <a:rPr lang="en-US" altLang="ko-KR" dirty="0"/>
              <a:t>/</a:t>
            </a:r>
            <a:r>
              <a:rPr lang="ko-KR" altLang="en-US" dirty="0" err="1"/>
              <a:t>올리브베러는</a:t>
            </a:r>
            <a:r>
              <a:rPr lang="ko-KR" altLang="en-US" dirty="0"/>
              <a:t> </a:t>
            </a:r>
            <a:r>
              <a:rPr lang="ko-KR" altLang="en-US" dirty="0" err="1"/>
              <a:t>올더베러의</a:t>
            </a:r>
            <a:r>
              <a:rPr lang="ko-KR" altLang="en-US" dirty="0"/>
              <a:t> 홈그라운드입니다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481D7D-06C4-80C8-5608-88BEB4F8C4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B95350-A1F2-8A35-99AB-2B6C07B01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8C100B-8017-228C-B7BB-CF362DCE7BB7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올더베러가</a:t>
            </a:r>
            <a:r>
              <a:rPr lang="ko-KR" altLang="en-US" sz="1600" spc="-100" dirty="0">
                <a:solidFill>
                  <a:schemeClr val="tx1"/>
                </a:solidFill>
              </a:rPr>
              <a:t> 싸워야 할 주 무대는 올리브영과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올리브베러</a:t>
            </a:r>
            <a:r>
              <a:rPr lang="ko-KR" altLang="en-US" sz="1600" spc="-100" dirty="0">
                <a:solidFill>
                  <a:schemeClr val="tx1"/>
                </a:solidFill>
              </a:rPr>
              <a:t> 생태계입니다</a:t>
            </a:r>
            <a:r>
              <a:rPr lang="en-US" altLang="ko-KR" sz="1600" spc="-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소비자는 이미 올리브영에서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웰니스</a:t>
            </a:r>
            <a:r>
              <a:rPr lang="ko-KR" altLang="en-US" sz="1600" spc="-100" dirty="0">
                <a:solidFill>
                  <a:schemeClr val="tx1"/>
                </a:solidFill>
              </a:rPr>
              <a:t> 제품을 탐색하고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</a:rPr>
              <a:t>매대와 앱 안에서 구매를 결정하고 있습니다</a:t>
            </a:r>
            <a:r>
              <a:rPr lang="en-US" altLang="ko-KR" sz="1600" spc="-1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그렇기 때문에 이번 캠페인은 외부에서 브랜드 인지를 처음부터 만드는 방식보다</a:t>
            </a:r>
            <a:r>
              <a:rPr lang="en-US" altLang="ko-KR" sz="1600" spc="-1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2000" b="1" spc="-100" dirty="0">
                <a:solidFill>
                  <a:schemeClr val="tx1"/>
                </a:solidFill>
              </a:rPr>
              <a:t>올리브영 앱</a:t>
            </a:r>
            <a:r>
              <a:rPr lang="en-US" altLang="ko-KR" sz="2000" b="1" spc="-100" dirty="0">
                <a:solidFill>
                  <a:schemeClr val="tx1"/>
                </a:solidFill>
              </a:rPr>
              <a:t>·</a:t>
            </a:r>
            <a:r>
              <a:rPr lang="ko-KR" altLang="en-US" sz="2000" b="1" spc="-100" dirty="0">
                <a:solidFill>
                  <a:schemeClr val="tx1"/>
                </a:solidFill>
              </a:rPr>
              <a:t>매장</a:t>
            </a:r>
            <a:r>
              <a:rPr lang="en-US" altLang="ko-KR" sz="2000" b="1" spc="-100" dirty="0">
                <a:solidFill>
                  <a:schemeClr val="tx1"/>
                </a:solidFill>
              </a:rPr>
              <a:t>·</a:t>
            </a:r>
            <a:r>
              <a:rPr lang="ko-KR" altLang="en-US" sz="2000" b="1" spc="-100" dirty="0">
                <a:solidFill>
                  <a:schemeClr val="tx1"/>
                </a:solidFill>
              </a:rPr>
              <a:t>기획전</a:t>
            </a:r>
            <a:r>
              <a:rPr lang="en-US" altLang="ko-KR" sz="2000" b="1" spc="-100" dirty="0">
                <a:solidFill>
                  <a:schemeClr val="tx1"/>
                </a:solidFill>
              </a:rPr>
              <a:t>·</a:t>
            </a:r>
            <a:r>
              <a:rPr lang="ko-KR" altLang="en-US" sz="2000" b="1" spc="-100" dirty="0">
                <a:solidFill>
                  <a:schemeClr val="tx1"/>
                </a:solidFill>
              </a:rPr>
              <a:t>리뷰</a:t>
            </a:r>
            <a:r>
              <a:rPr lang="en-US" altLang="ko-KR" sz="2000" b="1" spc="-100" dirty="0">
                <a:solidFill>
                  <a:schemeClr val="tx1"/>
                </a:solidFill>
              </a:rPr>
              <a:t>·</a:t>
            </a:r>
            <a:r>
              <a:rPr lang="ko-KR" altLang="en-US" sz="2000" b="1" spc="-100" dirty="0">
                <a:solidFill>
                  <a:schemeClr val="tx1"/>
                </a:solidFill>
              </a:rPr>
              <a:t>랭킹도 하나의 미디어로 보고</a:t>
            </a:r>
            <a:r>
              <a:rPr lang="en-US" altLang="ko-KR" sz="2000" b="1" spc="-1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2000" b="1" spc="-100" dirty="0">
                <a:solidFill>
                  <a:schemeClr val="tx1"/>
                </a:solidFill>
              </a:rPr>
              <a:t>올영세일 시점에 소비자의 선택을 집중시키는 방식이 효율적입니다</a:t>
            </a:r>
            <a:r>
              <a:rPr lang="en-US" altLang="ko-KR" sz="2000" b="1" spc="-100" dirty="0">
                <a:solidFill>
                  <a:schemeClr val="tx1"/>
                </a:solidFill>
              </a:rPr>
              <a:t>.</a:t>
            </a:r>
            <a:endParaRPr lang="en-US" altLang="ko-KR" sz="2800" b="1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18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3AB3985-5ACE-FB8C-8D1B-0F9D6B49F4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147CD-1037-A7B1-1AE0-7757709DEE8B}"/>
              </a:ext>
            </a:extLst>
          </p:cNvPr>
          <p:cNvSpPr txBox="1"/>
          <p:nvPr/>
        </p:nvSpPr>
        <p:spPr>
          <a:xfrm>
            <a:off x="325120" y="2767281"/>
            <a:ext cx="115417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이번 캠페인은 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6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개월 동안 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2.5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억 원이라는 예산으로 운영됩니다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대형 모델 플레이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대규모 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OOH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등 액션을 통해 넓고 얕은 노출을 만들기 보다</a:t>
            </a: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구매 판단에 영향을 줄 수 있는 </a:t>
            </a:r>
            <a:r>
              <a:rPr kumimoji="0" lang="ko-KR" altLang="en-US" sz="16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시딩</a:t>
            </a: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콘텐츠 자산</a:t>
            </a:r>
            <a:r>
              <a:rPr kumimoji="0" lang="en-US" altLang="ko-KR" sz="1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전환형 소재</a:t>
            </a:r>
            <a:r>
              <a:rPr kumimoji="0" lang="en-US" altLang="ko-KR" sz="1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lang="ko-KR" altLang="en-US" sz="1600" b="1" spc="-100" dirty="0">
                <a:solidFill>
                  <a:schemeClr val="bg1"/>
                </a:solidFill>
                <a:latin typeface="Pretendard"/>
                <a:ea typeface="Pretendard"/>
              </a:rPr>
              <a:t>매출</a:t>
            </a: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</a:t>
            </a:r>
            <a:r>
              <a:rPr kumimoji="0" lang="ko-KR" altLang="en-US" sz="16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부스팅에</a:t>
            </a: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집중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되어야 합니다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이번 제안은 ‘브랜드를 알리는 </a:t>
            </a:r>
            <a:r>
              <a:rPr kumimoji="0" lang="ko-KR" altLang="en-US" sz="24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캠페인’이</a:t>
            </a: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아니라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‘</a:t>
            </a: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올리브영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올영세일에서 선택 받는 구조를 만드는 </a:t>
            </a:r>
            <a:r>
              <a:rPr kumimoji="0" lang="ko-KR" altLang="en-US" sz="24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캠페인’이어야</a:t>
            </a: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합니다</a:t>
            </a: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  <a:endParaRPr kumimoji="0" lang="en-US" altLang="ko-KR" sz="1600" b="1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036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8C0156-9396-56DF-D591-3884C11AE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4EA0E-3E3F-5C14-40C2-8BA9D6BB17D2}"/>
              </a:ext>
            </a:extLst>
          </p:cNvPr>
          <p:cNvSpPr txBox="1"/>
          <p:nvPr/>
        </p:nvSpPr>
        <p:spPr>
          <a:xfrm>
            <a:off x="325120" y="1755041"/>
            <a:ext cx="115417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[ 26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년 하반기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브랜드 캠페인 과제 재정의 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]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“ </a:t>
            </a:r>
            <a:r>
              <a:rPr kumimoji="0" lang="ko-KR" altLang="en-US" sz="36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올더베러를</a:t>
            </a:r>
            <a:r>
              <a:rPr kumimoji="0" lang="en-US" altLang="ko-KR" sz="3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</a:t>
            </a:r>
            <a:r>
              <a:rPr kumimoji="0" lang="ko-KR" altLang="en-US" sz="3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올리브영</a:t>
            </a:r>
            <a:r>
              <a:rPr kumimoji="0" lang="en-US" altLang="ko-KR" sz="3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36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올리브베러</a:t>
            </a:r>
            <a:r>
              <a:rPr kumimoji="0" lang="ko-KR" altLang="en-US" sz="3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</a:t>
            </a:r>
            <a:r>
              <a:rPr kumimoji="0" lang="en-US" altLang="ko-KR" sz="3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1</a:t>
            </a:r>
            <a:r>
              <a:rPr kumimoji="0" lang="ko-KR" altLang="en-US" sz="3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등 브랜드로 만들기 </a:t>
            </a:r>
            <a:r>
              <a:rPr kumimoji="0" lang="en-US" altLang="ko-KR" sz="36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“</a:t>
            </a:r>
            <a:endParaRPr kumimoji="0" lang="en-US" altLang="ko-KR" sz="2400" b="1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95486B-37B9-9854-BCED-B41BE2F60D84}"/>
              </a:ext>
            </a:extLst>
          </p:cNvPr>
          <p:cNvSpPr txBox="1"/>
          <p:nvPr/>
        </p:nvSpPr>
        <p:spPr>
          <a:xfrm>
            <a:off x="325120" y="3300757"/>
            <a:ext cx="11541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올더베러가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지금 확보해야 할 자산은 추상적인 브랜드 인지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호감이 아니라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소비자 대상의 제품 각인과 명확한 선택 근거입니다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콘텐츠를 통한 제품 인지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사용 </a:t>
            </a:r>
            <a:r>
              <a:rPr lang="ko-KR" altLang="en-US" sz="1600" spc="-100" dirty="0">
                <a:solidFill>
                  <a:schemeClr val="bg1"/>
                </a:solidFill>
                <a:latin typeface="Pretendard"/>
                <a:ea typeface="Pretendard"/>
              </a:rPr>
              <a:t>후기와 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올리브영 안에서의 랭킹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반복 노출은 소비자에게 “많이 사는 제품”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“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선택해도 되는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제품”이라는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신호가 됩니다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E76A5-46E9-3EDA-DFE3-E43588FC6552}"/>
              </a:ext>
            </a:extLst>
          </p:cNvPr>
          <p:cNvSpPr txBox="1"/>
          <p:nvPr/>
        </p:nvSpPr>
        <p:spPr>
          <a:xfrm>
            <a:off x="325120" y="4087297"/>
            <a:ext cx="115417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브랜드 자산이 약한 </a:t>
            </a:r>
            <a:r>
              <a:rPr kumimoji="0" lang="ko-KR" altLang="en-US" sz="20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올더베러에게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‘</a:t>
            </a:r>
            <a:r>
              <a:rPr kumimoji="0" lang="ko-KR" altLang="en-US" sz="20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랭킹’은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가장 빠른 인지 자산입니다</a:t>
            </a:r>
            <a:endParaRPr kumimoji="0" lang="en-US" altLang="ko-KR" sz="2000" b="1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-10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올더베러는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인지가 쌓여 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1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등이 되는 브랜드가 아니라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1</a:t>
            </a:r>
            <a:r>
              <a:rPr kumimoji="0" lang="ko-KR" altLang="en-US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등이라는 선택 신호를 먼저 만들어 인지를 쌓아야 합니다</a:t>
            </a:r>
            <a:r>
              <a:rPr kumimoji="0" lang="en-US" altLang="ko-KR" sz="20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167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E361D3-6360-22B0-7D0F-2B083FA66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3900"/>
            <a:ext cx="9393234" cy="35941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7BA619-2683-EA52-9294-8572C164ED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000B88A-6214-A249-F132-46559DA5F6F8}"/>
              </a:ext>
            </a:extLst>
          </p:cNvPr>
          <p:cNvSpPr/>
          <p:nvPr/>
        </p:nvSpPr>
        <p:spPr>
          <a:xfrm>
            <a:off x="1264920" y="2362200"/>
            <a:ext cx="2133600" cy="213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spc="-100" dirty="0">
                <a:solidFill>
                  <a:schemeClr val="tx1"/>
                </a:solidFill>
              </a:rPr>
              <a:t>SEED</a:t>
            </a:r>
            <a:endParaRPr lang="ko-KR" altLang="en-US" sz="2800" b="1" spc="-100" dirty="0">
              <a:solidFill>
                <a:schemeClr val="tx1"/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3697AA-4746-79B5-A23B-7542E0933ED8}"/>
              </a:ext>
            </a:extLst>
          </p:cNvPr>
          <p:cNvSpPr/>
          <p:nvPr/>
        </p:nvSpPr>
        <p:spPr>
          <a:xfrm>
            <a:off x="3774440" y="2362200"/>
            <a:ext cx="2133600" cy="213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spc="-100" dirty="0">
                <a:solidFill>
                  <a:schemeClr val="tx1"/>
                </a:solidFill>
              </a:rPr>
              <a:t>PROVE</a:t>
            </a:r>
            <a:endParaRPr lang="ko-KR" altLang="en-US" sz="2800" b="1" spc="-1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E589305-9F37-275A-EE4F-8301598EFC48}"/>
              </a:ext>
            </a:extLst>
          </p:cNvPr>
          <p:cNvSpPr/>
          <p:nvPr/>
        </p:nvSpPr>
        <p:spPr>
          <a:xfrm>
            <a:off x="6283960" y="2362200"/>
            <a:ext cx="2133600" cy="213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spc="-100" dirty="0">
                <a:solidFill>
                  <a:schemeClr val="tx1"/>
                </a:solidFill>
              </a:rPr>
              <a:t>BOOST</a:t>
            </a:r>
            <a:endParaRPr lang="ko-KR" altLang="en-US" sz="2800" b="1" spc="-100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FDE6924-656B-1897-AA70-6A27CD70DEBA}"/>
              </a:ext>
            </a:extLst>
          </p:cNvPr>
          <p:cNvSpPr/>
          <p:nvPr/>
        </p:nvSpPr>
        <p:spPr>
          <a:xfrm>
            <a:off x="8793480" y="2362200"/>
            <a:ext cx="2133600" cy="213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spc="-100" dirty="0">
                <a:solidFill>
                  <a:schemeClr val="tx1"/>
                </a:solidFill>
              </a:rPr>
              <a:t>RETAIN</a:t>
            </a:r>
            <a:endParaRPr lang="ko-KR" altLang="en-US" sz="2800" b="1" spc="-1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AA8EE-E8FC-9C00-27FF-FAEB7F05D55B}"/>
              </a:ext>
            </a:extLst>
          </p:cNvPr>
          <p:cNvSpPr txBox="1"/>
          <p:nvPr/>
        </p:nvSpPr>
        <p:spPr>
          <a:xfrm>
            <a:off x="1264920" y="4772373"/>
            <a:ext cx="2133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제품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경험량과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후기량을 만든다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챌린저스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마이크로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나노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시딩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KOL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시딩을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통해 구매 판단 근거를 확보한다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FB6D9-85C3-B13B-86F3-3949C54BAD4E}"/>
              </a:ext>
            </a:extLst>
          </p:cNvPr>
          <p:cNvSpPr txBox="1"/>
          <p:nvPr/>
        </p:nvSpPr>
        <p:spPr>
          <a:xfrm>
            <a:off x="3774440" y="4772373"/>
            <a:ext cx="213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구매 이유를 증명한다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리뷰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해시태그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UGC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를 축적해 소비자가 선택할 이유를 만든다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89067A-98D5-FF6C-80D7-A41F7111FDD1}"/>
              </a:ext>
            </a:extLst>
          </p:cNvPr>
          <p:cNvSpPr txBox="1"/>
          <p:nvPr/>
        </p:nvSpPr>
        <p:spPr>
          <a:xfrm>
            <a:off x="6283960" y="4772373"/>
            <a:ext cx="2133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시딩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성과를 퍼포먼스로 증폭한다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PA,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올영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인앱광고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LMF 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테스트로 세일 기간 유입과 전환을 집중 견인한다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714F5C-A2EB-7DCF-7F85-D729D32EC200}"/>
              </a:ext>
            </a:extLst>
          </p:cNvPr>
          <p:cNvSpPr txBox="1"/>
          <p:nvPr/>
        </p:nvSpPr>
        <p:spPr>
          <a:xfrm>
            <a:off x="8793480" y="4772373"/>
            <a:ext cx="213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9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월 성과를 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12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월까지 이어간다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위닝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소재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후기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CRM(</a:t>
            </a:r>
            <a:r>
              <a:rPr kumimoji="0" lang="ko-KR" altLang="en-US" sz="1200" b="0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플친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)</a:t>
            </a:r>
            <a:r>
              <a:rPr lang="ko-KR" altLang="en-US" sz="1200" spc="-100" dirty="0">
                <a:solidFill>
                  <a:prstClr val="white"/>
                </a:solidFill>
                <a:latin typeface="Pretendard"/>
                <a:ea typeface="Pretendard"/>
              </a:rPr>
              <a:t>으</a:t>
            </a:r>
            <a:r>
              <a:rPr kumimoji="0" lang="ko-KR" altLang="en-US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로 재구매와 쟁임 구매를 유도한다</a:t>
            </a:r>
            <a:r>
              <a:rPr kumimoji="0" lang="en-US" altLang="ko-KR" sz="1200" b="0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9E9D91-9010-14B5-13CD-22AF19431337}"/>
              </a:ext>
            </a:extLst>
          </p:cNvPr>
          <p:cNvSpPr txBox="1"/>
          <p:nvPr/>
        </p:nvSpPr>
        <p:spPr>
          <a:xfrm>
            <a:off x="1264920" y="1946914"/>
            <a:ext cx="213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1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STEP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C56D5B-E713-36FA-E0D8-43D5BA7BE236}"/>
              </a:ext>
            </a:extLst>
          </p:cNvPr>
          <p:cNvSpPr txBox="1"/>
          <p:nvPr/>
        </p:nvSpPr>
        <p:spPr>
          <a:xfrm>
            <a:off x="3774440" y="1946914"/>
            <a:ext cx="213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1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STEP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B6D110-601D-7D69-8FF0-BCE5679BF21D}"/>
              </a:ext>
            </a:extLst>
          </p:cNvPr>
          <p:cNvSpPr txBox="1"/>
          <p:nvPr/>
        </p:nvSpPr>
        <p:spPr>
          <a:xfrm>
            <a:off x="6283960" y="1946914"/>
            <a:ext cx="213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1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STEP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11112B-F143-4FDB-69A4-A0E2C0D9E1C9}"/>
              </a:ext>
            </a:extLst>
          </p:cNvPr>
          <p:cNvSpPr txBox="1"/>
          <p:nvPr/>
        </p:nvSpPr>
        <p:spPr>
          <a:xfrm>
            <a:off x="8793480" y="1946914"/>
            <a:ext cx="213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-10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STEP 4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CB33E23-EC59-D6E2-0EFE-69946C890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124" y="18606"/>
            <a:ext cx="2785110" cy="15561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DC0D4B0-E70D-261A-0900-EDB04BA10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130" y="18606"/>
            <a:ext cx="2692870" cy="155374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A7A81C-FAC0-EE07-902E-792A1FFB9A42}"/>
              </a:ext>
            </a:extLst>
          </p:cNvPr>
          <p:cNvSpPr/>
          <p:nvPr/>
        </p:nvSpPr>
        <p:spPr>
          <a:xfrm>
            <a:off x="213360" y="152400"/>
            <a:ext cx="3561080" cy="782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spc="-100" dirty="0">
                <a:solidFill>
                  <a:schemeClr val="tx1"/>
                </a:solidFill>
              </a:rPr>
              <a:t>* 9/12</a:t>
            </a:r>
            <a:r>
              <a:rPr lang="ko-KR" altLang="en-US" sz="1600" b="1" spc="-100" dirty="0">
                <a:solidFill>
                  <a:schemeClr val="tx1"/>
                </a:solidFill>
              </a:rPr>
              <a:t>월 올영세일 </a:t>
            </a:r>
            <a:r>
              <a:rPr lang="en-US" altLang="ko-KR" sz="1600" b="1" spc="-100" dirty="0">
                <a:solidFill>
                  <a:schemeClr val="tx1"/>
                </a:solidFill>
              </a:rPr>
              <a:t>&amp; 11</a:t>
            </a:r>
            <a:r>
              <a:rPr lang="ko-KR" altLang="en-US" sz="1600" b="1" spc="-100" dirty="0">
                <a:solidFill>
                  <a:schemeClr val="tx1"/>
                </a:solidFill>
              </a:rPr>
              <a:t>월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블프</a:t>
            </a:r>
            <a:r>
              <a:rPr lang="ko-KR" altLang="en-US" sz="1600" b="1" spc="-100" dirty="0">
                <a:solidFill>
                  <a:schemeClr val="tx1"/>
                </a:solidFill>
              </a:rPr>
              <a:t> 이슈 고려</a:t>
            </a:r>
          </a:p>
        </p:txBody>
      </p:sp>
    </p:spTree>
    <p:extLst>
      <p:ext uri="{BB962C8B-B14F-4D97-AF65-F5344CB8AC3E}">
        <p14:creationId xmlns:p14="http://schemas.microsoft.com/office/powerpoint/2010/main" val="135493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6730DB-B937-49BD-223E-319D5EEED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6411078-1D5D-F928-06E3-19A4618B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올리브영 </a:t>
            </a:r>
            <a:r>
              <a:rPr lang="en-US" altLang="ko-KR" dirty="0"/>
              <a:t>1</a:t>
            </a:r>
            <a:r>
              <a:rPr lang="ko-KR" altLang="en-US" dirty="0"/>
              <a:t>등 달성한 케이스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0C1F4E-CA0E-AFBE-F140-E5FD551089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FAE3E4-E33D-0144-5E74-3949CD4F89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87872"/>
                </a:solidFill>
                <a:latin typeface="맑은 고딕"/>
              </a:rPr>
              <a:t>우리가 올리브영에서 직접 만든 성과 — 매체·데이터·크리에이티브·시딩 네 역량 모두 올더베러에 그대로 적용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764792"/>
            <a:ext cx="2450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매체 · 퍼포먼스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B2B2AA"/>
                </a:solidFill>
                <a:latin typeface="맑은 고딕"/>
              </a:rPr>
              <a:t>올영세일 운영·타겟·IP 매체로 ROAS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95728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487168"/>
            <a:ext cx="2432304" cy="7254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올영세일 메타 CPM 위기 대응</a:t>
            </a:r>
          </a:p>
          <a:p>
            <a:pPr algn="l">
              <a:spcAft>
                <a:spcPts val="200"/>
              </a:spcAft>
            </a:pPr>
            <a:r>
              <a:rPr sz="860" b="0">
                <a:solidFill>
                  <a:srgbClr val="787872"/>
                </a:solidFill>
                <a:latin typeface="맑은 고딕"/>
              </a:rPr>
              <a:t>고CPM OFF→구매잠재(기프트카드·쿠폰)·어드밴티지 재구성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12592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12592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3249168"/>
            <a:ext cx="2450592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성과  </a:t>
            </a:r>
            <a:r>
              <a:rPr sz="980" b="1">
                <a:solidFill>
                  <a:srgbClr val="141412"/>
                </a:solidFill>
                <a:latin typeface="맑은 고딕"/>
              </a:rPr>
              <a:t>CPM 210,158→12,033원 · ROAS 324→515%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79519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3870959"/>
            <a:ext cx="2432304" cy="7254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올영세일 사전 캠페인 목표 검증</a:t>
            </a:r>
          </a:p>
          <a:p>
            <a:pPr algn="l">
              <a:spcAft>
                <a:spcPts val="200"/>
              </a:spcAft>
            </a:pPr>
            <a:r>
              <a:rPr sz="860" b="0">
                <a:solidFill>
                  <a:srgbClr val="787872"/>
                </a:solidFill>
                <a:latin typeface="맑은 고딕"/>
              </a:rPr>
              <a:t>장바구니 vs 구매 목표 동시 운영·연계 분석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96384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96384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4632960"/>
            <a:ext cx="2450592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성과  </a:t>
            </a:r>
            <a:r>
              <a:rPr sz="980" b="1">
                <a:solidFill>
                  <a:srgbClr val="141412"/>
                </a:solidFill>
                <a:latin typeface="맑은 고딕"/>
              </a:rPr>
              <a:t>본행사 장바구니 ROAS 1,180% vs 구매 699%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3312"/>
            <a:ext cx="2724912" cy="127406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5254751"/>
            <a:ext cx="2432304" cy="7254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IP·모델 맞춤 매체 발굴 (브링그린·컬러그램)</a:t>
            </a:r>
          </a:p>
          <a:p>
            <a:pPr algn="l">
              <a:spcAft>
                <a:spcPts val="200"/>
              </a:spcAft>
            </a:pPr>
            <a:r>
              <a:rPr sz="860" b="0">
                <a:solidFill>
                  <a:srgbClr val="787872"/>
                </a:solidFill>
                <a:latin typeface="맑은 고딕"/>
              </a:rPr>
              <a:t>X 커스텀라이크+GFA / 인스티즈 신규 발굴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6016752"/>
            <a:ext cx="2450592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성과  </a:t>
            </a:r>
            <a:r>
              <a:rPr sz="980" b="1">
                <a:solidFill>
                  <a:srgbClr val="141412"/>
                </a:solidFill>
                <a:latin typeface="맑은 고딕"/>
              </a:rPr>
              <a:t>검색 9K→140K(15배) · 인스티즈 노출 733만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0984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288" y="1764792"/>
            <a:ext cx="2450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데이터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B2B2AA"/>
                </a:solidFill>
                <a:latin typeface="맑은 고딕"/>
              </a:rPr>
              <a:t>리뷰·VOC를 직접 수집·분석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0984" y="2395728"/>
            <a:ext cx="2724912" cy="4041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2487168"/>
            <a:ext cx="2432304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올리브영 VOC 리뷰 크롤링 리포트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문제  </a:t>
            </a:r>
            <a:r>
              <a:rPr sz="930" b="0">
                <a:solidFill>
                  <a:srgbClr val="373734"/>
                </a:solidFill>
                <a:latin typeface="맑은 고딕"/>
              </a:rPr>
              <a:t>기존 리스닝 툴로 구매자 리뷰 맥락·진정성 파악 한계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실행  </a:t>
            </a:r>
            <a:r>
              <a:rPr sz="930" b="0">
                <a:solidFill>
                  <a:srgbClr val="373734"/>
                </a:solidFill>
                <a:latin typeface="맑은 고딕"/>
              </a:rPr>
              <a:t>파이썬 크롤러 자체 개발 + R 빈도·키워드 분석, ‘상황·목적’ 중심 분류 → 검색·SNS·리뷰 연계 종합 리포트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올더베러 적용  </a:t>
            </a:r>
            <a:r>
              <a:rPr sz="930" b="1">
                <a:solidFill>
                  <a:srgbClr val="141412"/>
                </a:solidFill>
                <a:latin typeface="맑은 고딕"/>
              </a:rPr>
              <a:t>올더베러 VOC 딥다이브 대시보드(히어로 3종·리뷰 1,104건)로 이미 구현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00984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00984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6016752"/>
            <a:ext cx="2450592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성과  </a:t>
            </a:r>
            <a:r>
              <a:rPr sz="980" b="1">
                <a:solidFill>
                  <a:srgbClr val="141412"/>
                </a:solidFill>
                <a:latin typeface="맑은 고딕"/>
              </a:rPr>
              <a:t>올영 타 브랜드 추가 리포트 요청 연쇄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1764792"/>
            <a:ext cx="2450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크리에이티브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B2B2AA"/>
                </a:solidFill>
                <a:latin typeface="맑은 고딕"/>
              </a:rPr>
              <a:t>감도 × 성과를 잇는 소재 시스템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395728"/>
            <a:ext cx="27249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2487168"/>
            <a:ext cx="2432304" cy="139903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‘써먹히는’ 소재 가이드 (브링그린·웨이크메이크)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문제  </a:t>
            </a:r>
            <a:r>
              <a:rPr sz="930" b="0">
                <a:solidFill>
                  <a:srgbClr val="373734"/>
                </a:solidFill>
                <a:latin typeface="맑은 고딕"/>
              </a:rPr>
              <a:t>감도 vs 성과 기준 모호 → 컨펌 지연·QC 혼선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실행  </a:t>
            </a:r>
            <a:r>
              <a:rPr sz="930" b="0">
                <a:solidFill>
                  <a:srgbClr val="373734"/>
                </a:solidFill>
                <a:latin typeface="맑은 고딕"/>
              </a:rPr>
              <a:t>목적 중심 분류(USP형/프로모션형)+비주얼 키워드화(CLEAN·COOL·DYNAMIC)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3904487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44768" y="3904487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941063"/>
            <a:ext cx="2450592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성과  </a:t>
            </a:r>
            <a:r>
              <a:rPr sz="980" b="1">
                <a:solidFill>
                  <a:srgbClr val="141412"/>
                </a:solidFill>
                <a:latin typeface="맑은 고딕"/>
              </a:rPr>
              <a:t>빅&amp;스몰웨이브 실행 구조로 정착·내부 공유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471416"/>
            <a:ext cx="2724912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4562856"/>
            <a:ext cx="2432304" cy="139903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웨이크메이크 산리오 콜라보 스프레이AI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문제  </a:t>
            </a:r>
            <a:r>
              <a:rPr sz="930" b="0">
                <a:solidFill>
                  <a:srgbClr val="373734"/>
                </a:solidFill>
                <a:latin typeface="맑은 고딕"/>
              </a:rPr>
              <a:t>3~40개 브랜드 동시 콜라보·색조 경쟁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실행  </a:t>
            </a:r>
            <a:r>
              <a:rPr sz="930" b="0">
                <a:solidFill>
                  <a:srgbClr val="373734"/>
                </a:solidFill>
                <a:latin typeface="맑은 고딕"/>
              </a:rPr>
              <a:t>맞춤 크리에이터+스프레이AI·메타 파트너십·틱톡 미러링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44768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6016752"/>
            <a:ext cx="2450592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성과  </a:t>
            </a:r>
            <a:r>
              <a:rPr sz="980" b="1">
                <a:solidFill>
                  <a:srgbClr val="141412"/>
                </a:solidFill>
                <a:latin typeface="맑은 고딕"/>
              </a:rPr>
              <a:t>파트너십 ROAS 127→356→589% · CPC -38%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88552" y="1700784"/>
            <a:ext cx="2724912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34856" y="1764792"/>
            <a:ext cx="2450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인플루언서 · 시딩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B2B2AA"/>
                </a:solidFill>
                <a:latin typeface="맑은 고딕"/>
              </a:rPr>
              <a:t>맞춤 크리에이터·시딩으로 바이럴·전환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88552" y="2395728"/>
            <a:ext cx="2724912" cy="4041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34856" y="2487168"/>
            <a:ext cx="2432304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바이오힐 보(US) 시딩 콘텐츠 기획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문제  </a:t>
            </a:r>
            <a:r>
              <a:rPr sz="930" b="0">
                <a:solidFill>
                  <a:srgbClr val="373734"/>
                </a:solidFill>
                <a:latin typeface="맑은 고딕"/>
              </a:rPr>
              <a:t>B&amp;A 컷 확보 불가(인플 대부분 20대)·짧은 일정 내 바이럴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실행  </a:t>
            </a:r>
            <a:r>
              <a:rPr sz="930" b="0">
                <a:solidFill>
                  <a:srgbClr val="373734"/>
                </a:solidFill>
                <a:latin typeface="맑은 고딕"/>
              </a:rPr>
              <a:t>‘노인 필터’ 역발상+감정 트리거 자막, 나노 인플·실시간 QC·부정댓글 모니터링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올더베러 적용  </a:t>
            </a:r>
            <a:r>
              <a:rPr sz="930" b="1">
                <a:solidFill>
                  <a:srgbClr val="141412"/>
                </a:solidFill>
                <a:latin typeface="맑은 고딕"/>
              </a:rPr>
              <a:t>올더베러 마이크로/나노 시딩 앵글·역발상 훅 설계에 적용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8552" y="5980176"/>
            <a:ext cx="272491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88552" y="5980176"/>
            <a:ext cx="64008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34856" y="6016752"/>
            <a:ext cx="2450592" cy="4023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787872"/>
                </a:solidFill>
                <a:latin typeface="맑은 고딕"/>
              </a:rPr>
              <a:t>성과  </a:t>
            </a:r>
            <a:r>
              <a:rPr sz="980" b="1">
                <a:solidFill>
                  <a:srgbClr val="141412"/>
                </a:solidFill>
                <a:latin typeface="맑은 고딕"/>
              </a:rPr>
              <a:t>틱톡 75만 뷰 · CPV 3원(업계 1/5) · 공유 601건</a:t>
            </a:r>
          </a:p>
        </p:txBody>
      </p:sp>
    </p:spTree>
    <p:extLst>
      <p:ext uri="{BB962C8B-B14F-4D97-AF65-F5344CB8AC3E}">
        <p14:creationId xmlns:p14="http://schemas.microsoft.com/office/powerpoint/2010/main" val="236940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450A643-7C90-0A5F-3161-1FA2654B9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12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B8406E-AA25-4055-8B47-A9518863A4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3776C4-C954-4393-9EA9-E037AE9A2A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Product &amp; Message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0696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B4B8C0-49CB-5141-8272-359DCC5D6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529299-AF38-D353-79E5-7FA9BD6C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올더베러는</a:t>
            </a:r>
            <a:r>
              <a:rPr lang="ko-KR" altLang="en-US" dirty="0"/>
              <a:t> ‘</a:t>
            </a:r>
            <a:r>
              <a:rPr lang="ko-KR" altLang="en-US" dirty="0" err="1"/>
              <a:t>웰니스</a:t>
            </a:r>
            <a:r>
              <a:rPr lang="ko-KR" altLang="en-US" dirty="0"/>
              <a:t>’ 브랜드이지만</a:t>
            </a:r>
            <a:r>
              <a:rPr lang="en-US" altLang="ko-KR" dirty="0"/>
              <a:t>, </a:t>
            </a:r>
            <a:r>
              <a:rPr lang="ko-KR" altLang="en-US" dirty="0"/>
              <a:t>제품마다 다른 언어가 필요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DE6DB8-A594-D7D4-F5A8-2CA760E2C8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제품에 따라 적용되는 규제</a:t>
            </a:r>
            <a:r>
              <a:rPr lang="en-US" altLang="ko-KR" dirty="0"/>
              <a:t>, </a:t>
            </a:r>
            <a:r>
              <a:rPr lang="ko-KR" altLang="en-US" dirty="0"/>
              <a:t>심의 정도에 차이가 존재</a:t>
            </a:r>
            <a:endParaRPr lang="en-US" altLang="ko-KR" dirty="0"/>
          </a:p>
          <a:p>
            <a:r>
              <a:rPr lang="ko-KR" altLang="ko-KR" dirty="0"/>
              <a:t>같은 </a:t>
            </a:r>
            <a:r>
              <a:rPr lang="ko-KR" altLang="ko-KR" dirty="0" err="1"/>
              <a:t>올더베러</a:t>
            </a:r>
            <a:r>
              <a:rPr lang="ko-KR" altLang="ko-KR" dirty="0"/>
              <a:t> 제품이라도 </a:t>
            </a:r>
            <a:r>
              <a:rPr lang="ko-KR" altLang="ko-KR" b="1" dirty="0"/>
              <a:t>효능을 말할 수 있는 제품</a:t>
            </a:r>
            <a:r>
              <a:rPr lang="ko-KR" altLang="ko-KR" dirty="0"/>
              <a:t>과, </a:t>
            </a:r>
            <a:r>
              <a:rPr lang="ko-KR" altLang="ko-KR" b="1" dirty="0" err="1"/>
              <a:t>상황·루틴으로</a:t>
            </a:r>
            <a:r>
              <a:rPr lang="ko-KR" altLang="ko-KR" b="1" dirty="0"/>
              <a:t> 풀어야 하는 제품이 다</a:t>
            </a:r>
            <a:r>
              <a:rPr lang="ko-KR" altLang="en-US" b="1" dirty="0"/>
              <a:t>름</a:t>
            </a:r>
            <a:endParaRPr lang="en-US" altLang="ko-KR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59E036-3AA2-2C29-F7F0-86449B765E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52CBF83-3BDF-6E5C-7AFB-F266E9C00944}"/>
              </a:ext>
            </a:extLst>
          </p:cNvPr>
          <p:cNvCxnSpPr>
            <a:cxnSpLocks/>
          </p:cNvCxnSpPr>
          <p:nvPr/>
        </p:nvCxnSpPr>
        <p:spPr>
          <a:xfrm>
            <a:off x="1894390" y="2835797"/>
            <a:ext cx="840322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3450414-F37A-1AE6-F164-F29A4C4A147D}"/>
              </a:ext>
            </a:extLst>
          </p:cNvPr>
          <p:cNvCxnSpPr>
            <a:cxnSpLocks/>
          </p:cNvCxnSpPr>
          <p:nvPr/>
        </p:nvCxnSpPr>
        <p:spPr>
          <a:xfrm>
            <a:off x="1894390" y="3159889"/>
            <a:ext cx="0" cy="2837726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8AED18-E989-5535-D391-2D549CF40890}"/>
              </a:ext>
            </a:extLst>
          </p:cNvPr>
          <p:cNvSpPr txBox="1"/>
          <p:nvPr/>
        </p:nvSpPr>
        <p:spPr>
          <a:xfrm>
            <a:off x="1894390" y="2490064"/>
            <a:ext cx="1325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심의 난이도</a:t>
            </a:r>
            <a:r>
              <a:rPr kumimoji="0" lang="en-US" altLang="ko-KR" sz="12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12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기간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A4A16-80F0-762D-646A-A187CE0D400A}"/>
              </a:ext>
            </a:extLst>
          </p:cNvPr>
          <p:cNvSpPr txBox="1"/>
          <p:nvPr/>
        </p:nvSpPr>
        <p:spPr>
          <a:xfrm>
            <a:off x="871960" y="3159889"/>
            <a:ext cx="1022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크리에이터</a:t>
            </a:r>
            <a:endParaRPr kumimoji="0" lang="en-US" altLang="ko-KR" sz="1200" b="1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A4B2C9-6B6D-1E7F-4647-FF8A800F181D}"/>
              </a:ext>
            </a:extLst>
          </p:cNvPr>
          <p:cNvSpPr/>
          <p:nvPr/>
        </p:nvSpPr>
        <p:spPr>
          <a:xfrm>
            <a:off x="2141317" y="3055716"/>
            <a:ext cx="1244314" cy="4616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뷰티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3C6913-301E-B528-0053-F65953B806CC}"/>
              </a:ext>
            </a:extLst>
          </p:cNvPr>
          <p:cNvSpPr/>
          <p:nvPr/>
        </p:nvSpPr>
        <p:spPr>
          <a:xfrm>
            <a:off x="3487445" y="3055716"/>
            <a:ext cx="1244314" cy="4616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패션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D50257-CEF8-BB91-0DB1-BE0C59E57232}"/>
              </a:ext>
            </a:extLst>
          </p:cNvPr>
          <p:cNvSpPr/>
          <p:nvPr/>
        </p:nvSpPr>
        <p:spPr>
          <a:xfrm>
            <a:off x="4833574" y="3055716"/>
            <a:ext cx="1244314" cy="4616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식품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DF7227-4252-4483-84C9-78108A2A8727}"/>
              </a:ext>
            </a:extLst>
          </p:cNvPr>
          <p:cNvSpPr/>
          <p:nvPr/>
        </p:nvSpPr>
        <p:spPr>
          <a:xfrm>
            <a:off x="6179702" y="3055716"/>
            <a:ext cx="1244314" cy="4616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건기식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39FA08-C149-8656-0494-A6E52AB3F45D}"/>
              </a:ext>
            </a:extLst>
          </p:cNvPr>
          <p:cNvSpPr/>
          <p:nvPr/>
        </p:nvSpPr>
        <p:spPr>
          <a:xfrm>
            <a:off x="7525831" y="3055716"/>
            <a:ext cx="1244314" cy="4616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게임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467C5F-FCA6-A347-18DC-44CF452B2BD6}"/>
              </a:ext>
            </a:extLst>
          </p:cNvPr>
          <p:cNvSpPr/>
          <p:nvPr/>
        </p:nvSpPr>
        <p:spPr>
          <a:xfrm>
            <a:off x="8871959" y="3055716"/>
            <a:ext cx="1244314" cy="4616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금융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934E2012-F1A0-0A1F-5C33-46F6DCC7A0AE}"/>
              </a:ext>
            </a:extLst>
          </p:cNvPr>
          <p:cNvSpPr/>
          <p:nvPr/>
        </p:nvSpPr>
        <p:spPr>
          <a:xfrm>
            <a:off x="2336800" y="3737298"/>
            <a:ext cx="7741920" cy="2206302"/>
          </a:xfrm>
          <a:custGeom>
            <a:avLst/>
            <a:gdLst>
              <a:gd name="csX0" fmla="*/ 0 w 7741920"/>
              <a:gd name="csY0" fmla="*/ 2021840 h 2021840"/>
              <a:gd name="csX1" fmla="*/ 2529840 w 7741920"/>
              <a:gd name="csY1" fmla="*/ 711200 h 2021840"/>
              <a:gd name="csX2" fmla="*/ 4876800 w 7741920"/>
              <a:gd name="csY2" fmla="*/ 193040 h 2021840"/>
              <a:gd name="csX3" fmla="*/ 7741920 w 7741920"/>
              <a:gd name="csY3" fmla="*/ 0 h 2021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41920" h="2021840">
                <a:moveTo>
                  <a:pt x="0" y="2021840"/>
                </a:moveTo>
                <a:cubicBezTo>
                  <a:pt x="858520" y="1518920"/>
                  <a:pt x="1717040" y="1016000"/>
                  <a:pt x="2529840" y="711200"/>
                </a:cubicBezTo>
                <a:cubicBezTo>
                  <a:pt x="3342640" y="406400"/>
                  <a:pt x="4008120" y="311573"/>
                  <a:pt x="4876800" y="193040"/>
                </a:cubicBezTo>
                <a:cubicBezTo>
                  <a:pt x="5745480" y="74507"/>
                  <a:pt x="6743700" y="37253"/>
                  <a:pt x="7741920" y="0"/>
                </a:cubicBezTo>
              </a:path>
            </a:pathLst>
          </a:cu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2DECCF9-419E-875D-141D-0CF17F3DF9F6}"/>
              </a:ext>
            </a:extLst>
          </p:cNvPr>
          <p:cNvSpPr/>
          <p:nvPr/>
        </p:nvSpPr>
        <p:spPr>
          <a:xfrm>
            <a:off x="4833574" y="3820160"/>
            <a:ext cx="2590442" cy="111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6989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98AECE-2F50-EA1D-46C2-E42C66A09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2DCAE13-8B22-07EE-136D-6FFFE21C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/>
              <a:t>제품 </a:t>
            </a:r>
            <a:r>
              <a:rPr lang="ko-KR" altLang="en-US" b="1" dirty="0"/>
              <a:t>포트폴리오 </a:t>
            </a:r>
            <a:r>
              <a:rPr lang="en-US" altLang="ko-KR" b="1" dirty="0"/>
              <a:t>– </a:t>
            </a:r>
            <a:r>
              <a:rPr lang="ko-KR" altLang="ko-KR" b="1" dirty="0"/>
              <a:t>우선순위</a:t>
            </a:r>
            <a:r>
              <a:rPr lang="en-US" altLang="ko-KR" b="1" dirty="0"/>
              <a:t> </a:t>
            </a:r>
            <a:r>
              <a:rPr lang="ko-KR" altLang="en-US" b="1" dirty="0"/>
              <a:t>설정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8FC869-28FE-2BC0-F668-1A4551F224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5FDDAB-B337-E5C5-E3B7-1385A36700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53E674-4E8A-25FF-1F9B-B9A8438564B6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선발대</a:t>
            </a:r>
            <a:r>
              <a:rPr lang="en-US" altLang="ko-KR" sz="1600" spc="-100" dirty="0">
                <a:solidFill>
                  <a:schemeClr val="tx1"/>
                </a:solidFill>
              </a:rPr>
              <a:t> :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엑스트라버진</a:t>
            </a:r>
            <a:r>
              <a:rPr lang="ko-KR" altLang="en-US" sz="1600" spc="-100" dirty="0">
                <a:solidFill>
                  <a:schemeClr val="tx1"/>
                </a:solidFill>
              </a:rPr>
              <a:t> 올리브오일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멜라나잇</a:t>
            </a:r>
            <a:r>
              <a:rPr lang="ko-KR" altLang="en-US" sz="1600" spc="-100" dirty="0">
                <a:solidFill>
                  <a:schemeClr val="tx1"/>
                </a:solidFill>
              </a:rPr>
              <a:t> 구미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</a:rPr>
              <a:t>콜라겐 구미 일반식품 구미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spc="-100" dirty="0">
                <a:solidFill>
                  <a:schemeClr val="tx1"/>
                </a:solidFill>
              </a:rPr>
              <a:t>7</a:t>
            </a:r>
            <a:r>
              <a:rPr lang="ko-KR" altLang="en-US" sz="1600" b="1" spc="-100" dirty="0">
                <a:solidFill>
                  <a:schemeClr val="tx1"/>
                </a:solidFill>
              </a:rPr>
              <a:t>월부터 빠르게 시장 언어를 테스트하고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시딩</a:t>
            </a:r>
            <a:r>
              <a:rPr lang="ko-KR" altLang="en-US" sz="1600" b="1" spc="-100" dirty="0">
                <a:solidFill>
                  <a:schemeClr val="tx1"/>
                </a:solidFill>
              </a:rPr>
              <a:t> 자산을 확보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일반</a:t>
            </a:r>
            <a:r>
              <a:rPr lang="en-US" altLang="ko-KR" sz="1600" b="1" spc="-100" dirty="0">
                <a:solidFill>
                  <a:schemeClr val="tx1"/>
                </a:solidFill>
              </a:rPr>
              <a:t>/</a:t>
            </a:r>
            <a:r>
              <a:rPr lang="ko-KR" altLang="en-US" sz="1600" b="1" spc="-100" dirty="0">
                <a:solidFill>
                  <a:schemeClr val="tx1"/>
                </a:solidFill>
              </a:rPr>
              <a:t>가공식품 또는 일반식품으로 심의 부담이 낮고 </a:t>
            </a:r>
            <a:r>
              <a:rPr lang="en-US" altLang="ko-KR" sz="1600" b="1" spc="-100" dirty="0">
                <a:solidFill>
                  <a:schemeClr val="tx1"/>
                </a:solidFill>
              </a:rPr>
              <a:t>TPO </a:t>
            </a:r>
            <a:r>
              <a:rPr lang="ko-KR" altLang="en-US" sz="1600" b="1" spc="-100" dirty="0">
                <a:solidFill>
                  <a:schemeClr val="tx1"/>
                </a:solidFill>
              </a:rPr>
              <a:t>콘텐츠화가 쉬움</a:t>
            </a: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본대</a:t>
            </a:r>
            <a:r>
              <a:rPr lang="en-US" altLang="ko-KR" sz="1600" spc="-100" dirty="0">
                <a:solidFill>
                  <a:schemeClr val="tx1"/>
                </a:solidFill>
              </a:rPr>
              <a:t> : </a:t>
            </a:r>
            <a:r>
              <a:rPr lang="ko-KR" altLang="en-US" sz="1600" spc="-100" dirty="0">
                <a:solidFill>
                  <a:schemeClr val="tx1"/>
                </a:solidFill>
              </a:rPr>
              <a:t>철분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올인원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루테인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</a:rPr>
              <a:t>비타민</a:t>
            </a:r>
            <a:r>
              <a:rPr lang="en-US" altLang="ko-KR" sz="1600" spc="-100" dirty="0">
                <a:solidFill>
                  <a:schemeClr val="tx1"/>
                </a:solidFill>
              </a:rPr>
              <a:t>C,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바나바잎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비오틴</a:t>
            </a:r>
            <a:r>
              <a:rPr lang="ko-KR" altLang="en-US" sz="1600" spc="-100" dirty="0">
                <a:solidFill>
                  <a:schemeClr val="tx1"/>
                </a:solidFill>
              </a:rPr>
              <a:t> 등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건기식</a:t>
            </a:r>
            <a:r>
              <a:rPr lang="ko-KR" altLang="en-US" sz="1600" spc="-100" dirty="0">
                <a:solidFill>
                  <a:schemeClr val="tx1"/>
                </a:solidFill>
              </a:rPr>
              <a:t> 구미	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기능성 메시지를 기반으로 구매 이유를 강화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심의 리드타임은 필요하지만</a:t>
            </a:r>
            <a:r>
              <a:rPr lang="en-US" altLang="ko-KR" sz="1600" b="1" spc="-100" dirty="0">
                <a:solidFill>
                  <a:schemeClr val="tx1"/>
                </a:solidFill>
              </a:rPr>
              <a:t>, </a:t>
            </a:r>
            <a:r>
              <a:rPr lang="ko-KR" altLang="en-US" sz="1600" b="1" spc="-100" dirty="0">
                <a:solidFill>
                  <a:schemeClr val="tx1"/>
                </a:solidFill>
              </a:rPr>
              <a:t>기능별 선택 이유를 만들 수 있음</a:t>
            </a: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spc="-100" dirty="0">
                <a:solidFill>
                  <a:schemeClr val="tx1"/>
                </a:solidFill>
              </a:rPr>
              <a:t>12</a:t>
            </a:r>
            <a:r>
              <a:rPr lang="ko-KR" altLang="en-US" sz="1600" b="1" spc="-100" dirty="0">
                <a:solidFill>
                  <a:schemeClr val="tx1"/>
                </a:solidFill>
              </a:rPr>
              <a:t>월 올영세일에서 라인업 규모감과 쟁임 구매 유도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“하나 사보고 여러 개 담는” </a:t>
            </a:r>
            <a:r>
              <a:rPr lang="en-US" altLang="ko-KR" sz="1600" b="1" spc="-100" dirty="0">
                <a:solidFill>
                  <a:schemeClr val="tx1"/>
                </a:solidFill>
              </a:rPr>
              <a:t>PB </a:t>
            </a:r>
            <a:r>
              <a:rPr lang="ko-KR" altLang="en-US" sz="1600" b="1" spc="-100" dirty="0">
                <a:solidFill>
                  <a:schemeClr val="tx1"/>
                </a:solidFill>
              </a:rPr>
              <a:t>라인 확장 효과를 만들 수 있음</a:t>
            </a:r>
            <a:endParaRPr lang="en-US" altLang="ko-KR" sz="1600" b="1" spc="-100" dirty="0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39D7FC-F1EF-44B4-D31E-5A29DDA86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80" y="0"/>
            <a:ext cx="3373120" cy="189071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F9F4C05-5BB0-B874-4236-68A9EA1C38CC}"/>
              </a:ext>
            </a:extLst>
          </p:cNvPr>
          <p:cNvCxnSpPr>
            <a:cxnSpLocks/>
          </p:cNvCxnSpPr>
          <p:nvPr/>
        </p:nvCxnSpPr>
        <p:spPr>
          <a:xfrm>
            <a:off x="650240" y="3982720"/>
            <a:ext cx="10891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CFA01AE-D5AF-5C77-C97E-BA04B7AB1F42}"/>
              </a:ext>
            </a:extLst>
          </p:cNvPr>
          <p:cNvCxnSpPr>
            <a:cxnSpLocks/>
          </p:cNvCxnSpPr>
          <p:nvPr/>
        </p:nvCxnSpPr>
        <p:spPr>
          <a:xfrm>
            <a:off x="650240" y="5222240"/>
            <a:ext cx="108915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812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A48FCD-0FD0-C4FD-B07A-907269002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45D2DD-2CAE-33A9-BFB2-4F255D00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 유형별 메시지 설계 </a:t>
            </a:r>
            <a:r>
              <a:rPr lang="en-US" altLang="ko-KR" dirty="0"/>
              <a:t>: </a:t>
            </a:r>
            <a:r>
              <a:rPr lang="ko-KR" altLang="en-US" dirty="0"/>
              <a:t>올리브오일 </a:t>
            </a:r>
            <a:r>
              <a:rPr lang="en-US" altLang="ko-KR" dirty="0"/>
              <a:t>/ </a:t>
            </a:r>
            <a:r>
              <a:rPr lang="ko-KR" altLang="en-US" dirty="0" err="1"/>
              <a:t>웰니스</a:t>
            </a:r>
            <a:r>
              <a:rPr lang="ko-KR" altLang="en-US" dirty="0"/>
              <a:t> 구미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C38922-0FCA-D170-E320-350D03020B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0F3ACD-2019-4564-E700-4816461022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2F7331-E65A-4500-951B-26A85B6E2C33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올리브오일 </a:t>
            </a:r>
            <a:r>
              <a:rPr lang="en-US" altLang="ko-KR" sz="1600" b="1" spc="-100" dirty="0">
                <a:solidFill>
                  <a:schemeClr val="tx1"/>
                </a:solidFill>
              </a:rPr>
              <a:t>/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웰니스</a:t>
            </a:r>
            <a:r>
              <a:rPr lang="ko-KR" altLang="en-US" sz="1600" b="1" spc="-100" dirty="0">
                <a:solidFill>
                  <a:schemeClr val="tx1"/>
                </a:solidFill>
              </a:rPr>
              <a:t> 구미 </a:t>
            </a:r>
            <a:r>
              <a:rPr lang="en-US" altLang="ko-KR" sz="1600" b="1" spc="-100" dirty="0">
                <a:solidFill>
                  <a:schemeClr val="tx1"/>
                </a:solidFill>
              </a:rPr>
              <a:t>(</a:t>
            </a:r>
            <a:r>
              <a:rPr lang="ko-KR" altLang="en-US" sz="1600" b="1" spc="-100" dirty="0">
                <a:solidFill>
                  <a:schemeClr val="tx1"/>
                </a:solidFill>
              </a:rPr>
              <a:t>일반식품</a:t>
            </a:r>
            <a:r>
              <a:rPr lang="en-US" altLang="ko-KR" sz="1600" b="1" spc="-100" dirty="0">
                <a:solidFill>
                  <a:schemeClr val="tx1"/>
                </a:solidFill>
              </a:rPr>
              <a:t>,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건기식</a:t>
            </a:r>
            <a:r>
              <a:rPr lang="en-US" altLang="ko-KR" sz="1600" b="1" spc="-100" dirty="0">
                <a:solidFill>
                  <a:schemeClr val="tx1"/>
                </a:solidFill>
              </a:rPr>
              <a:t> </a:t>
            </a:r>
            <a:r>
              <a:rPr lang="ko-KR" altLang="en-US" sz="1600" b="1" spc="-100" dirty="0">
                <a:solidFill>
                  <a:schemeClr val="tx1"/>
                </a:solidFill>
              </a:rPr>
              <a:t>구분</a:t>
            </a:r>
            <a:r>
              <a:rPr lang="en-US" altLang="ko-KR" sz="1600" b="1" spc="-1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RTB </a:t>
            </a:r>
            <a:r>
              <a:rPr lang="ko-KR" altLang="en-US" sz="1600" spc="-100" dirty="0">
                <a:solidFill>
                  <a:schemeClr val="tx1"/>
                </a:solidFill>
              </a:rPr>
              <a:t>메시지 구체화 </a:t>
            </a:r>
            <a:r>
              <a:rPr lang="en-US" altLang="ko-KR" sz="1600" spc="-100" dirty="0">
                <a:solidFill>
                  <a:schemeClr val="tx1"/>
                </a:solidFill>
              </a:rPr>
              <a:t>: </a:t>
            </a:r>
            <a:r>
              <a:rPr lang="ko-KR" altLang="en-US" sz="1600" spc="-100" dirty="0">
                <a:solidFill>
                  <a:schemeClr val="tx1"/>
                </a:solidFill>
              </a:rPr>
              <a:t>소비자 언어로 전환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384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21028E4-064B-3A07-EF97-A00569BA3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CAA9E3-B348-6237-8736-C6ADEA1B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제품별 타겟 고객 상황</a:t>
            </a:r>
            <a:r>
              <a:rPr lang="en-US" altLang="ko-KR" dirty="0"/>
              <a:t>/TPO </a:t>
            </a:r>
            <a:r>
              <a:rPr lang="ko-KR" altLang="en-US" dirty="0"/>
              <a:t>맞춤 메시지 구체화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A38991-BEE3-7115-08DB-DEF7772E7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D5CD8E-C250-17D6-1ABC-85946A7A6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549158-CEC9-BF98-D0F5-C38582E45810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타겟 전략 </a:t>
            </a:r>
            <a:r>
              <a:rPr lang="en-US" altLang="ko-KR" sz="1600" spc="-100" dirty="0">
                <a:solidFill>
                  <a:schemeClr val="tx1"/>
                </a:solidFill>
              </a:rPr>
              <a:t>: 30</a:t>
            </a:r>
            <a:r>
              <a:rPr lang="ko-KR" altLang="en-US" sz="1600" spc="-100" dirty="0">
                <a:solidFill>
                  <a:schemeClr val="tx1"/>
                </a:solidFill>
              </a:rPr>
              <a:t>대 </a:t>
            </a:r>
            <a:r>
              <a:rPr lang="en-US" altLang="ko-KR" sz="1600" spc="-100" dirty="0">
                <a:solidFill>
                  <a:schemeClr val="tx1"/>
                </a:solidFill>
              </a:rPr>
              <a:t>- 20</a:t>
            </a:r>
            <a:r>
              <a:rPr lang="ko-KR" altLang="en-US" sz="1600" spc="-100" dirty="0">
                <a:solidFill>
                  <a:schemeClr val="tx1"/>
                </a:solidFill>
              </a:rPr>
              <a:t>대 </a:t>
            </a:r>
            <a:r>
              <a:rPr lang="en-US" altLang="ko-KR" sz="1600" spc="-100" dirty="0">
                <a:solidFill>
                  <a:schemeClr val="tx1"/>
                </a:solidFill>
              </a:rPr>
              <a:t>- 40</a:t>
            </a:r>
            <a:r>
              <a:rPr lang="ko-KR" altLang="en-US" sz="1600" spc="-100" dirty="0">
                <a:solidFill>
                  <a:schemeClr val="tx1"/>
                </a:solidFill>
              </a:rPr>
              <a:t>대 </a:t>
            </a:r>
            <a:r>
              <a:rPr lang="en-US" altLang="ko-KR" sz="1600" spc="-100" dirty="0">
                <a:solidFill>
                  <a:schemeClr val="tx1"/>
                </a:solidFill>
              </a:rPr>
              <a:t>+ </a:t>
            </a:r>
            <a:r>
              <a:rPr lang="ko-KR" altLang="en-US" sz="1600" spc="-100" dirty="0">
                <a:solidFill>
                  <a:schemeClr val="tx1"/>
                </a:solidFill>
              </a:rPr>
              <a:t>방한외국인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30</a:t>
            </a:r>
            <a:r>
              <a:rPr lang="ko-KR" altLang="en-US" sz="1600" spc="-100" dirty="0">
                <a:solidFill>
                  <a:schemeClr val="tx1"/>
                </a:solidFill>
              </a:rPr>
              <a:t>대 </a:t>
            </a:r>
            <a:r>
              <a:rPr lang="en-US" altLang="ko-KR" sz="1600" spc="-100" dirty="0">
                <a:solidFill>
                  <a:schemeClr val="tx1"/>
                </a:solidFill>
              </a:rPr>
              <a:t>–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웰니스</a:t>
            </a:r>
            <a:r>
              <a:rPr lang="ko-KR" altLang="en-US" sz="1600" spc="-100" dirty="0">
                <a:solidFill>
                  <a:schemeClr val="tx1"/>
                </a:solidFill>
              </a:rPr>
              <a:t> 루틴 형성 </a:t>
            </a:r>
            <a:r>
              <a:rPr lang="en-US" altLang="ko-KR" sz="1600" spc="-100" dirty="0">
                <a:solidFill>
                  <a:schemeClr val="tx1"/>
                </a:solidFill>
              </a:rPr>
              <a:t>/ 20</a:t>
            </a:r>
            <a:r>
              <a:rPr lang="ko-KR" altLang="en-US" sz="1600" spc="-100" dirty="0">
                <a:solidFill>
                  <a:schemeClr val="tx1"/>
                </a:solidFill>
              </a:rPr>
              <a:t>대 </a:t>
            </a:r>
            <a:r>
              <a:rPr lang="en-US" altLang="ko-KR" sz="1600" spc="-100" dirty="0">
                <a:solidFill>
                  <a:schemeClr val="tx1"/>
                </a:solidFill>
              </a:rPr>
              <a:t>–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웰니스</a:t>
            </a:r>
            <a:r>
              <a:rPr lang="ko-KR" altLang="en-US" sz="1600" spc="-100" dirty="0">
                <a:solidFill>
                  <a:schemeClr val="tx1"/>
                </a:solidFill>
              </a:rPr>
              <a:t>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입문템</a:t>
            </a:r>
            <a:r>
              <a:rPr lang="ko-KR" altLang="en-US" sz="1600" spc="-100" dirty="0">
                <a:solidFill>
                  <a:schemeClr val="tx1"/>
                </a:solidFill>
              </a:rPr>
              <a:t> </a:t>
            </a:r>
            <a:r>
              <a:rPr lang="en-US" altLang="ko-KR" sz="1600" spc="-100" dirty="0">
                <a:solidFill>
                  <a:schemeClr val="tx1"/>
                </a:solidFill>
              </a:rPr>
              <a:t>/ 40</a:t>
            </a:r>
            <a:r>
              <a:rPr lang="ko-KR" altLang="en-US" sz="1600" spc="-100" dirty="0">
                <a:solidFill>
                  <a:schemeClr val="tx1"/>
                </a:solidFill>
              </a:rPr>
              <a:t>대 </a:t>
            </a:r>
            <a:r>
              <a:rPr lang="en-US" altLang="ko-KR" sz="1600" spc="-100" dirty="0">
                <a:solidFill>
                  <a:schemeClr val="tx1"/>
                </a:solidFill>
              </a:rPr>
              <a:t>– </a:t>
            </a:r>
            <a:r>
              <a:rPr lang="ko-KR" altLang="en-US" sz="1600" spc="-100" dirty="0">
                <a:solidFill>
                  <a:schemeClr val="tx1"/>
                </a:solidFill>
              </a:rPr>
              <a:t>실질 구매 전환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TPO </a:t>
            </a:r>
            <a:r>
              <a:rPr lang="ko-KR" altLang="en-US" sz="1600" spc="-100" dirty="0">
                <a:solidFill>
                  <a:schemeClr val="tx1"/>
                </a:solidFill>
              </a:rPr>
              <a:t>맞춤 메시지 다양화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39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A6668AC-A608-E9EC-D3C4-6D63BEAD4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17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4CFDA7-042C-D14D-D2F1-D2A3682B26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06F3BF-6A24-C270-6A50-8773EC9015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Seeding Content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7188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590D97-E647-7994-5DFC-9CC738036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7BBECBC-4B5C-5C5C-1B32-E6E8B8CE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ko-KR" altLang="en-US" dirty="0" err="1"/>
              <a:t>시딩이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순위인가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56D7542-4479-AF3D-880A-44955D34D3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52F0D3-6C36-5291-6FAF-51FA5E3672A8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올더베러는</a:t>
            </a:r>
            <a:r>
              <a:rPr lang="ko-KR" altLang="en-US" sz="1600" spc="-100" dirty="0">
                <a:solidFill>
                  <a:schemeClr val="tx1"/>
                </a:solidFill>
              </a:rPr>
              <a:t> 아직 브랜드 이름 자체로 소비자를 끌어당기는 힘이 강하지 않습니다</a:t>
            </a:r>
            <a:r>
              <a:rPr lang="en-US" altLang="ko-KR" sz="1600" spc="-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따라서 소비자가 선택을 망설이지 않도록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</a:rPr>
              <a:t>충분한 후기</a:t>
            </a:r>
            <a:r>
              <a:rPr lang="en-US" altLang="ko-KR" sz="1600" spc="-100" dirty="0">
                <a:solidFill>
                  <a:schemeClr val="tx1"/>
                </a:solidFill>
              </a:rPr>
              <a:t>·</a:t>
            </a:r>
            <a:r>
              <a:rPr lang="ko-KR" altLang="en-US" sz="1600" spc="-100" dirty="0">
                <a:solidFill>
                  <a:schemeClr val="tx1"/>
                </a:solidFill>
              </a:rPr>
              <a:t>리뷰</a:t>
            </a:r>
            <a:r>
              <a:rPr lang="en-US" altLang="ko-KR" sz="1600" spc="-100" dirty="0">
                <a:solidFill>
                  <a:schemeClr val="tx1"/>
                </a:solidFill>
              </a:rPr>
              <a:t>·</a:t>
            </a:r>
            <a:r>
              <a:rPr lang="ko-KR" altLang="en-US" sz="1600" spc="-100" dirty="0">
                <a:solidFill>
                  <a:schemeClr val="tx1"/>
                </a:solidFill>
              </a:rPr>
              <a:t>해시태그</a:t>
            </a:r>
            <a:r>
              <a:rPr lang="en-US" altLang="ko-KR" sz="1600" spc="-100" dirty="0">
                <a:solidFill>
                  <a:schemeClr val="tx1"/>
                </a:solidFill>
              </a:rPr>
              <a:t>·</a:t>
            </a:r>
            <a:r>
              <a:rPr lang="ko-KR" altLang="en-US" sz="1600" spc="-100" dirty="0">
                <a:solidFill>
                  <a:schemeClr val="tx1"/>
                </a:solidFill>
              </a:rPr>
              <a:t>콘텐츠 볼륨을 우선</a:t>
            </a:r>
            <a:r>
              <a:rPr lang="en-US" altLang="ko-KR" sz="1600" spc="-100" dirty="0">
                <a:solidFill>
                  <a:schemeClr val="tx1"/>
                </a:solidFill>
              </a:rPr>
              <a:t> </a:t>
            </a:r>
            <a:r>
              <a:rPr lang="ko-KR" altLang="en-US" sz="1600" spc="-100" dirty="0">
                <a:solidFill>
                  <a:schemeClr val="tx1"/>
                </a:solidFill>
              </a:rPr>
              <a:t>확보해야 합니다</a:t>
            </a:r>
            <a:r>
              <a:rPr lang="en-US" altLang="ko-KR" sz="1600" spc="-1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2000" b="1" spc="-100" dirty="0" err="1">
                <a:solidFill>
                  <a:schemeClr val="tx1"/>
                </a:solidFill>
              </a:rPr>
              <a:t>시딩은</a:t>
            </a:r>
            <a:r>
              <a:rPr lang="ko-KR" altLang="en-US" sz="2000" b="1" spc="-100" dirty="0">
                <a:solidFill>
                  <a:schemeClr val="tx1"/>
                </a:solidFill>
              </a:rPr>
              <a:t> 단순히 노출 수량을 만드는 일이 아니라</a:t>
            </a:r>
            <a:r>
              <a:rPr lang="en-US" altLang="ko-KR" sz="2000" b="1" spc="-1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2000" b="1" spc="-100" dirty="0">
                <a:solidFill>
                  <a:schemeClr val="tx1"/>
                </a:solidFill>
              </a:rPr>
              <a:t>구매 판단 근거를 먼저 만드는 일입니다</a:t>
            </a:r>
            <a:r>
              <a:rPr lang="en-US" altLang="ko-KR" sz="2000" b="1" spc="-1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187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0DCC8A-2B6E-5339-6FD1-DCC3E2297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0FC02E-3E62-B285-6A5A-4402991F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전략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4BAF93-43F8-BC13-F886-D8DB80AD56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B717BD-33FB-BE3F-4119-7AE6BDF32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1C1AAD-76B3-BAC9-F757-2F43C8CE4033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크리에이터 역할별 구분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크리에이터 리스트업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…</a:t>
            </a: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크리에이터 관계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빌드업</a:t>
            </a:r>
            <a:r>
              <a:rPr lang="ko-KR" altLang="en-US" sz="1600" spc="-100" dirty="0">
                <a:solidFill>
                  <a:schemeClr val="tx1"/>
                </a:solidFill>
              </a:rPr>
              <a:t> 프로세스</a:t>
            </a:r>
            <a:br>
              <a:rPr lang="en-US" altLang="ko-KR" sz="1600" spc="-100" dirty="0">
                <a:solidFill>
                  <a:schemeClr val="tx1"/>
                </a:solidFill>
              </a:rPr>
            </a:br>
            <a:r>
              <a:rPr lang="en-US" altLang="ko-KR" sz="1600" spc="-100" dirty="0">
                <a:solidFill>
                  <a:schemeClr val="tx1"/>
                </a:solidFill>
              </a:rPr>
              <a:t>(KOL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무가시딩</a:t>
            </a:r>
            <a:r>
              <a:rPr lang="en-US" altLang="ko-KR" sz="1600" spc="-1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5877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1BCF1B-033F-9AB0-7A1A-B1851DD83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57EB283-FC74-5E56-D180-B048DD69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콘텐츠 기획 </a:t>
            </a:r>
            <a:r>
              <a:rPr lang="en-US" altLang="ko-KR" dirty="0"/>
              <a:t>: </a:t>
            </a:r>
            <a:r>
              <a:rPr lang="ko-KR" altLang="en-US" dirty="0"/>
              <a:t>제품별 콘텐츠 앵글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7C6676-9A96-FBE9-DA2E-71726CC193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B3F9F9-9032-88BB-48B2-BF1DE82E78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264BAB-900E-C30E-EB9E-89D0F5535182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제품별 </a:t>
            </a:r>
            <a:r>
              <a:rPr lang="en-US" altLang="ko-KR" sz="1600" spc="-100" dirty="0">
                <a:solidFill>
                  <a:schemeClr val="tx1"/>
                </a:solidFill>
              </a:rPr>
              <a:t>/ </a:t>
            </a:r>
            <a:r>
              <a:rPr lang="ko-KR" altLang="en-US" sz="1600" spc="-100" dirty="0">
                <a:solidFill>
                  <a:schemeClr val="tx1"/>
                </a:solidFill>
              </a:rPr>
              <a:t>시기별 크리에이터 콘텐츠 기획 예시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성공 훅 </a:t>
            </a:r>
            <a:r>
              <a:rPr lang="en-US" altLang="ko-KR" sz="1600" b="1" spc="-100" dirty="0">
                <a:solidFill>
                  <a:schemeClr val="tx1"/>
                </a:solidFill>
              </a:rPr>
              <a:t>= </a:t>
            </a:r>
            <a:r>
              <a:rPr lang="ko-KR" altLang="en-US" sz="1600" b="1" spc="-100" dirty="0">
                <a:solidFill>
                  <a:schemeClr val="tx1"/>
                </a:solidFill>
              </a:rPr>
              <a:t>명확한 타겟 </a:t>
            </a:r>
            <a:r>
              <a:rPr lang="en-US" altLang="ko-KR" sz="1600" b="1" spc="-100" dirty="0">
                <a:solidFill>
                  <a:schemeClr val="tx1"/>
                </a:solidFill>
              </a:rPr>
              <a:t>X </a:t>
            </a:r>
            <a:r>
              <a:rPr lang="ko-KR" altLang="en-US" sz="1600" b="1" spc="-100" dirty="0">
                <a:solidFill>
                  <a:schemeClr val="tx1"/>
                </a:solidFill>
              </a:rPr>
              <a:t>구체적 상황</a:t>
            </a:r>
            <a:r>
              <a:rPr lang="en-US" altLang="ko-KR" sz="1600" b="1" spc="-100" dirty="0">
                <a:solidFill>
                  <a:schemeClr val="tx1"/>
                </a:solidFill>
              </a:rPr>
              <a:t>/</a:t>
            </a:r>
            <a:r>
              <a:rPr lang="ko-KR" altLang="en-US" sz="1600" b="1" spc="-100" dirty="0">
                <a:solidFill>
                  <a:schemeClr val="tx1"/>
                </a:solidFill>
              </a:rPr>
              <a:t>에피소드 </a:t>
            </a:r>
            <a:r>
              <a:rPr lang="en-US" altLang="ko-KR" sz="1600" b="1" spc="-100" dirty="0">
                <a:solidFill>
                  <a:schemeClr val="tx1"/>
                </a:solidFill>
              </a:rPr>
              <a:t>X </a:t>
            </a:r>
            <a:r>
              <a:rPr lang="ko-KR" altLang="en-US" sz="1600" b="1" spc="-100" dirty="0">
                <a:solidFill>
                  <a:schemeClr val="tx1"/>
                </a:solidFill>
              </a:rPr>
              <a:t>반전 또는 팩트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특정 생활자를 겨냥 </a:t>
            </a:r>
            <a:r>
              <a:rPr lang="en-US" altLang="ko-KR" sz="1600" spc="-100" dirty="0">
                <a:solidFill>
                  <a:schemeClr val="tx1"/>
                </a:solidFill>
              </a:rPr>
              <a:t>– </a:t>
            </a:r>
            <a:r>
              <a:rPr lang="ko-KR" altLang="en-US" sz="1600" spc="-100" dirty="0">
                <a:solidFill>
                  <a:schemeClr val="tx1"/>
                </a:solidFill>
              </a:rPr>
              <a:t>제품이 필요한 순간을 장면화 </a:t>
            </a:r>
            <a:r>
              <a:rPr lang="en-US" altLang="ko-KR" sz="1600" spc="-100" dirty="0">
                <a:solidFill>
                  <a:schemeClr val="tx1"/>
                </a:solidFill>
              </a:rPr>
              <a:t>– </a:t>
            </a:r>
            <a:r>
              <a:rPr lang="ko-KR" altLang="en-US" sz="1600" spc="-100" dirty="0">
                <a:solidFill>
                  <a:schemeClr val="tx1"/>
                </a:solidFill>
              </a:rPr>
              <a:t>보게 만드는 정보 또는 공감 포인트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31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시딩 콘텐츠 앵글 — VOC 기반 설계 원칙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리뷰 1,104건 딥다이브 · ‘소비자가 이미 하는 말’을 후킹으로 · 식품 분류별 심의 필터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설계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6492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① VOC 빈도 = 공감 확률 — 리뷰에 자주 나온 말을 그대로 훅으로 사용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② 식품 분류별 표현 필터링 우선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707070"/>
                </a:solidFill>
                <a:latin typeface="맑은 고딕"/>
              </a:rPr>
              <a:t>    · 일반식품(올리브오일·멜라나잇·콜라겐 구미): 건강·기능 효능 표현 일체 불가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707070"/>
                </a:solidFill>
                <a:latin typeface="맑은 고딕"/>
              </a:rPr>
              <a:t>    · 건강기능식품 구미(루테인·바나바잎 등): 인정받은 기능성 문구 안에서만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맑은 고딕"/>
              </a:rPr>
              <a:t>③ 공통 약점 방어 — ‘효과 미체감’·‘가격/할인 의존’을 루틴·기대치 관리로 보완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5087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VOC 진단 — 3트랙 전략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3760" y="1920240"/>
          <a:ext cx="4526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제품(전략)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재구매율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핵심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11111"/>
                          </a:solidFill>
                          <a:latin typeface="맑은 고딕"/>
                        </a:rPr>
                        <a:t>올리브오일 캡슐 (캐시카우)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24.1%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편의 55% / 목넘김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11111"/>
                          </a:solidFill>
                          <a:latin typeface="맑은 고딕"/>
                        </a:rPr>
                        <a:t>웰니스 구미 (이탈 방어)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9.6%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맛 50.7% / 호불호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11111"/>
                          </a:solidFill>
                          <a:latin typeface="맑은 고딕"/>
                        </a:rPr>
                        <a:t>올리브오일 스틱 (맛 개선)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16.2%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별점 4.65 / 불호 70%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4160520"/>
            <a:ext cx="4526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11111"/>
                </a:solidFill>
                <a:latin typeface="맑은 고딕"/>
              </a:rPr>
              <a:t>✅ 살릴 점: ‘먹기 편한 건기식’·캡슐 가성비/충성·데일리 루틴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707070"/>
                </a:solidFill>
                <a:latin typeface="맑은 고딕"/>
              </a:rPr>
              <a:t>⚠️ 막을 점: 효과 미체감(섭취 타이밍 가이드)·맛 호불호(소용량/샘플)·가격 의존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제품별 릴스 컨셉 8종 — 한눈에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성공 훅 = 명확한 타겟 × 구체적 상황 × 반전/팩트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808768"/>
              </p:ext>
            </p:extLst>
          </p:nvPr>
        </p:nvGraphicFramePr>
        <p:xfrm>
          <a:off x="457200" y="1463040"/>
          <a:ext cx="112928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컨셉 / 훅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인트로 예시 문구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캡슐 A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707070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생올리브오일 챌린지 → 캡슐 반전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“몸에 좋다길래 생으로 먹어봤다 울었음 😵”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캡슐 B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707070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‘알약 잘 못 먹는 사람용’ 목넘김 실연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“알약만 먹으면 목에 걸리는 사람… 저요 🙋”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구미·루테인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모니터 앞 직장인의 눈 챙기기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“내 눈 24시간 근무 중인데…”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구미·바나바잎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건기식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식후 디저트처럼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“밥 먹고 나면 꼭 단 게 당기죠?”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구미·멜라나잇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707070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자기 전 무드 리추얼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“불 끄기 전, 나만의 마무리 한 알”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구미·콜라겐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707070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디저트 대신 한 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“단 거 당기는데 죄책감은 싫고”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스틱 A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707070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가방에 쏙, 출근길 한 포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33333"/>
                          </a:solidFill>
                          <a:latin typeface="맑은 고딕"/>
                        </a:rPr>
                        <a:t>“요즘 가방에 꼭 챙기는 거 하나”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스틱 B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707070"/>
                          </a:solidFill>
                          <a:latin typeface="맑은 고딕"/>
                        </a:rPr>
                        <a:t>일반식품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오일 맛 솔직 리뷰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“</a:t>
                      </a:r>
                      <a:r>
                        <a:rPr lang="ko-KR" altLang="en-US" sz="9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오일에서는 역시 오일 맛이 </a:t>
                      </a:r>
                      <a:r>
                        <a:rPr lang="ko-KR" altLang="en-US" sz="9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나야죠</a:t>
                      </a:r>
                      <a:r>
                        <a:rPr lang="en-US" altLang="ko-KR" sz="9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"</a:t>
                      </a:r>
                      <a:endParaRPr sz="9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707070"/>
                </a:solidFill>
                <a:latin typeface="맑은 고딕"/>
              </a:rPr>
              <a:t>※ VOC 키워드를 후킹으로 사용 · 식품 분류별 심의 가드 + 풀 대본/자막 타임코드 보유(부록)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릴스 컨셉 상세 — 올리브오일 캡슐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일반식품 · 효능 표현 금지(원료·맛·편의만) · 캐시카우 충성 강화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65920" y="365760"/>
            <a:ext cx="2468880" cy="4206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65920" y="420624"/>
            <a:ext cx="2468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일반식품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5266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컨셉 A. 생올리브오일 챌린지 → 캡슐 반전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0B0B0"/>
                </a:solidFill>
                <a:latin typeface="맑은 고딕"/>
              </a:rPr>
              <a:t>일반식품 · 15초·Before/After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066544"/>
          <a:ext cx="54864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0–2s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생올리브오일 한 입 → ‘윽’ 리액션 (훅)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2–6s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자막 ‘몸에 좋다길래 생으로… 너무 매워 😵’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6–11s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‘이걸 캡슐로?’ 한 포 물과 함께 슉, 표정 반전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11–15s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아침 식탁 루틴 + 제품 클로즈업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364992"/>
            <a:ext cx="548640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5303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111"/>
                </a:solidFill>
                <a:latin typeface="맑은 고딕"/>
              </a:rPr>
              <a:t>심의: 효능 금지 · ‘엑스트라 버진 올리브오일을 한 포 캡슐로’ 원료·맛·편의만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17904"/>
            <a:ext cx="5266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컨셉 B. ‘알약 잘 못 먹는 사람용’ 목넘김 실연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0B0B0"/>
                </a:solidFill>
                <a:latin typeface="맑은 고딕"/>
              </a:rPr>
              <a:t>일반식품 · 12초·공감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45352" y="2066544"/>
          <a:ext cx="54864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0–3s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‘알약만 먹으면 목에 걸리는 사람… 저요 🙋’ (VOC 29%)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3–8s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캡슐 표면 클로즈업 → 물과 함께 ASMR ‘매끄러워서 슉’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8–12s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개별포장 ‘들고 다니기도 편함’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45352" y="3054096"/>
            <a:ext cx="548640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090672"/>
            <a:ext cx="5303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111"/>
                </a:solidFill>
                <a:latin typeface="맑은 고딕"/>
              </a:rPr>
              <a:t>심의: 단점1위 목넘김 32.6% 솔직 인정 → ‘매끄럽다’ 실연(과장 ❌)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릴스 컨셉 상세 — 웰니스 구미 (건강기능식품)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인정 기능성 문구 ‘그대로’만 · 효과 암시·체험 단정 금지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65920" y="365760"/>
            <a:ext cx="2468880" cy="4206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65920" y="420624"/>
            <a:ext cx="2468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건기식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5266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컨셉 A. 모니터 앞 직장인의 눈 챙기기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0B0B0"/>
                </a:solidFill>
                <a:latin typeface="맑은 고딕"/>
              </a:rPr>
              <a:t>건기식·루테인 · 15초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066544"/>
          <a:ext cx="54864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0–3s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모니터·폰 일상 타임랩스 ‘내 눈 24시간 근무 중 👀’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3–8s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책상 위 구미 톡, 맛있게 ‘맛은 거의 젤리’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8–15s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성분 자막 + 유료광고 표시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054096"/>
            <a:ext cx="548640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5303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111"/>
                </a:solidFill>
                <a:latin typeface="맑은 고딕"/>
              </a:rPr>
              <a:t>심의: ‘루테인은 눈 건강에 도움을 줄 수 있어요’ 인정문구 그대로 · ‘눈 좋아진다’ 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17904"/>
            <a:ext cx="5266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컨셉 B. 식후 디저트처럼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0B0B0"/>
                </a:solidFill>
                <a:latin typeface="맑은 고딕"/>
              </a:rPr>
              <a:t>건기식·바나바잎 · 15초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45352" y="2066544"/>
          <a:ext cx="54864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0–3s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식사 마무리 ‘밥 먹고 디저트 대신 이거’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3–9s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구미 ASMR + 인정 기능성 자막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9–15s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‘식후 루틴’ + 표시광고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45352" y="3054096"/>
            <a:ext cx="548640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090672"/>
            <a:ext cx="5303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111"/>
                </a:solidFill>
                <a:latin typeface="맑은 고딕"/>
              </a:rPr>
              <a:t>심의: ‘식후 혈당상승 억제에 도움’ · ‘혈당 낮춤/당뇨’ 질병·치료 표방 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릴스 컨셉 상세 — 웰니스 구미 (일반식품)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효능 표현 전면 배제 · 무드·맛·간식 대체 앵글만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65920" y="365760"/>
            <a:ext cx="2468880" cy="4206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65920" y="420624"/>
            <a:ext cx="2468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일반식품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5266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컨셉 C. 자기 전 무드 리추얼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0B0B0"/>
                </a:solidFill>
                <a:latin typeface="맑은 고딕"/>
              </a:rPr>
              <a:t>일반식품·멜라나잇 · 12초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066544"/>
          <a:ext cx="54864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0–3s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조명 끄고 침대 정돈 (무드 훅)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3–8s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젤리 입에 쏙 ‘오늘 하루 마무리’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8–12s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불 끄는 컷으로 마무리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054096"/>
            <a:ext cx="548640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5303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111"/>
                </a:solidFill>
                <a:latin typeface="맑은 고딕"/>
              </a:rPr>
              <a:t>★ 심의: 수면·숙면·잠 표현 전면 금지 — ‘자기 전 리추얼·달달한 마무리’ 무드/맛만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17904"/>
            <a:ext cx="5266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컨셉 D. 디저트 대신 한 알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0B0B0"/>
                </a:solidFill>
                <a:latin typeface="맑은 고딕"/>
              </a:rPr>
              <a:t>일반식품·콜라겐 · 12초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45352" y="2066544"/>
          <a:ext cx="54864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0–3s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달달한 거 당기는 순간 ‘디저트 대신 이거’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3–8s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맛·식감 ASMR ‘간식처럼 챙겨 먹는 젤리’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8–12s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가방·파우치에서 꺼내는 휴대 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45352" y="3054096"/>
            <a:ext cx="548640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090672"/>
            <a:ext cx="5303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111"/>
                </a:solidFill>
                <a:latin typeface="맑은 고딕"/>
              </a:rPr>
              <a:t>심의: 피부·주름·탄력 효능 금지 — 맛·간식 대체·휴대 앵글만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릴스 컨셉 상세 — 올리브오일 스틱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일반식품 · 휴대·원료·편의 · 맛 불호 69.8% 선제 방어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65920" y="365760"/>
            <a:ext cx="2468880" cy="42062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65920" y="420624"/>
            <a:ext cx="2468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일반식품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5266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컨셉 A. 가방에 쏙, 출근길 한 포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0B0B0"/>
                </a:solidFill>
                <a:latin typeface="맑은 고딕"/>
              </a:rPr>
              <a:t>일반식품 · 12초·휴대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066544"/>
          <a:ext cx="54864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0–3s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파우치에서 스틱 발견 ‘가방에 꼭 챙기는 것 👜’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3–8s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톡 따서 한 포 ‘한 포 휴대 간편’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8–12s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‘엑스트라 버진 올리브오일을 이렇게’ 원료 자막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054096"/>
            <a:ext cx="548640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5303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111"/>
                </a:solidFill>
                <a:latin typeface="맑은 고딕"/>
              </a:rPr>
              <a:t>심의: 효능 금지 · 원료명·휴대·편의만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5486400" cy="5669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517904"/>
            <a:ext cx="5266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컨셉 B. 오일 맛 솔직 리뷰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B0B0B0"/>
                </a:solidFill>
                <a:latin typeface="맑은 고딕"/>
              </a:rPr>
              <a:t>일반식품 · 15초·내돈내산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467993"/>
              </p:ext>
            </p:extLst>
          </p:nvPr>
        </p:nvGraphicFramePr>
        <p:xfrm>
          <a:off x="6245352" y="2066544"/>
          <a:ext cx="54864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0–4s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‘</a:t>
                      </a:r>
                      <a:r>
                        <a:rPr lang="ko-KR" altLang="en-US"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건강한 올리브 오일 맛 아시나요</a:t>
                      </a:r>
                      <a:r>
                        <a:rPr lang="en-US" altLang="ko-KR"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?!”</a:t>
                      </a:r>
                      <a:endParaRPr sz="900" b="0" dirty="0">
                        <a:solidFill>
                          <a:srgbClr val="111111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4–10s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차갑게/물과 함께 먹는 섭취 팁 실연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10–15s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‘이 맛 OK</a:t>
                      </a:r>
                      <a:r>
                        <a:rPr lang="en-US"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,</a:t>
                      </a:r>
                      <a:r>
                        <a:rPr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11111"/>
                          </a:solidFill>
                          <a:latin typeface="맑은 고딕"/>
                        </a:rPr>
                        <a:t>휴대</a:t>
                      </a:r>
                      <a:r>
                        <a:rPr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11111"/>
                          </a:solidFill>
                          <a:latin typeface="맑은 고딕"/>
                        </a:rPr>
                        <a:t>진짜</a:t>
                      </a:r>
                      <a:r>
                        <a:rPr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11111"/>
                          </a:solidFill>
                          <a:latin typeface="맑은 고딕"/>
                        </a:rPr>
                        <a:t>편함</a:t>
                      </a:r>
                      <a:r>
                        <a:rPr sz="900" b="0" dirty="0">
                          <a:solidFill>
                            <a:srgbClr val="111111"/>
                          </a:solidFill>
                          <a:latin typeface="맑은 고딕"/>
                        </a:rPr>
                        <a:t>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245352" y="3054096"/>
            <a:ext cx="548640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090672"/>
            <a:ext cx="5303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11111"/>
                </a:solidFill>
                <a:latin typeface="맑은 고딕"/>
              </a:rPr>
              <a:t>심의: 맛 약점 먼저 인정 → 신뢰 확보 → 섭취 팁 전환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심의 가드 &amp; 표현 치환표 (❌ → ✅)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식품 분류별 표현 규칙 · 위험 표현을 안전 표현으로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11292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❌ 위험 표현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✅ 안전 표현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올리브오일 캡슐·스틱(일반)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707070"/>
                          </a:solidFill>
                          <a:latin typeface="맑은 고딕"/>
                        </a:rPr>
                        <a:t>혈관에 좋은 올리브오일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엑스트라 버진 올리브오일을 한 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구미·멜라나잇(일반)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707070"/>
                          </a:solidFill>
                          <a:latin typeface="맑은 고딕"/>
                        </a:rPr>
                        <a:t>숙면 젤리 / 잠 잘 오는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자기 전 리추얼 / 하루 마무리 젤리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구미·콜라겐(일반)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707070"/>
                          </a:solidFill>
                          <a:latin typeface="맑은 고딕"/>
                        </a:rPr>
                        <a:t>피부·주름 콜라겐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디저트 대신 챙기는 젤리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구미·루테인(건기식)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707070"/>
                          </a:solidFill>
                          <a:latin typeface="맑은 고딕"/>
                        </a:rPr>
                        <a:t>눈이 좋아지는 / 덜 침침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루테인, 눈 건강에 도움을 줄 수 있음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구미·바나바잎(건기식)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707070"/>
                          </a:solidFill>
                          <a:latin typeface="맑은 고딕"/>
                        </a:rPr>
                        <a:t>혈당 낮춰주는 / 당뇨에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식후 혈당상승 억제에 도움을 줄 수 있음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· 일반식품(올리브오일·멜라나잇·콜라겐): 질병 예방·치료, 신체기능·건강 효능 표현 전면 금지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· 건기식 구미(루테인·바나바잎): 인정 기능성 문구 그대로만, 의약품 오인·과장·체험 단정 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맑은 고딕"/>
              </a:rPr>
              <a:t>· ‘효과 미체감’ 방어: ‘꾸준히’ 표현 OK, 효과 보장·단정은 금지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릴스 공통 심의 · 표시광고 체크리스트 (인스타그램)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송출 전 필수 점검 · 건기식 컨셉은 자율심의+법무/RA 검토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70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11111"/>
                </a:solidFill>
                <a:latin typeface="맑은 고딕"/>
              </a:rPr>
              <a:t>☑ 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유료광고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/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협찬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표시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자막+음성+캡션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모두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‘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광고·유료광고·협찬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’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명시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+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인스타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‘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유료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파트너십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’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태그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(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공정위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추천·보증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심사지침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11111"/>
                </a:solidFill>
                <a:latin typeface="맑은 고딕"/>
              </a:rPr>
              <a:t>☑ 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일반식품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올리브오일·멜라나잇·콜라겐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) —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질병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예방·치료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,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신체기능·건강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효능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표현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전면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금지</a:t>
            </a:r>
            <a:endParaRPr sz="1300" b="1" dirty="0">
              <a:solidFill>
                <a:srgbClr val="111111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11111"/>
                </a:solidFill>
                <a:latin typeface="맑은 고딕"/>
              </a:rPr>
              <a:t>☑ 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건기식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구미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루테인·바나바잎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) —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인정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기능성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문구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그대로만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,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의약품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오인·과장·체험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단정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금지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(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한국건강기능식품협회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자율심의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권고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)</a:t>
            </a:r>
          </a:p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111111"/>
                </a:solidFill>
                <a:latin typeface="맑은 고딕"/>
              </a:rPr>
              <a:t>☑  ‘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효과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미체감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’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방어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— ‘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꾸준히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’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표현은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OK, 단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효과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보장·단정은</a:t>
            </a:r>
            <a:r>
              <a:rPr sz="1300" b="1" dirty="0">
                <a:solidFill>
                  <a:srgbClr val="111111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맑은 고딕"/>
              </a:rPr>
              <a:t>금지</a:t>
            </a:r>
            <a:endParaRPr sz="1300" b="1" dirty="0">
              <a:solidFill>
                <a:srgbClr val="111111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맑은 고딕"/>
              </a:rPr>
              <a:t>☑ 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건강기능식품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컨셉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루테인·바나바잎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)은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송출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전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한국건강기능식품협회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자율심의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및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법무·RA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검토</a:t>
            </a:r>
            <a:endParaRPr sz="1300" b="0" dirty="0">
              <a:solidFill>
                <a:srgbClr val="333333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endParaRPr sz="1300" b="0" dirty="0">
              <a:solidFill>
                <a:srgbClr val="333333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1200" b="1" dirty="0">
                <a:solidFill>
                  <a:srgbClr val="707070"/>
                </a:solidFill>
                <a:latin typeface="맑은 고딕"/>
              </a:rPr>
              <a:t>→ AI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심의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가이드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검증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봇으로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사전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필터링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(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반려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↓·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기간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단축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) 후, 위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체크리스트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최종</a:t>
            </a:r>
            <a:r>
              <a:rPr sz="1200" b="1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707070"/>
                </a:solidFill>
                <a:latin typeface="맑은 고딕"/>
              </a:rPr>
              <a:t>점검</a:t>
            </a:r>
            <a:endParaRPr sz="1200" b="1" dirty="0">
              <a:solidFill>
                <a:srgbClr val="70707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33BC9A2-E6E9-12A5-6EEC-5F273F04E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6F543B-AD01-4265-1DAF-1A6421CB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오프라인 인증형 </a:t>
            </a:r>
            <a:r>
              <a:rPr lang="ko-KR" altLang="en-US" dirty="0" err="1"/>
              <a:t>시딩</a:t>
            </a:r>
            <a:r>
              <a:rPr lang="ko-KR" altLang="en-US" dirty="0"/>
              <a:t> 콘텐츠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C81D8B-E04D-CDE5-F618-0C8416BC10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194C6E-3CDF-A0CA-70ED-9F4C7047F8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15050E-8A6E-89F2-AFBD-0716233AFE28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올리브영</a:t>
            </a:r>
            <a:r>
              <a:rPr lang="en-US" altLang="ko-KR" sz="1600" spc="-100" dirty="0">
                <a:solidFill>
                  <a:schemeClr val="tx1"/>
                </a:solidFill>
              </a:rPr>
              <a:t>/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올리브베러</a:t>
            </a:r>
            <a:r>
              <a:rPr lang="ko-KR" altLang="en-US" sz="1600" spc="-100" dirty="0">
                <a:solidFill>
                  <a:schemeClr val="tx1"/>
                </a:solidFill>
              </a:rPr>
              <a:t> 오프라인 매장을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시딩</a:t>
            </a:r>
            <a:r>
              <a:rPr lang="ko-KR" altLang="en-US" sz="1600" spc="-100" dirty="0">
                <a:solidFill>
                  <a:schemeClr val="tx1"/>
                </a:solidFill>
              </a:rPr>
              <a:t> 콘텐츠의 ‘현장 인증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접점’으로</a:t>
            </a:r>
            <a:r>
              <a:rPr lang="ko-KR" altLang="en-US" sz="1600" spc="-100" dirty="0">
                <a:solidFill>
                  <a:schemeClr val="tx1"/>
                </a:solidFill>
              </a:rPr>
              <a:t> 활용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“올영에서 실제로 파는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제품”이라는</a:t>
            </a:r>
            <a:r>
              <a:rPr lang="ko-KR" altLang="en-US" sz="1600" spc="-100" dirty="0">
                <a:solidFill>
                  <a:schemeClr val="tx1"/>
                </a:solidFill>
              </a:rPr>
              <a:t> 현장감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자연 발견형 바이럴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4569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C6C9FB-FE38-0D70-A439-4E3554183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30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95938-B97A-A559-7C55-7263598809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781A8F-D178-F547-3388-F57094A926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8A4839-7209-96A7-5039-82332B2785BF}"/>
              </a:ext>
            </a:extLst>
          </p:cNvPr>
          <p:cNvSpPr/>
          <p:nvPr/>
        </p:nvSpPr>
        <p:spPr>
          <a:xfrm>
            <a:off x="8260080" y="130429"/>
            <a:ext cx="3803904" cy="1422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바이럴 파트 별도 분리 검토</a:t>
            </a:r>
          </a:p>
        </p:txBody>
      </p:sp>
    </p:spTree>
    <p:extLst>
      <p:ext uri="{BB962C8B-B14F-4D97-AF65-F5344CB8AC3E}">
        <p14:creationId xmlns:p14="http://schemas.microsoft.com/office/powerpoint/2010/main" val="1681696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8D3080-F4B1-D2E8-4744-ED76B9E01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87417E71-F6F8-F6D6-B70D-0B42BCA5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구조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69A33D51-FD21-CF56-795A-54C4F5AAB2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C28A72-0FDD-C6EC-0C96-00BF918E38C1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마이크로</a:t>
            </a:r>
            <a:r>
              <a:rPr lang="en-US" altLang="ko-KR" sz="1600" b="1" spc="-100" dirty="0">
                <a:solidFill>
                  <a:schemeClr val="tx1"/>
                </a:solidFill>
              </a:rPr>
              <a:t>/</a:t>
            </a:r>
            <a:r>
              <a:rPr lang="ko-KR" altLang="en-US" sz="1600" b="1" spc="-100" dirty="0">
                <a:solidFill>
                  <a:schemeClr val="tx1"/>
                </a:solidFill>
              </a:rPr>
              <a:t>나노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시딩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spc="-100" dirty="0">
                <a:solidFill>
                  <a:schemeClr val="tx1"/>
                </a:solidFill>
              </a:rPr>
              <a:t>EGC, </a:t>
            </a:r>
            <a:r>
              <a:rPr lang="ko-KR" altLang="en-US" sz="1600" b="1" spc="-100" dirty="0">
                <a:solidFill>
                  <a:schemeClr val="tx1"/>
                </a:solidFill>
              </a:rPr>
              <a:t>전문가</a:t>
            </a:r>
            <a:r>
              <a:rPr lang="en-US" altLang="ko-KR" sz="1600" b="1" spc="-100" dirty="0">
                <a:solidFill>
                  <a:schemeClr val="tx1"/>
                </a:solidFill>
              </a:rPr>
              <a:t>, …</a:t>
            </a:r>
          </a:p>
          <a:p>
            <a:pPr algn="ctr"/>
            <a:r>
              <a:rPr lang="en-US" altLang="ko-KR" sz="1600" b="1" spc="-1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ko-KR" altLang="en-US" sz="1600" b="1" spc="-100" dirty="0" err="1">
                <a:solidFill>
                  <a:schemeClr val="tx1"/>
                </a:solidFill>
              </a:rPr>
              <a:t>챌린저스</a:t>
            </a:r>
            <a:r>
              <a:rPr lang="en-US" altLang="ko-KR" sz="1600" b="1" spc="-100" dirty="0">
                <a:solidFill>
                  <a:schemeClr val="tx1"/>
                </a:solidFill>
              </a:rPr>
              <a:t>/</a:t>
            </a:r>
            <a:r>
              <a:rPr lang="ko-KR" altLang="en-US" sz="1600" b="1" spc="-100" dirty="0">
                <a:solidFill>
                  <a:schemeClr val="tx1"/>
                </a:solidFill>
              </a:rPr>
              <a:t>체험단</a:t>
            </a:r>
            <a:r>
              <a:rPr lang="en-US" altLang="ko-KR" sz="1600" b="1" spc="-100" dirty="0">
                <a:solidFill>
                  <a:schemeClr val="tx1"/>
                </a:solidFill>
              </a:rPr>
              <a:t>/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어필리에이트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b="1" spc="-1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altLang="ko-KR" sz="1600" b="1" spc="-100" dirty="0">
                <a:solidFill>
                  <a:schemeClr val="tx1"/>
                </a:solidFill>
              </a:rPr>
              <a:t>KOL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무가시딩</a:t>
            </a:r>
            <a:r>
              <a:rPr lang="en-US" altLang="ko-KR" sz="1600" b="1" spc="-100" dirty="0">
                <a:solidFill>
                  <a:schemeClr val="tx1"/>
                </a:solidFill>
              </a:rPr>
              <a:t>/</a:t>
            </a:r>
            <a:r>
              <a:rPr lang="ko-KR" altLang="en-US" sz="1600" b="1" spc="-100" dirty="0">
                <a:solidFill>
                  <a:schemeClr val="tx1"/>
                </a:solidFill>
              </a:rPr>
              <a:t>파워페이지</a:t>
            </a:r>
            <a:r>
              <a:rPr lang="en-US" altLang="ko-KR" sz="1600" b="1" spc="-100" dirty="0">
                <a:solidFill>
                  <a:schemeClr val="tx1"/>
                </a:solidFill>
              </a:rPr>
              <a:t>/</a:t>
            </a:r>
            <a:r>
              <a:rPr lang="ko-KR" altLang="en-US" sz="1600" b="1" spc="-100" dirty="0">
                <a:solidFill>
                  <a:schemeClr val="tx1"/>
                </a:solidFill>
              </a:rPr>
              <a:t>바이럴</a:t>
            </a:r>
            <a:r>
              <a:rPr lang="en-US" altLang="ko-KR" sz="1600" b="1" spc="-100" dirty="0">
                <a:solidFill>
                  <a:schemeClr val="tx1"/>
                </a:solidFill>
              </a:rPr>
              <a:t>/GEO(AEO)</a:t>
            </a:r>
          </a:p>
          <a:p>
            <a:pPr algn="ctr"/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b="1" spc="-100" dirty="0">
                <a:solidFill>
                  <a:schemeClr val="tx1"/>
                </a:solidFill>
              </a:rPr>
              <a:t>점점 커지는 물량으로 설계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7</a:t>
            </a:r>
            <a:r>
              <a:rPr lang="ko-KR" altLang="en-US" sz="1600" spc="-100" dirty="0">
                <a:solidFill>
                  <a:schemeClr val="tx1"/>
                </a:solidFill>
              </a:rPr>
              <a:t>월부터 시장 언어와 콘텐츠 앵글을 테스트하고</a:t>
            </a:r>
            <a:r>
              <a:rPr lang="en-US" altLang="ko-KR" sz="1600" spc="-1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8</a:t>
            </a:r>
            <a:r>
              <a:rPr lang="ko-KR" altLang="en-US" sz="1600" spc="-100" dirty="0">
                <a:solidFill>
                  <a:schemeClr val="tx1"/>
                </a:solidFill>
              </a:rPr>
              <a:t>월 말</a:t>
            </a:r>
            <a:r>
              <a:rPr lang="en-US" altLang="ko-KR" sz="1600" spc="-100" dirty="0">
                <a:solidFill>
                  <a:schemeClr val="tx1"/>
                </a:solidFill>
              </a:rPr>
              <a:t>~9</a:t>
            </a:r>
            <a:r>
              <a:rPr lang="ko-KR" altLang="en-US" sz="1600" spc="-100" dirty="0">
                <a:solidFill>
                  <a:schemeClr val="tx1"/>
                </a:solidFill>
              </a:rPr>
              <a:t>월 초 올영세일 직전에 필요한 콘텐츠가 충분히 올라오도록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시딩</a:t>
            </a:r>
            <a:r>
              <a:rPr lang="ko-KR" altLang="en-US" sz="1600" spc="-100" dirty="0">
                <a:solidFill>
                  <a:schemeClr val="tx1"/>
                </a:solidFill>
              </a:rPr>
              <a:t> 물량을 집중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510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BB08293-4AB4-09D8-BD12-E37A1235F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10A5F01-5026-2332-A4CD-8ACBE12D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챌린저스</a:t>
            </a:r>
            <a:r>
              <a:rPr lang="en-US" altLang="ko-KR" b="1" dirty="0"/>
              <a:t>/</a:t>
            </a:r>
            <a:r>
              <a:rPr lang="ko-KR" altLang="en-US" b="1" dirty="0"/>
              <a:t>체험단</a:t>
            </a:r>
            <a:r>
              <a:rPr lang="en-US" altLang="ko-KR" b="1" dirty="0"/>
              <a:t>/</a:t>
            </a:r>
            <a:r>
              <a:rPr lang="ko-KR" altLang="en-US" b="1" dirty="0" err="1"/>
              <a:t>어필리에이트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C9AA3D-6A81-E431-4AD8-D911D92CA9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D69285-5297-C978-9C88-38CD4E8637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3C4EF3-5048-1515-30B8-EC1556C51AAE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챌린저스</a:t>
            </a:r>
            <a:r>
              <a:rPr lang="ko-KR" altLang="en-US" sz="1600" spc="-100" dirty="0">
                <a:solidFill>
                  <a:schemeClr val="tx1"/>
                </a:solidFill>
              </a:rPr>
              <a:t> 다수 동시 게시</a:t>
            </a:r>
            <a:r>
              <a:rPr lang="en-US" altLang="ko-KR" sz="1600" spc="-100" dirty="0">
                <a:solidFill>
                  <a:schemeClr val="tx1"/>
                </a:solidFill>
              </a:rPr>
              <a:t>(</a:t>
            </a:r>
            <a:r>
              <a:rPr lang="ko-KR" altLang="en-US" sz="1600" spc="-100" dirty="0">
                <a:solidFill>
                  <a:schemeClr val="tx1"/>
                </a:solidFill>
              </a:rPr>
              <a:t>실시간 랭킹 견인</a:t>
            </a:r>
            <a:r>
              <a:rPr lang="en-US" altLang="ko-KR" sz="1600" spc="-100" dirty="0">
                <a:solidFill>
                  <a:schemeClr val="tx1"/>
                </a:solidFill>
              </a:rPr>
              <a:t>) </a:t>
            </a:r>
            <a:r>
              <a:rPr lang="ko-KR" altLang="en-US" sz="1600" spc="-100" dirty="0">
                <a:solidFill>
                  <a:schemeClr val="tx1"/>
                </a:solidFill>
              </a:rPr>
              <a:t>전략으로 올영세일 시즌 카테고리 랭킹 상위</a:t>
            </a:r>
            <a:r>
              <a:rPr lang="en-US" altLang="ko-KR" sz="1600" spc="-100" dirty="0">
                <a:solidFill>
                  <a:schemeClr val="tx1"/>
                </a:solidFill>
              </a:rPr>
              <a:t>/1</a:t>
            </a:r>
            <a:r>
              <a:rPr lang="ko-KR" altLang="en-US" sz="1600" spc="-100" dirty="0">
                <a:solidFill>
                  <a:schemeClr val="tx1"/>
                </a:solidFill>
              </a:rPr>
              <a:t>위를 확보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올리브영 쇼핑 큐레이터 </a:t>
            </a:r>
            <a:r>
              <a:rPr lang="en-US" altLang="ko-KR" sz="1600" spc="-100" dirty="0">
                <a:solidFill>
                  <a:schemeClr val="tx1"/>
                </a:solidFill>
              </a:rPr>
              <a:t>/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쿠팡</a:t>
            </a:r>
            <a:r>
              <a:rPr lang="ko-KR" altLang="en-US" sz="1600" spc="-100" dirty="0">
                <a:solidFill>
                  <a:schemeClr val="tx1"/>
                </a:solidFill>
              </a:rPr>
              <a:t>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파트너스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19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20DEB34-FCBA-52F3-C7DB-90D5BD12E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425146-9BDD-E0E2-5A95-1B1812CE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KOL </a:t>
            </a:r>
            <a:r>
              <a:rPr lang="ko-KR" altLang="en-US" b="1" dirty="0" err="1"/>
              <a:t>무가시딩</a:t>
            </a:r>
            <a:r>
              <a:rPr lang="en-US" altLang="ko-KR" b="1" dirty="0"/>
              <a:t>/</a:t>
            </a:r>
            <a:r>
              <a:rPr lang="ko-KR" altLang="en-US" b="1" dirty="0"/>
              <a:t>파워페이지</a:t>
            </a:r>
            <a:r>
              <a:rPr lang="en-US" altLang="ko-KR" b="1" dirty="0"/>
              <a:t>/</a:t>
            </a:r>
            <a:r>
              <a:rPr lang="ko-KR" altLang="en-US" b="1" dirty="0"/>
              <a:t>바이럴</a:t>
            </a:r>
            <a:r>
              <a:rPr lang="en-US" altLang="ko-KR" b="1" dirty="0"/>
              <a:t>/GEO(AEO)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429F62-0642-20EA-CC49-352C754AF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B4F8FF-EE65-A1A7-1FA4-E12835432E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3F6503-369A-4C37-3A32-A56B822C1ED6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인스타그램</a:t>
            </a:r>
            <a:r>
              <a:rPr lang="en-US" altLang="ko-KR" sz="1600" spc="-100" dirty="0">
                <a:solidFill>
                  <a:schemeClr val="tx1"/>
                </a:solidFill>
              </a:rPr>
              <a:t>·</a:t>
            </a:r>
            <a:r>
              <a:rPr lang="ko-KR" altLang="en-US" sz="1600" spc="-100" dirty="0">
                <a:solidFill>
                  <a:schemeClr val="tx1"/>
                </a:solidFill>
              </a:rPr>
              <a:t>블로그</a:t>
            </a:r>
            <a:r>
              <a:rPr lang="en-US" altLang="ko-KR" sz="1600" spc="-100" dirty="0">
                <a:solidFill>
                  <a:schemeClr val="tx1"/>
                </a:solidFill>
              </a:rPr>
              <a:t>·X </a:t>
            </a:r>
            <a:r>
              <a:rPr lang="ko-KR" altLang="en-US" sz="1600" spc="-100" dirty="0">
                <a:solidFill>
                  <a:schemeClr val="tx1"/>
                </a:solidFill>
              </a:rPr>
              <a:t>마이크로 바이럴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+ </a:t>
            </a:r>
            <a:r>
              <a:rPr lang="ko-KR" altLang="en-US" sz="1600" spc="-100" dirty="0">
                <a:solidFill>
                  <a:schemeClr val="tx1"/>
                </a:solidFill>
              </a:rPr>
              <a:t>뷰티 정보 플랫폼</a:t>
            </a:r>
            <a:r>
              <a:rPr lang="en-US" altLang="ko-KR" sz="1600" spc="-100" dirty="0">
                <a:solidFill>
                  <a:schemeClr val="tx1"/>
                </a:solidFill>
              </a:rPr>
              <a:t>·</a:t>
            </a:r>
            <a:r>
              <a:rPr lang="ko-KR" altLang="en-US" sz="1600" spc="-100" dirty="0">
                <a:solidFill>
                  <a:schemeClr val="tx1"/>
                </a:solidFill>
              </a:rPr>
              <a:t>대형 커뮤니티 체험단</a:t>
            </a:r>
            <a:r>
              <a:rPr lang="en-US" altLang="ko-KR" sz="1600" spc="-100" dirty="0">
                <a:solidFill>
                  <a:schemeClr val="tx1"/>
                </a:solidFill>
              </a:rPr>
              <a:t>/</a:t>
            </a:r>
            <a:r>
              <a:rPr lang="ko-KR" altLang="en-US" sz="1600" spc="-100" dirty="0">
                <a:solidFill>
                  <a:schemeClr val="tx1"/>
                </a:solidFill>
              </a:rPr>
              <a:t>파워페이지 바이럴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PR = </a:t>
            </a:r>
            <a:r>
              <a:rPr lang="ko-KR" altLang="en-US" sz="1600" spc="-100" dirty="0">
                <a:solidFill>
                  <a:schemeClr val="tx1"/>
                </a:solidFill>
              </a:rPr>
              <a:t>검색 답변 시대의 전략 </a:t>
            </a:r>
            <a:r>
              <a:rPr lang="en-US" altLang="ko-KR" sz="1600" spc="-100" dirty="0">
                <a:solidFill>
                  <a:schemeClr val="tx1"/>
                </a:solidFill>
              </a:rPr>
              <a:t>: </a:t>
            </a:r>
            <a:r>
              <a:rPr lang="ko-KR" altLang="en-US" sz="1600" spc="-100" dirty="0">
                <a:solidFill>
                  <a:schemeClr val="tx1"/>
                </a:solidFill>
              </a:rPr>
              <a:t>단순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푸시가</a:t>
            </a:r>
            <a:r>
              <a:rPr lang="ko-KR" altLang="en-US" sz="1600" spc="-100" dirty="0">
                <a:solidFill>
                  <a:schemeClr val="tx1"/>
                </a:solidFill>
              </a:rPr>
              <a:t> 아니라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</a:rPr>
              <a:t>검색 풀</a:t>
            </a:r>
            <a:r>
              <a:rPr lang="en-US" altLang="ko-KR" sz="1600" spc="-100" dirty="0">
                <a:solidFill>
                  <a:schemeClr val="tx1"/>
                </a:solidFill>
              </a:rPr>
              <a:t>(Pull) </a:t>
            </a:r>
            <a:r>
              <a:rPr lang="ko-KR" altLang="en-US" sz="1600" spc="-100" dirty="0">
                <a:solidFill>
                  <a:schemeClr val="tx1"/>
                </a:solidFill>
              </a:rPr>
              <a:t>자산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키워드 설계 → </a:t>
            </a:r>
            <a:r>
              <a:rPr lang="en-US" altLang="ko-KR" sz="1600" spc="-100" dirty="0">
                <a:solidFill>
                  <a:schemeClr val="tx1"/>
                </a:solidFill>
              </a:rPr>
              <a:t>SEO / AEO, GEO</a:t>
            </a:r>
            <a:r>
              <a:rPr lang="ko-KR" altLang="en-US" sz="1600" spc="-100" dirty="0">
                <a:solidFill>
                  <a:schemeClr val="tx1"/>
                </a:solidFill>
              </a:rPr>
              <a:t>영역 구축 → 자연 유입</a:t>
            </a:r>
            <a:r>
              <a:rPr lang="en-US" altLang="ko-KR" sz="1600" spc="-100" dirty="0">
                <a:solidFill>
                  <a:schemeClr val="tx1"/>
                </a:solidFill>
              </a:rPr>
              <a:t>(</a:t>
            </a:r>
            <a:r>
              <a:rPr lang="ko-KR" altLang="en-US" sz="1600" spc="-100" dirty="0">
                <a:solidFill>
                  <a:schemeClr val="tx1"/>
                </a:solidFill>
              </a:rPr>
              <a:t>검색 풀</a:t>
            </a:r>
            <a:r>
              <a:rPr lang="en-US" altLang="ko-KR" sz="1600" spc="-100" dirty="0">
                <a:solidFill>
                  <a:schemeClr val="tx1"/>
                </a:solidFill>
              </a:rPr>
              <a:t>) </a:t>
            </a:r>
            <a:r>
              <a:rPr lang="ko-KR" altLang="en-US" sz="1600" spc="-100" dirty="0">
                <a:solidFill>
                  <a:schemeClr val="tx1"/>
                </a:solidFill>
              </a:rPr>
              <a:t>증가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929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698A81-7D16-4AC6-DEA1-2862AC98A8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34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8C0BE4-2D5E-7CFB-F874-E8F84C13EB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833262-1EEA-A619-58C0-36BCA3208D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Operation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4577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3AF200-8F01-0D2D-9FF6-6B59777E1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59B4AEB-A062-447F-3D85-0ABAEABC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개월 운영 로드맵 </a:t>
            </a:r>
            <a:r>
              <a:rPr lang="en-US" altLang="ko-KR" dirty="0"/>
              <a:t>: 9</a:t>
            </a:r>
            <a:r>
              <a:rPr lang="ko-KR" altLang="en-US" dirty="0"/>
              <a:t>월에 만들고</a:t>
            </a:r>
            <a:r>
              <a:rPr lang="en-US" altLang="ko-KR" dirty="0"/>
              <a:t>, 11-12</a:t>
            </a:r>
            <a:r>
              <a:rPr lang="ko-KR" altLang="en-US" dirty="0"/>
              <a:t>월에 다시 키운다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686975-BA3A-B0C1-7698-C9389EA56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8DA601-D83E-1EBC-1394-05C33E24375B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7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월 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– 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콘텐츠 설계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테스트 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</a:t>
            </a: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제품별 </a:t>
            </a:r>
            <a:r>
              <a:rPr kumimoji="0" lang="ko-KR" altLang="en-US" sz="1600" b="1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위닝</a:t>
            </a: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앵글</a:t>
            </a:r>
            <a:r>
              <a:rPr kumimoji="0" lang="en-US" altLang="ko-KR" sz="16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메시지 확보</a:t>
            </a:r>
            <a:endParaRPr kumimoji="0" lang="en-US" altLang="ko-KR" sz="1600" b="1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600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8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월 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–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시딩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본격화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: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올영세일 전 콘텐츠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후기 축적</a:t>
            </a:r>
            <a:endParaRPr lang="en-US" altLang="ko-KR" sz="1600" b="1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9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월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– 1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차 </a:t>
            </a:r>
            <a:r>
              <a:rPr lang="ko-KR" altLang="en-US" sz="1600" spc="-100" dirty="0" err="1">
                <a:solidFill>
                  <a:srgbClr val="000000"/>
                </a:solidFill>
                <a:latin typeface="Pretendard"/>
                <a:ea typeface="Pretendard"/>
              </a:rPr>
              <a:t>부스팅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: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올영세일 집중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 err="1">
                <a:solidFill>
                  <a:srgbClr val="000000"/>
                </a:solidFill>
                <a:latin typeface="Pretendard"/>
                <a:ea typeface="Pretendard"/>
              </a:rPr>
              <a:t>퍼포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 연계 유입 증대 및 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1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위 확보</a:t>
            </a:r>
            <a:endParaRPr lang="en-US" altLang="ko-KR" sz="1600" b="1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10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월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–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낙수효과 유지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: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후기 확산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콘텐츠 보강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 err="1">
                <a:solidFill>
                  <a:srgbClr val="000000"/>
                </a:solidFill>
                <a:latin typeface="Pretendard"/>
                <a:ea typeface="Pretendard"/>
              </a:rPr>
              <a:t>위닝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 소재 지속 활용</a:t>
            </a:r>
            <a:endParaRPr lang="en-US" altLang="ko-KR" sz="1600" b="1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11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월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–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세일 준비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: </a:t>
            </a:r>
            <a:r>
              <a:rPr lang="ko-KR" altLang="en-US" sz="1600" b="1" spc="-100" dirty="0" err="1">
                <a:solidFill>
                  <a:srgbClr val="000000"/>
                </a:solidFill>
                <a:latin typeface="Pretendard"/>
                <a:ea typeface="Pretendard"/>
              </a:rPr>
              <a:t>위닝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 소재 테스트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콘텐츠 확보</a:t>
            </a:r>
            <a:endParaRPr lang="en-US" altLang="ko-KR" sz="1600" b="1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12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월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– 2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차 </a:t>
            </a:r>
            <a:r>
              <a:rPr lang="ko-KR" altLang="en-US" sz="1600" spc="-100" dirty="0" err="1">
                <a:solidFill>
                  <a:srgbClr val="000000"/>
                </a:solidFill>
                <a:latin typeface="Pretendard"/>
                <a:ea typeface="Pretendard"/>
              </a:rPr>
              <a:t>부스팅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: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올영세일 집중 집행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확장 구매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및 재구매 활성화</a:t>
            </a:r>
            <a:endParaRPr kumimoji="0" lang="en-US" altLang="ko-KR" sz="1600" b="1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036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38D3E7-3797-B9CF-6CEC-89CF84DC7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BAF97A5-66A4-CBE2-7EF9-18E0637A3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KPI &amp; Budget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F76BD7-8DE8-EA1E-985A-C672F3C455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640AEE1-4903-03F2-2B25-2FB61E2A8DA8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KPI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수치 제시 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</a:t>
            </a:r>
            <a:r>
              <a:rPr kumimoji="0" lang="ko-KR" altLang="en-US" sz="160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검색량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…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월 </a:t>
            </a:r>
            <a:r>
              <a:rPr lang="ko-KR" altLang="en-US" sz="1600" spc="-100" dirty="0" err="1">
                <a:solidFill>
                  <a:srgbClr val="000000"/>
                </a:solidFill>
                <a:latin typeface="Pretendard"/>
                <a:ea typeface="Pretendard"/>
              </a:rPr>
              <a:t>검색량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: 3,000 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  <a:sym typeface="Wingdings" panose="05000000000000000000" pitchFamily="2" charset="2"/>
              </a:rPr>
              <a:t> 10,000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  <a:sym typeface="Wingdings" panose="05000000000000000000" pitchFamily="2" charset="2"/>
              </a:rPr>
              <a:t>등</a:t>
            </a:r>
            <a:endParaRPr kumimoji="0" lang="en-US" altLang="ko-KR" sz="160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600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2.5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억 캠페인 예산 배분 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</a:t>
            </a:r>
            <a:r>
              <a:rPr kumimoji="0" lang="ko-KR" altLang="en-US" sz="160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퍼포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광고 운영 비용 확보 필수</a:t>
            </a:r>
            <a:endParaRPr kumimoji="0" lang="en-US" altLang="ko-KR" sz="160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월별 예산 운영 방향</a:t>
            </a:r>
            <a:endParaRPr kumimoji="0" lang="en-US" altLang="ko-KR" sz="160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140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4387DE-5FEF-BB3A-D18A-F91C57C6B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C58F9E5-8FBE-EA56-6D83-4888A07A1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심의 대응 체계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88247A-B3FA-03DC-3BD7-784F8DD5AC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EED66CE-4B38-6CD6-DFF3-7163568ECF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9C8715-8CD8-A7B0-43FB-9FE9F4A637AB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올더베러는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일반식품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일반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가공식품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건강기능식품이 함께 존재합니다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따라서 콘텐츠를 먼저 만들고 나중에 검수하는 방식은 리스크가 큽니다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제품 유형별 표현 가능 범위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금지 표현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크리에이터 발화 가이드를 사전에 정리해야 합니다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600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심의 리드타임 단축 솔루션 </a:t>
            </a:r>
            <a:r>
              <a:rPr kumimoji="0" lang="en-US" altLang="ko-KR" sz="16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(AI </a:t>
            </a:r>
            <a:r>
              <a:rPr kumimoji="0" lang="ko-KR" altLang="en-US" sz="16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심의 가이드 검증</a:t>
            </a:r>
            <a:r>
              <a:rPr kumimoji="0" lang="en-US" altLang="ko-KR" sz="1600" b="1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AI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기반 심의 가이드라인 검증 봇 제작</a:t>
            </a:r>
            <a:endParaRPr kumimoji="0" lang="en-US" altLang="ko-KR" sz="160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→ 콘텐츠를 사전 필터링해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반려를 줄이고 심의 소요 기간을 단축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(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레퍼런스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: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삼성증권 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AI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심의 봇 사례 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-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사전 필터링으로 심의 시간 단축 성과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8976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90F8C5-8640-1C93-A185-2C39ABCB7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E2C4061-4202-1282-2D2E-BD6E9BEDD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성과 리포팅 솔루션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639105-29AD-78BD-F426-5C54631C7A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420E84-8A41-DAD4-0030-E59F6E0B20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47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547C94-3836-D76C-DC7C-BBAE6192B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01A7E25-F0EC-63D5-343E-D943D73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올영</a:t>
            </a:r>
            <a:r>
              <a:rPr lang="en-US" altLang="ko-KR" dirty="0"/>
              <a:t>PB TF </a:t>
            </a:r>
            <a:r>
              <a:rPr lang="ko-KR" altLang="en-US" dirty="0"/>
              <a:t>인력 구성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1F892-3DD4-9041-7CB1-2EE2FF9978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E19130-C9A6-A2C7-ADAB-5182B6EF01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26DAB8-A044-3C34-1BB0-8E491850D8C8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총괄 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PM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급 시니어 마케터 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1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인 외 실무 리소스 필수 편성</a:t>
            </a:r>
            <a:endParaRPr kumimoji="0" lang="en-US" altLang="ko-KR" sz="160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084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559AED-5E97-73A7-D4FD-69C9A1CC01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40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90FBED-E6FB-F460-EDB3-432A63D1EB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4502DD-22C9-8A45-DC51-C05B2992DE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Why Us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9758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1C6E4B-E6C5-5DB1-0D69-699480D9E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34E3D35-B734-B576-4502-E27691E4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올더베러</a:t>
            </a:r>
            <a:r>
              <a:rPr lang="ko-KR" altLang="en-US" dirty="0"/>
              <a:t> 캠페인 구조 전체 한판 요약 정리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88F887-6438-FD73-6154-D46F4D6E4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074920" cy="841248"/>
          </a:xfrm>
          <a:prstGeom prst="roundRect">
            <a:avLst>
              <a:gd name="adj" fmla="val 10000"/>
            </a:avLst>
          </a:prstGeom>
          <a:noFill/>
          <a:ln w="2540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4754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87872"/>
                </a:solidFill>
                <a:latin typeface="맑은 고딕"/>
              </a:rPr>
              <a:t>PROBLEM  ·  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412"/>
                </a:solidFill>
                <a:latin typeface="맑은 고딕"/>
              </a:rPr>
              <a:t>팔리는데 기억되지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4754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브랜드 검색 월 3천 · 시그니처 키워드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1627632"/>
            <a:ext cx="457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605272" cy="841248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44752"/>
            <a:ext cx="5303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4B4AC"/>
                </a:solidFill>
                <a:latin typeface="맑은 고딕"/>
              </a:rPr>
              <a:t>STRATEGY  · 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45920"/>
            <a:ext cx="53035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‘우연 → 의도’ 각인  ·  시그니처 키워드 「채움」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75104"/>
            <a:ext cx="5303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E2E2DB"/>
                </a:solidFill>
                <a:latin typeface="맑은 고딕"/>
              </a:rPr>
              <a:t>EAT — 매일(Everyday) · 쉽게(Accessible) · 맛있게(Tasty)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40864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373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14016"/>
            <a:ext cx="14630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4B4AC"/>
                </a:solidFill>
                <a:latin typeface="맑은 고딕"/>
              </a:rPr>
              <a:t>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377440"/>
            <a:ext cx="9692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7월 중 올영 카테고리 랭킹 1위 달성  →  9·12월 올영세일 확대  →  웰니스 대표 PB 브랜드 착지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89504"/>
            <a:ext cx="1127455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73734"/>
                </a:solidFill>
                <a:latin typeface="맑은 고딕"/>
              </a:rPr>
              <a:t>ENGINE   ·   SEED → PROVE → BOOST → RETAIN   (시딩–콘텐츠–퍼포 연결)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2697480" cy="402336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255264"/>
            <a:ext cx="3657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4B4AC"/>
                </a:solidFill>
                <a:latin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12801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SEED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273552"/>
            <a:ext cx="13258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E2E2DB"/>
                </a:solidFill>
                <a:latin typeface="맑은 고딕"/>
              </a:rPr>
              <a:t>경험·후기 생산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02736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657600"/>
            <a:ext cx="2423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787872"/>
                </a:solidFill>
                <a:latin typeface="맑은 고딕"/>
              </a:rPr>
              <a:t>전술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3895344"/>
            <a:ext cx="24231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마이크로/나노 시딩 (월 대량)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챌린저스 · KOL 무가시딩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EGC · 제품 콘텐츠 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059935"/>
            <a:ext cx="457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82696" y="3200400"/>
            <a:ext cx="2697480" cy="402336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3255264"/>
            <a:ext cx="3657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4B4AC"/>
                </a:solidFill>
                <a:latin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9896" y="3246120"/>
            <a:ext cx="12801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3273552"/>
            <a:ext cx="13258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E2E2DB"/>
                </a:solidFill>
                <a:latin typeface="맑은 고딕"/>
              </a:rPr>
              <a:t>선택 근거 증명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82696" y="3602736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657600"/>
            <a:ext cx="2423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787872"/>
                </a:solidFill>
                <a:latin typeface="맑은 고딕"/>
              </a:rPr>
              <a:t>전술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895344"/>
            <a:ext cx="24231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리뷰·해시태그·UGC 축적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커뮤니티 체험단(탑)·파워페이지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네이버 블로그 SEO·검색 자산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4" y="4059935"/>
            <a:ext cx="457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8192" y="3200400"/>
            <a:ext cx="2697480" cy="402336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3255264"/>
            <a:ext cx="3657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4B4AC"/>
                </a:solidFill>
                <a:latin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3246120"/>
            <a:ext cx="12801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BOOST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3273552"/>
            <a:ext cx="13258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E2E2DB"/>
                </a:solidFill>
                <a:latin typeface="맑은 고딕"/>
              </a:rPr>
              <a:t>전환 증폭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08192" y="3602736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3657600"/>
            <a:ext cx="2423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787872"/>
                </a:solidFill>
                <a:latin typeface="맑은 고딕"/>
              </a:rPr>
              <a:t>전술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3895344"/>
            <a:ext cx="24231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퍼포 매체 (PA·올영 인앱)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LMF 위닝 소재 · 어필리에이트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올영세일 집중 집행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4059935"/>
            <a:ext cx="4572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33688" y="3200400"/>
            <a:ext cx="2697480" cy="402336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1704" y="3255264"/>
            <a:ext cx="36576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4B4AC"/>
                </a:solidFill>
                <a:latin typeface="맑은 고딕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3246120"/>
            <a:ext cx="128016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RETAIN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13848" y="3273552"/>
            <a:ext cx="13258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E2E2DB"/>
                </a:solidFill>
                <a:latin typeface="맑은 고딕"/>
              </a:rPr>
              <a:t>재구매·확장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33688" y="3602736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9992" y="3657600"/>
            <a:ext cx="2423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787872"/>
                </a:solidFill>
                <a:latin typeface="맑은 고딕"/>
              </a:rPr>
              <a:t>전술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9992" y="3895344"/>
            <a:ext cx="24231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CRM(플친)·루틴 리마인드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위닝 소재 재활용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373734"/>
                </a:solidFill>
                <a:latin typeface="맑은 고딕"/>
              </a:rPr>
              <a:t>•  라인 확장 (크로스셀)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38928"/>
            <a:ext cx="11274552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787872"/>
                </a:solidFill>
                <a:latin typeface="맑은 고딕"/>
              </a:rPr>
              <a:t>6개월 운영 · 1·2차 웨이브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3949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1F0E6"/>
          </a:solidFill>
          <a:ln w="1651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545896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2"/>
                </a:solidFill>
                <a:latin typeface="맑은 고딕"/>
              </a:rPr>
              <a:t>7월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" y="5705856"/>
            <a:ext cx="15544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착수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46350" y="53949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92654" y="545896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8월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92654" y="5705856"/>
            <a:ext cx="15544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6E6DF"/>
                </a:solidFill>
                <a:latin typeface="맑은 고딕"/>
              </a:rPr>
              <a:t>★1차 웨이브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35500" y="53949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1804" y="545896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9월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1804" y="5705856"/>
            <a:ext cx="15544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6E6DF"/>
                </a:solidFill>
                <a:latin typeface="맑은 고딕"/>
              </a:rPr>
              <a:t>★1차 피크·세일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4651" y="53949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1F0E6"/>
          </a:solidFill>
          <a:ln w="1651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70955" y="545896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1412"/>
                </a:solidFill>
                <a:latin typeface="맑은 고딕"/>
              </a:rPr>
              <a:t>10월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0955" y="5705856"/>
            <a:ext cx="15544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73734"/>
                </a:solidFill>
                <a:latin typeface="맑은 고딕"/>
              </a:rPr>
              <a:t>유지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13801" y="53949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60105" y="545896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11월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60105" y="5705856"/>
            <a:ext cx="15544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6E6DF"/>
                </a:solidFill>
                <a:latin typeface="맑은 고딕"/>
              </a:rPr>
              <a:t>★2차·블프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02951" y="53949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9255" y="545896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</a:rPr>
              <a:t>12월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49255" y="5705856"/>
            <a:ext cx="155448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6E6DF"/>
                </a:solidFill>
                <a:latin typeface="맑은 고딕"/>
              </a:rPr>
              <a:t>★2차 피크·세일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6053328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099048"/>
            <a:ext cx="26974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브랜드 검색량 3,000 → 10,000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73552" y="6053328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73552" y="6099048"/>
            <a:ext cx="26974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올영세일 랭킹 1위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89904" y="6053328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9904" y="6099048"/>
            <a:ext cx="26974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시그니처 키워드 노출률 90%+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06256" y="6053328"/>
            <a:ext cx="2697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06256" y="6099048"/>
            <a:ext cx="26974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예산 2.5억 (퍼포 별첨)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6455664"/>
            <a:ext cx="11274552" cy="329184"/>
          </a:xfrm>
          <a:prstGeom prst="roundRect">
            <a:avLst>
              <a:gd name="adj" fmla="val 20000"/>
            </a:avLst>
          </a:prstGeom>
          <a:solidFill>
            <a:srgbClr val="F1F0E6"/>
          </a:solidFill>
          <a:ln w="15240">
            <a:solidFill>
              <a:srgbClr val="202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차별점   웰니스 심의 다이나믹스 대응 + AI 심의 가이드 검증  ·  콘텐츠 × 퍼포먼스 × 운영을 하나의 구매 흐름으로 설계 = BAT</a:t>
            </a:r>
          </a:p>
        </p:txBody>
      </p:sp>
    </p:spTree>
    <p:extLst>
      <p:ext uri="{BB962C8B-B14F-4D97-AF65-F5344CB8AC3E}">
        <p14:creationId xmlns:p14="http://schemas.microsoft.com/office/powerpoint/2010/main" val="661421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09A27F-555A-96F6-0ECE-8BDA8E99E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42C2CD-14C6-F3A9-D49D-998B1837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BAT</a:t>
            </a:r>
            <a:r>
              <a:rPr lang="ko-KR" altLang="en-US" dirty="0"/>
              <a:t>가 잘할 수 있는 이유 </a:t>
            </a:r>
            <a:r>
              <a:rPr lang="en-US" altLang="ko-KR" dirty="0"/>
              <a:t>: </a:t>
            </a:r>
            <a:r>
              <a:rPr lang="ko-KR" altLang="en-US" dirty="0"/>
              <a:t>추가 레퍼런스 제시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56BC5A-7F56-D83B-3BF2-040DF809B9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172987-C525-0AF7-1D0D-CB60E5A3D5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2A4152-649E-4A4F-A94C-7A2C87F72AC2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BAT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는 브랜드 콘텐츠 전략과 퍼포먼스 운영을 분리하지 않고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하나의 구매 흐름 안에서 설계할 수 있습니다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600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웰니스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카테고리의 심의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/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표현 리스크를 이해하고 있습니다</a:t>
            </a:r>
            <a:b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</a:b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(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금융 등 다양한 카테고리에서의 마이크로 </a:t>
            </a:r>
            <a:r>
              <a:rPr kumimoji="0" lang="en-US" altLang="ko-KR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IMC </a:t>
            </a:r>
            <a:r>
              <a:rPr kumimoji="0" lang="ko-KR" altLang="en-US" sz="160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수행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 </a:t>
            </a: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경험</a:t>
            </a:r>
            <a:r>
              <a:rPr lang="en-US" altLang="ko-KR" sz="1600" spc="-100" dirty="0">
                <a:solidFill>
                  <a:srgbClr val="000000"/>
                </a:solidFill>
                <a:latin typeface="Pretendard"/>
                <a:ea typeface="Pretendard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spc="-100" dirty="0">
                <a:solidFill>
                  <a:srgbClr val="000000"/>
                </a:solidFill>
                <a:latin typeface="Pretendard"/>
                <a:ea typeface="Pretendard"/>
              </a:rPr>
              <a:t>감도 높은 영상 크리에이티브를 세일즈로 연결합니다</a:t>
            </a:r>
            <a:endParaRPr kumimoji="0" lang="en-US" altLang="ko-KR" sz="160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2090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</a:rPr>
              <a:t>월별 실행 캘린더 · 액션플랜</a:t>
            </a:r>
          </a:p>
          <a:p>
            <a:r>
              <a:rPr sz="1100">
                <a:solidFill>
                  <a:srgbClr val="707070"/>
                </a:solidFill>
                <a:latin typeface="맑은 고딕"/>
              </a:rPr>
              <a:t>8·11·12월 집중 · 항목별 진행 건수(건당 비용) · 잔여 예산은 마이크로/나노 시딩 재배분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279185"/>
              </p:ext>
            </p:extLst>
          </p:nvPr>
        </p:nvGraphicFramePr>
        <p:xfrm>
          <a:off x="472441" y="960120"/>
          <a:ext cx="11247118" cy="559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0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2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1415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PHASE 1 · 빠른 반응 확보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PHASE 2 · 대표성 확장</a:t>
                      </a:r>
                    </a:p>
                  </a:txBody>
                  <a:tcPr marL="50800" marR="50800" marT="12700" marB="12700" anchor="ctr">
                    <a:solidFill>
                      <a:srgbClr val="70707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 (건당 비용)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8월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DDDDDD"/>
                          </a:solidFill>
                          <a:latin typeface="맑은 고딕"/>
                        </a:rPr>
                        <a:t>9월세일 사전부스팅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9월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DDDDDD"/>
                          </a:solidFill>
                          <a:latin typeface="맑은 고딕"/>
                        </a:rPr>
                        <a:t>세일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11월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DDDDDD"/>
                          </a:solidFill>
                          <a:latin typeface="맑은 고딕"/>
                        </a:rPr>
                        <a:t>블프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12월</a:t>
                      </a:r>
                    </a:p>
                    <a:p>
                      <a:pPr algn="ctr"/>
                      <a:r>
                        <a:rPr sz="700">
                          <a:solidFill>
                            <a:srgbClr val="DDDDDD"/>
                          </a:solidFill>
                          <a:latin typeface="맑은 고딕"/>
                        </a:rPr>
                        <a:t>세일 ★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크리에이터 시딩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800,000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400,000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6F6F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250,000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9595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858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marL="50800" marR="50800" marT="12700" marB="12700" anchor="ctr"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225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100,000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X(트위터) 시딩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500,000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콘텐츠 · 바이럴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800,000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5,000,000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250,000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50800" marR="50800" marT="12700" marB="12700" anchor="ctr">
                    <a:solidFill>
                      <a:srgbClr val="FB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1,500,000 원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1" dirty="0" err="1">
                          <a:solidFill>
                            <a:srgbClr val="111111"/>
                          </a:solidFill>
                          <a:latin typeface="맑은 고딕"/>
                        </a:rPr>
                        <a:t>제작</a:t>
                      </a:r>
                      <a:endParaRPr sz="950" b="1" dirty="0">
                        <a:solidFill>
                          <a:srgbClr val="111111"/>
                        </a:solidFill>
                        <a:latin typeface="맑은 고딕"/>
                      </a:endParaRP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KV·디자인·영상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50800" marR="50800" marT="12700" marB="12700"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상시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15">
                <a:tc gridSpan="8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</a:t>
                      </a:r>
                    </a:p>
                    <a:p>
                      <a:pPr algn="l"/>
                      <a:r>
                        <a:rPr sz="750">
                          <a:solidFill>
                            <a:srgbClr val="707070"/>
                          </a:solidFill>
                          <a:latin typeface="맑은 고딕"/>
                        </a:rPr>
                        <a:t>올영 쇼핑 큐레이터·누적 (명)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ABAB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7373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5757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누적60</a:t>
                      </a:r>
                    </a:p>
                  </a:txBody>
                  <a:tcPr marL="50800" marR="50800" marT="12700" marB="127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1415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465건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9509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월 예산 비중 / 금액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맑은 고딕"/>
                        </a:rPr>
                        <a:t>10%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707070"/>
                          </a:solidFill>
                          <a:latin typeface="맑은 고딕"/>
                        </a:rPr>
                        <a:t>2,500만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DDDDDD"/>
                          </a:solidFill>
                          <a:latin typeface="맑은 고딕"/>
                        </a:rPr>
                        <a:t>5,000만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DDDDDD"/>
                          </a:solidFill>
                          <a:latin typeface="맑은 고딕"/>
                        </a:rPr>
                        <a:t>5,000만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맑은 고딕"/>
                        </a:rPr>
                        <a:t>10%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707070"/>
                          </a:solidFill>
                          <a:latin typeface="맑은 고딕"/>
                        </a:rPr>
                        <a:t>2,500만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맑은 고딕"/>
                        </a:rPr>
                        <a:t>18%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707070"/>
                          </a:solidFill>
                          <a:latin typeface="맑은 고딕"/>
                        </a:rPr>
                        <a:t>4,500만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22%</a:t>
                      </a:r>
                    </a:p>
                    <a:p>
                      <a:pPr algn="ctr"/>
                      <a:r>
                        <a:rPr sz="800">
                          <a:solidFill>
                            <a:srgbClr val="DDDDDD"/>
                          </a:solidFill>
                          <a:latin typeface="맑은 고딕"/>
                        </a:rPr>
                        <a:t>5,500만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100%</a:t>
                      </a:r>
                    </a:p>
                    <a:p>
                      <a:pPr algn="ctr"/>
                      <a:r>
                        <a:rPr sz="800" dirty="0">
                          <a:solidFill>
                            <a:srgbClr val="DDDDDD"/>
                          </a:solidFill>
                          <a:latin typeface="맑은 고딕"/>
                        </a:rPr>
                        <a:t>2.5억</a:t>
                      </a:r>
                    </a:p>
                  </a:txBody>
                  <a:tcPr marL="50800" marR="508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111"/>
                </a:solidFill>
                <a:latin typeface="맑은 고딕"/>
              </a:rPr>
              <a:t>견적서 (Quotation)</a:t>
            </a:r>
          </a:p>
          <a:p>
            <a:r>
              <a:rPr sz="1100">
                <a:solidFill>
                  <a:srgbClr val="707070"/>
                </a:solidFill>
                <a:latin typeface="맑은 고딕"/>
              </a:rPr>
              <a:t>올리브영 PB 올더베러 브랜드 빌딩 캠페인 · 단위 원(VAT 별도)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63569"/>
              </p:ext>
            </p:extLst>
          </p:nvPr>
        </p:nvGraphicFramePr>
        <p:xfrm>
          <a:off x="563880" y="960120"/>
          <a:ext cx="11064240" cy="5377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9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세부 항목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수량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단가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금액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제작비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KV·디자인·영상·콘텐츠 제작 (EGC 제외)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1식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67,300,000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1,500,000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크리에이터 시딩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매크로 (인스타·유튜브)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800,000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12,000,000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400,000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60,000,000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225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56,250,000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6,000,000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X (트위터) 시딩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7,500,000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콘텐츠 · 바이럴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 콘텐츠 바이럴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800,000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7,200,000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 (탑 3건)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250,000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3,750,000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009">
                <a:tc gridSpan="4"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기타</a:t>
                      </a:r>
                    </a:p>
                  </a:txBody>
                  <a:tcPr marL="50800" marR="50800" marT="12700" marB="12700" anchor="ctr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009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 (올영 쇼핑 큐레이터)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누적 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70707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공급가액 소계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</a:rPr>
                        <a:t>250,000,000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000" b="1" dirty="0" err="1">
                          <a:solidFill>
                            <a:srgbClr val="111111"/>
                          </a:solidFill>
                          <a:latin typeface="맑은 고딕"/>
                        </a:rPr>
                        <a:t>부가가치세</a:t>
                      </a:r>
                      <a:r>
                        <a:rPr sz="1000" b="1" dirty="0">
                          <a:solidFill>
                            <a:srgbClr val="111111"/>
                          </a:solidFill>
                          <a:latin typeface="맑은 고딕"/>
                        </a:rPr>
                        <a:t> (10%)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11111"/>
                          </a:solidFill>
                          <a:latin typeface="맑은 고딕"/>
                        </a:rPr>
                        <a:t>25,000,000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3009">
                <a:tc gridSpan="3"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합계 금액 (VAT 포함)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275,000,000</a:t>
                      </a:r>
                    </a:p>
                  </a:txBody>
                  <a:tcPr marL="50800" marR="508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3·4분기 월별 액션플랜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B0B0B0"/>
                </a:solidFill>
                <a:latin typeface="맑은 고딕"/>
              </a:rPr>
              <a:t>7월 착수 → 8·9월 1차 웨이브(올영세일) → 10월 유지 → 11·12월 2차 웨이브(블프·올영세일)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1783080" cy="13716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7월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착수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41448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8월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★1차 웨이브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6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9월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★1차 웨이브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27064" y="2377440"/>
            <a:ext cx="1783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chemeClr val="bg1"/>
                </a:solidFill>
                <a:latin typeface="맑은 고딕"/>
              </a:rPr>
              <a:t>10월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907792"/>
            <a:ext cx="1783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dirty="0" err="1">
                <a:solidFill>
                  <a:schemeClr val="bg1"/>
                </a:solidFill>
                <a:latin typeface="맑은 고딕"/>
              </a:rPr>
              <a:t>유지</a:t>
            </a:r>
            <a:r>
              <a:rPr lang="en-US" sz="1200" b="1" dirty="0">
                <a:solidFill>
                  <a:schemeClr val="bg1"/>
                </a:solidFill>
                <a:latin typeface="맑은 고딕"/>
              </a:rPr>
              <a:t>-</a:t>
            </a:r>
            <a:r>
              <a:rPr lang="ko-KR" altLang="en-US" sz="1200" b="1" dirty="0">
                <a:solidFill>
                  <a:schemeClr val="bg1"/>
                </a:solidFill>
                <a:latin typeface="맑은 고딕"/>
              </a:rPr>
              <a:t>확산</a:t>
            </a:r>
            <a:endParaRPr sz="1200" b="1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27064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2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11월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★2차 웨이브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18%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2194560"/>
            <a:ext cx="17830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237744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12월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90779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★2차 웨이브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65760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707070"/>
                </a:solidFill>
                <a:latin typeface="맑은 고딕"/>
              </a:rPr>
              <a:t>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097280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맑은 고딕"/>
              </a:rPr>
              <a:t>· Phase 1 (7~9월) —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빠른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반응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확보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: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일반식품·심의불필요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건기식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선행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+ 8·9월 1차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웨이브로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올영세일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전환</a:t>
            </a:r>
            <a:endParaRPr sz="1300" b="0" dirty="0">
              <a:solidFill>
                <a:srgbClr val="333333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1300" b="0" dirty="0">
                <a:solidFill>
                  <a:srgbClr val="333333"/>
                </a:solidFill>
                <a:latin typeface="맑은 고딕"/>
              </a:rPr>
              <a:t>· Phase 2 (10~12월) —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대표성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확장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: 11·12월 2차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웨이브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블프·올영세일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)로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대표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브랜드</a:t>
            </a:r>
            <a:r>
              <a:rPr sz="13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맑은 고딕"/>
              </a:rPr>
              <a:t>착지</a:t>
            </a:r>
            <a:endParaRPr sz="1300" b="0" dirty="0">
              <a:solidFill>
                <a:srgbClr val="3333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7월  ·  First Shot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착수 · 콘텐츠/메시지 테스트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1차 웨이브 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“위닝 메시지 발굴 · 시딩 도화선 점화”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콘텐츠·이미지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소재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LMF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테스트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위닝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메시지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선별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일반식품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시딩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즉시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라이브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건기식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심의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파이프라인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착수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(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가이드→섭외→콘티→접수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)</a:t>
            </a: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챌린저스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1차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가동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· </a:t>
            </a:r>
            <a:endParaRPr lang="en-US"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블로그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/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검색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키워드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선점</a:t>
            </a:r>
            <a:r>
              <a:rPr lang="en-US" sz="1350" dirty="0">
                <a:solidFill>
                  <a:srgbClr val="333333"/>
                </a:solidFill>
                <a:latin typeface="맑은 고딕"/>
              </a:rPr>
              <a:t> / </a:t>
            </a:r>
          </a:p>
          <a:p>
            <a:pPr>
              <a:spcAft>
                <a:spcPts val="900"/>
              </a:spcAft>
            </a:pP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lang="ko-KR" altLang="en-US" sz="1350" dirty="0" err="1">
                <a:solidFill>
                  <a:srgbClr val="333333"/>
                </a:solidFill>
                <a:latin typeface="맑은 고딕"/>
              </a:rPr>
              <a:t>어필리에이트</a:t>
            </a: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 프로세스 확립 및 구동 </a:t>
            </a:r>
            <a:endParaRPr sz="135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위닝 메시지 확정 · 후기·콘텐츠 1차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25,000,000 원   (10%)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8월  ·  Proof Take-off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올영세일 사전 부스팅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★ 1차 웨이브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“세일 전 인지·각인 확산 + 선택 증거 확보”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시딩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대량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릴리즈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(월 110건) —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세일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1주 전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집중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매크로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합류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·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파워페이지·커뮤니티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체험단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(탑)·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네이버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블로그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바이럴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건기식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심의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완료분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1차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업로드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‘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올영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1위’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키워드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플레이</a:t>
            </a:r>
            <a:endParaRPr lang="en-US"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lang="ko-KR" altLang="en-US" sz="1350" dirty="0" err="1">
                <a:solidFill>
                  <a:srgbClr val="333333"/>
                </a:solidFill>
                <a:latin typeface="맑은 고딕"/>
              </a:rPr>
              <a:t>어필리에이트</a:t>
            </a: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 가동 및 수량 누적 증대</a:t>
            </a:r>
            <a:endParaRPr lang="en-US" altLang="ko-KR"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lang="en-US" altLang="ko-KR" sz="1350" dirty="0">
                <a:solidFill>
                  <a:srgbClr val="333333"/>
                </a:solidFill>
                <a:latin typeface="맑은 고딕"/>
              </a:rPr>
              <a:t>EGC </a:t>
            </a: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콘텐츠 </a:t>
            </a:r>
            <a:r>
              <a:rPr lang="en-US" altLang="ko-KR" sz="135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구매 전환 최적화 콘텐츠 소재 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1차 웨이브로 사전 부스팅 · 검색·후기 증거 확산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50,000,000 원   (20%)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9월  ·  Acceleration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올영세일 구매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★ 1차 웨이브 피크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“확보한 증거로 올영세일 구매 전환 폭발”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올영세일 집중 — 일반+건기식 콘텐츠 동시 투입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퍼포먼스 매체(별첨)·어필리에이트 가동 전환 유도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건기식 2차 업로드 세일 직전 라이브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랭킹/후기/혜택 결합 소재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1차 웨이브 매출 피크 · 카테고리 랭킹 상위/1위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65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50,000,000 원   (20%)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10월  ·  Orbit Expansion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유지 · 포트폴리오 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유지 (낙수효과)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“구매 증거 기반 건기식 라인업 확장”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건기식 6종 본격 콘텐츠 · 확장 메시지 테스트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9월 위닝 소재 낙수 운영(유지)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333333"/>
                </a:solidFill>
                <a:latin typeface="맑은 고딕"/>
              </a:rPr>
              <a:t>■  크로스셀 CRM · 후기 자산 확산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매출 유지 · 건기식 라인 인지 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B0B0B0"/>
                          </a:solidFill>
                          <a:latin typeface="맑은 고딕"/>
                        </a:rPr>
                        <a:t>·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25,000,000 원   (10%)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11월  ·  Boost-up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블프 · 재점화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★ 2차 웨이브 발생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333333"/>
                </a:solidFill>
                <a:latin typeface="맑은 고딕"/>
              </a:rPr>
              <a:t>“많이 보이고 많이 찾는 브랜드로 재점화”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시딩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재확대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(월 90건) ·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매크로·체험단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(탑)·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파워페이지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재가동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블프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프로모션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연계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퍼포먼스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·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건기식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RTB+혜택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결합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챌린저스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2차 · </a:t>
            </a:r>
            <a:r>
              <a:rPr lang="ko-KR" altLang="en-US" sz="1350" dirty="0">
                <a:solidFill>
                  <a:srgbClr val="333333"/>
                </a:solidFill>
                <a:latin typeface="맑은 고딕"/>
              </a:rPr>
              <a:t>신뢰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자산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보강</a:t>
            </a:r>
            <a:endParaRPr sz="135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2차 웨이브 시작 · 탐색량·관심층 확대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45,000,000 원   (18%)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6400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12월  ·  Category Landing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0B0B0"/>
                </a:solidFill>
                <a:latin typeface="맑은 고딕"/>
              </a:rPr>
              <a:t>올영세일 · 대표성 착지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8900160" y="310896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00160" y="365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★ 2차 웨이브 피크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73152" cy="5029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30923"/>
            <a:ext cx="10789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333333"/>
                </a:solidFill>
                <a:latin typeface="맑은 고딕"/>
              </a:rPr>
              <a:t>“</a:t>
            </a:r>
            <a:r>
              <a:rPr sz="1600" b="1" dirty="0" err="1">
                <a:solidFill>
                  <a:srgbClr val="333333"/>
                </a:solidFill>
                <a:latin typeface="맑은 고딕"/>
              </a:rPr>
              <a:t>웰니스</a:t>
            </a:r>
            <a:r>
              <a:rPr sz="16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맑은 고딕"/>
              </a:rPr>
              <a:t>카테고리</a:t>
            </a:r>
            <a:r>
              <a:rPr sz="16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맑은 고딕"/>
              </a:rPr>
              <a:t>대표</a:t>
            </a:r>
            <a:r>
              <a:rPr sz="16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맑은 고딕"/>
              </a:rPr>
              <a:t>브랜드</a:t>
            </a:r>
            <a:r>
              <a:rPr sz="16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333333"/>
                </a:solidFill>
                <a:latin typeface="맑은 고딕"/>
              </a:rPr>
              <a:t>착지</a:t>
            </a:r>
            <a:r>
              <a:rPr sz="1600" b="1" dirty="0">
                <a:solidFill>
                  <a:srgbClr val="333333"/>
                </a:solidFill>
                <a:latin typeface="맑은 고딕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핵심 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12월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올영세일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집중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— 전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라인업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대표성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콘텐츠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세일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1주 전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시딩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대량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릴리즈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(월 100건)·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바이럴</a:t>
            </a:r>
            <a:endParaRPr sz="1350" dirty="0">
              <a:solidFill>
                <a:srgbClr val="333333"/>
              </a:solidFill>
              <a:latin typeface="맑은 고딕"/>
            </a:endParaRPr>
          </a:p>
          <a:p>
            <a:pPr>
              <a:spcAft>
                <a:spcPts val="900"/>
              </a:spcAft>
            </a:pPr>
            <a:r>
              <a:rPr sz="1350" dirty="0">
                <a:solidFill>
                  <a:srgbClr val="333333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쟁임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/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재구매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CRM ·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퍼포먼스</a:t>
            </a:r>
            <a:r>
              <a:rPr sz="1350" dirty="0">
                <a:solidFill>
                  <a:srgbClr val="333333"/>
                </a:solidFill>
                <a:latin typeface="맑은 고딕"/>
              </a:rPr>
              <a:t> 2차 </a:t>
            </a:r>
            <a:r>
              <a:rPr sz="1350" dirty="0" err="1">
                <a:solidFill>
                  <a:srgbClr val="333333"/>
                </a:solidFill>
                <a:latin typeface="맑은 고딕"/>
              </a:rPr>
              <a:t>피크</a:t>
            </a:r>
            <a:endParaRPr sz="135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5806440"/>
            <a:ext cx="6492240" cy="68580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성과 목표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</a:rPr>
              <a:t>2차 웨이브 매출 피크 · 대표성 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488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이 달의 진행 물량 (건)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2542032"/>
            <a:ext cx="914400" cy="3657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69480" y="2697480"/>
          <a:ext cx="44348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45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KOL 무가시딩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파워페이지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커뮤니티 체험단(탑)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EGC 콘텐츠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111"/>
                          </a:solidFill>
                          <a:latin typeface="맑은 고딕"/>
                        </a:rPr>
                        <a:t>어필리에이트(누적)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60</a:t>
                      </a:r>
                    </a:p>
                  </a:txBody>
                  <a:tcPr marL="63500" marR="63500" marT="12700" marB="127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월 시딩 총건수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marL="63500" marR="63500" marT="12700" marB="12700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69480" y="5806440"/>
            <a:ext cx="4434840" cy="685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879592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0B0B0"/>
                </a:solidFill>
                <a:latin typeface="맑은 고딕"/>
              </a:rPr>
              <a:t>이 달 예산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55,000,000 원   (22%)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49E3F5-7A61-22CC-A2D0-CADEFE184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52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3807A5-9CC3-0176-8C3C-44AEDEE6A3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06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D17395-091C-758E-F339-53D1B267A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Performance</a:t>
            </a:r>
            <a:r>
              <a:rPr lang="ko-KR" altLang="en-US" dirty="0"/>
              <a:t> </a:t>
            </a:r>
            <a:r>
              <a:rPr lang="en-US" altLang="ko-KR" dirty="0"/>
              <a:t>Boost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7299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7373FE0-70FF-06E8-35AA-5FC46D3E5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01EB0B1-F6D8-9FFA-66D1-E7F72873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b="1" dirty="0">
                <a:latin typeface="Pretendard"/>
                <a:ea typeface="Pretendard"/>
              </a:rPr>
              <a:t>단순 </a:t>
            </a:r>
            <a:r>
              <a:rPr lang="ko-KR" altLang="en-US" b="1" dirty="0" err="1">
                <a:latin typeface="Pretendard"/>
                <a:ea typeface="Pretendard"/>
              </a:rPr>
              <a:t>시딩</a:t>
            </a:r>
            <a:r>
              <a:rPr lang="ko-KR" altLang="en-US" b="1" dirty="0">
                <a:latin typeface="Pretendard"/>
                <a:ea typeface="Pretendard"/>
              </a:rPr>
              <a:t> 콘텐츠 생산이 아니라</a:t>
            </a:r>
            <a:r>
              <a:rPr lang="en-US" altLang="ko-KR" b="1" dirty="0">
                <a:latin typeface="Pretendard"/>
                <a:ea typeface="Pretendard"/>
              </a:rPr>
              <a:t>,</a:t>
            </a:r>
            <a:br>
              <a:rPr lang="en-US" altLang="ko-KR" b="1" dirty="0">
                <a:latin typeface="Pretendard"/>
                <a:ea typeface="Pretendard"/>
              </a:rPr>
            </a:br>
            <a:r>
              <a:rPr lang="ko-KR" altLang="en-US" b="1" dirty="0" err="1">
                <a:latin typeface="Pretendard"/>
                <a:ea typeface="Pretendard"/>
              </a:rPr>
              <a:t>시딩</a:t>
            </a:r>
            <a:r>
              <a:rPr lang="en-US" altLang="ko-KR" b="1" dirty="0">
                <a:latin typeface="Pretendard"/>
                <a:ea typeface="Pretendard"/>
              </a:rPr>
              <a:t>-</a:t>
            </a:r>
            <a:r>
              <a:rPr lang="ko-KR" altLang="en-US" b="1" dirty="0">
                <a:latin typeface="Pretendard"/>
                <a:ea typeface="Pretendard"/>
              </a:rPr>
              <a:t>콘텐츠</a:t>
            </a:r>
            <a:r>
              <a:rPr lang="en-US" altLang="ko-KR" b="1" dirty="0">
                <a:latin typeface="Pretendard"/>
                <a:ea typeface="Pretendard"/>
              </a:rPr>
              <a:t>-</a:t>
            </a:r>
            <a:r>
              <a:rPr lang="ko-KR" altLang="en-US" b="1" dirty="0">
                <a:latin typeface="Pretendard"/>
                <a:ea typeface="Pretendard"/>
              </a:rPr>
              <a:t>퍼포먼스 연결로 비즈니스 임팩트를 만드는 구조를 설계합니다</a:t>
            </a:r>
            <a:r>
              <a:rPr lang="en-US" altLang="ko-KR" b="1" dirty="0">
                <a:latin typeface="Pretendard"/>
                <a:ea typeface="Pretendard"/>
              </a:rPr>
              <a:t>.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6EC831-9D04-7C5C-3609-785521A5DD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EAC9F3-7D5B-8DCD-92E6-B348973D554A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spc="-100" dirty="0">
                <a:solidFill>
                  <a:schemeClr val="tx1"/>
                </a:solidFill>
              </a:rPr>
              <a:t>UGC + </a:t>
            </a:r>
            <a:r>
              <a:rPr lang="ko-KR" altLang="en-US" sz="2000" b="1" spc="-100" dirty="0" err="1">
                <a:solidFill>
                  <a:schemeClr val="tx1"/>
                </a:solidFill>
              </a:rPr>
              <a:t>퍼포</a:t>
            </a:r>
            <a:r>
              <a:rPr lang="ko-KR" altLang="en-US" sz="2000" b="1" spc="-100" dirty="0">
                <a:solidFill>
                  <a:schemeClr val="tx1"/>
                </a:solidFill>
              </a:rPr>
              <a:t> 결합 레퍼런스 제시</a:t>
            </a:r>
            <a:endParaRPr lang="en-US" altLang="ko-KR" sz="2000" b="1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9354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F204DBB-5C7C-1E26-CB92-D99541BC8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120FBF0-7645-BC37-49B0-93B6F565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시딩만으로는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등 브랜드를 만들기 어렵습니다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59FF7A-C46B-9020-790D-F089A6B26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C1AE15-718D-798D-CF86-9000FEA140C5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시딩으로</a:t>
            </a:r>
            <a:r>
              <a:rPr lang="ko-KR" altLang="en-US" sz="1600" spc="-100" dirty="0">
                <a:solidFill>
                  <a:schemeClr val="tx1"/>
                </a:solidFill>
              </a:rPr>
              <a:t> 콘텐츠와 후기를 확보하더라도</a:t>
            </a:r>
            <a:r>
              <a:rPr lang="en-US" altLang="ko-KR" sz="1600" spc="-100" dirty="0">
                <a:solidFill>
                  <a:schemeClr val="tx1"/>
                </a:solidFill>
              </a:rPr>
              <a:t>, </a:t>
            </a:r>
            <a:r>
              <a:rPr lang="ko-KR" altLang="en-US" sz="1600" spc="-100" dirty="0">
                <a:solidFill>
                  <a:schemeClr val="tx1"/>
                </a:solidFill>
              </a:rPr>
              <a:t>이를 세일 기간 구매 전환으로 연결하지 않으면 랭킹 견인력은 제한적입니다</a:t>
            </a:r>
            <a:r>
              <a:rPr lang="en-US" altLang="ko-KR" sz="1600" spc="-1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따라서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시딩의</a:t>
            </a:r>
            <a:r>
              <a:rPr lang="ko-KR" altLang="en-US" sz="1600" b="1" spc="-100" dirty="0">
                <a:solidFill>
                  <a:schemeClr val="tx1"/>
                </a:solidFill>
              </a:rPr>
              <a:t> 결과물들은 반드시 퍼포먼스 소재와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올영</a:t>
            </a:r>
            <a:r>
              <a:rPr lang="ko-KR" altLang="en-US" sz="1600" b="1" spc="-100" dirty="0">
                <a:solidFill>
                  <a:schemeClr val="tx1"/>
                </a:solidFill>
              </a:rPr>
              <a:t>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인앱</a:t>
            </a:r>
            <a:r>
              <a:rPr lang="ko-KR" altLang="en-US" sz="1600" b="1" spc="-100" dirty="0">
                <a:solidFill>
                  <a:schemeClr val="tx1"/>
                </a:solidFill>
              </a:rPr>
              <a:t> 유입</a:t>
            </a:r>
            <a:r>
              <a:rPr lang="en-US" altLang="ko-KR" sz="1600" b="1" spc="-100" dirty="0">
                <a:solidFill>
                  <a:schemeClr val="tx1"/>
                </a:solidFill>
              </a:rPr>
              <a:t>-</a:t>
            </a:r>
            <a:r>
              <a:rPr lang="ko-KR" altLang="en-US" sz="1600" b="1" spc="-100" dirty="0">
                <a:solidFill>
                  <a:schemeClr val="tx1"/>
                </a:solidFill>
              </a:rPr>
              <a:t>전환으로 활용</a:t>
            </a:r>
            <a:r>
              <a:rPr lang="ko-KR" altLang="en-US" sz="1600" spc="-100" dirty="0">
                <a:solidFill>
                  <a:schemeClr val="tx1"/>
                </a:solidFill>
              </a:rPr>
              <a:t>되어야 합니다</a:t>
            </a:r>
            <a:r>
              <a:rPr lang="en-US" altLang="ko-KR" sz="1600" spc="-100" dirty="0">
                <a:solidFill>
                  <a:schemeClr val="tx1"/>
                </a:solidFill>
              </a:rPr>
              <a:t>.</a:t>
            </a:r>
            <a:endParaRPr lang="en-US" altLang="ko-KR" sz="2000" b="1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839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339FA93-D43B-0C00-883F-29A3CECD67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BACE4A-9A13-377B-B9C5-0A43244D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콘텐츠 </a:t>
            </a:r>
            <a:r>
              <a:rPr lang="en-US" altLang="ko-KR" dirty="0"/>
              <a:t>+ </a:t>
            </a:r>
            <a:r>
              <a:rPr lang="ko-KR" altLang="en-US" dirty="0" err="1"/>
              <a:t>퍼포</a:t>
            </a:r>
            <a:r>
              <a:rPr lang="ko-KR" altLang="en-US" dirty="0"/>
              <a:t> 결합 구조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A35E02-607F-E1ED-76BD-693D156FCB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180FF2-6D6C-E7C6-973A-C54EA85E7693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spc="-100" dirty="0" err="1">
                <a:solidFill>
                  <a:schemeClr val="tx1"/>
                </a:solidFill>
              </a:rPr>
              <a:t>시딩</a:t>
            </a:r>
            <a:r>
              <a:rPr lang="ko-KR" altLang="en-US" sz="1600" b="1" spc="-100" dirty="0">
                <a:solidFill>
                  <a:schemeClr val="tx1"/>
                </a:solidFill>
              </a:rPr>
              <a:t> 콘텐츠 </a:t>
            </a:r>
            <a:r>
              <a:rPr lang="en-US" altLang="ko-KR" sz="1600" b="1" spc="-100" dirty="0">
                <a:solidFill>
                  <a:schemeClr val="tx1"/>
                </a:solidFill>
              </a:rPr>
              <a:t>+ </a:t>
            </a:r>
            <a:r>
              <a:rPr lang="ko-KR" altLang="en-US" sz="1600" b="1" spc="-100" dirty="0" err="1">
                <a:solidFill>
                  <a:schemeClr val="tx1"/>
                </a:solidFill>
              </a:rPr>
              <a:t>퍼포</a:t>
            </a:r>
            <a:r>
              <a:rPr lang="ko-KR" altLang="en-US" sz="1600" b="1" spc="-100" dirty="0">
                <a:solidFill>
                  <a:schemeClr val="tx1"/>
                </a:solidFill>
              </a:rPr>
              <a:t> 결합으로 올리브영 올영세일 성과 기록한 프로세스</a:t>
            </a:r>
            <a:endParaRPr lang="en-US" altLang="ko-KR" sz="1600" b="1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(</a:t>
            </a:r>
            <a:r>
              <a:rPr lang="ko-KR" altLang="en-US" sz="1600" spc="-100" dirty="0">
                <a:solidFill>
                  <a:schemeClr val="tx1"/>
                </a:solidFill>
              </a:rPr>
              <a:t>뷰티 </a:t>
            </a:r>
            <a:r>
              <a:rPr lang="en-US" altLang="ko-KR" sz="1600" spc="-100" dirty="0">
                <a:solidFill>
                  <a:schemeClr val="tx1"/>
                </a:solidFill>
              </a:rPr>
              <a:t>&amp; </a:t>
            </a:r>
            <a:r>
              <a:rPr lang="ko-KR" altLang="en-US" sz="1600" spc="-100" dirty="0">
                <a:solidFill>
                  <a:schemeClr val="tx1"/>
                </a:solidFill>
              </a:rPr>
              <a:t>다른 카테고리에도 적용 사례</a:t>
            </a:r>
            <a:r>
              <a:rPr lang="en-US" altLang="ko-KR" sz="1600" spc="-1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시딩</a:t>
            </a:r>
            <a:r>
              <a:rPr lang="ko-KR" altLang="en-US" sz="1600" spc="-100" dirty="0">
                <a:solidFill>
                  <a:schemeClr val="tx1"/>
                </a:solidFill>
              </a:rPr>
              <a:t> 콘텐츠 수집 </a:t>
            </a:r>
            <a:r>
              <a:rPr lang="en-US" altLang="ko-KR" sz="1600" spc="-1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600" spc="-100" dirty="0">
                <a:solidFill>
                  <a:schemeClr val="tx1"/>
                </a:solidFill>
              </a:rPr>
              <a:t>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위닝</a:t>
            </a:r>
            <a:r>
              <a:rPr lang="ko-KR" altLang="en-US" sz="1600" spc="-100" dirty="0">
                <a:solidFill>
                  <a:schemeClr val="tx1"/>
                </a:solidFill>
              </a:rPr>
              <a:t> 콘텐츠 선별 </a:t>
            </a:r>
            <a:r>
              <a:rPr lang="en-US" altLang="ko-KR" sz="1600" spc="-1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600" spc="-100" dirty="0">
                <a:solidFill>
                  <a:schemeClr val="tx1"/>
                </a:solidFill>
              </a:rPr>
              <a:t> LMF </a:t>
            </a:r>
            <a:r>
              <a:rPr lang="ko-KR" altLang="en-US" sz="1600" spc="-100" dirty="0">
                <a:solidFill>
                  <a:schemeClr val="tx1"/>
                </a:solidFill>
              </a:rPr>
              <a:t>테스트 </a:t>
            </a:r>
            <a:r>
              <a:rPr lang="en-US" altLang="ko-KR" sz="1600" spc="-1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600" spc="-100" dirty="0">
                <a:solidFill>
                  <a:schemeClr val="tx1"/>
                </a:solidFill>
              </a:rPr>
              <a:t> </a:t>
            </a:r>
            <a:r>
              <a:rPr lang="ko-KR" altLang="en-US" sz="1600" spc="-100" dirty="0">
                <a:solidFill>
                  <a:schemeClr val="tx1"/>
                </a:solidFill>
              </a:rPr>
              <a:t>콘텐츠</a:t>
            </a:r>
            <a:r>
              <a:rPr lang="en-US" altLang="ko-KR" sz="1600" spc="-100" dirty="0">
                <a:solidFill>
                  <a:schemeClr val="tx1"/>
                </a:solidFill>
              </a:rPr>
              <a:t>+</a:t>
            </a:r>
            <a:r>
              <a:rPr lang="ko-KR" altLang="en-US" sz="1600" spc="-100" dirty="0">
                <a:solidFill>
                  <a:schemeClr val="tx1"/>
                </a:solidFill>
              </a:rPr>
              <a:t>배너 광고 집행 </a:t>
            </a:r>
            <a:r>
              <a:rPr lang="en-US" altLang="ko-KR" sz="1600" spc="-1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spc="-100" dirty="0">
                <a:solidFill>
                  <a:schemeClr val="tx1"/>
                </a:solidFill>
                <a:sym typeface="Wingdings" panose="05000000000000000000" pitchFamily="2" charset="2"/>
              </a:rPr>
              <a:t>올영세일 집중 운영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3468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48099E-F480-519A-FC48-916EA560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9CAD8A7-3E19-B3B9-4BE3-1FF7D7AF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올더베러</a:t>
            </a:r>
            <a:r>
              <a:rPr lang="ko-KR" altLang="en-US" dirty="0"/>
              <a:t> 비주얼 가이드</a:t>
            </a:r>
            <a:r>
              <a:rPr lang="en-US" altLang="ko-KR" dirty="0"/>
              <a:t>, KV, </a:t>
            </a:r>
            <a:r>
              <a:rPr lang="ko-KR" altLang="en-US" dirty="0" err="1"/>
              <a:t>퍼포</a:t>
            </a:r>
            <a:r>
              <a:rPr lang="en-US" altLang="ko-KR" dirty="0"/>
              <a:t> </a:t>
            </a:r>
            <a:r>
              <a:rPr lang="ko-KR" altLang="en-US" dirty="0"/>
              <a:t>소재 레이아웃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316D16-BA1E-81E5-A83D-68AC6000B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224DD5-0D24-A77F-62A5-6FB720E710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C2170F-AC35-49F3-88C9-D5F6E200CC0A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히트 패턴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앵커링</a:t>
            </a:r>
            <a:r>
              <a:rPr lang="en-US" altLang="ko-KR" sz="1600" spc="-100" dirty="0">
                <a:solidFill>
                  <a:schemeClr val="tx1"/>
                </a:solidFill>
              </a:rPr>
              <a:t>?</a:t>
            </a: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올더베러</a:t>
            </a:r>
            <a:r>
              <a:rPr lang="ko-KR" altLang="en-US" sz="1600" spc="-100" dirty="0">
                <a:solidFill>
                  <a:schemeClr val="tx1"/>
                </a:solidFill>
              </a:rPr>
              <a:t>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톤앤무드를</a:t>
            </a:r>
            <a:r>
              <a:rPr lang="ko-KR" altLang="en-US" sz="1600" spc="-100" dirty="0">
                <a:solidFill>
                  <a:schemeClr val="tx1"/>
                </a:solidFill>
              </a:rPr>
              <a:t> 적용한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엑스트라버진</a:t>
            </a:r>
            <a:r>
              <a:rPr lang="ko-KR" altLang="en-US" sz="1600" spc="-100" dirty="0">
                <a:solidFill>
                  <a:schemeClr val="tx1"/>
                </a:solidFill>
              </a:rPr>
              <a:t> 올리브오일 </a:t>
            </a:r>
            <a:r>
              <a:rPr lang="en-US" altLang="ko-KR" sz="1600" spc="-100" dirty="0">
                <a:solidFill>
                  <a:schemeClr val="tx1"/>
                </a:solidFill>
              </a:rPr>
              <a:t>/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웰니스</a:t>
            </a:r>
            <a:r>
              <a:rPr lang="ko-KR" altLang="en-US" sz="1600" spc="-100" dirty="0">
                <a:solidFill>
                  <a:schemeClr val="tx1"/>
                </a:solidFill>
              </a:rPr>
              <a:t> 구미 제품별 </a:t>
            </a:r>
            <a:r>
              <a:rPr lang="en-US" altLang="ko-KR" sz="1600" spc="-100" dirty="0">
                <a:solidFill>
                  <a:schemeClr val="tx1"/>
                </a:solidFill>
              </a:rPr>
              <a:t>KV</a:t>
            </a: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매장 디스플레이</a:t>
            </a:r>
            <a:r>
              <a:rPr lang="en-US" altLang="ko-KR" sz="1600" spc="-100" dirty="0">
                <a:solidFill>
                  <a:schemeClr val="tx1"/>
                </a:solidFill>
              </a:rPr>
              <a:t>, POP </a:t>
            </a:r>
            <a:r>
              <a:rPr lang="ko-KR" altLang="en-US" sz="1600" spc="-100" dirty="0">
                <a:solidFill>
                  <a:schemeClr val="tx1"/>
                </a:solidFill>
              </a:rPr>
              <a:t>연계 예시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600" spc="-1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ko-KR" altLang="en-US" sz="1600" spc="-100" dirty="0" err="1">
                <a:solidFill>
                  <a:schemeClr val="tx1"/>
                </a:solidFill>
              </a:rPr>
              <a:t>퍼포</a:t>
            </a:r>
            <a:r>
              <a:rPr lang="ko-KR" altLang="en-US" sz="1600" spc="-100" dirty="0">
                <a:solidFill>
                  <a:schemeClr val="tx1"/>
                </a:solidFill>
              </a:rPr>
              <a:t> 소재 레이아웃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0377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67A9100-5F58-C1C6-8376-2E18306E9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018408B-551E-7DC4-5DF1-F2E9435E7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올더베러</a:t>
            </a:r>
            <a:r>
              <a:rPr lang="ko-KR" altLang="en-US" dirty="0"/>
              <a:t> 제품 기준 </a:t>
            </a:r>
            <a:r>
              <a:rPr lang="en-US" altLang="ko-KR" dirty="0"/>
              <a:t>LMF </a:t>
            </a:r>
            <a:r>
              <a:rPr lang="ko-KR" altLang="en-US" dirty="0"/>
              <a:t>테스트 </a:t>
            </a:r>
            <a:r>
              <a:rPr lang="en-US" altLang="ko-KR" dirty="0"/>
              <a:t>: </a:t>
            </a:r>
            <a:r>
              <a:rPr lang="ko-KR" altLang="en-US" dirty="0" err="1"/>
              <a:t>위닝</a:t>
            </a:r>
            <a:r>
              <a:rPr lang="ko-KR" altLang="en-US" dirty="0"/>
              <a:t> 메시지 발굴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6A5512-5D86-755F-CC99-5D12A0479B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00873B-F885-6985-D304-970DB168D1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277BAB-A30D-A91F-EBFB-7D897BD046E7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테스트를 통해 어떤 문구</a:t>
            </a:r>
            <a:r>
              <a:rPr lang="en-US" altLang="ko-KR" sz="1600" spc="-100" dirty="0">
                <a:solidFill>
                  <a:schemeClr val="tx1"/>
                </a:solidFill>
              </a:rPr>
              <a:t>·</a:t>
            </a:r>
            <a:r>
              <a:rPr lang="ko-KR" altLang="en-US" sz="1600" spc="-100" dirty="0">
                <a:solidFill>
                  <a:schemeClr val="tx1"/>
                </a:solidFill>
              </a:rPr>
              <a:t>썸네일</a:t>
            </a:r>
            <a:r>
              <a:rPr lang="en-US" altLang="ko-KR" sz="1600" spc="-100" dirty="0">
                <a:solidFill>
                  <a:schemeClr val="tx1"/>
                </a:solidFill>
              </a:rPr>
              <a:t>·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후킹</a:t>
            </a:r>
            <a:r>
              <a:rPr lang="ko-KR" altLang="en-US" sz="1600" spc="-100" dirty="0">
                <a:solidFill>
                  <a:schemeClr val="tx1"/>
                </a:solidFill>
              </a:rPr>
              <a:t> 구조가 실제 반응을 만드는지 먼저 확인</a:t>
            </a:r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endParaRPr lang="en-US" altLang="ko-KR" sz="1600" spc="-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spc="-100" dirty="0">
                <a:solidFill>
                  <a:schemeClr val="tx1"/>
                </a:solidFill>
              </a:rPr>
              <a:t>검증된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위닝</a:t>
            </a:r>
            <a:r>
              <a:rPr lang="ko-KR" altLang="en-US" sz="1600" spc="-100" dirty="0">
                <a:solidFill>
                  <a:schemeClr val="tx1"/>
                </a:solidFill>
              </a:rPr>
              <a:t> 소재를 </a:t>
            </a:r>
            <a:r>
              <a:rPr lang="en-US" altLang="ko-KR" sz="1600" spc="-100" dirty="0">
                <a:solidFill>
                  <a:schemeClr val="tx1"/>
                </a:solidFill>
              </a:rPr>
              <a:t>9</a:t>
            </a:r>
            <a:r>
              <a:rPr lang="ko-KR" altLang="en-US" sz="1600" spc="-100" dirty="0">
                <a:solidFill>
                  <a:schemeClr val="tx1"/>
                </a:solidFill>
              </a:rPr>
              <a:t>월 올영세일과 </a:t>
            </a:r>
            <a:r>
              <a:rPr lang="en-US" altLang="ko-KR" sz="1600" spc="-100" dirty="0">
                <a:solidFill>
                  <a:schemeClr val="tx1"/>
                </a:solidFill>
              </a:rPr>
              <a:t>12</a:t>
            </a:r>
            <a:r>
              <a:rPr lang="ko-KR" altLang="en-US" sz="1600" spc="-100" dirty="0">
                <a:solidFill>
                  <a:schemeClr val="tx1"/>
                </a:solidFill>
              </a:rPr>
              <a:t>월 </a:t>
            </a:r>
            <a:r>
              <a:rPr lang="ko-KR" altLang="en-US" sz="1600" spc="-100" dirty="0" err="1">
                <a:solidFill>
                  <a:schemeClr val="tx1"/>
                </a:solidFill>
              </a:rPr>
              <a:t>재부스팅에</a:t>
            </a:r>
            <a:r>
              <a:rPr lang="ko-KR" altLang="en-US" sz="1600" spc="-100" dirty="0">
                <a:solidFill>
                  <a:schemeClr val="tx1"/>
                </a:solidFill>
              </a:rPr>
              <a:t> 활용</a:t>
            </a:r>
            <a:endParaRPr lang="en-US" altLang="ko-KR" sz="1600" spc="-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7845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53DE17-F1EB-3AE1-4115-2B48DFD89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1B06E8-B7D8-CE62-FCD0-5DFF1266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퍼포</a:t>
            </a:r>
            <a:r>
              <a:rPr lang="ko-KR" altLang="en-US" dirty="0"/>
              <a:t> 매체 활용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4ED7B7-C2F4-44BE-24A6-31F1D5CB6E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FE9B1F-4E8C-C589-0CE6-82A566AFA9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5805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CF157-09E0-031C-AA57-D8FFA381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4DB52F-2A93-D234-89A2-47BA6708F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srgbClr val="595045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srgbClr val="595045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2F4828-10B0-355A-1CA0-2ADD7CD5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올영</a:t>
            </a:r>
            <a:r>
              <a:rPr lang="ko-KR" altLang="en-US" dirty="0"/>
              <a:t> </a:t>
            </a:r>
            <a:r>
              <a:rPr lang="ko-KR" altLang="en-US" dirty="0" err="1"/>
              <a:t>인앱</a:t>
            </a:r>
            <a:r>
              <a:rPr lang="ko-KR" altLang="en-US" dirty="0"/>
              <a:t> 광고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8234B5-B42C-9B25-20A0-CAE3C91F3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E02200-9A76-328A-084E-EC5A556FFD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0AAAB4-2868-290B-264E-C4A79AFC2B69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올리브영 플랫폼 내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올더베러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제품 반복 노출</a:t>
            </a: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후기와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위닝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소재를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올영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</a:t>
            </a:r>
            <a:r>
              <a:rPr kumimoji="0" lang="ko-KR" altLang="en-US" sz="1600" b="0" i="0" u="none" strike="noStrike" kern="1200" cap="none" spc="-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인앱광고로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 연결해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세일 기간 유입과 랭킹 상승을 집중적으로 견인</a:t>
            </a: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34076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AA3DD1-CA2D-2A63-774C-25A5AABAB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2A8A57C-CE30-2619-9302-6099827B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CRM </a:t>
            </a:r>
            <a:r>
              <a:rPr lang="ko-KR" altLang="en-US" dirty="0"/>
              <a:t>카카오 </a:t>
            </a:r>
            <a:r>
              <a:rPr lang="ko-KR" altLang="en-US" dirty="0" err="1"/>
              <a:t>플친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71E1F8-DDA6-AA62-C371-FABA6162E8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F721DB-C045-4683-C1DC-0047A81736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BFF624-B794-E53C-227A-CF8839A7B60D}"/>
              </a:ext>
            </a:extLst>
          </p:cNvPr>
          <p:cNvSpPr/>
          <p:nvPr/>
        </p:nvSpPr>
        <p:spPr>
          <a:xfrm>
            <a:off x="336000" y="2418080"/>
            <a:ext cx="11520000" cy="3891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올영세일 기간 재구매 연결</a:t>
            </a: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600" spc="-100" dirty="0">
              <a:solidFill>
                <a:srgbClr val="000000"/>
              </a:solidFill>
              <a:latin typeface="Pretendard"/>
              <a:ea typeface="Pretendard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CRM 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소재 기획</a:t>
            </a:r>
            <a:endParaRPr kumimoji="0" lang="en-US" altLang="ko-KR" sz="1600" b="0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오프라인 샘플 증정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제품 </a:t>
            </a:r>
            <a:r>
              <a:rPr lang="ko-KR" altLang="en-US" sz="1600" b="1" spc="-100" dirty="0" err="1">
                <a:solidFill>
                  <a:srgbClr val="000000"/>
                </a:solidFill>
                <a:latin typeface="Pretendard"/>
                <a:ea typeface="Pretendard"/>
              </a:rPr>
              <a:t>조회자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 대상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재구매</a:t>
            </a:r>
            <a:r>
              <a:rPr lang="en-US" altLang="ko-KR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, </a:t>
            </a:r>
            <a:r>
              <a:rPr lang="ko-KR" altLang="en-US" sz="1600" b="1" spc="-100" dirty="0">
                <a:solidFill>
                  <a:srgbClr val="000000"/>
                </a:solidFill>
                <a:latin typeface="Pretendard"/>
                <a:ea typeface="Pretendard"/>
              </a:rPr>
              <a:t>라인 확장 구매</a:t>
            </a:r>
            <a:endParaRPr kumimoji="0" lang="en-US" altLang="ko-KR" sz="1600" b="1" i="0" u="none" strike="noStrike" kern="12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7727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2D978-1A49-A3C5-97CA-0531188D2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DD90172-C0FB-5AEB-109D-0B9AB329D5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187FAE-240F-48B2-ACE2-2EBC6C0B0371}" type="slidenum">
              <a:rPr kumimoji="0" lang="ko-KR" altLang="en-US" sz="1200" b="0" i="0" u="none" strike="noStrike" kern="1200" cap="none" spc="-10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Thin" panose="02000203000000020004" pitchFamily="50" charset="-127"/>
                <a:ea typeface="Pretendard Thin" panose="02000203000000020004" pitchFamily="50" charset="-127"/>
                <a:cs typeface="Pretendard Thin" panose="0200020300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ko-KR" altLang="en-US" sz="1200" b="0" i="0" u="none" strike="noStrike" kern="1200" cap="none" spc="-10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Thin" panose="02000203000000020004" pitchFamily="50" charset="-127"/>
              <a:ea typeface="Pretendard Thin" panose="02000203000000020004" pitchFamily="50" charset="-127"/>
              <a:cs typeface="Pretendard Thin" panose="02000203000000020004" pitchFamily="50" charset="-127"/>
            </a:endParaRPr>
          </a:p>
        </p:txBody>
      </p:sp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5EAF04A8-5A79-238D-7379-A092C0E04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05" y="226266"/>
            <a:ext cx="836613" cy="8366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56737E-BCC7-22E8-4296-50CE6D5D9D52}"/>
              </a:ext>
            </a:extLst>
          </p:cNvPr>
          <p:cNvSpPr txBox="1"/>
          <p:nvPr/>
        </p:nvSpPr>
        <p:spPr>
          <a:xfrm>
            <a:off x="1053296" y="2828836"/>
            <a:ext cx="10085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spc="-100" dirty="0">
                <a:solidFill>
                  <a:schemeClr val="accent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감사합니다</a:t>
            </a:r>
            <a:r>
              <a:rPr lang="en-US" altLang="ko-KR" sz="4000" spc="-100" dirty="0">
                <a:solidFill>
                  <a:schemeClr val="accent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.</a:t>
            </a:r>
            <a:r>
              <a:rPr kumimoji="0" lang="ko-KR" altLang="en-US" sz="4000" b="0" i="0" u="none" strike="noStrike" kern="1200" cap="none" spc="-10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 </a:t>
            </a:r>
            <a:endParaRPr kumimoji="0" lang="en-US" altLang="ko-KR" sz="4000" b="0" i="0" u="none" strike="noStrike" kern="1200" cap="none" spc="-10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10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End of Document</a:t>
            </a:r>
            <a:endParaRPr kumimoji="0" lang="ko-KR" altLang="en-US" sz="3200" b="0" i="0" u="none" strike="noStrike" kern="1200" cap="none" spc="-10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1601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5C48E28-9B7F-9814-2A54-7533C45825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>
                <a:solidFill>
                  <a:schemeClr val="tx1"/>
                </a:solidFill>
              </a:rPr>
              <a:pPr/>
              <a:t>62</a:t>
            </a:fld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02FDE9E4-7193-2BB4-675B-53CFFCD28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05" y="226266"/>
            <a:ext cx="836613" cy="8366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C3F38E-691F-4121-E984-68C9670B1029}"/>
              </a:ext>
            </a:extLst>
          </p:cNvPr>
          <p:cNvSpPr txBox="1"/>
          <p:nvPr/>
        </p:nvSpPr>
        <p:spPr>
          <a:xfrm>
            <a:off x="1053296" y="3075057"/>
            <a:ext cx="10085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spc="-100" dirty="0">
                <a:solidFill>
                  <a:schemeClr val="accent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표지</a:t>
            </a:r>
            <a:endParaRPr lang="en-US" altLang="ko-KR" sz="4000" spc="-100" dirty="0">
              <a:solidFill>
                <a:schemeClr val="accent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98212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5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1777E2-ED73-7942-75D6-8D221CCFC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en-US" altLang="ko-KR" smtClean="0"/>
              <a:pPr/>
              <a:t>63</a:t>
            </a:fld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813CD8-D6E8-57E2-7631-FCCA935C0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B0F874-8E19-2EF2-2DEE-938F260053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파트 간지</a:t>
            </a:r>
          </a:p>
        </p:txBody>
      </p:sp>
    </p:spTree>
    <p:extLst>
      <p:ext uri="{BB962C8B-B14F-4D97-AF65-F5344CB8AC3E}">
        <p14:creationId xmlns:p14="http://schemas.microsoft.com/office/powerpoint/2010/main" val="33324687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152173-8BA2-01CC-D8FB-4A953F4E40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64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4B119E-FD7D-9A4C-2F3C-6ED2827AB8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00-0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237256-8B8D-D0EA-9A1F-941E175566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파트 중간 간지</a:t>
            </a:r>
          </a:p>
        </p:txBody>
      </p:sp>
    </p:spTree>
    <p:extLst>
      <p:ext uri="{BB962C8B-B14F-4D97-AF65-F5344CB8AC3E}">
        <p14:creationId xmlns:p14="http://schemas.microsoft.com/office/powerpoint/2010/main" val="5363373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F35C87-9543-38C6-0EF8-629082270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65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D2DED70-8A83-08D1-901B-BF1DA567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타이틀</a:t>
            </a:r>
            <a:br>
              <a:rPr lang="en-US" altLang="ko-KR" dirty="0"/>
            </a:br>
            <a:r>
              <a:rPr lang="ko-KR" altLang="en-US" dirty="0"/>
              <a:t>타이틀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D14142-3317-8E4D-AFA8-7DD5C30817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설명</a:t>
            </a:r>
            <a:endParaRPr lang="en-US" altLang="ko-KR" dirty="0"/>
          </a:p>
          <a:p>
            <a:r>
              <a:rPr lang="ko-KR" altLang="en-US" dirty="0"/>
              <a:t>설명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C36FB1-903D-37E9-393B-D917118B5F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파트</a:t>
            </a:r>
          </a:p>
        </p:txBody>
      </p:sp>
    </p:spTree>
    <p:extLst>
      <p:ext uri="{BB962C8B-B14F-4D97-AF65-F5344CB8AC3E}">
        <p14:creationId xmlns:p14="http://schemas.microsoft.com/office/powerpoint/2010/main" val="14091885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F2078E-2D31-6050-EEEA-55813C406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66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CAF2B52-1D95-0FD4-33F4-4BE9C2DC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타이틀</a:t>
            </a:r>
            <a:br>
              <a:rPr lang="en-US" altLang="ko-KR" dirty="0"/>
            </a:br>
            <a:r>
              <a:rPr lang="ko-KR" altLang="en-US" dirty="0"/>
              <a:t>타이틀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E3E207-A51C-86E1-41C9-91B252B71B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설명</a:t>
            </a:r>
            <a:endParaRPr lang="en-US" altLang="ko-KR" dirty="0"/>
          </a:p>
          <a:p>
            <a:r>
              <a:rPr lang="ko-KR" altLang="en-US" dirty="0"/>
              <a:t>설명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43CE76-FD28-C553-C7C4-7C3285A443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파트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6B97F0A-B6F3-2173-E5AB-F318B4E2366A}"/>
              </a:ext>
            </a:extLst>
          </p:cNvPr>
          <p:cNvSpPr>
            <a:spLocks/>
          </p:cNvSpPr>
          <p:nvPr/>
        </p:nvSpPr>
        <p:spPr>
          <a:xfrm>
            <a:off x="336000" y="2552700"/>
            <a:ext cx="11520000" cy="3760849"/>
          </a:xfrm>
          <a:prstGeom prst="roundRect">
            <a:avLst>
              <a:gd name="adj" fmla="val 264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FB49F71-47CE-71CE-7595-9318AF0F708D}"/>
              </a:ext>
            </a:extLst>
          </p:cNvPr>
          <p:cNvSpPr>
            <a:spLocks/>
          </p:cNvSpPr>
          <p:nvPr/>
        </p:nvSpPr>
        <p:spPr>
          <a:xfrm>
            <a:off x="336000" y="2142140"/>
            <a:ext cx="11520000" cy="381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본문 타이틀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/>
              <a:ea typeface="Pretendard ExtraBol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2096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C3B6B99-7D4F-DE22-043D-1BDC91B5ADE5}"/>
              </a:ext>
            </a:extLst>
          </p:cNvPr>
          <p:cNvSpPr>
            <a:spLocks/>
          </p:cNvSpPr>
          <p:nvPr/>
        </p:nvSpPr>
        <p:spPr>
          <a:xfrm>
            <a:off x="336000" y="2552700"/>
            <a:ext cx="5702190" cy="3760849"/>
          </a:xfrm>
          <a:prstGeom prst="roundRect">
            <a:avLst>
              <a:gd name="adj" fmla="val 264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EC3414F-32C6-EEF3-6127-A0D38BFC2976}"/>
              </a:ext>
            </a:extLst>
          </p:cNvPr>
          <p:cNvSpPr>
            <a:spLocks/>
          </p:cNvSpPr>
          <p:nvPr/>
        </p:nvSpPr>
        <p:spPr>
          <a:xfrm>
            <a:off x="336000" y="2142140"/>
            <a:ext cx="5702190" cy="381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본문 타이틀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/>
              <a:ea typeface="Pretendard ExtraBold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89F0222-22A1-3373-E1F8-7DECF4E413D2}"/>
              </a:ext>
            </a:extLst>
          </p:cNvPr>
          <p:cNvSpPr>
            <a:spLocks/>
          </p:cNvSpPr>
          <p:nvPr/>
        </p:nvSpPr>
        <p:spPr>
          <a:xfrm>
            <a:off x="6153811" y="2552700"/>
            <a:ext cx="5702190" cy="3760849"/>
          </a:xfrm>
          <a:prstGeom prst="roundRect">
            <a:avLst>
              <a:gd name="adj" fmla="val 264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D4C767D-694C-6AF0-6622-567AF8058CDD}"/>
              </a:ext>
            </a:extLst>
          </p:cNvPr>
          <p:cNvSpPr>
            <a:spLocks/>
          </p:cNvSpPr>
          <p:nvPr/>
        </p:nvSpPr>
        <p:spPr>
          <a:xfrm>
            <a:off x="6153811" y="2142140"/>
            <a:ext cx="5702190" cy="381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본문 타이틀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/>
              <a:ea typeface="Pretendard ExtraBold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E432154-81AB-0F1E-D897-1F026CD11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67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292EC6-3D4C-5D8F-486B-E0AD3B2F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타이틀</a:t>
            </a:r>
            <a:br>
              <a:rPr lang="en-US" altLang="ko-KR" dirty="0"/>
            </a:br>
            <a:r>
              <a:rPr lang="ko-KR" altLang="en-US" dirty="0"/>
              <a:t>타이틀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9130B-5EC4-79A5-A99E-681C11FBA3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설명</a:t>
            </a:r>
            <a:endParaRPr lang="en-US" altLang="ko-KR" dirty="0"/>
          </a:p>
          <a:p>
            <a:r>
              <a:rPr lang="ko-KR" altLang="en-US" dirty="0"/>
              <a:t>설명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E677DD-9146-ECB1-856F-215E9E007B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파트</a:t>
            </a:r>
          </a:p>
        </p:txBody>
      </p:sp>
    </p:spTree>
    <p:extLst>
      <p:ext uri="{BB962C8B-B14F-4D97-AF65-F5344CB8AC3E}">
        <p14:creationId xmlns:p14="http://schemas.microsoft.com/office/powerpoint/2010/main" val="2323741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3A645A0-B2A7-EA70-AA2F-F5B1E94FBD8D}"/>
              </a:ext>
            </a:extLst>
          </p:cNvPr>
          <p:cNvSpPr>
            <a:spLocks/>
          </p:cNvSpPr>
          <p:nvPr/>
        </p:nvSpPr>
        <p:spPr>
          <a:xfrm>
            <a:off x="336000" y="2552700"/>
            <a:ext cx="3789978" cy="3760849"/>
          </a:xfrm>
          <a:prstGeom prst="roundRect">
            <a:avLst>
              <a:gd name="adj" fmla="val 264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B171D04-FC9A-9870-50FC-1CDEDBE30D32}"/>
              </a:ext>
            </a:extLst>
          </p:cNvPr>
          <p:cNvSpPr>
            <a:spLocks/>
          </p:cNvSpPr>
          <p:nvPr/>
        </p:nvSpPr>
        <p:spPr>
          <a:xfrm>
            <a:off x="336000" y="2142140"/>
            <a:ext cx="3789978" cy="381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본문 타이틀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/>
              <a:ea typeface="Pretendard ExtraBold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DDE8C5-2171-7CC1-F584-3329EE25E81F}"/>
              </a:ext>
            </a:extLst>
          </p:cNvPr>
          <p:cNvSpPr>
            <a:spLocks/>
          </p:cNvSpPr>
          <p:nvPr/>
        </p:nvSpPr>
        <p:spPr>
          <a:xfrm>
            <a:off x="4201011" y="2552700"/>
            <a:ext cx="3789978" cy="3760849"/>
          </a:xfrm>
          <a:prstGeom prst="roundRect">
            <a:avLst>
              <a:gd name="adj" fmla="val 264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B93F30F-7FEC-D702-E734-C12F6773E1E0}"/>
              </a:ext>
            </a:extLst>
          </p:cNvPr>
          <p:cNvSpPr>
            <a:spLocks/>
          </p:cNvSpPr>
          <p:nvPr/>
        </p:nvSpPr>
        <p:spPr>
          <a:xfrm>
            <a:off x="4201011" y="2142140"/>
            <a:ext cx="3789978" cy="381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본문 타이틀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/>
              <a:ea typeface="Pretendard ExtraBold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48D9E17-DF42-A3E5-4C27-BFC78AA61C72}"/>
              </a:ext>
            </a:extLst>
          </p:cNvPr>
          <p:cNvSpPr>
            <a:spLocks/>
          </p:cNvSpPr>
          <p:nvPr/>
        </p:nvSpPr>
        <p:spPr>
          <a:xfrm>
            <a:off x="8066022" y="2552700"/>
            <a:ext cx="3789978" cy="3760849"/>
          </a:xfrm>
          <a:prstGeom prst="roundRect">
            <a:avLst>
              <a:gd name="adj" fmla="val 2648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7349294-A564-3B7D-7470-555804A86C40}"/>
              </a:ext>
            </a:extLst>
          </p:cNvPr>
          <p:cNvSpPr>
            <a:spLocks/>
          </p:cNvSpPr>
          <p:nvPr/>
        </p:nvSpPr>
        <p:spPr>
          <a:xfrm>
            <a:off x="8066022" y="2142140"/>
            <a:ext cx="3789978" cy="381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본문 타이틀</a:t>
            </a:r>
            <a:endParaRPr kumimoji="0" lang="ko-KR" altLang="en-US" sz="1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/>
              <a:ea typeface="Pretendard ExtraBold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BCB276-5C31-88A5-915F-C51CFE971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68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84FF087-E533-1C5E-A082-6B822FE9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타이틀</a:t>
            </a:r>
            <a:br>
              <a:rPr lang="en-US" altLang="ko-KR" dirty="0"/>
            </a:br>
            <a:r>
              <a:rPr lang="ko-KR" altLang="en-US" dirty="0"/>
              <a:t>타이틀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0CCF9A-6364-8302-A31A-86EC818977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설명</a:t>
            </a:r>
            <a:endParaRPr lang="en-US" altLang="ko-KR" dirty="0"/>
          </a:p>
          <a:p>
            <a:r>
              <a:rPr lang="ko-KR" altLang="en-US" dirty="0"/>
              <a:t>설명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C48103-D881-5D9C-BC42-AE676D9001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파트</a:t>
            </a:r>
          </a:p>
        </p:txBody>
      </p:sp>
    </p:spTree>
    <p:extLst>
      <p:ext uri="{BB962C8B-B14F-4D97-AF65-F5344CB8AC3E}">
        <p14:creationId xmlns:p14="http://schemas.microsoft.com/office/powerpoint/2010/main" val="22553107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CAF9F68-58BE-824A-847F-4FBB7368D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69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534009B-E174-4EE5-85E4-0C2BCCE3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 타이틀</a:t>
            </a:r>
            <a:br>
              <a:rPr lang="en-US" altLang="ko-KR" dirty="0"/>
            </a:br>
            <a:r>
              <a:rPr lang="ko-KR" altLang="en-US" dirty="0"/>
              <a:t>요약 타이틀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C38F1A-4BD0-7961-8ACF-C613A8AF51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설명</a:t>
            </a:r>
            <a:endParaRPr lang="en-US" altLang="ko-KR" dirty="0"/>
          </a:p>
          <a:p>
            <a:r>
              <a:rPr lang="ko-KR" altLang="en-US" dirty="0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20819298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D788BCB-B47B-13EA-5C40-D1DD3FA4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70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9B05387-9C43-0EBB-4762-D5B2A3460AD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요약 타이틀</a:t>
            </a:r>
            <a:br>
              <a:rPr lang="en-US" altLang="ko-KR" dirty="0"/>
            </a:br>
            <a:r>
              <a:rPr lang="ko-KR" altLang="en-US" dirty="0"/>
              <a:t>요약 타이틀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9E79C7-3383-4035-D201-AC841DFB90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설명</a:t>
            </a:r>
            <a:endParaRPr lang="en-US" altLang="ko-KR" dirty="0"/>
          </a:p>
          <a:p>
            <a:r>
              <a:rPr lang="ko-KR" altLang="en-US" dirty="0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4666859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B80AEDD-8B23-7E50-2E60-023486AE2725}"/>
              </a:ext>
            </a:extLst>
          </p:cNvPr>
          <p:cNvSpPr/>
          <p:nvPr/>
        </p:nvSpPr>
        <p:spPr>
          <a:xfrm>
            <a:off x="6234545" y="858982"/>
            <a:ext cx="5781964" cy="5477163"/>
          </a:xfrm>
          <a:prstGeom prst="roundRect">
            <a:avLst>
              <a:gd name="adj" fmla="val 317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114852-7307-A2C0-82CD-4FA074FE4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187FAE-240F-48B2-ACE2-2EBC6C0B0371}" type="slidenum">
              <a:rPr lang="ko-KR" altLang="en-US" smtClean="0"/>
              <a:pPr/>
              <a:t>71</a:t>
            </a:fld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259A5EF-5F5C-0B91-32FC-D4CCABEAF96A}"/>
              </a:ext>
            </a:extLst>
          </p:cNvPr>
          <p:cNvSpPr/>
          <p:nvPr/>
        </p:nvSpPr>
        <p:spPr>
          <a:xfrm>
            <a:off x="175491" y="193964"/>
            <a:ext cx="3038764" cy="4341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solidFill>
                  <a:schemeClr val="accent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장표 작성 가이드라인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DA2B423-D299-1D7E-8061-1CE648079880}"/>
              </a:ext>
            </a:extLst>
          </p:cNvPr>
          <p:cNvSpPr/>
          <p:nvPr/>
        </p:nvSpPr>
        <p:spPr>
          <a:xfrm>
            <a:off x="175491" y="858982"/>
            <a:ext cx="5781964" cy="5477163"/>
          </a:xfrm>
          <a:prstGeom prst="roundRect">
            <a:avLst>
              <a:gd name="adj" fmla="val 3176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473322-FBF5-548A-B3F7-5A15AD3EE11E}"/>
              </a:ext>
            </a:extLst>
          </p:cNvPr>
          <p:cNvSpPr/>
          <p:nvPr/>
        </p:nvSpPr>
        <p:spPr>
          <a:xfrm>
            <a:off x="277091" y="932874"/>
            <a:ext cx="1487054" cy="35098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폰트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A2FBF-AB37-A2AC-B251-9B2E130F1AE3}"/>
              </a:ext>
            </a:extLst>
          </p:cNvPr>
          <p:cNvSpPr txBox="1"/>
          <p:nvPr/>
        </p:nvSpPr>
        <p:spPr>
          <a:xfrm>
            <a:off x="277091" y="1357748"/>
            <a:ext cx="5578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타이틀</a:t>
            </a:r>
            <a:r>
              <a:rPr lang="en-US" altLang="ko-KR" sz="28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en-US" altLang="ko-KR" sz="2800" spc="-1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Pretendard</a:t>
            </a:r>
            <a:r>
              <a:rPr lang="en-US" altLang="ko-KR" sz="28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2800" spc="-1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ExtraBold</a:t>
            </a:r>
            <a:r>
              <a:rPr lang="en-US" altLang="ko-KR" sz="28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</a:p>
          <a:p>
            <a:r>
              <a:rPr lang="en-US" altLang="ko-KR" sz="28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28pt,</a:t>
            </a:r>
            <a:r>
              <a:rPr lang="ko-KR" altLang="en-US" sz="28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문자 간격 좁게 </a:t>
            </a:r>
            <a:r>
              <a:rPr lang="en-US" altLang="ko-KR" sz="28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1pt</a:t>
            </a:r>
            <a:endParaRPr lang="ko-KR" altLang="en-US" sz="2800" spc="-1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19651-5409-3825-4AE6-686AA18A6249}"/>
              </a:ext>
            </a:extLst>
          </p:cNvPr>
          <p:cNvSpPr txBox="1"/>
          <p:nvPr/>
        </p:nvSpPr>
        <p:spPr>
          <a:xfrm>
            <a:off x="277091" y="2399748"/>
            <a:ext cx="5578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본문</a:t>
            </a:r>
            <a:r>
              <a:rPr lang="en-US" altLang="ko-KR" sz="16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600" spc="-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Pretendard</a:t>
            </a:r>
            <a:r>
              <a:rPr lang="en-US" altLang="ko-KR" sz="16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en-US" altLang="ko-KR" sz="16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16pt,</a:t>
            </a:r>
            <a:r>
              <a:rPr lang="ko-KR" altLang="en-US" sz="16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문자 간격 좁게 </a:t>
            </a:r>
            <a:r>
              <a:rPr lang="en-US" altLang="ko-KR" sz="16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1pt</a:t>
            </a:r>
            <a:endParaRPr lang="ko-KR" altLang="en-US" sz="1600" spc="-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F5D5B-900D-7B93-8D2A-A36FE354C4E0}"/>
              </a:ext>
            </a:extLst>
          </p:cNvPr>
          <p:cNvSpPr txBox="1"/>
          <p:nvPr/>
        </p:nvSpPr>
        <p:spPr>
          <a:xfrm>
            <a:off x="277091" y="3683529"/>
            <a:ext cx="5578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본문 설명</a:t>
            </a:r>
            <a:r>
              <a:rPr lang="en-US" altLang="ko-KR" sz="12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200" spc="-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Pretendard</a:t>
            </a:r>
            <a:r>
              <a:rPr lang="en-US" altLang="ko-KR" sz="12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en-US" altLang="ko-KR" sz="12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12pt,</a:t>
            </a:r>
            <a:r>
              <a:rPr lang="ko-KR" altLang="en-US" sz="12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문자 간격 좁게 </a:t>
            </a:r>
            <a:r>
              <a:rPr lang="en-US" altLang="ko-KR" sz="12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1pt</a:t>
            </a:r>
            <a:endParaRPr lang="ko-KR" altLang="en-US" sz="1200" spc="-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6A0B7F-021F-D558-6A09-DC17171C4BF6}"/>
              </a:ext>
            </a:extLst>
          </p:cNvPr>
          <p:cNvSpPr txBox="1"/>
          <p:nvPr/>
        </p:nvSpPr>
        <p:spPr>
          <a:xfrm>
            <a:off x="277091" y="4233088"/>
            <a:ext cx="5578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출처 등 표기 </a:t>
            </a:r>
            <a:r>
              <a:rPr lang="en-US" altLang="ko-KR" sz="9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900" spc="-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Pretendard</a:t>
            </a:r>
            <a:r>
              <a:rPr lang="en-US" altLang="ko-KR" sz="9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en-US" altLang="ko-KR" sz="9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9pt,</a:t>
            </a:r>
            <a:r>
              <a:rPr lang="ko-KR" altLang="en-US" sz="9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문자 간격 좁게 </a:t>
            </a:r>
            <a:r>
              <a:rPr lang="en-US" altLang="ko-KR" sz="9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1pt</a:t>
            </a:r>
            <a:endParaRPr lang="ko-KR" altLang="en-US" sz="900" spc="-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CDB8B45-52B6-ABD8-2D22-6111DB207954}"/>
              </a:ext>
            </a:extLst>
          </p:cNvPr>
          <p:cNvSpPr/>
          <p:nvPr/>
        </p:nvSpPr>
        <p:spPr>
          <a:xfrm>
            <a:off x="277091" y="5064498"/>
            <a:ext cx="1487054" cy="35098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컬러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FEBA8F5-AB9B-4814-B77A-010BF50C0D86}"/>
              </a:ext>
            </a:extLst>
          </p:cNvPr>
          <p:cNvSpPr/>
          <p:nvPr/>
        </p:nvSpPr>
        <p:spPr>
          <a:xfrm>
            <a:off x="6345382" y="932874"/>
            <a:ext cx="1487054" cy="35098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레이아웃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3DA76B-419E-B023-1DA7-B32710F165F2}"/>
              </a:ext>
            </a:extLst>
          </p:cNvPr>
          <p:cNvSpPr txBox="1"/>
          <p:nvPr/>
        </p:nvSpPr>
        <p:spPr>
          <a:xfrm>
            <a:off x="8659091" y="1395580"/>
            <a:ext cx="25941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마스터 슬라이드 레이아웃 활용</a:t>
            </a:r>
            <a:endParaRPr lang="en-US" altLang="ko-KR" sz="1400" spc="-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(‘</a:t>
            </a:r>
            <a:r>
              <a:rPr lang="ko-KR" altLang="en-US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본문</a:t>
            </a:r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 </a:t>
            </a:r>
            <a:r>
              <a:rPr lang="ko-KR" altLang="en-US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레이아웃을 메인으로 사용</a:t>
            </a:r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endParaRPr lang="en-US" altLang="ko-KR" sz="1400" spc="-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파일에서 복사 시</a:t>
            </a:r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되도록 내용만 복사하여</a:t>
            </a:r>
            <a:endParaRPr lang="en-US" altLang="ko-KR" sz="1400" spc="-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붙여넣기 해주세요</a:t>
            </a:r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098C2FE-ADED-9BDC-6C2A-89FB9D07DD3A}"/>
              </a:ext>
            </a:extLst>
          </p:cNvPr>
          <p:cNvSpPr/>
          <p:nvPr/>
        </p:nvSpPr>
        <p:spPr>
          <a:xfrm>
            <a:off x="6345382" y="5324761"/>
            <a:ext cx="1487054" cy="35098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pc="-1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로고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499F08-ED34-6FC4-DA0E-4A5D64CC6941}"/>
              </a:ext>
            </a:extLst>
          </p:cNvPr>
          <p:cNvSpPr txBox="1"/>
          <p:nvPr/>
        </p:nvSpPr>
        <p:spPr>
          <a:xfrm>
            <a:off x="277091" y="3072416"/>
            <a:ext cx="5578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본문 타이틀 </a:t>
            </a:r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en-US" altLang="ko-KR" sz="1400" spc="-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Pretendard</a:t>
            </a:r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14pt,</a:t>
            </a:r>
            <a:r>
              <a:rPr lang="ko-KR" altLang="en-US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문자 간격 좁게 </a:t>
            </a:r>
            <a:r>
              <a:rPr lang="en-US" altLang="ko-KR" sz="1400" spc="-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1pt</a:t>
            </a:r>
            <a:endParaRPr lang="ko-KR" altLang="en-US" sz="1400" spc="-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63BC0E-B275-422D-FB29-77F4F052FE14}"/>
              </a:ext>
            </a:extLst>
          </p:cNvPr>
          <p:cNvSpPr/>
          <p:nvPr/>
        </p:nvSpPr>
        <p:spPr>
          <a:xfrm>
            <a:off x="272008" y="5500252"/>
            <a:ext cx="875978" cy="6419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100" dirty="0">
                <a:solidFill>
                  <a:schemeClr val="accent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 컬러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5C010D-8ABB-0B96-F190-9F32013C7451}"/>
              </a:ext>
            </a:extLst>
          </p:cNvPr>
          <p:cNvSpPr/>
          <p:nvPr/>
        </p:nvSpPr>
        <p:spPr>
          <a:xfrm>
            <a:off x="1212567" y="5500252"/>
            <a:ext cx="875977" cy="6419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1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강조색</a:t>
            </a:r>
            <a:r>
              <a:rPr lang="ko-KR" altLang="en-US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ko-KR" altLang="en-US" sz="1200" spc="-1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CF03CC-3179-62C2-05A8-AE07CDA95E3F}"/>
              </a:ext>
            </a:extLst>
          </p:cNvPr>
          <p:cNvSpPr/>
          <p:nvPr/>
        </p:nvSpPr>
        <p:spPr>
          <a:xfrm>
            <a:off x="2153124" y="5500252"/>
            <a:ext cx="875977" cy="6419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1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강조색</a:t>
            </a:r>
            <a:r>
              <a:rPr lang="ko-KR" altLang="en-US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CB6332-FF5B-AF27-2449-8FF565A30CAF}"/>
              </a:ext>
            </a:extLst>
          </p:cNvPr>
          <p:cNvSpPr/>
          <p:nvPr/>
        </p:nvSpPr>
        <p:spPr>
          <a:xfrm>
            <a:off x="3093682" y="5500252"/>
            <a:ext cx="875977" cy="6419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서브 컬러 </a:t>
            </a:r>
            <a:r>
              <a:rPr lang="en-US" altLang="ko-KR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625E70-DFB2-717D-8E32-E93813B41FBE}"/>
              </a:ext>
            </a:extLst>
          </p:cNvPr>
          <p:cNvSpPr/>
          <p:nvPr/>
        </p:nvSpPr>
        <p:spPr>
          <a:xfrm>
            <a:off x="4034240" y="5500252"/>
            <a:ext cx="875977" cy="6419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서브 컬러 </a:t>
            </a:r>
            <a:r>
              <a:rPr lang="en-US" altLang="ko-KR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0A5359-0C47-F2A2-D2D6-BE33390BED42}"/>
              </a:ext>
            </a:extLst>
          </p:cNvPr>
          <p:cNvSpPr/>
          <p:nvPr/>
        </p:nvSpPr>
        <p:spPr>
          <a:xfrm>
            <a:off x="4974798" y="5500252"/>
            <a:ext cx="875977" cy="6419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서브 컬러 </a:t>
            </a:r>
            <a:r>
              <a:rPr lang="en-US" altLang="ko-KR" sz="1200" spc="-1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9" name="그림 1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03387F-5925-CE42-5A9F-396CFB28E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059" y="1433031"/>
            <a:ext cx="2148220" cy="3102984"/>
          </a:xfrm>
          <a:prstGeom prst="rect">
            <a:avLst/>
          </a:prstGeom>
        </p:spPr>
      </p:pic>
      <p:pic>
        <p:nvPicPr>
          <p:cNvPr id="14" name="그림 13" descr="올더베러 로고 | brandB 브랜드비">
            <a:extLst>
              <a:ext uri="{FF2B5EF4-FFF2-40B4-BE49-F238E27FC236}">
                <a16:creationId xmlns:a16="http://schemas.microsoft.com/office/drawing/2014/main" id="{AD3DA3D8-3055-2BDB-6D84-073C9A6AFD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672" b="35672"/>
          <a:stretch>
            <a:fillRect/>
          </a:stretch>
        </p:blipFill>
        <p:spPr>
          <a:xfrm>
            <a:off x="7890655" y="5330435"/>
            <a:ext cx="2148221" cy="339633"/>
          </a:xfrm>
          <a:prstGeom prst="rect">
            <a:avLst/>
          </a:prstGeom>
        </p:spPr>
      </p:pic>
      <p:pic>
        <p:nvPicPr>
          <p:cNvPr id="18" name="그림 17" descr="올더베러 로고 | brandB 브랜드비">
            <a:extLst>
              <a:ext uri="{FF2B5EF4-FFF2-40B4-BE49-F238E27FC236}">
                <a16:creationId xmlns:a16="http://schemas.microsoft.com/office/drawing/2014/main" id="{191C6F18-43D4-EFA5-922B-21F2509CC5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781" b="36781"/>
          <a:stretch>
            <a:fillRect/>
          </a:stretch>
        </p:blipFill>
        <p:spPr>
          <a:xfrm>
            <a:off x="7890656" y="5846474"/>
            <a:ext cx="2148220" cy="31326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CF05BF5-F56B-0119-CC10-70163AAD5E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684" t="13990" r="27684" b="13990"/>
          <a:stretch>
            <a:fillRect/>
          </a:stretch>
        </p:blipFill>
        <p:spPr>
          <a:xfrm>
            <a:off x="10097095" y="5317449"/>
            <a:ext cx="946080" cy="84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00286"/>
      </p:ext>
    </p:extLst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크리에이터 전략 — 역할 × 채널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진성 다수(나노·마이크로) = 코어 / 매크로 소수 = 점화 · 인스타그램 절대 비중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① 역할별 구분 (비중 = 견적서 기준)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17904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707070"/>
                </a:solidFill>
                <a:latin typeface="맑은 고딕"/>
              </a:rPr>
              <a:t>※ ER(인게이지먼트율) = (좋아요+댓글+저장+공유) ÷ 팔로워, 게시물당 평균 · 인스타그램 기준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10512"/>
          <a:ext cx="11292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188720"/>
                <a:gridCol w="4480560"/>
                <a:gridCol w="2971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팔로워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ER(IG)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물량 · 예산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나노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1만 이하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707070"/>
                          </a:solidFill>
                          <a:latin typeface="맑은 고딕"/>
                        </a:rPr>
                        <a:t>4~6%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진성 후기·UGC 볼륨 — 동일 메시지 동시다발 = ‘익숙함’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225건 / 56,250,000원 (44%)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마이크로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1만~5만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707070"/>
                          </a:solidFill>
                          <a:latin typeface="맑은 고딕"/>
                        </a:rPr>
                        <a:t>2~4%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카테고리 전문·전환 코어 — 위닝 소재 발굴 → PA 2차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150건 / 60,000,000원 (47%)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111"/>
                          </a:solidFill>
                          <a:latin typeface="맑은 고딕"/>
                        </a:rPr>
                        <a:t>매크로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5만 이상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707070"/>
                          </a:solidFill>
                          <a:latin typeface="맑은 고딕"/>
                        </a:rPr>
                        <a:t>1~2%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도달·화제성 점화 — 세일/블프 집중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15건 / 12,000,000원 (9%)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3931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07070"/>
                </a:solidFill>
                <a:latin typeface="맑은 고딕"/>
              </a:rPr>
              <a:t>크리에이터 코어(나노·마이크로·매크로) 합계 = 390건 / 128,250,000원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50208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11111"/>
                </a:solidFill>
                <a:latin typeface="맑은 고딕"/>
              </a:rPr>
              <a:t>② 채널별 구분 (인스타그램 절대 비중)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279392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4480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채널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포맷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63500" marR="63500" marT="12700" marB="12700" anchor="ctr"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★ 인스타그램</a:t>
                      </a: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</a:rPr>
                        <a:t>릴스</a:t>
                      </a: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  <a:latin typeface="맑은 고딕"/>
                        </a:rPr>
                        <a:t>시딩 코어·전환 허브 → 메타 파트너십 광고 2차 활용</a:t>
                      </a:r>
                    </a:p>
                  </a:txBody>
                  <a:tcPr marL="63500" marR="63500" marT="12700" marB="12700" anchor="ctr">
                    <a:solidFill>
                      <a:srgbClr val="EAEA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유튜브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</a:rPr>
                        <a:t>쇼츠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확산 보조 + 제품 사용 장면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틱톡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</a:rPr>
                        <a:t>쇼츠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별도 시딩 상품 — 숏폼 바이럴·확산 (독립 물량·소재)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X(트위터)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</a:rPr>
                        <a:t>피드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실시간 트렌드 + 바이럴 · 15건 / 7,500,000원</a:t>
                      </a:r>
                    </a:p>
                  </a:txBody>
                  <a:tcPr marL="63500" marR="63500" marT="12700" marB="12700"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11111"/>
                          </a:solidFill>
                          <a:latin typeface="맑은 고딕"/>
                        </a:rPr>
                        <a:t>네이버 블로그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333333"/>
                          </a:solidFill>
                          <a:latin typeface="맑은 고딕"/>
                        </a:rPr>
                        <a:t>정보성 리뷰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  <a:latin typeface="맑은 고딕"/>
                        </a:rPr>
                        <a:t>후기 신뢰·정보 탐색 대응 · 15건 / 3,750,000원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321040" y="4279392"/>
            <a:ext cx="3429000" cy="2194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440740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11111"/>
                </a:solidFill>
                <a:latin typeface="맑은 고딕"/>
              </a:rPr>
              <a:t>크리에이터 풀 = 웰니스 접점 타겟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828032"/>
            <a:ext cx="31089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홈트 · 헬스 / 피트니스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요가 / 필라테스 · 러닝크루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헬시 레시피 / 식단 기록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다이어트 · 바디프로필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직장인 자기관리 · 모닝루틴 브이로그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맑은 고딕"/>
              </a:rPr>
              <a:t>· 헬시플레저 라이프스타일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11111"/>
                </a:solidFill>
                <a:latin typeface="맑은 고딕"/>
              </a:rPr>
              <a:t>KOL 무가시딩 운영 전략 — 대상 × 방식</a:t>
            </a:r>
          </a:p>
          <a:p>
            <a:r>
              <a:rPr sz="1200">
                <a:solidFill>
                  <a:srgbClr val="707070"/>
                </a:solidFill>
                <a:latin typeface="맑은 고딕"/>
              </a:rPr>
              <a:t>광고비 지불 없이 제품·키트만 제공 → 자발 게시 유도 · 관계로 지속 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280160"/>
            <a:ext cx="1097280" cy="457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92840" cy="5486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무가시딩 = 노출을 사는 게 아니라 ‘관계를 빌드업’ 하는 활동  ·  60건 / 6,000,000원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548640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① 누구에게 — 대상 선정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349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웰니스 접점이 강한 마이크로~매크로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07070"/>
                </a:solidFill>
                <a:latin typeface="맑은 고딕"/>
              </a:rPr>
              <a:t>브랜드 무드(‘채움’) 적합도 우선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707070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올더베러 타깃과 라이프스타일이 겹치는 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07070"/>
                </a:solidFill>
                <a:latin typeface="맑은 고딕"/>
              </a:rPr>
              <a:t>30대 직장인 · 웰니스 라이프 · 부모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707070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11111"/>
                </a:solidFill>
                <a:latin typeface="맑은 고딕"/>
              </a:rPr>
              <a:t>이미 자생적으로 헬시플레저·자기관리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07070"/>
                </a:solidFill>
                <a:latin typeface="맑은 고딕"/>
              </a:rPr>
              <a:t>콘텐츠를 올리는 진성 계정 (협찬 티 안 나는 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548640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0428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</a:rPr>
              <a:t>② 어떻게 — 운영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34640"/>
            <a:ext cx="5349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11111"/>
                </a:solidFill>
                <a:latin typeface="맑은 고딕"/>
              </a:rPr>
              <a:t>시그니처 키트 — 브랜드 무드 담은 패키지 + 큐레이션 (단순 택배 ❌)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11111"/>
                </a:solidFill>
                <a:latin typeface="맑은 고딕"/>
              </a:rPr>
              <a:t>커스텀 레터 — 개인화 메시지 (보도자료식 ❌)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11111"/>
                </a:solidFill>
                <a:latin typeface="맑은 고딕"/>
              </a:rPr>
              <a:t>등급별 차등 — 매크로급=커스텀 키트+정기 접촉 / 마이크로·나노=제품 제공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11111"/>
                </a:solidFill>
                <a:latin typeface="맑은 고딕"/>
              </a:rPr>
              <a:t>게시 강요 ❌ — 자발 게시 유도, 게시해 준 분은 본품 유지 + 주기 발송으로 관계 빌드업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11111"/>
                </a:solidFill>
                <a:latin typeface="맑은 고딕"/>
              </a:rPr>
              <a:t>자산화 — 오가닉 후기·UGC, 우수 콘텐츠는 퍼포 소재 2차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89320"/>
            <a:ext cx="112928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071616"/>
            <a:ext cx="10972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11111"/>
                </a:solidFill>
                <a:latin typeface="맑은 고딕"/>
              </a:rPr>
              <a:t>KPI (게런티 X) — 키트 발송 수  ·  오가닉 게시 전환율  ·  우호 후기 수  ·  도달 / 저장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템플릿">
  <a:themeElements>
    <a:clrScheme name="브링그린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EFFA1"/>
      </a:accent1>
      <a:accent2>
        <a:srgbClr val="473417"/>
      </a:accent2>
      <a:accent3>
        <a:srgbClr val="09582F"/>
      </a:accent3>
      <a:accent4>
        <a:srgbClr val="8D9407"/>
      </a:accent4>
      <a:accent5>
        <a:srgbClr val="C5C22D"/>
      </a:accent5>
      <a:accent6>
        <a:srgbClr val="F3C8B7"/>
      </a:accent6>
      <a:hlink>
        <a:srgbClr val="002060"/>
      </a:hlink>
      <a:folHlink>
        <a:srgbClr val="7030A0"/>
      </a:folHlink>
    </a:clrScheme>
    <a:fontScheme name="Pretendard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spc="-100"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8D9407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B0402D-7E88-4D5C-A9A8-2F0EA6818A09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e9cfb9a7-9d4e-4dce-a84f-d929924d3fa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188254A4831924E9E526FF0216D0FCE" ma:contentTypeVersion="11" ma:contentTypeDescription="새 문서를 만듭니다." ma:contentTypeScope="" ma:versionID="1bb02867c5a856038820aef20790464f">
  <xsd:schema xmlns:xsd="http://www.w3.org/2001/XMLSchema" xmlns:xs="http://www.w3.org/2001/XMLSchema" xmlns:p="http://schemas.microsoft.com/office/2006/metadata/properties" xmlns:ns3="78bc5f6b-badd-460d-ba8a-1201f8f6e675" targetNamespace="http://schemas.microsoft.com/office/2006/metadata/properties" ma:root="true" ma:fieldsID="51f7113e8d95a19d7ec5283d7deef0b5" ns3:_="">
    <xsd:import namespace="78bc5f6b-badd-460d-ba8a-1201f8f6e6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bc5f6b-badd-460d-ba8a-1201f8f6e6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6D0546-D0F5-4AE2-AA49-2BA08653BF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4BEA04-9967-4FF0-AA38-3532F391796D}">
  <ds:schemaRefs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78bc5f6b-badd-460d-ba8a-1201f8f6e675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6486CFE-C019-4074-91B6-53325BAF8A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bc5f6b-badd-460d-ba8a-1201f8f6e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22878</TotalTime>
  <Words>4393</Words>
  <Application>Microsoft Office PowerPoint</Application>
  <PresentationFormat>와이드스크린</PresentationFormat>
  <Paragraphs>970</Paragraphs>
  <Slides>71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82" baseType="lpstr">
      <vt:lpstr>G마켓 산스 Medium</vt:lpstr>
      <vt:lpstr>Pretendard</vt:lpstr>
      <vt:lpstr>Pretendard ExtraBold</vt:lpstr>
      <vt:lpstr>Pretendard Light</vt:lpstr>
      <vt:lpstr>Pretendard Medium</vt:lpstr>
      <vt:lpstr>Pretendard SemiBold</vt:lpstr>
      <vt:lpstr>Pretendard Thin</vt:lpstr>
      <vt:lpstr>맑은 고딕</vt:lpstr>
      <vt:lpstr>Arial</vt:lpstr>
      <vt:lpstr>Wingdings</vt:lpstr>
      <vt:lpstr>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웰니스 시장: 폭발 직전, 그러나 갇혀 있다</vt:lpstr>
      <vt:lpstr>올리브영/올리브베러는 올더베러의 홈그라운드입니다</vt:lpstr>
      <vt:lpstr>PowerPoint 프레젠테이션</vt:lpstr>
      <vt:lpstr>PowerPoint 프레젠테이션</vt:lpstr>
      <vt:lpstr>PowerPoint 프레젠테이션</vt:lpstr>
      <vt:lpstr>올리브영 1등 달성한 케이스?</vt:lpstr>
      <vt:lpstr>PowerPoint 프레젠테이션</vt:lpstr>
      <vt:lpstr>올더베러는 ‘웰니스’ 브랜드이지만, 제품마다 다른 언어가 필요</vt:lpstr>
      <vt:lpstr>제품 포트폴리오 – 우선순위 설정</vt:lpstr>
      <vt:lpstr>제품 유형별 메시지 설계 : 올리브오일 / 웰니스 구미</vt:lpstr>
      <vt:lpstr>제품별 타겟 고객 상황/TPO 맞춤 메시지 구체화</vt:lpstr>
      <vt:lpstr>PowerPoint 프레젠테이션</vt:lpstr>
      <vt:lpstr>왜 시딩이 1순위인가</vt:lpstr>
      <vt:lpstr>크리에이터 전략</vt:lpstr>
      <vt:lpstr>크리에이터 콘텐츠 기획 : 제품별 콘텐츠 앵글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오프라인 인증형 시딩 콘텐츠</vt:lpstr>
      <vt:lpstr>PowerPoint 프레젠테이션</vt:lpstr>
      <vt:lpstr>프로그램 구조</vt:lpstr>
      <vt:lpstr>챌린저스/체험단/어필리에이트</vt:lpstr>
      <vt:lpstr>KOL 무가시딩/파워페이지/바이럴/GEO(AEO)</vt:lpstr>
      <vt:lpstr>PowerPoint 프레젠테이션</vt:lpstr>
      <vt:lpstr>6개월 운영 로드맵 : 9월에 만들고, 11-12월에 다시 키운다</vt:lpstr>
      <vt:lpstr>KPI &amp; Budget</vt:lpstr>
      <vt:lpstr>심의 대응 체계</vt:lpstr>
      <vt:lpstr>성과 리포팅 솔루션</vt:lpstr>
      <vt:lpstr>올영PB TF 인력 구성</vt:lpstr>
      <vt:lpstr>PowerPoint 프레젠테이션</vt:lpstr>
      <vt:lpstr>올더베러 캠페인 구조 전체 한판 요약 정리</vt:lpstr>
      <vt:lpstr>BAT가 잘할 수 있는 이유 : 추가 레퍼런스 제시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단순 시딩 콘텐츠 생산이 아니라, 시딩-콘텐츠-퍼포먼스 연결로 비즈니스 임팩트를 만드는 구조를 설계합니다.</vt:lpstr>
      <vt:lpstr>시딩만으로는 1등 브랜드를 만들기 어렵습니다</vt:lpstr>
      <vt:lpstr>콘텐츠 + 퍼포 결합 구조</vt:lpstr>
      <vt:lpstr>올더베러 비주얼 가이드, KV, 퍼포 소재 레이아웃</vt:lpstr>
      <vt:lpstr>올더베러 제품 기준 LMF 테스트 : 위닝 메시지 발굴</vt:lpstr>
      <vt:lpstr>퍼포 매체 활용 방안</vt:lpstr>
      <vt:lpstr>올영 인앱 광고</vt:lpstr>
      <vt:lpstr>CRM 카카오 플친</vt:lpstr>
      <vt:lpstr>PowerPoint 프레젠테이션</vt:lpstr>
      <vt:lpstr>PowerPoint 프레젠테이션</vt:lpstr>
      <vt:lpstr>PowerPoint 프레젠테이션</vt:lpstr>
      <vt:lpstr>PowerPoint 프레젠테이션</vt:lpstr>
      <vt:lpstr>타이틀 타이틀</vt:lpstr>
      <vt:lpstr>타이틀 타이틀</vt:lpstr>
      <vt:lpstr>타이틀 타이틀</vt:lpstr>
      <vt:lpstr>타이틀 타이틀</vt:lpstr>
      <vt:lpstr>요약 타이틀 요약 타이틀</vt:lpstr>
      <vt:lpstr>요약 타이틀 요약 타이틀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 창현</dc:creator>
  <cp:lastModifiedBy>USER</cp:lastModifiedBy>
  <cp:revision>38</cp:revision>
  <dcterms:created xsi:type="dcterms:W3CDTF">2024-02-22T09:08:38Z</dcterms:created>
  <dcterms:modified xsi:type="dcterms:W3CDTF">2026-06-14T11:38:11Z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0x010100F188254A4831924E9E526FF0216D0FCE</vt:lpwstr>
  </property>
</Properties>
</file>