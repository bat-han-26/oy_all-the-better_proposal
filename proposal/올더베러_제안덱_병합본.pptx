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59"/>
  </p:notesMasterIdLst>
  <p:sldIdLst>
    <p:sldId id="447" r:id="rId5"/>
    <p:sldId id="444" r:id="rId6"/>
    <p:sldId id="465" r:id="rId7"/>
    <p:sldId id="466" r:id="rId8"/>
    <p:sldId id="502" r:id="rId9"/>
    <p:sldId id="462" r:id="rId10"/>
    <p:sldId id="463" r:id="rId11"/>
    <p:sldId id="468" r:id="rId12"/>
    <p:sldId id="469" r:id="rId13"/>
    <p:sldId id="471" r:id="rId14"/>
    <p:sldId id="467" r:id="rId15"/>
    <p:sldId id="470" r:id="rId16"/>
    <p:sldId id="472" r:id="rId17"/>
    <p:sldId id="474" r:id="rId18"/>
    <p:sldId id="473" r:id="rId19"/>
    <p:sldId id="475" r:id="rId20"/>
    <p:sldId id="476" r:id="rId21"/>
    <p:sldId id="477" r:id="rId22"/>
    <p:sldId id="478" r:id="rId23"/>
    <p:sldId id="480" r:id="rId24"/>
    <p:sldId id="481" r:id="rId25"/>
    <p:sldId id="503" r:id="rId26"/>
    <p:sldId id="2147483638" r:id="rId27"/>
    <p:sldId id="479" r:id="rId28"/>
    <p:sldId id="482" r:id="rId29"/>
    <p:sldId id="483" r:id="rId30"/>
    <p:sldId id="484" r:id="rId31"/>
    <p:sldId id="485" r:id="rId32"/>
    <p:sldId id="486" r:id="rId33"/>
    <p:sldId id="487" r:id="rId34"/>
    <p:sldId id="488" r:id="rId35"/>
    <p:sldId id="489" r:id="rId36"/>
    <p:sldId id="490" r:id="rId37"/>
    <p:sldId id="491" r:id="rId38"/>
    <p:sldId id="492" r:id="rId39"/>
    <p:sldId id="493" r:id="rId40"/>
    <p:sldId id="496" r:id="rId41"/>
    <p:sldId id="494" r:id="rId42"/>
    <p:sldId id="495" r:id="rId43"/>
    <p:sldId id="497" r:id="rId44"/>
    <p:sldId id="498" r:id="rId45"/>
    <p:sldId id="499" r:id="rId46"/>
    <p:sldId id="500" r:id="rId47"/>
    <p:sldId id="2147483639" r:id="rId65"/>
    <p:sldId id="2147483640" r:id="rId66"/>
    <p:sldId id="2147483641" r:id="rId67"/>
    <p:sldId id="2147483642" r:id="rId68"/>
    <p:sldId id="2147483643" r:id="rId69"/>
    <p:sldId id="2147483644" r:id="rId70"/>
    <p:sldId id="2147483645" r:id="rId71"/>
    <p:sldId id="2147483646" r:id="rId72"/>
    <p:sldId id="2147483647" r:id="rId73"/>
    <p:sldId id="366" r:id="rId48"/>
    <p:sldId id="364" r:id="rId49"/>
    <p:sldId id="356" r:id="rId50"/>
    <p:sldId id="445" r:id="rId51"/>
    <p:sldId id="358" r:id="rId52"/>
    <p:sldId id="264" r:id="rId53"/>
    <p:sldId id="302" r:id="rId54"/>
    <p:sldId id="303" r:id="rId55"/>
    <p:sldId id="360" r:id="rId56"/>
    <p:sldId id="361" r:id="rId57"/>
    <p:sldId id="269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트로" id="{CDC2933B-DC49-4A06-8EE3-121644AAF5AB}">
          <p14:sldIdLst>
            <p14:sldId id="447"/>
            <p14:sldId id="444"/>
            <p14:sldId id="465"/>
            <p14:sldId id="466"/>
            <p14:sldId id="502"/>
          </p14:sldIdLst>
        </p14:section>
        <p14:section name="마케팅 전략" id="{9A463C78-8A43-4488-9CF2-A5394164C7BA}">
          <p14:sldIdLst>
            <p14:sldId id="462"/>
            <p14:sldId id="463"/>
            <p14:sldId id="468"/>
            <p14:sldId id="469"/>
            <p14:sldId id="471"/>
            <p14:sldId id="467"/>
            <p14:sldId id="470"/>
          </p14:sldIdLst>
        </p14:section>
        <p14:section name="제품/메시지" id="{4C2FBB78-55B6-4239-86F3-D1FB6D3C14D1}">
          <p14:sldIdLst>
            <p14:sldId id="472"/>
            <p14:sldId id="474"/>
            <p14:sldId id="473"/>
            <p14:sldId id="475"/>
            <p14:sldId id="476"/>
          </p14:sldIdLst>
        </p14:section>
        <p14:section name="시딩 콘텐츠" id="{C9C34570-2290-4482-9E21-5AC925D33EA9}">
          <p14:sldIdLst>
            <p14:sldId id="477"/>
            <p14:sldId id="478"/>
            <p14:sldId id="480"/>
            <p14:sldId id="481"/>
            <p14:sldId id="503"/>
          </p14:sldIdLst>
        </p14:section>
        <p14:section name="제목 없는 구역" id="{47AF6C90-DAB4-489C-8EB8-52136BDD03B2}">
          <p14:sldIdLst>
            <p14:sldId id="2147483638"/>
            <p14:sldId id="479"/>
            <p14:sldId id="482"/>
            <p14:sldId id="483"/>
          </p14:sldIdLst>
        </p14:section>
        <p14:section name="퍼포먼스" id="{35C3748E-EDAA-4A66-9CEA-B432456A603C}">
          <p14:sldIdLst>
            <p14:sldId id="484"/>
            <p14:sldId id="485"/>
            <p14:sldId id="486"/>
            <p14:sldId id="487"/>
            <p14:sldId id="488"/>
            <p14:sldId id="489"/>
            <p14:sldId id="490"/>
            <p14:sldId id="491"/>
          </p14:sldIdLst>
        </p14:section>
        <p14:section name="캠페인 운영" id="{42D8A704-7E9A-42E1-875C-DAE71B83BA96}">
          <p14:sldIdLst>
            <p14:sldId id="492"/>
            <p14:sldId id="493"/>
            <p14:sldId id="496"/>
            <p14:sldId id="494"/>
            <p14:sldId id="495"/>
            <p14:sldId id="497"/>
          </p14:sldIdLst>
        </p14:section>
        <p14:section name="BAT" id="{16FF30FD-B2BA-4FAC-807D-A972B58A6293}">
          <p14:sldIdLst>
            <p14:sldId id="498"/>
            <p14:sldId id="499"/>
            <p14:sldId id="500"/>
            <p14:sldId id="366"/>
          </p14:sldIdLst>
        </p14:section>
        <p14:section name="프레임" id="{3C9A946F-9589-479B-B5CC-691C667C7514}">
          <p14:sldIdLst>
            <p14:sldId id="364"/>
            <p14:sldId id="356"/>
            <p14:sldId id="445"/>
            <p14:sldId id="358"/>
            <p14:sldId id="264"/>
            <p14:sldId id="302"/>
            <p14:sldId id="303"/>
            <p14:sldId id="360"/>
            <p14:sldId id="361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FA1"/>
    <a:srgbClr val="181800"/>
    <a:srgbClr val="A9E5E6"/>
    <a:srgbClr val="3AB8B4"/>
    <a:srgbClr val="5FD0CE"/>
    <a:srgbClr val="3BB9B5"/>
    <a:srgbClr val="C5EDDE"/>
    <a:srgbClr val="67D3AF"/>
    <a:srgbClr val="E1F4EE"/>
    <a:srgbClr val="2BA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24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안 창현" userId="be006346-2122-4e92-94a7-2021cb4e2e92" providerId="ADAL" clId="{4BB58871-5F43-431E-8609-C455DB627142}"/>
    <pc:docChg chg="delSld delMainMaster modSection">
      <pc:chgData name="안 창현" userId="be006346-2122-4e92-94a7-2021cb4e2e92" providerId="ADAL" clId="{4BB58871-5F43-431E-8609-C455DB627142}" dt="2026-06-11T02:24:38.159" v="8" actId="47"/>
      <pc:docMkLst>
        <pc:docMk/>
      </pc:docMkLst>
      <pc:sldChg chg="del">
        <pc:chgData name="안 창현" userId="be006346-2122-4e92-94a7-2021cb4e2e92" providerId="ADAL" clId="{4BB58871-5F43-431E-8609-C455DB627142}" dt="2026-06-11T02:24:06.970" v="0" actId="47"/>
        <pc:sldMkLst>
          <pc:docMk/>
          <pc:sldMk cId="2172574494" sldId="261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1684156138" sldId="262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2564705982" sldId="2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027591137" sldId="271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1056916486" sldId="27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4221874640" sldId="27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051766895" sldId="314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67362211" sldId="315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2590001127" sldId="32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005069426" sldId="33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990778422" sldId="34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260495659" sldId="34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1509034526" sldId="344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456271" sldId="346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98178667" sldId="347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369964320" sldId="34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360987081" sldId="34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59456237" sldId="351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845492619" sldId="353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22793541" sldId="3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819466237" sldId="37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18706213" sldId="377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57924062" sldId="38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67751195" sldId="382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607254519" sldId="38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563941724" sldId="398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2854210796" sldId="40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272866764" sldId="40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635777813" sldId="404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4122375970" sldId="40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46173663" sldId="4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323460618" sldId="440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798530162" sldId="504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809848288" sldId="505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1620490352" sldId="5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054518931" sldId="507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545219277" sldId="50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87442167" sldId="50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522894102" sldId="51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2142002916" sldId="511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778483935" sldId="51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12669843" sldId="523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1873077173" sldId="524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23291678" sldId="52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89236491" sldId="52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515462527" sldId="527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66465007" sldId="53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538934786" sldId="53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811155427" sldId="53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1614509" sldId="2147483559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251089427" sldId="214748356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290180874" sldId="214748363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53438379" sldId="214748363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821005004" sldId="2147483637"/>
        </pc:sldMkLst>
      </pc:sldChg>
      <pc:sldMasterChg chg="del delSldLayout">
        <pc:chgData name="안 창현" userId="be006346-2122-4e92-94a7-2021cb4e2e92" providerId="ADAL" clId="{4BB58871-5F43-431E-8609-C455DB627142}" dt="2026-06-11T02:24:38.159" v="8" actId="47"/>
        <pc:sldMasterMkLst>
          <pc:docMk/>
          <pc:sldMasterMk cId="3450918473" sldId="2147483675"/>
        </pc:sldMasterMkLst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032340465" sldId="2147483676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173159653" sldId="2147483677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253119000" sldId="2147483678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970949038" sldId="2147483679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069090513" sldId="2147483680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094931919" sldId="2147483681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521506916" sldId="2147483682"/>
          </pc:sldLayoutMkLst>
        </pc:sldLayoutChg>
        <pc:sldLayoutChg chg="del">
          <pc:chgData name="안 창현" userId="be006346-2122-4e92-94a7-2021cb4e2e92" providerId="ADAL" clId="{4BB58871-5F43-431E-8609-C455DB627142}" dt="2026-06-11T02:24:30.012" v="6" actId="47"/>
          <pc:sldLayoutMkLst>
            <pc:docMk/>
            <pc:sldMasterMk cId="3450918473" sldId="2147483675"/>
            <pc:sldLayoutMk cId="532310816" sldId="2147483683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246906371" sldId="2147483684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934607499" sldId="2147483685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34.694" v="7" actId="47"/>
        <pc:sldMasterMkLst>
          <pc:docMk/>
          <pc:sldMasterMk cId="3733320797" sldId="2147483686"/>
        </pc:sldMasterMkLst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216526808" sldId="214748368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850500017" sldId="214748368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153837726" sldId="214748368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04310494" sldId="2147483690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114970574" sldId="2147483691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583090086" sldId="2147483692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72351453" sldId="2147483693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437595291" sldId="2147483694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023612339" sldId="2147483695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79021812" sldId="2147483696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63696150" sldId="214748369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784973811" sldId="214748369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854753338" sldId="214748369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4425493" sldId="2147483700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26.843" v="5" actId="47"/>
        <pc:sldMasterMkLst>
          <pc:docMk/>
          <pc:sldMasterMk cId="280153824" sldId="2147483701"/>
        </pc:sldMasterMkLst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459665517" sldId="214748370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62182872" sldId="214748370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865301834" sldId="214748370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01416655" sldId="214748370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023918352" sldId="214748370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348140603" sldId="214748370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490114458" sldId="2147483708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689765338" sldId="2147483709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976528495" sldId="2147483710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169158877" sldId="2147483711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64702001" sldId="214748371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104512252" sldId="214748371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277655571" sldId="214748371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51051721" sldId="214748371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122357956" sldId="214748371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871889282" sldId="214748371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367572485" sldId="2147483718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D797E-8482-47D8-8C36-A31AEA2F9477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2A84A-51BF-48EE-974E-BD62FEF88C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2162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CA2C0B-1CF7-3152-677D-64E1F82DAD5A}"/>
              </a:ext>
            </a:extLst>
          </p:cNvPr>
          <p:cNvSpPr/>
          <p:nvPr userDrawn="1"/>
        </p:nvSpPr>
        <p:spPr>
          <a:xfrm>
            <a:off x="1" y="0"/>
            <a:ext cx="12192000" cy="4023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2" name="제목 11">
            <a:extLst>
              <a:ext uri="{FF2B5EF4-FFF2-40B4-BE49-F238E27FC236}">
                <a16:creationId xmlns:a16="http://schemas.microsoft.com/office/drawing/2014/main" id="{59DECF83-A097-D12F-A4A0-5369E6ED93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18A67272-F957-1820-4F58-902342F7F3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90D9C8BB-B2EC-13E1-870B-E1A4B606D1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120" y="77549"/>
            <a:ext cx="3021914" cy="2472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spc="-100" baseline="0">
                <a:solidFill>
                  <a:schemeClr val="accent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lvl="0"/>
            <a:r>
              <a:rPr lang="ko-KR" altLang="en-US" dirty="0"/>
              <a:t>파트 대분류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F4CD22-2778-0E52-0347-82EE0F1A5BBE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752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1">
    <p:bg>
      <p:bgPr>
        <a:solidFill>
          <a:schemeClr val="accent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AB20E-110B-30D8-84FB-47A3C3FCA99D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10" name="제목 11">
            <a:extLst>
              <a:ext uri="{FF2B5EF4-FFF2-40B4-BE49-F238E27FC236}">
                <a16:creationId xmlns:a16="http://schemas.microsoft.com/office/drawing/2014/main" id="{456745D3-8559-EE11-F83E-5331979444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1" name="텍스트 개체 틀 13">
            <a:extLst>
              <a:ext uri="{FF2B5EF4-FFF2-40B4-BE49-F238E27FC236}">
                <a16:creationId xmlns:a16="http://schemas.microsoft.com/office/drawing/2014/main" id="{256F6B9E-B0FB-E026-F20C-4499E1837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1316214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2">
    <p:bg>
      <p:bgPr>
        <a:solidFill>
          <a:srgbClr val="181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6AA7F-EEDF-CB32-AA44-8036329C1B73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11">
            <a:extLst>
              <a:ext uri="{FF2B5EF4-FFF2-40B4-BE49-F238E27FC236}">
                <a16:creationId xmlns:a16="http://schemas.microsoft.com/office/drawing/2014/main" id="{0C6A4340-8D28-CC1E-37FD-E30C730C9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5" name="텍스트 개체 틀 13">
            <a:extLst>
              <a:ext uri="{FF2B5EF4-FFF2-40B4-BE49-F238E27FC236}">
                <a16:creationId xmlns:a16="http://schemas.microsoft.com/office/drawing/2014/main" id="{A807FC09-FB26-5E13-EED7-40D29A301B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bg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3978475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파트 간지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pPr lvl="0"/>
            <a:r>
              <a:rPr lang="en-US" altLang="ko-KR" dirty="0">
                <a:solidFill>
                  <a:schemeClr val="tx1"/>
                </a:solidFill>
              </a:rPr>
              <a:t>© 2026 BAT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21E609F5-977E-62B1-02D1-BEE69FB224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1" y="558546"/>
            <a:ext cx="11432418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</a:t>
            </a:r>
          </a:p>
        </p:txBody>
      </p:sp>
      <p:sp>
        <p:nvSpPr>
          <p:cNvPr id="6" name="텍스트 개체 틀 8">
            <a:extLst>
              <a:ext uri="{FF2B5EF4-FFF2-40B4-BE49-F238E27FC236}">
                <a16:creationId xmlns:a16="http://schemas.microsoft.com/office/drawing/2014/main" id="{13294B8B-A910-ED84-E7EA-0EB3A3103B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1" y="1140714"/>
            <a:ext cx="11432418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490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중간 간지"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accent1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tx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tx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2" name="텍스트 개체 틀 8">
            <a:extLst>
              <a:ext uri="{FF2B5EF4-FFF2-40B4-BE49-F238E27FC236}">
                <a16:creationId xmlns:a16="http://schemas.microsoft.com/office/drawing/2014/main" id="{09D671FE-32E7-4C73-92CB-38A5686466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0" y="558546"/>
            <a:ext cx="11520000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00-0</a:t>
            </a:r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CEAB5840-D80A-AD95-7E6F-2103827D40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0" y="1140714"/>
            <a:ext cx="11520000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중간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38527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595045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3319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179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슬라이드 번호 개체 틀 5">
            <a:extLst>
              <a:ext uri="{FF2B5EF4-FFF2-40B4-BE49-F238E27FC236}">
                <a16:creationId xmlns:a16="http://schemas.microsoft.com/office/drawing/2014/main" id="{FF248DFB-A779-F828-0ADF-1408809F6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4B63D27-D70F-CD4C-A780-7C9AFE4B4AF1}"/>
              </a:ext>
            </a:extLst>
          </p:cNvPr>
          <p:cNvSpPr/>
          <p:nvPr userDrawn="1"/>
        </p:nvSpPr>
        <p:spPr>
          <a:xfrm>
            <a:off x="-740269" y="0"/>
            <a:ext cx="606582" cy="651849"/>
          </a:xfrm>
          <a:prstGeom prst="rect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2DC411-CC4C-2984-192E-DACFBE70243D}"/>
              </a:ext>
            </a:extLst>
          </p:cNvPr>
          <p:cNvSpPr/>
          <p:nvPr userDrawn="1"/>
        </p:nvSpPr>
        <p:spPr>
          <a:xfrm>
            <a:off x="-740269" y="732451"/>
            <a:ext cx="606582" cy="651849"/>
          </a:xfrm>
          <a:prstGeom prst="rect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990334-042E-4A19-114F-7CCF3F9D7929}"/>
              </a:ext>
            </a:extLst>
          </p:cNvPr>
          <p:cNvSpPr txBox="1"/>
          <p:nvPr userDrawn="1"/>
        </p:nvSpPr>
        <p:spPr>
          <a:xfrm>
            <a:off x="-1892300" y="138152"/>
            <a:ext cx="1152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메인 컬러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46ABD-148F-8CB0-A552-FE5CDE89BEBE}"/>
              </a:ext>
            </a:extLst>
          </p:cNvPr>
          <p:cNvSpPr txBox="1"/>
          <p:nvPr userDrawn="1"/>
        </p:nvSpPr>
        <p:spPr>
          <a:xfrm>
            <a:off x="-2552700" y="870603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A52FAA-C21E-96AA-F623-4B5188D44061}"/>
              </a:ext>
            </a:extLst>
          </p:cNvPr>
          <p:cNvSpPr/>
          <p:nvPr userDrawn="1"/>
        </p:nvSpPr>
        <p:spPr>
          <a:xfrm>
            <a:off x="-740269" y="2195816"/>
            <a:ext cx="606582" cy="651849"/>
          </a:xfrm>
          <a:prstGeom prst="rect">
            <a:avLst/>
          </a:prstGeom>
          <a:solidFill>
            <a:srgbClr val="8D94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E6636-B775-30F8-A977-9DFA075A7F70}"/>
              </a:ext>
            </a:extLst>
          </p:cNvPr>
          <p:cNvSpPr txBox="1"/>
          <p:nvPr userDrawn="1"/>
        </p:nvSpPr>
        <p:spPr>
          <a:xfrm>
            <a:off x="-2552700" y="3063312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DD12B2-AAA2-EAA0-46BC-05319F59DD46}"/>
              </a:ext>
            </a:extLst>
          </p:cNvPr>
          <p:cNvSpPr/>
          <p:nvPr userDrawn="1"/>
        </p:nvSpPr>
        <p:spPr>
          <a:xfrm>
            <a:off x="-740269" y="2922054"/>
            <a:ext cx="606582" cy="651849"/>
          </a:xfrm>
          <a:prstGeom prst="rect">
            <a:avLst/>
          </a:prstGeom>
          <a:solidFill>
            <a:srgbClr val="C5C2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D5E3B4-3866-AD63-078B-B0CEE0108FE8}"/>
              </a:ext>
            </a:extLst>
          </p:cNvPr>
          <p:cNvSpPr/>
          <p:nvPr userDrawn="1"/>
        </p:nvSpPr>
        <p:spPr>
          <a:xfrm>
            <a:off x="-740269" y="3648292"/>
            <a:ext cx="606582" cy="651849"/>
          </a:xfrm>
          <a:prstGeom prst="rect">
            <a:avLst/>
          </a:prstGeom>
          <a:solidFill>
            <a:srgbClr val="F3C8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F5E374B-C6E8-B5CF-1802-3E61CF593DC7}"/>
              </a:ext>
            </a:extLst>
          </p:cNvPr>
          <p:cNvSpPr/>
          <p:nvPr userDrawn="1"/>
        </p:nvSpPr>
        <p:spPr>
          <a:xfrm>
            <a:off x="-740269" y="1467240"/>
            <a:ext cx="606582" cy="651849"/>
          </a:xfrm>
          <a:prstGeom prst="rect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18CB44-8E9E-71E6-4416-5734346AF094}"/>
              </a:ext>
            </a:extLst>
          </p:cNvPr>
          <p:cNvSpPr txBox="1"/>
          <p:nvPr userDrawn="1"/>
        </p:nvSpPr>
        <p:spPr>
          <a:xfrm>
            <a:off x="-2552700" y="160849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665C-9CA0-99C9-2CE8-997778F73B04}"/>
              </a:ext>
            </a:extLst>
          </p:cNvPr>
          <p:cNvSpPr txBox="1"/>
          <p:nvPr userDrawn="1"/>
        </p:nvSpPr>
        <p:spPr>
          <a:xfrm>
            <a:off x="-2552700" y="2337074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D40A-BCF8-2983-5BD8-28EE4075CC30}"/>
              </a:ext>
            </a:extLst>
          </p:cNvPr>
          <p:cNvSpPr txBox="1"/>
          <p:nvPr userDrawn="1"/>
        </p:nvSpPr>
        <p:spPr>
          <a:xfrm>
            <a:off x="-2552700" y="379034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3</a:t>
            </a:r>
            <a:endParaRPr lang="ko-KR" altLang="en-US" b="1" spc="-100" baseline="0" dirty="0"/>
          </a:p>
        </p:txBody>
      </p:sp>
    </p:spTree>
    <p:extLst>
      <p:ext uri="{BB962C8B-B14F-4D97-AF65-F5344CB8AC3E}">
        <p14:creationId xmlns:p14="http://schemas.microsoft.com/office/powerpoint/2010/main" val="338632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8" r:id="rId4"/>
    <p:sldLayoutId id="2147483669" r:id="rId5"/>
    <p:sldLayoutId id="2147483662" r:id="rId6"/>
    <p:sldLayoutId id="2147483667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3C8B7"/>
          </p15:clr>
        </p15:guide>
        <p15:guide id="2" pos="3840" userDrawn="1">
          <p15:clr>
            <a:srgbClr val="F3C8B7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4EF0A-69B5-7655-752E-3803E0806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29EA21-AD9C-C991-A79A-E4C4730BA6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69BB2-09D8-A41B-115D-6122747CFC96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올리브영 플랫폼 </a:t>
            </a:r>
            <a:r>
              <a:rPr kumimoji="0" lang="en-US" altLang="ko-KR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PB 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마케팅 제안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rgbClr val="473417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6321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F3E4B1-9C0B-60D8-DF04-5B6CAE86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C646C3D-CD19-78E2-9694-8E2A7638B46C}"/>
              </a:ext>
            </a:extLst>
          </p:cNvPr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마켓 산스 Medium"/>
              <a:ea typeface="G마켓 산스 Medium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93C5F2-B3D2-1A54-6CBF-38BDD33D391D}"/>
              </a:ext>
            </a:extLst>
          </p:cNvPr>
          <p:cNvSpPr txBox="1"/>
          <p:nvPr/>
        </p:nvSpPr>
        <p:spPr>
          <a:xfrm>
            <a:off x="6925539" y="432316"/>
            <a:ext cx="5266462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RFP / Campaign Brief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재해석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7B510-D922-8F86-9DE4-B2E9BBCCF479}"/>
              </a:ext>
            </a:extLst>
          </p:cNvPr>
          <p:cNvSpPr txBox="1"/>
          <p:nvPr/>
        </p:nvSpPr>
        <p:spPr>
          <a:xfrm>
            <a:off x="6512584" y="432316"/>
            <a:ext cx="686441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CE70D-76A9-C83A-6644-4BDC9CF687E7}"/>
              </a:ext>
            </a:extLst>
          </p:cNvPr>
          <p:cNvSpPr txBox="1"/>
          <p:nvPr/>
        </p:nvSpPr>
        <p:spPr>
          <a:xfrm>
            <a:off x="251382" y="0"/>
            <a:ext cx="3875247" cy="1784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0" b="0" i="0" u="none" strike="noStrike" kern="1200" cap="none" spc="-3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Index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64BCE-971E-9BE2-A402-2F0731FA67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883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01D89A4-942E-F00A-79D9-C071C3941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C977093-4610-A275-0126-D8B38AD4CB56}"/>
              </a:ext>
            </a:extLst>
          </p:cNvPr>
          <p:cNvGrpSpPr/>
          <p:nvPr/>
        </p:nvGrpSpPr>
        <p:grpSpPr>
          <a:xfrm>
            <a:off x="325120" y="2424222"/>
            <a:ext cx="11541760" cy="2009557"/>
            <a:chOff x="325120" y="2736503"/>
            <a:chExt cx="11541760" cy="200955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AEFC9FB-5AC6-F534-F058-A58F0FFEB155}"/>
                </a:ext>
              </a:extLst>
            </p:cNvPr>
            <p:cNvSpPr txBox="1"/>
            <p:nvPr/>
          </p:nvSpPr>
          <p:spPr>
            <a:xfrm>
              <a:off x="325120" y="2736503"/>
              <a:ext cx="1154176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올더베러는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안 팔리는 브랜드가 아닙니다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b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</a:b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문제는 소비자가 </a:t>
              </a:r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올더베러를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‘이름으로’ 선택하지 않는다는 점입니다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endParaRPr lang="ko-KR" alt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F08A7CB-FD09-E9ED-70C9-CA2E643BCA9A}"/>
                </a:ext>
              </a:extLst>
            </p:cNvPr>
            <p:cNvSpPr txBox="1"/>
            <p:nvPr/>
          </p:nvSpPr>
          <p:spPr>
            <a:xfrm>
              <a:off x="325120" y="3915063"/>
              <a:ext cx="1154176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이미 올리브영이라는 강력한 홈그라운드 안에서 판매 가능성을 증명하고 있습니다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그러나 아직 독립 브랜드로 각인되어 있다고 보기 어렵습니다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소비자는 매대에서 제품을 집어 들 수는 있지만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, 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 선택을 “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올더베러를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선택했다”는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기억으로 저장하지 않습니다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886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1F6B58-96BF-001E-3086-BE3692852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AD59F1-FFE0-5209-D0F1-8B7F6062EF24}"/>
              </a:ext>
            </a:extLst>
          </p:cNvPr>
          <p:cNvSpPr txBox="1"/>
          <p:nvPr/>
        </p:nvSpPr>
        <p:spPr>
          <a:xfrm>
            <a:off x="325120" y="2767281"/>
            <a:ext cx="11541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이번 캠페인의 목표는 단순히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많이 노출하는 것이 아닙니다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lang="en-US" altLang="ko-KR" sz="1600" spc="-100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억이라는 제한된 예산 안에서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빠르게 브랜드 자산을 만들 수 있는 방법은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상위 랭킹 또는 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위라는 선택 근거를 먼저 만들고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그 성과를 콘텐츠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·CRM 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자산으로 반복 전환하는 것입니다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8768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373FE0-70FF-06E8-35AA-5FC46D3E5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01EB0B1-F6D8-9FFA-66D1-E7F72873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b="1" dirty="0">
                <a:latin typeface="Pretendard"/>
                <a:ea typeface="Pretendard"/>
              </a:rPr>
              <a:t>단순 </a:t>
            </a: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ko-KR" altLang="en-US" b="1" dirty="0">
                <a:latin typeface="Pretendard"/>
                <a:ea typeface="Pretendard"/>
              </a:rPr>
              <a:t> 콘텐츠 생산이 아니라</a:t>
            </a:r>
            <a:r>
              <a:rPr lang="en-US" altLang="ko-KR" b="1" dirty="0">
                <a:latin typeface="Pretendard"/>
                <a:ea typeface="Pretendard"/>
              </a:rPr>
              <a:t>,</a:t>
            </a:r>
            <a:br>
              <a:rPr lang="en-US" altLang="ko-KR" b="1" dirty="0">
                <a:latin typeface="Pretendard"/>
                <a:ea typeface="Pretendard"/>
              </a:rPr>
            </a:b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콘텐츠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퍼포먼스 연결로 비즈니스 임팩트를 만드는 구조를 설계합니다</a:t>
            </a:r>
            <a:r>
              <a:rPr lang="en-US" altLang="ko-KR" b="1" dirty="0">
                <a:latin typeface="Pretendard"/>
                <a:ea typeface="Pretendard"/>
              </a:rPr>
              <a:t>.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6EC831-9D04-7C5C-3609-785521A5DD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EAC9F3-7D5B-8DCD-92E6-B348973D554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spc="-100" dirty="0">
                <a:solidFill>
                  <a:schemeClr val="tx1"/>
                </a:solidFill>
              </a:rPr>
              <a:t>UGC +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2000" b="1" spc="-100" dirty="0">
                <a:solidFill>
                  <a:schemeClr val="tx1"/>
                </a:solidFill>
              </a:rPr>
              <a:t> 결합 레퍼런스 제시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361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F319E2-BFE7-5901-E8E7-E678AB63E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6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7BA714-BFC7-B2D0-05D3-2DFD7975AA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C92CCC-AC37-8DA2-60FB-0D46B205DE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Strategy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6532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2D91853-524D-5802-F1D9-D344B4C44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DA5C713-CDB1-8246-0B0E-C7A13200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 err="1"/>
              <a:t>웰니스</a:t>
            </a:r>
            <a:r>
              <a:rPr lang="ko-KR" altLang="ko-KR" b="1" dirty="0"/>
              <a:t> 시장: 폭발 직전, 그러나 갇혀 있다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7C7868-20EB-D490-3A9E-C00B42C739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CE595E-04AE-1BFA-CD97-8EAFDD2ED6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915297-1A14-6EF6-3DA1-5E6059E70D5C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국내 건강기능식품 시장은 </a:t>
            </a:r>
            <a:r>
              <a:rPr lang="en-US" altLang="ko-KR" sz="1600" spc="-100" dirty="0">
                <a:solidFill>
                  <a:schemeClr val="tx1"/>
                </a:solidFill>
              </a:rPr>
              <a:t>2023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6.1</a:t>
            </a:r>
            <a:r>
              <a:rPr lang="ko-KR" altLang="en-US" sz="1600" spc="-100" dirty="0">
                <a:solidFill>
                  <a:schemeClr val="tx1"/>
                </a:solidFill>
              </a:rPr>
              <a:t>조 →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5.95</a:t>
            </a:r>
            <a:r>
              <a:rPr lang="ko-KR" altLang="en-US" sz="1600" spc="-100" dirty="0">
                <a:solidFill>
                  <a:schemeClr val="tx1"/>
                </a:solidFill>
              </a:rPr>
              <a:t>조로 소폭 조정 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6.4</a:t>
            </a:r>
            <a:r>
              <a:rPr lang="ko-KR" altLang="en-US" sz="1600" spc="-100" dirty="0">
                <a:solidFill>
                  <a:schemeClr val="tx1"/>
                </a:solidFill>
              </a:rPr>
              <a:t>조</a:t>
            </a:r>
            <a:r>
              <a:rPr lang="en-US" altLang="ko-KR" sz="1600" spc="-100" dirty="0">
                <a:solidFill>
                  <a:schemeClr val="tx1"/>
                </a:solidFill>
              </a:rPr>
              <a:t>(+5.2%)</a:t>
            </a:r>
            <a:r>
              <a:rPr lang="ko-KR" altLang="en-US" sz="1600" spc="-100" dirty="0">
                <a:solidFill>
                  <a:schemeClr val="tx1"/>
                </a:solidFill>
              </a:rPr>
              <a:t>로 반등</a:t>
            </a:r>
            <a:r>
              <a:rPr lang="en-US" altLang="ko-KR" sz="1600" spc="-100" dirty="0">
                <a:solidFill>
                  <a:schemeClr val="tx1"/>
                </a:solidFill>
              </a:rPr>
              <a:t>, 2028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7.5</a:t>
            </a:r>
            <a:r>
              <a:rPr lang="ko-KR" altLang="en-US" sz="1600" spc="-100" dirty="0">
                <a:solidFill>
                  <a:schemeClr val="tx1"/>
                </a:solidFill>
              </a:rPr>
              <a:t>조 돌파 전망</a:t>
            </a:r>
            <a:r>
              <a:rPr lang="en-US" altLang="ko-KR" sz="1600" spc="-100" dirty="0">
                <a:solidFill>
                  <a:schemeClr val="tx1"/>
                </a:solidFill>
              </a:rPr>
              <a:t>(CAGR 4.8~6.2%).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정체기를 지나 재성장 국면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온라인 구매 비중은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54% → 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59%</a:t>
            </a:r>
            <a:r>
              <a:rPr lang="ko-KR" altLang="en-US" sz="1600" spc="-100" dirty="0">
                <a:solidFill>
                  <a:schemeClr val="tx1"/>
                </a:solidFill>
              </a:rPr>
              <a:t>로 상승</a:t>
            </a:r>
            <a:r>
              <a:rPr lang="en-US" altLang="ko-KR" sz="1600" spc="-100" dirty="0">
                <a:solidFill>
                  <a:schemeClr val="tx1"/>
                </a:solidFill>
              </a:rPr>
              <a:t>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디지털 콘텐츠가 구매를 만든다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올더베러의</a:t>
            </a:r>
            <a:r>
              <a:rPr lang="ko-KR" altLang="en-US" sz="1600" spc="-100" dirty="0">
                <a:solidFill>
                  <a:schemeClr val="tx1"/>
                </a:solidFill>
              </a:rPr>
              <a:t> 진짜 경쟁자는 전통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브랜드가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낫띵베럴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같은 라이프스타일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브랜드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2000" spc="-100" dirty="0">
                <a:solidFill>
                  <a:schemeClr val="tx1"/>
                </a:solidFill>
              </a:rPr>
              <a:t> 시장은 이미 성장하고 있지만</a:t>
            </a:r>
            <a:r>
              <a:rPr lang="en-US" altLang="ko-KR" sz="2000" spc="-100" dirty="0">
                <a:solidFill>
                  <a:schemeClr val="tx1"/>
                </a:solidFill>
              </a:rPr>
              <a:t>, </a:t>
            </a:r>
            <a:r>
              <a:rPr lang="ko-KR" altLang="en-US" sz="2000" spc="-100" dirty="0">
                <a:solidFill>
                  <a:schemeClr val="tx1"/>
                </a:solidFill>
              </a:rPr>
              <a:t>기존 </a:t>
            </a:r>
            <a:r>
              <a:rPr lang="ko-KR" altLang="en-US" sz="20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2000" spc="-100" dirty="0">
                <a:solidFill>
                  <a:schemeClr val="tx1"/>
                </a:solidFill>
              </a:rPr>
              <a:t> 브랜드들은 기능성</a:t>
            </a:r>
            <a:r>
              <a:rPr lang="en-US" altLang="ko-KR" sz="2000" spc="-100" dirty="0">
                <a:solidFill>
                  <a:schemeClr val="tx1"/>
                </a:solidFill>
              </a:rPr>
              <a:t>/</a:t>
            </a:r>
            <a:r>
              <a:rPr lang="ko-KR" altLang="en-US" sz="2000" spc="-100" dirty="0">
                <a:solidFill>
                  <a:schemeClr val="tx1"/>
                </a:solidFill>
              </a:rPr>
              <a:t>신뢰성 확보에 집중하며</a:t>
            </a:r>
            <a:endParaRPr lang="en-US" altLang="ko-KR" sz="20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소비자 머릿속에 명확히 각인된 ‘일상형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웰니스</a:t>
            </a:r>
            <a:r>
              <a:rPr lang="en-US" altLang="ko-KR" sz="2000" b="1" spc="-100" dirty="0">
                <a:solidFill>
                  <a:schemeClr val="tx1"/>
                </a:solidFill>
              </a:rPr>
              <a:t>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브랜드’는</a:t>
            </a:r>
            <a:r>
              <a:rPr lang="ko-KR" altLang="en-US" sz="2000" b="1" spc="-100" dirty="0">
                <a:solidFill>
                  <a:schemeClr val="tx1"/>
                </a:solidFill>
              </a:rPr>
              <a:t> 아직 부재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947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13772A-626F-A011-C79A-6A32B21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3C65524-5B62-C1D0-739D-CAA9B5EAA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</a:t>
            </a:r>
            <a:r>
              <a:rPr lang="en-US" altLang="ko-KR" dirty="0"/>
              <a:t>/</a:t>
            </a:r>
            <a:r>
              <a:rPr lang="ko-KR" altLang="en-US" dirty="0" err="1"/>
              <a:t>올리브베러는</a:t>
            </a:r>
            <a:r>
              <a:rPr lang="ko-KR" altLang="en-US" dirty="0"/>
              <a:t> </a:t>
            </a:r>
            <a:r>
              <a:rPr lang="ko-KR" altLang="en-US" dirty="0" err="1"/>
              <a:t>올더베러의</a:t>
            </a:r>
            <a:r>
              <a:rPr lang="ko-KR" altLang="en-US" dirty="0"/>
              <a:t> 홈그라운드입니다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481D7D-06C4-80C8-5608-88BEB4F8C4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B95350-A1F2-8A35-99AB-2B6C07B01C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E8C100B-8017-228C-B7BB-CF362DCE7BB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올더베러가</a:t>
            </a:r>
            <a:r>
              <a:rPr lang="ko-KR" altLang="en-US" sz="1600" spc="-100" dirty="0">
                <a:solidFill>
                  <a:schemeClr val="tx1"/>
                </a:solidFill>
              </a:rPr>
              <a:t> 싸워야 할 주 무대는 올리브영과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생태계입니다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소비자는 이미 올리브영에서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제품을 탐색하고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매대와 앱 안에서 구매를 결정하고 있습니다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그렇기 때문에 이번 캠페인은 외부에서 브랜드 인지를 처음부터 만드는 방식보다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올리브영 앱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매장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기획전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리뷰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랭킹도 하나의 미디어로 보고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올영세일 시점에 소비자의 선택을 집중시키는 방식이 효율적입니다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  <a:endParaRPr lang="en-US" altLang="ko-KR" sz="28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82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3AB3985-5ACE-FB8C-8D1B-0F9D6B49F4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47CD-1037-A7B1-1AE0-7757709DEE8B}"/>
              </a:ext>
            </a:extLst>
          </p:cNvPr>
          <p:cNvSpPr txBox="1"/>
          <p:nvPr/>
        </p:nvSpPr>
        <p:spPr>
          <a:xfrm>
            <a:off x="325120" y="2767281"/>
            <a:ext cx="11541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캠페인은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개월 동안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원이라는 예산으로 운영됩니다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대형 모델 플레이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대규모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OOH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등 액션을 통해 넓고 얕은 노출을 만들기 보다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판단에 영향을 줄 수 있는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콘텐츠 자산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전환형 소재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퍼포먼스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부스팅에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집중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되어야 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제안은 ‘브랜드를 알리는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아니라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‘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선택 받는 구조를 만드는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캠페인’이어야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합니다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036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8C0156-9396-56DF-D591-3884C11AE8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04EA0E-3E3F-5C14-40C2-8BA9D6BB17D2}"/>
              </a:ext>
            </a:extLst>
          </p:cNvPr>
          <p:cNvSpPr txBox="1"/>
          <p:nvPr/>
        </p:nvSpPr>
        <p:spPr>
          <a:xfrm>
            <a:off x="325120" y="1755041"/>
            <a:ext cx="1154176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[ 26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년 하반기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브랜드 캠페인 과제 재정의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]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 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올리브베러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 브랜드로 만들기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</a:t>
            </a:r>
            <a:endParaRPr kumimoji="0" lang="en-US" altLang="ko-KR" sz="24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95486B-37B9-9854-BCED-B41BE2F60D84}"/>
              </a:ext>
            </a:extLst>
          </p:cNvPr>
          <p:cNvSpPr txBox="1"/>
          <p:nvPr/>
        </p:nvSpPr>
        <p:spPr>
          <a:xfrm>
            <a:off x="325120" y="3300757"/>
            <a:ext cx="11541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지금 확보해야 할 자산은 추상적인 브랜드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호감이 아니라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소비자 대상의 제품 각인과 명확한 선택 근거입니다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콘텐츠를 통한 제품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사용 </a:t>
            </a:r>
            <a:r>
              <a:rPr lang="ko-KR" altLang="en-US" sz="1600" spc="-100" dirty="0">
                <a:solidFill>
                  <a:schemeClr val="bg1"/>
                </a:solidFill>
                <a:latin typeface="Pretendard"/>
                <a:ea typeface="Pretendard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안에서의 랭킹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반복 노출은 소비자에게 “많이 사는 제품”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선택해도 되는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제품”이라는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신호가 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E76A5-46E9-3EDA-DFE3-E43588FC6552}"/>
              </a:ext>
            </a:extLst>
          </p:cNvPr>
          <p:cNvSpPr txBox="1"/>
          <p:nvPr/>
        </p:nvSpPr>
        <p:spPr>
          <a:xfrm>
            <a:off x="325120" y="4087297"/>
            <a:ext cx="115417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브랜드 자산이 약한 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올더베러에게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‘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랭킹’은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빠른 인지 자산입니다</a:t>
            </a:r>
            <a:endParaRPr kumimoji="0" lang="en-US" altLang="ko-KR" sz="20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인지가 쌓여 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 되는 브랜드가 아니라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등이라는 선택 신호를 먼저 만들어 인지를 쌓아야 합니다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1676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 descr="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E361D3-6360-22B0-7D0F-2B083FA66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63900"/>
            <a:ext cx="9393234" cy="3594100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7BA619-2683-EA52-9294-8572C164ED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11</a:t>
            </a:fld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000B88A-6214-A249-F132-46559DA5F6F8}"/>
              </a:ext>
            </a:extLst>
          </p:cNvPr>
          <p:cNvSpPr/>
          <p:nvPr/>
        </p:nvSpPr>
        <p:spPr>
          <a:xfrm>
            <a:off x="126492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SEED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83697AA-4746-79B5-A23B-7542E0933ED8}"/>
              </a:ext>
            </a:extLst>
          </p:cNvPr>
          <p:cNvSpPr/>
          <p:nvPr/>
        </p:nvSpPr>
        <p:spPr>
          <a:xfrm>
            <a:off x="377444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PROVE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E589305-9F37-275A-EE4F-8301598EFC48}"/>
              </a:ext>
            </a:extLst>
          </p:cNvPr>
          <p:cNvSpPr/>
          <p:nvPr/>
        </p:nvSpPr>
        <p:spPr>
          <a:xfrm>
            <a:off x="628396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BOOST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FDE6924-656B-1897-AA70-6A27CD70DEBA}"/>
              </a:ext>
            </a:extLst>
          </p:cNvPr>
          <p:cNvSpPr/>
          <p:nvPr/>
        </p:nvSpPr>
        <p:spPr>
          <a:xfrm>
            <a:off x="879348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RETAIN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1AA8EE-E8FC-9C00-27FF-FAEB7F05D55B}"/>
              </a:ext>
            </a:extLst>
          </p:cNvPr>
          <p:cNvSpPr txBox="1"/>
          <p:nvPr/>
        </p:nvSpPr>
        <p:spPr>
          <a:xfrm>
            <a:off x="126492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경험량과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후기량을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챌린저스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마이크로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나노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KOL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시딩을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통해 구매 판단 근거를 확보한다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FB6D9-85C3-B13B-86F3-3949C54BAD4E}"/>
              </a:ext>
            </a:extLst>
          </p:cNvPr>
          <p:cNvSpPr txBox="1"/>
          <p:nvPr/>
        </p:nvSpPr>
        <p:spPr>
          <a:xfrm>
            <a:off x="377444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이유를 증명한다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리뷰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해시태그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UGC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를 축적해 소비자가 선택할 이유를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9067A-98D5-FF6C-80D7-A41F7111FDD1}"/>
              </a:ext>
            </a:extLst>
          </p:cNvPr>
          <p:cNvSpPr txBox="1"/>
          <p:nvPr/>
        </p:nvSpPr>
        <p:spPr>
          <a:xfrm>
            <a:off x="628396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성과를 퍼포먼스로 증폭한다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PA,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LMF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테스트로 세일 기간 유입과 전환을 집중 견인한다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714F5C-A2EB-7DCF-7F85-D729D32EC200}"/>
              </a:ext>
            </a:extLst>
          </p:cNvPr>
          <p:cNvSpPr txBox="1"/>
          <p:nvPr/>
        </p:nvSpPr>
        <p:spPr>
          <a:xfrm>
            <a:off x="879348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9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성과를 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12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월까지 이어간다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CRM(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플친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  <a:r>
              <a:rPr lang="ko-KR" altLang="en-US" sz="1200" spc="-100" dirty="0">
                <a:solidFill>
                  <a:prstClr val="white"/>
                </a:solidFill>
                <a:latin typeface="Pretendard"/>
                <a:ea typeface="Pretendard"/>
              </a:rPr>
              <a:t>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로 재구매와 쟁임 구매를 유도한다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9D91-9010-14B5-13CD-22AF19431337}"/>
              </a:ext>
            </a:extLst>
          </p:cNvPr>
          <p:cNvSpPr txBox="1"/>
          <p:nvPr/>
        </p:nvSpPr>
        <p:spPr>
          <a:xfrm>
            <a:off x="126492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56D5B-E713-36FA-E0D8-43D5BA7BE236}"/>
              </a:ext>
            </a:extLst>
          </p:cNvPr>
          <p:cNvSpPr txBox="1"/>
          <p:nvPr/>
        </p:nvSpPr>
        <p:spPr>
          <a:xfrm>
            <a:off x="377444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B6D110-601D-7D69-8FF0-BCE5679BF21D}"/>
              </a:ext>
            </a:extLst>
          </p:cNvPr>
          <p:cNvSpPr txBox="1"/>
          <p:nvPr/>
        </p:nvSpPr>
        <p:spPr>
          <a:xfrm>
            <a:off x="628396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1112B-F143-4FDB-69A4-A0E2C0D9E1C9}"/>
              </a:ext>
            </a:extLst>
          </p:cNvPr>
          <p:cNvSpPr txBox="1"/>
          <p:nvPr/>
        </p:nvSpPr>
        <p:spPr>
          <a:xfrm>
            <a:off x="879348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4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CB33E23-EC59-D6E2-0EFE-69946C890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8124" y="18606"/>
            <a:ext cx="2785110" cy="155619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DC0D4B0-E70D-261A-0900-EDB04BA10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130" y="18606"/>
            <a:ext cx="2692870" cy="155374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A7A81C-FAC0-EE07-902E-792A1FFB9A42}"/>
              </a:ext>
            </a:extLst>
          </p:cNvPr>
          <p:cNvSpPr/>
          <p:nvPr/>
        </p:nvSpPr>
        <p:spPr>
          <a:xfrm>
            <a:off x="213360" y="152400"/>
            <a:ext cx="3561080" cy="782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* 9/12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&amp; 11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블프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이슈 고려</a:t>
            </a:r>
          </a:p>
        </p:txBody>
      </p:sp>
    </p:spTree>
    <p:extLst>
      <p:ext uri="{BB962C8B-B14F-4D97-AF65-F5344CB8AC3E}">
        <p14:creationId xmlns:p14="http://schemas.microsoft.com/office/powerpoint/2010/main" val="1354934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6730DB-B937-49BD-223E-319D5EEED6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6411078-1D5D-F928-06E3-19A4618B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 </a:t>
            </a:r>
            <a:r>
              <a:rPr lang="en-US" altLang="ko-KR" dirty="0"/>
              <a:t>1</a:t>
            </a:r>
            <a:r>
              <a:rPr lang="ko-KR" altLang="en-US" dirty="0"/>
              <a:t>등 달성한 케이스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60C1F4E-CA0E-AFBE-F140-E5FD551089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AE3E4-E33D-0144-5E74-3949CD4F89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406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450A643-7C90-0A5F-3161-1FA2654B9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13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B8406E-AA25-4055-8B47-A9518863A4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3776C4-C954-4393-9EA9-E037AE9A2A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Product &amp; Message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0696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FB4B8C0-49CB-5141-8272-359DCC5D6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529299-AF38-D353-79E5-7FA9BD6C8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올더베러는</a:t>
            </a:r>
            <a:r>
              <a:rPr lang="ko-KR" altLang="en-US" dirty="0"/>
              <a:t> ‘</a:t>
            </a:r>
            <a:r>
              <a:rPr lang="ko-KR" altLang="en-US" dirty="0" err="1"/>
              <a:t>웰니스</a:t>
            </a:r>
            <a:r>
              <a:rPr lang="ko-KR" altLang="en-US" dirty="0"/>
              <a:t>’ 브랜드이지만</a:t>
            </a:r>
            <a:r>
              <a:rPr lang="en-US" altLang="ko-KR" dirty="0"/>
              <a:t>, </a:t>
            </a:r>
            <a:r>
              <a:rPr lang="ko-KR" altLang="en-US" dirty="0"/>
              <a:t>제품마다 다른 언어가 필요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7DE6DB8-A594-D7D4-F5A8-2CA760E2C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제품에 따라 적용되는 규제</a:t>
            </a:r>
            <a:r>
              <a:rPr lang="en-US" altLang="ko-KR" dirty="0"/>
              <a:t>, </a:t>
            </a:r>
            <a:r>
              <a:rPr lang="ko-KR" altLang="en-US" dirty="0"/>
              <a:t>심의 정도에 차이가 존재</a:t>
            </a:r>
            <a:endParaRPr lang="en-US" altLang="ko-KR" dirty="0"/>
          </a:p>
          <a:p>
            <a:r>
              <a:rPr lang="ko-KR" altLang="ko-KR" dirty="0"/>
              <a:t>같은 </a:t>
            </a:r>
            <a:r>
              <a:rPr lang="ko-KR" altLang="ko-KR" dirty="0" err="1"/>
              <a:t>올더베러</a:t>
            </a:r>
            <a:r>
              <a:rPr lang="ko-KR" altLang="ko-KR" dirty="0"/>
              <a:t> 제품이라도 </a:t>
            </a:r>
            <a:r>
              <a:rPr lang="ko-KR" altLang="ko-KR" b="1" dirty="0"/>
              <a:t>효능을 말할 수 있는 제품</a:t>
            </a:r>
            <a:r>
              <a:rPr lang="ko-KR" altLang="ko-KR" dirty="0"/>
              <a:t>과, </a:t>
            </a:r>
            <a:r>
              <a:rPr lang="ko-KR" altLang="ko-KR" b="1" dirty="0" err="1"/>
              <a:t>상황·루틴으로</a:t>
            </a:r>
            <a:r>
              <a:rPr lang="ko-KR" altLang="ko-KR" b="1" dirty="0"/>
              <a:t> 풀어야 하는 제품이 다</a:t>
            </a:r>
            <a:r>
              <a:rPr lang="ko-KR" altLang="en-US" b="1" dirty="0"/>
              <a:t>름</a:t>
            </a:r>
            <a:endParaRPr lang="en-US" altLang="ko-KR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59E036-3AA2-2C29-F7F0-86449B765E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52CBF83-3BDF-6E5C-7AFB-F266E9C00944}"/>
              </a:ext>
            </a:extLst>
          </p:cNvPr>
          <p:cNvCxnSpPr>
            <a:cxnSpLocks/>
          </p:cNvCxnSpPr>
          <p:nvPr/>
        </p:nvCxnSpPr>
        <p:spPr>
          <a:xfrm>
            <a:off x="1894390" y="2835797"/>
            <a:ext cx="840322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3450414-F37A-1AE6-F164-F29A4C4A147D}"/>
              </a:ext>
            </a:extLst>
          </p:cNvPr>
          <p:cNvCxnSpPr>
            <a:cxnSpLocks/>
          </p:cNvCxnSpPr>
          <p:nvPr/>
        </p:nvCxnSpPr>
        <p:spPr>
          <a:xfrm>
            <a:off x="1894390" y="3159889"/>
            <a:ext cx="0" cy="2837726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98AED18-E989-5535-D391-2D549CF40890}"/>
              </a:ext>
            </a:extLst>
          </p:cNvPr>
          <p:cNvSpPr txBox="1"/>
          <p:nvPr/>
        </p:nvSpPr>
        <p:spPr>
          <a:xfrm>
            <a:off x="1894390" y="2490064"/>
            <a:ext cx="1325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난이도</a:t>
            </a: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DA4A16-80F0-762D-646A-A187CE0D400A}"/>
              </a:ext>
            </a:extLst>
          </p:cNvPr>
          <p:cNvSpPr txBox="1"/>
          <p:nvPr/>
        </p:nvSpPr>
        <p:spPr>
          <a:xfrm>
            <a:off x="871960" y="3159889"/>
            <a:ext cx="1022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</a:t>
            </a:r>
            <a:endParaRPr kumimoji="0" lang="en-US" altLang="ko-KR" sz="12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0A4B2C9-6B6D-1E7F-4647-FF8A800F181D}"/>
              </a:ext>
            </a:extLst>
          </p:cNvPr>
          <p:cNvSpPr/>
          <p:nvPr/>
        </p:nvSpPr>
        <p:spPr>
          <a:xfrm>
            <a:off x="2141317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뷰티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3C6913-301E-B528-0053-F65953B806CC}"/>
              </a:ext>
            </a:extLst>
          </p:cNvPr>
          <p:cNvSpPr/>
          <p:nvPr/>
        </p:nvSpPr>
        <p:spPr>
          <a:xfrm>
            <a:off x="3487445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패션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D50257-CEF8-BB91-0DB1-BE0C59E57232}"/>
              </a:ext>
            </a:extLst>
          </p:cNvPr>
          <p:cNvSpPr/>
          <p:nvPr/>
        </p:nvSpPr>
        <p:spPr>
          <a:xfrm>
            <a:off x="4833574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식품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8DF7227-4252-4483-84C9-78108A2A8727}"/>
              </a:ext>
            </a:extLst>
          </p:cNvPr>
          <p:cNvSpPr/>
          <p:nvPr/>
        </p:nvSpPr>
        <p:spPr>
          <a:xfrm>
            <a:off x="6179702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건기식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E39FA08-C149-8656-0494-A6E52AB3F45D}"/>
              </a:ext>
            </a:extLst>
          </p:cNvPr>
          <p:cNvSpPr/>
          <p:nvPr/>
        </p:nvSpPr>
        <p:spPr>
          <a:xfrm>
            <a:off x="7525831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게임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467C5F-FCA6-A347-18DC-44CF452B2BD6}"/>
              </a:ext>
            </a:extLst>
          </p:cNvPr>
          <p:cNvSpPr/>
          <p:nvPr/>
        </p:nvSpPr>
        <p:spPr>
          <a:xfrm>
            <a:off x="8871959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34E2012-F1A0-0A1F-5C33-46F6DCC7A0AE}"/>
              </a:ext>
            </a:extLst>
          </p:cNvPr>
          <p:cNvSpPr/>
          <p:nvPr/>
        </p:nvSpPr>
        <p:spPr>
          <a:xfrm>
            <a:off x="2336800" y="3737298"/>
            <a:ext cx="7741920" cy="2206302"/>
          </a:xfrm>
          <a:custGeom>
            <a:avLst/>
            <a:gdLst>
              <a:gd name="csX0" fmla="*/ 0 w 7741920"/>
              <a:gd name="csY0" fmla="*/ 2021840 h 2021840"/>
              <a:gd name="csX1" fmla="*/ 2529840 w 7741920"/>
              <a:gd name="csY1" fmla="*/ 711200 h 2021840"/>
              <a:gd name="csX2" fmla="*/ 4876800 w 7741920"/>
              <a:gd name="csY2" fmla="*/ 193040 h 2021840"/>
              <a:gd name="csX3" fmla="*/ 7741920 w 7741920"/>
              <a:gd name="csY3" fmla="*/ 0 h 20218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41920" h="2021840">
                <a:moveTo>
                  <a:pt x="0" y="2021840"/>
                </a:moveTo>
                <a:cubicBezTo>
                  <a:pt x="858520" y="1518920"/>
                  <a:pt x="1717040" y="1016000"/>
                  <a:pt x="2529840" y="711200"/>
                </a:cubicBezTo>
                <a:cubicBezTo>
                  <a:pt x="3342640" y="406400"/>
                  <a:pt x="4008120" y="311573"/>
                  <a:pt x="4876800" y="193040"/>
                </a:cubicBezTo>
                <a:cubicBezTo>
                  <a:pt x="5745480" y="74507"/>
                  <a:pt x="6743700" y="37253"/>
                  <a:pt x="7741920" y="0"/>
                </a:cubicBezTo>
              </a:path>
            </a:pathLst>
          </a:cu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2DECCF9-419E-875D-141D-0CF17F3DF9F6}"/>
              </a:ext>
            </a:extLst>
          </p:cNvPr>
          <p:cNvSpPr/>
          <p:nvPr/>
        </p:nvSpPr>
        <p:spPr>
          <a:xfrm>
            <a:off x="4833574" y="3820160"/>
            <a:ext cx="2590442" cy="111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6989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98AECE-2F50-EA1D-46C2-E42C66A091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2DCAE13-8B22-07EE-136D-6FFFE21C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/>
              <a:t>제품 </a:t>
            </a:r>
            <a:r>
              <a:rPr lang="ko-KR" altLang="en-US" b="1" dirty="0"/>
              <a:t>포트폴리오 </a:t>
            </a:r>
            <a:r>
              <a:rPr lang="en-US" altLang="ko-KR" b="1" dirty="0"/>
              <a:t>– </a:t>
            </a:r>
            <a:r>
              <a:rPr lang="ko-KR" altLang="ko-KR" b="1" dirty="0"/>
              <a:t>우선순위</a:t>
            </a:r>
            <a:r>
              <a:rPr lang="en-US" altLang="ko-KR" b="1" dirty="0"/>
              <a:t> </a:t>
            </a:r>
            <a:r>
              <a:rPr lang="ko-KR" altLang="en-US" b="1" dirty="0"/>
              <a:t>설정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8FC869-28FE-2BC0-F668-1A4551F224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5FDDAB-B337-E5C5-E3B7-1385A36700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53E674-4E8A-25FF-1F9B-B9A8438564B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선발대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멜라나잇</a:t>
            </a:r>
            <a:r>
              <a:rPr lang="ko-KR" altLang="en-US" sz="1600" spc="-100" dirty="0">
                <a:solidFill>
                  <a:schemeClr val="tx1"/>
                </a:solidFill>
              </a:rPr>
              <a:t> 구미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콜라겐 구미 일반식품 구미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7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월부터 빠르게 시장 언어를 테스트하고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자산을 확보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일반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가공식품 또는 일반식품으로 심의 부담이 낮고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TPO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콘텐츠화가 쉬움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본대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>
                <a:solidFill>
                  <a:schemeClr val="tx1"/>
                </a:solidFill>
              </a:rPr>
              <a:t>철분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올인원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루테인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비타민</a:t>
            </a:r>
            <a:r>
              <a:rPr lang="en-US" altLang="ko-KR" sz="1600" spc="-100" dirty="0">
                <a:solidFill>
                  <a:schemeClr val="tx1"/>
                </a:solidFill>
              </a:rPr>
              <a:t>C,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바나바잎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비오틴</a:t>
            </a:r>
            <a:r>
              <a:rPr lang="ko-KR" altLang="en-US" sz="1600" spc="-100" dirty="0">
                <a:solidFill>
                  <a:schemeClr val="tx1"/>
                </a:solidFill>
              </a:rPr>
              <a:t> 등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구미	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기능성 메시지를 기반으로 구매 이유를 강화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심의 리드타임은 필요하지만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기능별 선택 이유를 만들 수 있음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올영세일에서 라인업 규모감과 쟁임 구매 유도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“하나 사보고 여러 개 담는” </a:t>
            </a:r>
            <a:r>
              <a:rPr lang="en-US" altLang="ko-KR" sz="1600" b="1" spc="-100" dirty="0">
                <a:solidFill>
                  <a:schemeClr val="tx1"/>
                </a:solidFill>
              </a:rPr>
              <a:t>PB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라인 확장 효과를 만들 수 있음</a:t>
            </a:r>
            <a:endParaRPr lang="en-US" altLang="ko-KR" sz="1600" b="1" spc="-100" dirty="0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39D7FC-F1EF-44B4-D31E-5A29DDA86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8880" y="0"/>
            <a:ext cx="3373120" cy="1890716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9F4C05-5BB0-B874-4236-68A9EA1C38CC}"/>
              </a:ext>
            </a:extLst>
          </p:cNvPr>
          <p:cNvCxnSpPr>
            <a:cxnSpLocks/>
          </p:cNvCxnSpPr>
          <p:nvPr/>
        </p:nvCxnSpPr>
        <p:spPr>
          <a:xfrm>
            <a:off x="650240" y="398272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CFA01AE-D5AF-5C77-C97E-BA04B7AB1F42}"/>
              </a:ext>
            </a:extLst>
          </p:cNvPr>
          <p:cNvCxnSpPr>
            <a:cxnSpLocks/>
          </p:cNvCxnSpPr>
          <p:nvPr/>
        </p:nvCxnSpPr>
        <p:spPr>
          <a:xfrm>
            <a:off x="650240" y="522224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812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AA48FCD-0FD0-C4FD-B07A-907269002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45D2DD-2CAE-33A9-BFB2-4F255D00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 유형별 메시지 설계 </a:t>
            </a:r>
            <a:r>
              <a:rPr lang="en-US" altLang="ko-KR" dirty="0"/>
              <a:t>: </a:t>
            </a:r>
            <a:r>
              <a:rPr lang="ko-KR" altLang="en-US" dirty="0"/>
              <a:t>올리브오일 </a:t>
            </a:r>
            <a:r>
              <a:rPr lang="en-US" altLang="ko-KR" dirty="0"/>
              <a:t>/ </a:t>
            </a:r>
            <a:r>
              <a:rPr lang="ko-KR" altLang="en-US" dirty="0" err="1"/>
              <a:t>웰니스</a:t>
            </a:r>
            <a:r>
              <a:rPr lang="ko-KR" altLang="en-US" dirty="0"/>
              <a:t> 구미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C38922-0FCA-D170-E320-350D03020B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0F3ACD-2019-4564-E700-4816461022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2F7331-E65A-4500-951B-26A85B6E2C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올리브오일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/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구미 </a:t>
            </a:r>
            <a:r>
              <a:rPr lang="en-US" altLang="ko-KR" sz="1600" b="1" spc="-100" dirty="0">
                <a:solidFill>
                  <a:schemeClr val="tx1"/>
                </a:solidFill>
              </a:rPr>
              <a:t>(</a:t>
            </a:r>
            <a:r>
              <a:rPr lang="ko-KR" altLang="en-US" sz="1600" b="1" spc="-100" dirty="0">
                <a:solidFill>
                  <a:schemeClr val="tx1"/>
                </a:solidFill>
              </a:rPr>
              <a:t>일반식품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건기식</a:t>
            </a:r>
            <a:r>
              <a:rPr lang="en-US" altLang="ko-KR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구분</a:t>
            </a:r>
            <a:r>
              <a:rPr lang="en-US" altLang="ko-KR" sz="1600" b="1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RTB </a:t>
            </a:r>
            <a:r>
              <a:rPr lang="ko-KR" altLang="en-US" sz="1600" spc="-100" dirty="0">
                <a:solidFill>
                  <a:schemeClr val="tx1"/>
                </a:solidFill>
              </a:rPr>
              <a:t>메시지 구체화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소비자 언어로 전환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4384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21028E4-064B-3A07-EF97-A00569BA3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ACAA9E3-B348-6237-8736-C6ADEA1BE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제품별 타겟 고객 상황</a:t>
            </a:r>
            <a:r>
              <a:rPr lang="en-US" altLang="ko-KR" dirty="0"/>
              <a:t>/TPO </a:t>
            </a:r>
            <a:r>
              <a:rPr lang="ko-KR" altLang="en-US" dirty="0"/>
              <a:t>맞춤 메시지 구체화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A38991-BEE3-7115-08DB-DEF7772E7D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7D5CD8E-C250-17D6-1ABC-85946A7A63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C549158-CEC9-BF98-D0F5-C38582E45810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타겟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방한외국인</a:t>
            </a:r>
            <a:r>
              <a:rPr lang="en-US" altLang="ko-KR" sz="1600" spc="-1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루틴 형성 </a:t>
            </a:r>
            <a:r>
              <a:rPr lang="en-US" altLang="ko-KR" sz="1600" spc="-100" dirty="0">
                <a:solidFill>
                  <a:schemeClr val="tx1"/>
                </a:solidFill>
              </a:rPr>
              <a:t>/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입문템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en-US" altLang="ko-KR" sz="1600" spc="-100" dirty="0">
                <a:solidFill>
                  <a:schemeClr val="tx1"/>
                </a:solidFill>
              </a:rPr>
              <a:t>/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실질 구매 전환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TPO </a:t>
            </a:r>
            <a:r>
              <a:rPr lang="ko-KR" altLang="en-US" sz="1600" spc="-100" dirty="0">
                <a:solidFill>
                  <a:schemeClr val="tx1"/>
                </a:solidFill>
              </a:rPr>
              <a:t>맞춤 메시지 다양화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39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A6668AC-A608-E9EC-D3C4-6D63BEAD4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18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4CFDA7-042C-D14D-D2F1-D2A3682B2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06F3BF-6A24-C270-6A50-8773EC901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Seeding 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7188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590D97-E647-7994-5DFC-9CC738036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7BBECBC-4B5C-5C5C-1B32-E6E8B8CE8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ko-KR" altLang="en-US" dirty="0" err="1"/>
              <a:t>시딩이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순위인가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56D7542-4479-AF3D-880A-44955D34D3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52F0D3-6C36-5291-6FAF-51FA5E3672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올더베러는</a:t>
            </a:r>
            <a:r>
              <a:rPr lang="ko-KR" altLang="en-US" sz="1600" spc="-100" dirty="0">
                <a:solidFill>
                  <a:schemeClr val="tx1"/>
                </a:solidFill>
              </a:rPr>
              <a:t> 아직 브랜드 이름 자체로 소비자를 끌어당기는 힘이 강하지 않습니다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소비자가 선택을 망설이지 않도록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충분한 후기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리뷰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해시태그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 볼륨을 우선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확보해야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 err="1">
                <a:solidFill>
                  <a:schemeClr val="tx1"/>
                </a:solidFill>
              </a:rPr>
              <a:t>시딩은</a:t>
            </a:r>
            <a:r>
              <a:rPr lang="ko-KR" altLang="en-US" sz="2000" b="1" spc="-100" dirty="0">
                <a:solidFill>
                  <a:schemeClr val="tx1"/>
                </a:solidFill>
              </a:rPr>
              <a:t> 단순히 노출 수량을 만드는 일이 아니라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구매 판단 근거를 먼저 만드는 일입니다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187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0DCC8A-2B6E-5339-6FD1-DCC3E2297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E0FC02E-3E62-B285-6A5A-4402991F4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전략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4BAF93-43F8-BC13-F886-D8DB80AD56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B717BD-33FB-BE3F-4119-7AE6BDF32E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1C1AAD-76B3-BAC9-F757-2F43C8CE40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역할별 구분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리스트업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관계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빌드업</a:t>
            </a:r>
            <a:r>
              <a:rPr lang="ko-KR" altLang="en-US" sz="1600" spc="-100" dirty="0">
                <a:solidFill>
                  <a:schemeClr val="tx1"/>
                </a:solidFill>
              </a:rPr>
              <a:t> 프로세스</a:t>
            </a:r>
            <a:br>
              <a:rPr lang="en-US" altLang="ko-KR" sz="1600" spc="-100" dirty="0">
                <a:solidFill>
                  <a:schemeClr val="tx1"/>
                </a:solidFill>
              </a:rPr>
            </a:br>
            <a:r>
              <a:rPr lang="en-US" altLang="ko-KR" sz="1600" spc="-100" dirty="0">
                <a:solidFill>
                  <a:schemeClr val="tx1"/>
                </a:solidFill>
              </a:rPr>
              <a:t>(KOL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58778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1BCF1B-033F-9AB0-7A1A-B1851DD831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57EB283-FC74-5E56-D180-B048DD69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콘텐츠 기획 </a:t>
            </a:r>
            <a:r>
              <a:rPr lang="en-US" altLang="ko-KR" dirty="0"/>
              <a:t>: </a:t>
            </a:r>
            <a:r>
              <a:rPr lang="ko-KR" altLang="en-US" dirty="0"/>
              <a:t>제품별 콘텐츠 앵글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7C6676-9A96-FBE9-DA2E-71726CC193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B3F9F9-9032-88BB-48B2-BF1DE82E78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264BAB-900E-C30E-EB9E-89D0F553518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>
                <a:solidFill>
                  <a:schemeClr val="tx1"/>
                </a:solidFill>
              </a:rPr>
              <a:t>시기별 크리에이터 콘텐츠 기획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성공 훅 </a:t>
            </a:r>
            <a:r>
              <a:rPr lang="en-US" altLang="ko-KR" sz="1600" b="1" spc="-100" dirty="0">
                <a:solidFill>
                  <a:schemeClr val="tx1"/>
                </a:solidFill>
              </a:rPr>
              <a:t>=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명확한 타겟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구체적 상황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에피소드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반전 또는 팩트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특정 생활자를 겨냥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제품이 필요한 순간을 장면화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보게 만드는 정보 또는 공감 포인트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33BC9A2-E6E9-12A5-6EEC-5F273F04E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F543B-AD01-4265-1DAF-1A6421CB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오프라인 인증형 </a:t>
            </a:r>
            <a:r>
              <a:rPr lang="ko-KR" altLang="en-US" dirty="0" err="1"/>
              <a:t>시딩</a:t>
            </a:r>
            <a:r>
              <a:rPr lang="ko-KR" altLang="en-US" dirty="0"/>
              <a:t> 콘텐츠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C81D8B-E04D-CDE5-F618-0C8416BC10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194C6E-3CDF-A0CA-70ED-9F4C7047F8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5050E-8A6E-89F2-AFBD-0716233AFE2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오프라인 매장을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콘텐츠의 ‘현장 인증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접점’으로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“올영에서 실제로 파는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제품”이라는</a:t>
            </a:r>
            <a:r>
              <a:rPr lang="ko-KR" altLang="en-US" sz="1600" spc="-100" dirty="0">
                <a:solidFill>
                  <a:schemeClr val="tx1"/>
                </a:solidFill>
              </a:rPr>
              <a:t> 현장감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자연 발견형 바이럴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456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2C6C9FB-FE38-0D70-A439-4E3554183E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23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95938-B97A-A559-7C55-7263598809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781A8F-D178-F547-3388-F57094A926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8A4839-7209-96A7-5039-82332B2785BF}"/>
              </a:ext>
            </a:extLst>
          </p:cNvPr>
          <p:cNvSpPr/>
          <p:nvPr/>
        </p:nvSpPr>
        <p:spPr>
          <a:xfrm>
            <a:off x="8260080" y="130429"/>
            <a:ext cx="3803904" cy="1422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바이럴 파트 별도 분리 검토</a:t>
            </a:r>
          </a:p>
        </p:txBody>
      </p:sp>
    </p:spTree>
    <p:extLst>
      <p:ext uri="{BB962C8B-B14F-4D97-AF65-F5344CB8AC3E}">
        <p14:creationId xmlns:p14="http://schemas.microsoft.com/office/powerpoint/2010/main" val="16816968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F8D3080-F4B1-D2E8-4744-ED76B9E01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24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87417E71-F6F8-F6D6-B70D-0B42BCA5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프로그램 구조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69A33D51-FD21-CF56-795A-54C4F5AAB2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C28A72-0FDD-C6EC-0C96-00BF918E38C1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마이크로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나노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EGC,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전문가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…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챌린저스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체험단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어필리에이트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KOL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파워페이지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바이럴</a:t>
            </a:r>
            <a:r>
              <a:rPr lang="en-US" altLang="ko-KR" sz="1600" b="1" spc="-100" dirty="0">
                <a:solidFill>
                  <a:schemeClr val="tx1"/>
                </a:solidFill>
              </a:rPr>
              <a:t>/GEO(AEO)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점점 커지는 물량으로 설계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7</a:t>
            </a:r>
            <a:r>
              <a:rPr lang="ko-KR" altLang="en-US" sz="1600" spc="-100" dirty="0">
                <a:solidFill>
                  <a:schemeClr val="tx1"/>
                </a:solidFill>
              </a:rPr>
              <a:t>월부터 시장 언어와 콘텐츠 앵글을 테스트하고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8</a:t>
            </a:r>
            <a:r>
              <a:rPr lang="ko-KR" altLang="en-US" sz="1600" spc="-100" dirty="0">
                <a:solidFill>
                  <a:schemeClr val="tx1"/>
                </a:solidFill>
              </a:rPr>
              <a:t>월 말</a:t>
            </a:r>
            <a:r>
              <a:rPr lang="en-US" altLang="ko-KR" sz="1600" spc="-100" dirty="0">
                <a:solidFill>
                  <a:schemeClr val="tx1"/>
                </a:solidFill>
              </a:rPr>
              <a:t>~9</a:t>
            </a:r>
            <a:r>
              <a:rPr lang="ko-KR" altLang="en-US" sz="1600" spc="-100" dirty="0">
                <a:solidFill>
                  <a:schemeClr val="tx1"/>
                </a:solidFill>
              </a:rPr>
              <a:t>월 초 올영세일 직전에 필요한 콘텐츠가 충분히 올라오도록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물량을 집중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5107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BB08293-4AB4-09D8-BD12-E37A1235F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10A5F01-5026-2332-A4CD-8ACBE12DD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챌린저스</a:t>
            </a:r>
            <a:r>
              <a:rPr lang="en-US" altLang="ko-KR" b="1" dirty="0"/>
              <a:t>/</a:t>
            </a:r>
            <a:r>
              <a:rPr lang="ko-KR" altLang="en-US" b="1" dirty="0"/>
              <a:t>체험단</a:t>
            </a:r>
            <a:r>
              <a:rPr lang="en-US" altLang="ko-KR" b="1" dirty="0"/>
              <a:t>/</a:t>
            </a:r>
            <a:r>
              <a:rPr lang="ko-KR" altLang="en-US" b="1" dirty="0" err="1"/>
              <a:t>어필리에이트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C9AA3D-6A81-E431-4AD8-D911D92C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0D69285-5297-C978-9C88-38CD4E8637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3C4EF3-5048-1515-30B8-EC1556C51AAE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챌린저스</a:t>
            </a:r>
            <a:r>
              <a:rPr lang="ko-KR" altLang="en-US" sz="1600" spc="-100" dirty="0">
                <a:solidFill>
                  <a:schemeClr val="tx1"/>
                </a:solidFill>
              </a:rPr>
              <a:t> 다수 동시 게시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실시간 랭킹 견인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전략으로 올영세일 시즌 카테고리 랭킹 상위</a:t>
            </a:r>
            <a:r>
              <a:rPr lang="en-US" altLang="ko-KR" sz="1600" spc="-100" dirty="0">
                <a:solidFill>
                  <a:schemeClr val="tx1"/>
                </a:solidFill>
              </a:rPr>
              <a:t>/1</a:t>
            </a:r>
            <a:r>
              <a:rPr lang="ko-KR" altLang="en-US" sz="1600" spc="-100" dirty="0">
                <a:solidFill>
                  <a:schemeClr val="tx1"/>
                </a:solidFill>
              </a:rPr>
              <a:t>위를 확보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 쇼핑 큐레이터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쿠팡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파트너스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9519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20DEB34-FCBA-52F3-C7DB-90D5BD12E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F425146-9BDD-E0E2-5A95-1B1812CE9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KOL </a:t>
            </a:r>
            <a:r>
              <a:rPr lang="ko-KR" altLang="en-US" b="1" dirty="0" err="1"/>
              <a:t>무가시딩</a:t>
            </a:r>
            <a:r>
              <a:rPr lang="en-US" altLang="ko-KR" b="1" dirty="0"/>
              <a:t>/</a:t>
            </a:r>
            <a:r>
              <a:rPr lang="ko-KR" altLang="en-US" b="1" dirty="0"/>
              <a:t>파워페이지</a:t>
            </a:r>
            <a:r>
              <a:rPr lang="en-US" altLang="ko-KR" b="1" dirty="0"/>
              <a:t>/</a:t>
            </a:r>
            <a:r>
              <a:rPr lang="ko-KR" altLang="en-US" b="1" dirty="0"/>
              <a:t>바이럴</a:t>
            </a:r>
            <a:r>
              <a:rPr lang="en-US" altLang="ko-KR" b="1" dirty="0"/>
              <a:t>/GEO(AEO)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429F62-0642-20EA-CC49-352C754AFA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9B4F8FF-EE65-A1A7-1FA4-E12835432E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3F6503-369A-4C37-3A32-A56B822C1ED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인스타그램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블로그</a:t>
            </a:r>
            <a:r>
              <a:rPr lang="en-US" altLang="ko-KR" sz="1600" spc="-100" dirty="0">
                <a:solidFill>
                  <a:schemeClr val="tx1"/>
                </a:solidFill>
              </a:rPr>
              <a:t>·X </a:t>
            </a:r>
            <a:r>
              <a:rPr lang="ko-KR" altLang="en-US" sz="1600" spc="-100" dirty="0">
                <a:solidFill>
                  <a:schemeClr val="tx1"/>
                </a:solidFill>
              </a:rPr>
              <a:t>마이크로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뷰티 정보 플랫폼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대형 커뮤니티 체험단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>
                <a:solidFill>
                  <a:schemeClr val="tx1"/>
                </a:solidFill>
              </a:rPr>
              <a:t>파워페이지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PR =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답변 시대의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단순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푸시가</a:t>
            </a:r>
            <a:r>
              <a:rPr lang="ko-KR" altLang="en-US" sz="1600" spc="-100" dirty="0">
                <a:solidFill>
                  <a:schemeClr val="tx1"/>
                </a:solidFill>
              </a:rPr>
              <a:t>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(Pull) </a:t>
            </a:r>
            <a:r>
              <a:rPr lang="ko-KR" altLang="en-US" sz="1600" spc="-100" dirty="0">
                <a:solidFill>
                  <a:schemeClr val="tx1"/>
                </a:solidFill>
              </a:rPr>
              <a:t>자산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키워드 설계 → </a:t>
            </a:r>
            <a:r>
              <a:rPr lang="en-US" altLang="ko-KR" sz="1600" spc="-100" dirty="0">
                <a:solidFill>
                  <a:schemeClr val="tx1"/>
                </a:solidFill>
              </a:rPr>
              <a:t>SEO / AEO, GEO</a:t>
            </a:r>
            <a:r>
              <a:rPr lang="ko-KR" altLang="en-US" sz="1600" spc="-100" dirty="0">
                <a:solidFill>
                  <a:schemeClr val="tx1"/>
                </a:solidFill>
              </a:rPr>
              <a:t>영역 구축 → 자연 유입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증가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9292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49E3F5-7A61-22CC-A2D0-CADEFE184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27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807A5-9CC3-0176-8C3C-44AEDEE6A3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D17395-091C-758E-F339-53D1B267A4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Performance</a:t>
            </a:r>
            <a:r>
              <a:rPr lang="ko-KR" altLang="en-US" dirty="0"/>
              <a:t> </a:t>
            </a:r>
            <a:r>
              <a:rPr lang="en-US" altLang="ko-KR" dirty="0"/>
              <a:t>Boost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7345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F204DBB-5C7C-1E26-CB92-D99541BC81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120FBF0-7645-BC37-49B0-93B6F5659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시딩만으로는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등 브랜드를 만들기 어렵습니다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B59FF7A-C46B-9020-790D-F089A6B26D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C1AE15-718D-798D-CF86-9000FEA140C5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시딩으로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콘텐츠와 후기를 확보하더라도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이를 세일 기간 구매 전환으로 연결하지 않으면 랭킹 견인력은 제한적입니다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시딩의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결과물들은 반드시 퍼포먼스 소재와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올영</a:t>
            </a:r>
            <a:r>
              <a:rPr lang="ko-KR" altLang="en-US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인앱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유입</a:t>
            </a:r>
            <a:r>
              <a:rPr lang="en-US" altLang="ko-KR" sz="1600" b="1" spc="-100" dirty="0">
                <a:solidFill>
                  <a:schemeClr val="tx1"/>
                </a:solidFill>
              </a:rPr>
              <a:t>-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전환으로 활용</a:t>
            </a:r>
            <a:r>
              <a:rPr lang="ko-KR" altLang="en-US" sz="1600" spc="-100" dirty="0">
                <a:solidFill>
                  <a:schemeClr val="tx1"/>
                </a:solidFill>
              </a:rPr>
              <a:t>되어야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3185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339FA93-D43B-0C00-883F-29A3CECD67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BACE4A-9A13-377B-B9C5-0A43244D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콘텐츠 </a:t>
            </a:r>
            <a:r>
              <a:rPr lang="en-US" altLang="ko-KR" dirty="0"/>
              <a:t>+ </a:t>
            </a:r>
            <a:r>
              <a:rPr lang="ko-KR" altLang="en-US" dirty="0" err="1"/>
              <a:t>퍼포</a:t>
            </a:r>
            <a:r>
              <a:rPr lang="ko-KR" altLang="en-US" dirty="0"/>
              <a:t> 결합 구조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A35E02-607F-E1ED-76BD-693D156FCB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180FF2-6D6C-E7C6-973A-C54EA85E769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콘텐츠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+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결합으로 올리브영 올영세일 성과 기록한 프로세스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뷰티 </a:t>
            </a:r>
            <a:r>
              <a:rPr lang="en-US" altLang="ko-KR" sz="1600" spc="-100" dirty="0">
                <a:solidFill>
                  <a:schemeClr val="tx1"/>
                </a:solidFill>
              </a:rPr>
              <a:t>&amp; </a:t>
            </a:r>
            <a:r>
              <a:rPr lang="ko-KR" altLang="en-US" sz="1600" spc="-100" dirty="0">
                <a:solidFill>
                  <a:schemeClr val="tx1"/>
                </a:solidFill>
              </a:rPr>
              <a:t>다른 카테고리에도 적용 사례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수집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선별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LMF </a:t>
            </a:r>
            <a:r>
              <a:rPr lang="ko-KR" altLang="en-US" sz="1600" spc="-100" dirty="0">
                <a:solidFill>
                  <a:schemeClr val="tx1"/>
                </a:solidFill>
              </a:rPr>
              <a:t>테스트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</a:t>
            </a:r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  <a:r>
              <a:rPr lang="ko-KR" altLang="en-US" sz="1600" spc="-100" dirty="0">
                <a:solidFill>
                  <a:schemeClr val="tx1"/>
                </a:solidFill>
              </a:rPr>
              <a:t>배너 광고 집행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올영세일 집중 운영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54230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48099E-F480-519A-FC48-916EA560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9CAD8A7-3E19-B3B9-4BE3-1FF7D7AF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비주얼 가이드</a:t>
            </a:r>
            <a:r>
              <a:rPr lang="en-US" altLang="ko-KR" dirty="0"/>
              <a:t>, KV, </a:t>
            </a:r>
            <a:r>
              <a:rPr lang="ko-KR" altLang="en-US" dirty="0" err="1"/>
              <a:t>퍼포</a:t>
            </a:r>
            <a:r>
              <a:rPr lang="en-US" altLang="ko-KR" dirty="0"/>
              <a:t> </a:t>
            </a:r>
            <a:r>
              <a:rPr lang="ko-KR" altLang="en-US" dirty="0"/>
              <a:t>소재 레이아웃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316D16-BA1E-81E5-A83D-68AC6000B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3224DD5-0D24-A77F-62A5-6FB720E710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C2170F-AC35-49F3-88C9-D5F6E200CC0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히트 패턴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앵커링</a:t>
            </a:r>
            <a:r>
              <a:rPr lang="en-US" altLang="ko-KR" sz="1600" spc="-100" dirty="0">
                <a:solidFill>
                  <a:schemeClr val="tx1"/>
                </a:solidFill>
              </a:rPr>
              <a:t>?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톤앤무드를</a:t>
            </a:r>
            <a:r>
              <a:rPr lang="ko-KR" altLang="en-US" sz="1600" spc="-100" dirty="0">
                <a:solidFill>
                  <a:schemeClr val="tx1"/>
                </a:solidFill>
              </a:rPr>
              <a:t> 적용한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구미 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KV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매장 디스플레이</a:t>
            </a:r>
            <a:r>
              <a:rPr lang="en-US" altLang="ko-KR" sz="1600" spc="-100" dirty="0">
                <a:solidFill>
                  <a:schemeClr val="tx1"/>
                </a:solidFill>
              </a:rPr>
              <a:t>, POP </a:t>
            </a:r>
            <a:r>
              <a:rPr lang="ko-KR" altLang="en-US" sz="1600" spc="-100" dirty="0">
                <a:solidFill>
                  <a:schemeClr val="tx1"/>
                </a:solidFill>
              </a:rPr>
              <a:t>연계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spc="-100" dirty="0">
                <a:solidFill>
                  <a:schemeClr val="tx1"/>
                </a:solidFill>
              </a:rPr>
              <a:t> 소재 레이아웃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309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7A9100-5F58-C1C6-8376-2E18306E9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018408B-551E-7DC4-5DF1-F2E9435E7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제품 기준 </a:t>
            </a:r>
            <a:r>
              <a:rPr lang="en-US" altLang="ko-KR" dirty="0"/>
              <a:t>LMF </a:t>
            </a:r>
            <a:r>
              <a:rPr lang="ko-KR" altLang="en-US" dirty="0"/>
              <a:t>테스트 </a:t>
            </a:r>
            <a:r>
              <a:rPr lang="en-US" altLang="ko-KR" dirty="0"/>
              <a:t>: </a:t>
            </a:r>
            <a:r>
              <a:rPr lang="ko-KR" altLang="en-US" dirty="0" err="1"/>
              <a:t>위닝</a:t>
            </a:r>
            <a:r>
              <a:rPr lang="ko-KR" altLang="en-US" dirty="0"/>
              <a:t> 메시지 발굴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56A5512-5D86-755F-CC99-5D12A0479B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F00873B-F885-6985-D304-970DB168D1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77BAB-A30D-A91F-EBFB-7D897BD046E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테스트를 통해 어떤 문구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썸네일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후킹</a:t>
            </a:r>
            <a:r>
              <a:rPr lang="ko-KR" altLang="en-US" sz="1600" spc="-100" dirty="0">
                <a:solidFill>
                  <a:schemeClr val="tx1"/>
                </a:solidFill>
              </a:rPr>
              <a:t> 구조가 실제 반응을 만드는지 먼저 확인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검증된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소재를 </a:t>
            </a:r>
            <a:r>
              <a:rPr lang="en-US" altLang="ko-KR" sz="1600" spc="-100" dirty="0">
                <a:solidFill>
                  <a:schemeClr val="tx1"/>
                </a:solidFill>
              </a:rPr>
              <a:t>9</a:t>
            </a:r>
            <a:r>
              <a:rPr lang="ko-KR" altLang="en-US" sz="1600" spc="-100" dirty="0">
                <a:solidFill>
                  <a:schemeClr val="tx1"/>
                </a:solidFill>
              </a:rPr>
              <a:t>월 올영세일과 </a:t>
            </a:r>
            <a:r>
              <a:rPr lang="en-US" altLang="ko-KR" sz="1600" spc="-100" dirty="0">
                <a:solidFill>
                  <a:schemeClr val="tx1"/>
                </a:solidFill>
              </a:rPr>
              <a:t>12</a:t>
            </a:r>
            <a:r>
              <a:rPr lang="ko-KR" altLang="en-US" sz="1600" spc="-100" dirty="0">
                <a:solidFill>
                  <a:schemeClr val="tx1"/>
                </a:solidFill>
              </a:rPr>
              <a:t>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재부스팅에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57739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53DE17-F1EB-3AE1-4115-2B48DFD89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B1B06E8-B7D8-CE62-FCD0-5DFF1266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퍼포</a:t>
            </a:r>
            <a:r>
              <a:rPr lang="ko-KR" altLang="en-US" dirty="0"/>
              <a:t> 매체 활용 방안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4ED7B7-C2F4-44BE-24A6-31F1D5CB6E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FE9B1F-4E8C-C589-0CE6-82A566AFA9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24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CF157-09E0-031C-AA57-D8FFA3810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B4DB52F-2A93-D234-89A2-47BA6708F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2F4828-10B0-355A-1CA0-2ADD7CD5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ko-KR" altLang="en-US" dirty="0"/>
              <a:t> </a:t>
            </a:r>
            <a:r>
              <a:rPr lang="ko-KR" altLang="en-US" dirty="0" err="1"/>
              <a:t>인앱</a:t>
            </a:r>
            <a:r>
              <a:rPr lang="ko-KR" altLang="en-US" dirty="0"/>
              <a:t> 광고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8234B5-B42C-9B25-20A0-CAE3C91F3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3E02200-9A76-328A-084E-EC5A556FFD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0AAAB4-2868-290B-264E-C4A79AFC2B69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플랫폼 내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제품 반복 노출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소재를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연결해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세일 기간 유입과 랭킹 상승을 집중적으로 견인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946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AA3DD1-CA2D-2A63-774C-25A5AABA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2A8A57C-CE30-2619-9302-6099827B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CRM </a:t>
            </a:r>
            <a:r>
              <a:rPr lang="ko-KR" altLang="en-US" dirty="0"/>
              <a:t>카카오 </a:t>
            </a:r>
            <a:r>
              <a:rPr lang="ko-KR" altLang="en-US" dirty="0" err="1"/>
              <a:t>플친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71E1F8-DDA6-AA62-C371-FABA6162E8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F721DB-C045-4683-C1DC-0047A81736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BFF624-B794-E53C-227A-CF8839A7B60D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 기간 재구매 연결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CRM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소재 기획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오프라인 샘플 증정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제품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조회자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대상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재구매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라인 확장 구매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61427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698A81-7D16-4AC6-DEA1-2862AC98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8C0BE4-2D5E-7CFB-F874-E8F84C13E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833262-1EEA-A619-58C0-36BCA3208D7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Operation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4577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33AF200-8F01-0D2D-9FF6-6B59777E1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59B4AEB-A062-447F-3D85-0ABAEABC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</a:t>
            </a:r>
            <a:r>
              <a:rPr lang="ko-KR" altLang="en-US" dirty="0"/>
              <a:t>개월 운영 로드맵 </a:t>
            </a:r>
            <a:r>
              <a:rPr lang="en-US" altLang="ko-KR" dirty="0"/>
              <a:t>: 9</a:t>
            </a:r>
            <a:r>
              <a:rPr lang="ko-KR" altLang="en-US" dirty="0"/>
              <a:t>월에 만들고</a:t>
            </a:r>
            <a:r>
              <a:rPr lang="en-US" altLang="ko-KR" dirty="0"/>
              <a:t>, 11-12</a:t>
            </a:r>
            <a:r>
              <a:rPr lang="ko-KR" altLang="en-US" dirty="0"/>
              <a:t>월에 다시 키운다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6975-BA3A-B0C1-7698-C9389EA56F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8DA601-D83E-1EBC-1394-05C33E24375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7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 설계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제품별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앵글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메시지 확보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8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본격화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전 콘텐츠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축적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9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퍼포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연계 유입 증대 및 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1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위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10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낙수효과 유지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확산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보강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지속 활용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세일 준비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테스트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 집행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확장 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및 재구매 활성화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0369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38D3E7-3797-B9CF-6CEC-89CF84DC7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BAF97A5-66A4-CBE2-7EF9-18E0637A3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KPI &amp; Budget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F76BD7-8DE8-EA1E-985A-C672F3C455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40AEE1-4903-03F2-2B25-2FB61E2A8D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KPI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수치 제시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검색량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…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검색량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3,000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 10,000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캠페인 예산 배분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퍼포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광고 운영 비용 확보 필수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월별 예산 운영 방향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81404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387DE-5FEF-BB3A-D18A-F91C57C6B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58F9E5-8FBE-EA56-6D83-4888A07A1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심의 대응 체계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8247A-B3FA-03DC-3BD7-784F8DD5AC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EED66CE-4B38-6CD6-DFF3-7163568ECF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9C8715-8CD8-A7B0-43FB-9FE9F4A637A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일반식품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일반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가공식품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건강기능식품이 함께 존재합니다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콘텐츠를 먼저 만들고 나중에 검수하는 방식은 리스크가 큽니다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유형별 표현 가능 범위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금지 표현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 발화 가이드를 사전에 정리해야 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리드타임 단축 솔루션 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(AI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가이드 검증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기반 심의 가이드라인 검증 봇 제작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→ 콘텐츠를 사전 필터링해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반려를 줄이고 심의 소요 기간을 단축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레퍼런스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삼성증권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봇 사례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-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사전 필터링으로 심의 시간 단축 성과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9769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90F8C5-8640-1C93-A185-2C39ABCB7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E2C4061-4202-1282-2D2E-BD6E9BEDD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성과 리포팅 솔루션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639105-29AD-78BD-F426-5C54631C7A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420E84-8A41-DAD4-0030-E59F6E0B20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476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6547C94-3836-D76C-DC7C-BBAE6192B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01A7E25-F0EC-63D5-343E-D943D73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en-US" altLang="ko-KR" dirty="0"/>
              <a:t>PB TF </a:t>
            </a:r>
            <a:r>
              <a:rPr lang="ko-KR" altLang="en-US" dirty="0"/>
              <a:t>인력 구성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11F892-3DD4-9041-7CB1-2EE2FF9978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E19130-C9A6-A2C7-ADAB-5182B6EF01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D26DAB8-A044-3C34-1BB0-8E491850D8C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총괄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PM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급 시니어 마케터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 외 실무 리소스 필수 편성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0848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C559AED-5E97-73A7-D4FD-69C9A1CC0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41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90FBED-E6FB-F460-EDB3-432A63D1EB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502DD-22C9-8A45-DC51-C05B2992DE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Why Us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97586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01C6E4B-E6C5-5DB1-0D69-699480D9E9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34E3D35-B734-B576-4502-E27691E4C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캠페인 구조 전체 한판 요약 정리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88F887-6438-FD73-6154-D46F4D6E4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1421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209A27F-555A-96F6-0ECE-8BDA8E99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42C2CD-14C6-F3A9-D49D-998B18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BAT</a:t>
            </a:r>
            <a:r>
              <a:rPr lang="ko-KR" altLang="en-US" dirty="0"/>
              <a:t>가 잘할 수 있는 이유 </a:t>
            </a:r>
            <a:r>
              <a:rPr lang="en-US" altLang="ko-KR" dirty="0"/>
              <a:t>: </a:t>
            </a:r>
            <a:r>
              <a:rPr lang="ko-KR" altLang="en-US" dirty="0"/>
              <a:t>추가 레퍼런스 제시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56BC5A-7F56-D83B-3BF2-040DF809B9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172987-C525-0AF7-1D0D-CB60E5A3D5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2A4152-649E-4A4F-A94C-7A2C87F72AC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BAT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는 브랜드 콘텐츠 전략과 퍼포먼스 운영을 분리하지 않고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하나의 구매 흐름 안에서 설계할 수 있습니다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웰니스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카테고리의 심의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표현 리스크를 이해하고 있습니다</a:t>
            </a:r>
            <a:b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</a:b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 등 다양한 카테고리에서의 마이크로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IMC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수행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경험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감도 높은 영상 크리에이티브를 세일즈로 연결합니다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20902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2D978-1A49-A3C5-97CA-0531188D2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DD90172-C0FB-5AEB-109D-0B9AB329D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5EAF04A8-5A79-238D-7379-A092C0E04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56737E-BCC7-22E8-4296-50CE6D5D9D52}"/>
              </a:ext>
            </a:extLst>
          </p:cNvPr>
          <p:cNvSpPr txBox="1"/>
          <p:nvPr/>
        </p:nvSpPr>
        <p:spPr>
          <a:xfrm>
            <a:off x="1053296" y="2828836"/>
            <a:ext cx="10085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감사합니다</a:t>
            </a:r>
            <a:r>
              <a:rPr lang="en-US" altLang="ko-KR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.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End of Document</a:t>
            </a:r>
            <a:endParaRPr kumimoji="0" lang="ko-KR" altLang="en-US" sz="32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1601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5C48E28-9B7F-9814-2A54-7533C45825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>
                <a:solidFill>
                  <a:schemeClr val="tx1"/>
                </a:solidFill>
              </a:rPr>
              <a:pPr/>
              <a:t>45</a:t>
            </a:fld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02FDE9E4-7193-2BB4-675B-53CFFCD28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C3F38E-691F-4121-E984-68C9670B1029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표지</a:t>
            </a:r>
            <a:endParaRPr lang="en-US" altLang="ko-KR" sz="4000" spc="-100" dirty="0">
              <a:solidFill>
                <a:schemeClr val="accent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8212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1777E2-ED73-7942-75D6-8D221CCFCB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46</a:t>
            </a:fld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2813CD8-D6E8-57E2-7631-FCCA935C0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B0F874-8E19-2EF2-2DEE-938F26005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파트 간지</a:t>
            </a:r>
          </a:p>
        </p:txBody>
      </p:sp>
    </p:spTree>
    <p:extLst>
      <p:ext uri="{BB962C8B-B14F-4D97-AF65-F5344CB8AC3E}">
        <p14:creationId xmlns:p14="http://schemas.microsoft.com/office/powerpoint/2010/main" val="33324687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152173-8BA2-01CC-D8FB-4A953F4E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4B119E-FD7D-9A4C-2F3C-6ED2827AB8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00-0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237256-8B8D-D0EA-9A1F-941E175566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파트 중간 간지</a:t>
            </a:r>
          </a:p>
        </p:txBody>
      </p:sp>
    </p:spTree>
    <p:extLst>
      <p:ext uri="{BB962C8B-B14F-4D97-AF65-F5344CB8AC3E}">
        <p14:creationId xmlns:p14="http://schemas.microsoft.com/office/powerpoint/2010/main" val="5363373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35C87-9543-38C6-0EF8-6290822706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D2DED70-8A83-08D1-901B-BF1DA567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D14142-3317-8E4D-AFA8-7DD5C30817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C36FB1-903D-37E9-393B-D917118B5F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14091885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F2078E-2D31-6050-EEEA-55813C406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CAF2B52-1D95-0FD4-33F4-4BE9C2DC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E3E207-A51C-86E1-41C9-91B252B71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C43CE76-FD28-C553-C7C4-7C3285A443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6B97F0A-B6F3-2173-E5AB-F318B4E2366A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1152000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FB49F71-47CE-71CE-7595-9318AF0F708D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1152000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82096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C3B6B99-7D4F-DE22-043D-1BDC91B5ADE5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EC3414F-32C6-EEF3-6127-A0D38BFC2976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89F0222-22A1-3373-E1F8-7DECF4E413D2}"/>
              </a:ext>
            </a:extLst>
          </p:cNvPr>
          <p:cNvSpPr>
            <a:spLocks/>
          </p:cNvSpPr>
          <p:nvPr/>
        </p:nvSpPr>
        <p:spPr>
          <a:xfrm>
            <a:off x="6153811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D4C767D-694C-6AF0-6622-567AF8058CDD}"/>
              </a:ext>
            </a:extLst>
          </p:cNvPr>
          <p:cNvSpPr>
            <a:spLocks/>
          </p:cNvSpPr>
          <p:nvPr/>
        </p:nvSpPr>
        <p:spPr>
          <a:xfrm>
            <a:off x="6153811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432154-81AB-0F1E-D897-1F026CD11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292EC6-3D4C-5D8F-486B-E0AD3B2F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E9130B-5EC4-79A5-A99E-681C11FBA3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4E677DD-9146-ECB1-856F-215E9E007B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323741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3A645A0-B2A7-EA70-AA2F-F5B1E94FBD8D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B171D04-FC9A-9870-50FC-1CDEDBE30D32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2DDE8C5-2171-7CC1-F584-3329EE25E81F}"/>
              </a:ext>
            </a:extLst>
          </p:cNvPr>
          <p:cNvSpPr>
            <a:spLocks/>
          </p:cNvSpPr>
          <p:nvPr/>
        </p:nvSpPr>
        <p:spPr>
          <a:xfrm>
            <a:off x="4201011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B93F30F-7FEC-D702-E734-C12F6773E1E0}"/>
              </a:ext>
            </a:extLst>
          </p:cNvPr>
          <p:cNvSpPr>
            <a:spLocks/>
          </p:cNvSpPr>
          <p:nvPr/>
        </p:nvSpPr>
        <p:spPr>
          <a:xfrm>
            <a:off x="4201011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48D9E17-DF42-A3E5-4C27-BFC78AA61C72}"/>
              </a:ext>
            </a:extLst>
          </p:cNvPr>
          <p:cNvSpPr>
            <a:spLocks/>
          </p:cNvSpPr>
          <p:nvPr/>
        </p:nvSpPr>
        <p:spPr>
          <a:xfrm>
            <a:off x="8066022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7349294-A564-3B7D-7470-555804A86C40}"/>
              </a:ext>
            </a:extLst>
          </p:cNvPr>
          <p:cNvSpPr>
            <a:spLocks/>
          </p:cNvSpPr>
          <p:nvPr/>
        </p:nvSpPr>
        <p:spPr>
          <a:xfrm>
            <a:off x="8066022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DBCB276-5C31-88A5-915F-C51CFE971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84FF087-E533-1C5E-A082-6B822FE93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0CCF9A-6364-8302-A31A-86EC818977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48103-D881-5D9C-BC42-AE676D9001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2553107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CAF9F68-58BE-824A-847F-4FBB7368D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534009B-E174-4EE5-85E4-0C2BCCE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C38F1A-4BD0-7961-8ACF-C613A8AF5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20819298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D788BCB-B47B-13EA-5C40-D1DD3FA4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9B05387-9C43-0EBB-4762-D5B2A3460AD1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9E79C7-3383-4035-D201-AC841DFB90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4666859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B80AEDD-8B23-7E50-2E60-023486AE2725}"/>
              </a:ext>
            </a:extLst>
          </p:cNvPr>
          <p:cNvSpPr/>
          <p:nvPr/>
        </p:nvSpPr>
        <p:spPr>
          <a:xfrm>
            <a:off x="6234545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114852-7307-A2C0-82CD-4FA074FE4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54</a:t>
            </a:fld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259A5EF-5F5C-0B91-32FC-D4CCABEAF96A}"/>
              </a:ext>
            </a:extLst>
          </p:cNvPr>
          <p:cNvSpPr/>
          <p:nvPr/>
        </p:nvSpPr>
        <p:spPr>
          <a:xfrm>
            <a:off x="175491" y="193964"/>
            <a:ext cx="3038764" cy="4341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장표 작성 가이드라인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DA2B423-D299-1D7E-8061-1CE648079880}"/>
              </a:ext>
            </a:extLst>
          </p:cNvPr>
          <p:cNvSpPr/>
          <p:nvPr/>
        </p:nvSpPr>
        <p:spPr>
          <a:xfrm>
            <a:off x="175491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73322-FBF5-548A-B3F7-5A15AD3EE11E}"/>
              </a:ext>
            </a:extLst>
          </p:cNvPr>
          <p:cNvSpPr/>
          <p:nvPr/>
        </p:nvSpPr>
        <p:spPr>
          <a:xfrm>
            <a:off x="277091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폰트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A2FBF-AB37-A2AC-B251-9B2E130F1AE3}"/>
              </a:ext>
            </a:extLst>
          </p:cNvPr>
          <p:cNvSpPr txBox="1"/>
          <p:nvPr/>
        </p:nvSpPr>
        <p:spPr>
          <a:xfrm>
            <a:off x="277091" y="1357748"/>
            <a:ext cx="55787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타이틀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Pretendard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ExtraBold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</a:p>
          <a:p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28pt,</a:t>
            </a:r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문자 간격 좁게 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1pt</a:t>
            </a:r>
            <a:endParaRPr lang="ko-KR" altLang="en-US" sz="2800" spc="-1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19651-5409-3825-4AE6-686AA18A6249}"/>
              </a:ext>
            </a:extLst>
          </p:cNvPr>
          <p:cNvSpPr txBox="1"/>
          <p:nvPr/>
        </p:nvSpPr>
        <p:spPr>
          <a:xfrm>
            <a:off x="277091" y="2399748"/>
            <a:ext cx="557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6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16pt,</a:t>
            </a:r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6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AF5D5B-900D-7B93-8D2A-A36FE354C4E0}"/>
              </a:ext>
            </a:extLst>
          </p:cNvPr>
          <p:cNvSpPr txBox="1"/>
          <p:nvPr/>
        </p:nvSpPr>
        <p:spPr>
          <a:xfrm>
            <a:off x="277091" y="3683529"/>
            <a:ext cx="557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설명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2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12pt,</a:t>
            </a:r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2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6A0B7F-021F-D558-6A09-DC17171C4BF6}"/>
              </a:ext>
            </a:extLst>
          </p:cNvPr>
          <p:cNvSpPr txBox="1"/>
          <p:nvPr/>
        </p:nvSpPr>
        <p:spPr>
          <a:xfrm>
            <a:off x="277091" y="4233088"/>
            <a:ext cx="557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출처 등 표기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9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9pt,</a:t>
            </a:r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9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DB8B45-52B6-ABD8-2D22-6111DB207954}"/>
              </a:ext>
            </a:extLst>
          </p:cNvPr>
          <p:cNvSpPr/>
          <p:nvPr/>
        </p:nvSpPr>
        <p:spPr>
          <a:xfrm>
            <a:off x="277091" y="5064498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컬러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FEBA8F5-AB9B-4814-B77A-010BF50C0D86}"/>
              </a:ext>
            </a:extLst>
          </p:cNvPr>
          <p:cNvSpPr/>
          <p:nvPr/>
        </p:nvSpPr>
        <p:spPr>
          <a:xfrm>
            <a:off x="6345382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레이아웃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3DA76B-419E-B023-1DA7-B32710F165F2}"/>
              </a:ext>
            </a:extLst>
          </p:cNvPr>
          <p:cNvSpPr txBox="1"/>
          <p:nvPr/>
        </p:nvSpPr>
        <p:spPr>
          <a:xfrm>
            <a:off x="8659091" y="1395580"/>
            <a:ext cx="25941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마스터 슬라이드 레이아웃 활용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(‘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’ 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레이아웃을 메인으로 사용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다른 파일에서 복사 시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되도록 내용만 복사하여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붙여넣기 해주세요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098C2FE-ADED-9BDC-6C2A-89FB9D07DD3A}"/>
              </a:ext>
            </a:extLst>
          </p:cNvPr>
          <p:cNvSpPr/>
          <p:nvPr/>
        </p:nvSpPr>
        <p:spPr>
          <a:xfrm>
            <a:off x="6345382" y="5324761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로고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499F08-ED34-6FC4-DA0E-4A5D64CC6941}"/>
              </a:ext>
            </a:extLst>
          </p:cNvPr>
          <p:cNvSpPr txBox="1"/>
          <p:nvPr/>
        </p:nvSpPr>
        <p:spPr>
          <a:xfrm>
            <a:off x="277091" y="3072416"/>
            <a:ext cx="5578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타이틀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4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14pt,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B63BC0E-B275-422D-FB29-77F4F052FE14}"/>
              </a:ext>
            </a:extLst>
          </p:cNvPr>
          <p:cNvSpPr/>
          <p:nvPr/>
        </p:nvSpPr>
        <p:spPr>
          <a:xfrm>
            <a:off x="272008" y="5500252"/>
            <a:ext cx="875978" cy="64193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>
                <a:solidFill>
                  <a:schemeClr val="accent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메인 컬러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5C010D-8ABB-0B96-F190-9F32013C7451}"/>
              </a:ext>
            </a:extLst>
          </p:cNvPr>
          <p:cNvSpPr/>
          <p:nvPr/>
        </p:nvSpPr>
        <p:spPr>
          <a:xfrm>
            <a:off x="1212567" y="5500252"/>
            <a:ext cx="875977" cy="6419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lang="ko-KR" altLang="en-US" sz="1200" spc="-100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CF03CC-3179-62C2-05A8-AE07CDA95E3F}"/>
              </a:ext>
            </a:extLst>
          </p:cNvPr>
          <p:cNvSpPr/>
          <p:nvPr/>
        </p:nvSpPr>
        <p:spPr>
          <a:xfrm>
            <a:off x="2153124" y="5500252"/>
            <a:ext cx="875977" cy="64193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CB6332-FF5B-AF27-2449-8FF565A30CAF}"/>
              </a:ext>
            </a:extLst>
          </p:cNvPr>
          <p:cNvSpPr/>
          <p:nvPr/>
        </p:nvSpPr>
        <p:spPr>
          <a:xfrm>
            <a:off x="3093682" y="5500252"/>
            <a:ext cx="875977" cy="6419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625E70-DFB2-717D-8E32-E93813B41FBE}"/>
              </a:ext>
            </a:extLst>
          </p:cNvPr>
          <p:cNvSpPr/>
          <p:nvPr/>
        </p:nvSpPr>
        <p:spPr>
          <a:xfrm>
            <a:off x="4034240" y="5500252"/>
            <a:ext cx="875977" cy="6419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90A5359-0C47-F2A2-D2D6-BE33390BED42}"/>
              </a:ext>
            </a:extLst>
          </p:cNvPr>
          <p:cNvSpPr/>
          <p:nvPr/>
        </p:nvSpPr>
        <p:spPr>
          <a:xfrm>
            <a:off x="4974798" y="5500252"/>
            <a:ext cx="875977" cy="6419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9" name="그림 18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03387F-5925-CE42-5A9F-396CFB28E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059" y="1433031"/>
            <a:ext cx="2148220" cy="3102984"/>
          </a:xfrm>
          <a:prstGeom prst="rect">
            <a:avLst/>
          </a:prstGeom>
        </p:spPr>
      </p:pic>
      <p:pic>
        <p:nvPicPr>
          <p:cNvPr id="14" name="그림 13" descr="올더베러 로고 | brandB 브랜드비">
            <a:extLst>
              <a:ext uri="{FF2B5EF4-FFF2-40B4-BE49-F238E27FC236}">
                <a16:creationId xmlns:a16="http://schemas.microsoft.com/office/drawing/2014/main" id="{AD3DA3D8-3055-2BDB-6D84-073C9A6AF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672" b="35672"/>
          <a:stretch>
            <a:fillRect/>
          </a:stretch>
        </p:blipFill>
        <p:spPr>
          <a:xfrm>
            <a:off x="7890655" y="5330435"/>
            <a:ext cx="2148221" cy="339633"/>
          </a:xfrm>
          <a:prstGeom prst="rect">
            <a:avLst/>
          </a:prstGeom>
        </p:spPr>
      </p:pic>
      <p:pic>
        <p:nvPicPr>
          <p:cNvPr id="18" name="그림 17" descr="올더베러 로고 | brandB 브랜드비">
            <a:extLst>
              <a:ext uri="{FF2B5EF4-FFF2-40B4-BE49-F238E27FC236}">
                <a16:creationId xmlns:a16="http://schemas.microsoft.com/office/drawing/2014/main" id="{191C6F18-43D4-EFA5-922B-21F2509CC5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781" b="36781"/>
          <a:stretch>
            <a:fillRect/>
          </a:stretch>
        </p:blipFill>
        <p:spPr>
          <a:xfrm>
            <a:off x="7890656" y="5846474"/>
            <a:ext cx="2148220" cy="31326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CF05BF5-F56B-0119-CC10-70163AAD5E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84" t="13990" r="27684" b="13990"/>
          <a:stretch>
            <a:fillRect/>
          </a:stretch>
        </p:blipFill>
        <p:spPr>
          <a:xfrm>
            <a:off x="10097095" y="5317449"/>
            <a:ext cx="946080" cy="84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00286"/>
      </p:ext>
    </p:extLst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360152" cy="5907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896112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  <a:tr h="310896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9595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5858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465건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65683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※ 셀 음영이 진할수록 물량 多 · 8·11·12월 집중 운영 · 퍼포먼스 매체는 별도(별첨)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960120"/>
          <a:ext cx="108813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/>
                <a:gridCol w="1371600"/>
                <a:gridCol w="1554480"/>
                <a:gridCol w="182880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246888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67,300,000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56,250,000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355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· 대행료 항목 제외(나노 시딩 반영) · 파워페이지 건당 800,000원(제작비서 충당) · EGC 건당 1,500,000원 · 공급가액 정확히 2.5억(VAT 별도)</a:t>
            </a:r>
          </a:p>
          <a:p>
            <a:r>
              <a:rPr sz="850">
                <a:solidFill>
                  <a:srgbClr val="707070"/>
                </a:solidFill>
                <a:latin typeface="맑은 고딕"/>
              </a:rPr>
              <a:t>· 퍼포먼스 매체 운영(PA·올영 인앱)은 별도 산정(별첨) · 인플루언서 단가는 인스타·유튜브 기준, X(트위터)는 별도 단가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3·4분기 월별 액션플랜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0B0B0"/>
                </a:solidFill>
                <a:latin typeface="맑은 고딕"/>
              </a:rPr>
              <a:t>7월 착수 → 8·9월 1차 웨이브(올영세일) → 10월 유지 → 11·12월 2차 웨이브(블프·올영세일)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94560"/>
            <a:ext cx="1783080" cy="13716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7월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41448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4256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2194560"/>
            <a:ext cx="1783080" cy="13716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7064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11111"/>
                </a:solidFill>
                <a:latin typeface="맑은 고딕"/>
              </a:rPr>
              <a:t>10월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· Phase 1 (7~9월) — 빠른 반응 확보 : 일반식품·심의불필요 건기식 선행 + 8·9월 1차 웨이브로 올영세일 전환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· Phase 2 (10~12월) — 대표성 확장 : 건기식 라인 확장 + 11·12월 2차 웨이브(블프·올영세일)로 대표 브랜드 착지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07070"/>
                </a:solidFill>
                <a:latin typeface="맑은 고딕"/>
              </a:rPr>
              <a:t>· 예산 총 2.5억(공급가) · 퍼포먼스 매체는 별도(별첨)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7월  ·  First Shot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착수 · 콘텐츠/메시지 테스트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1차 웨이브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“위닝 메시지 발굴 · 시딩 도화선 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콘텐츠·이미지 소재 LMF 테스트 → 위닝 메시지 선별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일반식품 + 심의 불필요 건기식 시딩 즉시 라이브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심의 파이프라인 착수 (가이드→섭외→콘티→접수)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챌린저스 1차 가동 · 블로그/검색 키워드 선점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위닝 메시지 확정 · 후기·콘텐츠 1차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8월  ·  Proof Take-off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사전 부스팅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“세일 전 인지·각인 확산 + 선택 증거 확보”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시딩 대량 릴리즈(월 110건) — 세일 1주 전 집중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매크로 합류 · 파워페이지·커뮤니티 체험단(탑)·네이버 블로그 바이럴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심의 완료분 1차 업로드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‘올영 1위’ 키워드 플레이 · 챌린저스 랭킹 견인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웨이브로 사전 부스팅 · 검색·후기 증거 확산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9월  ·  Acceleration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구매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“확보한 증거로 올영세일 구매 전환 폭발”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올영세일 집중 — 일반+건기식 콘텐츠 동시 투입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퍼포먼스 매체(별첨)·어필리에이트 가동 전환 유도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2차 업로드 세일 직전 라이브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랭킹/후기/혜택 결합 소재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 매출 피크 · 카테고리 랭킹 상위/1위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10월  ·  Orbit Expansion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유지 · 포트폴리오 확장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유지 (낙수효과)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“구매 증거 기반 건기식 라인업 확장”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6종 본격 콘텐츠 · 확장 메시지 테스트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9월 위닝 소재 낙수 운영(유지)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크로스셀 CRM · 후기 자산 확산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매출 유지 · 건기식 라인 인지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11월  ·  Boost-up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블프 · 재점화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“많이 보이고 많이 찾는 브랜드로 재점화”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시딩 재확대(월 90건) · 매크로·체험단(탑)·파워페이지 재가동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블프 프로모션 연계 퍼포먼스 · 건기식 RTB+혜택 결합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챌린저스 2차 · 검색 자산 보강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시작 · 탐색량·관심층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45,000,000 원   (18%)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12월  ·  Category Landing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· 대표성 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“라인업으로 웰니스 카테고리 대표 브랜드 착지”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12월 올영세일 집중 — 전 라인업 대표성 콘텐츠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세일 1주 전 시딩 대량 릴리즈(월 100건)·바이럴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쟁임/재구매 CRM · 퍼포먼스 2차 피크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매출 피크 · 대표성 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55,000,000 원   (22%)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템플릿">
  <a:themeElements>
    <a:clrScheme name="브링그린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FEFFA1"/>
      </a:accent1>
      <a:accent2>
        <a:srgbClr val="473417"/>
      </a:accent2>
      <a:accent3>
        <a:srgbClr val="09582F"/>
      </a:accent3>
      <a:accent4>
        <a:srgbClr val="8D9407"/>
      </a:accent4>
      <a:accent5>
        <a:srgbClr val="C5C22D"/>
      </a:accent5>
      <a:accent6>
        <a:srgbClr val="F3C8B7"/>
      </a:accent6>
      <a:hlink>
        <a:srgbClr val="002060"/>
      </a:hlink>
      <a:folHlink>
        <a:srgbClr val="7030A0"/>
      </a:folHlink>
    </a:clrScheme>
    <a:fontScheme name="Pretendard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 spc="-1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8D9407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B0402D-7E88-4D5C-A9A8-2F0EA6818A09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e9cfb9a7-9d4e-4dce-a84f-d929924d3fa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188254A4831924E9E526FF0216D0FCE" ma:contentTypeVersion="11" ma:contentTypeDescription="새 문서를 만듭니다." ma:contentTypeScope="" ma:versionID="1bb02867c5a856038820aef20790464f">
  <xsd:schema xmlns:xsd="http://www.w3.org/2001/XMLSchema" xmlns:xs="http://www.w3.org/2001/XMLSchema" xmlns:p="http://schemas.microsoft.com/office/2006/metadata/properties" xmlns:ns3="78bc5f6b-badd-460d-ba8a-1201f8f6e675" targetNamespace="http://schemas.microsoft.com/office/2006/metadata/properties" ma:root="true" ma:fieldsID="51f7113e8d95a19d7ec5283d7deef0b5" ns3:_="">
    <xsd:import namespace="78bc5f6b-badd-460d-ba8a-1201f8f6e6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bc5f6b-badd-460d-ba8a-1201f8f6e6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24BEA04-9967-4FF0-AA38-3532F391796D}">
  <ds:schemaRefs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78bc5f6b-badd-460d-ba8a-1201f8f6e675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6486CFE-C019-4074-91B6-53325BAF8A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bc5f6b-badd-460d-ba8a-1201f8f6e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6D0546-D0F5-4AE2-AA49-2BA08653BF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22863</TotalTime>
  <Words>1819</Words>
  <Application>Microsoft Office PowerPoint</Application>
  <PresentationFormat>와이드스크린</PresentationFormat>
  <Paragraphs>338</Paragraphs>
  <Slides>54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65" baseType="lpstr">
      <vt:lpstr>G마켓 산스 Medium</vt:lpstr>
      <vt:lpstr>Pretendard</vt:lpstr>
      <vt:lpstr>Pretendard ExtraBold</vt:lpstr>
      <vt:lpstr>Pretendard Light</vt:lpstr>
      <vt:lpstr>Pretendard Medium</vt:lpstr>
      <vt:lpstr>Pretendard SemiBold</vt:lpstr>
      <vt:lpstr>Pretendard Thin</vt:lpstr>
      <vt:lpstr>맑은 고딕</vt:lpstr>
      <vt:lpstr>Arial</vt:lpstr>
      <vt:lpstr>Wingdings</vt:lpstr>
      <vt:lpstr>템플릿</vt:lpstr>
      <vt:lpstr>PowerPoint 프레젠테이션</vt:lpstr>
      <vt:lpstr>PowerPoint 프레젠테이션</vt:lpstr>
      <vt:lpstr>PowerPoint 프레젠테이션</vt:lpstr>
      <vt:lpstr>PowerPoint 프레젠테이션</vt:lpstr>
      <vt:lpstr>단순 시딩 콘텐츠 생산이 아니라, 시딩-콘텐츠-퍼포먼스 연결로 비즈니스 임팩트를 만드는 구조를 설계합니다.</vt:lpstr>
      <vt:lpstr>PowerPoint 프레젠테이션</vt:lpstr>
      <vt:lpstr>웰니스 시장: 폭발 직전, 그러나 갇혀 있다</vt:lpstr>
      <vt:lpstr>올리브영/올리브베러는 올더베러의 홈그라운드입니다</vt:lpstr>
      <vt:lpstr>PowerPoint 프레젠테이션</vt:lpstr>
      <vt:lpstr>PowerPoint 프레젠테이션</vt:lpstr>
      <vt:lpstr>PowerPoint 프레젠테이션</vt:lpstr>
      <vt:lpstr>올리브영 1등 달성한 케이스?</vt:lpstr>
      <vt:lpstr>PowerPoint 프레젠테이션</vt:lpstr>
      <vt:lpstr>올더베러는 ‘웰니스’ 브랜드이지만, 제품마다 다른 언어가 필요</vt:lpstr>
      <vt:lpstr>제품 포트폴리오 – 우선순위 설정</vt:lpstr>
      <vt:lpstr>제품 유형별 메시지 설계 : 올리브오일 / 웰니스 구미</vt:lpstr>
      <vt:lpstr>제품별 타겟 고객 상황/TPO 맞춤 메시지 구체화</vt:lpstr>
      <vt:lpstr>PowerPoint 프레젠테이션</vt:lpstr>
      <vt:lpstr>왜 시딩이 1순위인가</vt:lpstr>
      <vt:lpstr>크리에이터 전략</vt:lpstr>
      <vt:lpstr>크리에이터 콘텐츠 기획 : 제품별 콘텐츠 앵글</vt:lpstr>
      <vt:lpstr>오프라인 인증형 시딩 콘텐츠</vt:lpstr>
      <vt:lpstr>PowerPoint 프레젠테이션</vt:lpstr>
      <vt:lpstr>프로그램 구조</vt:lpstr>
      <vt:lpstr>챌린저스/체험단/어필리에이트</vt:lpstr>
      <vt:lpstr>KOL 무가시딩/파워페이지/바이럴/GEO(AEO)</vt:lpstr>
      <vt:lpstr>PowerPoint 프레젠테이션</vt:lpstr>
      <vt:lpstr>시딩만으로는 1등 브랜드를 만들기 어렵습니다</vt:lpstr>
      <vt:lpstr>콘텐츠 + 퍼포 결합 구조</vt:lpstr>
      <vt:lpstr>올더베러 비주얼 가이드, KV, 퍼포 소재 레이아웃</vt:lpstr>
      <vt:lpstr>올더베러 제품 기준 LMF 테스트 : 위닝 메시지 발굴</vt:lpstr>
      <vt:lpstr>퍼포 매체 활용 방안</vt:lpstr>
      <vt:lpstr>올영 인앱 광고</vt:lpstr>
      <vt:lpstr>CRM 카카오 플친</vt:lpstr>
      <vt:lpstr>PowerPoint 프레젠테이션</vt:lpstr>
      <vt:lpstr>6개월 운영 로드맵 : 9월에 만들고, 11-12월에 다시 키운다</vt:lpstr>
      <vt:lpstr>KPI &amp; Budget</vt:lpstr>
      <vt:lpstr>심의 대응 체계</vt:lpstr>
      <vt:lpstr>성과 리포팅 솔루션</vt:lpstr>
      <vt:lpstr>올영PB TF 인력 구성</vt:lpstr>
      <vt:lpstr>PowerPoint 프레젠테이션</vt:lpstr>
      <vt:lpstr>올더베러 캠페인 구조 전체 한판 요약 정리</vt:lpstr>
      <vt:lpstr>BAT가 잘할 수 있는 이유 : 추가 레퍼런스 제시</vt:lpstr>
      <vt:lpstr>PowerPoint 프레젠테이션</vt:lpstr>
      <vt:lpstr>PowerPoint 프레젠테이션</vt:lpstr>
      <vt:lpstr>PowerPoint 프레젠테이션</vt:lpstr>
      <vt:lpstr>PowerPoint 프레젠테이션</vt:lpstr>
      <vt:lpstr>타이틀 타이틀</vt:lpstr>
      <vt:lpstr>타이틀 타이틀</vt:lpstr>
      <vt:lpstr>타이틀 타이틀</vt:lpstr>
      <vt:lpstr>타이틀 타이틀</vt:lpstr>
      <vt:lpstr>요약 타이틀 요약 타이틀</vt:lpstr>
      <vt:lpstr>요약 타이틀 요약 타이틀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 창현</dc:creator>
  <cp:lastModifiedBy>안 창현</cp:lastModifiedBy>
  <cp:revision>37</cp:revision>
  <dcterms:created xsi:type="dcterms:W3CDTF">2024-02-22T09:08:38Z</dcterms:created>
  <dcterms:modified xsi:type="dcterms:W3CDTF">2026-06-11T02:24:42Z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0x010100F188254A4831924E9E526FF0216D0FCE</vt:lpwstr>
  </property>
</Properties>
</file>