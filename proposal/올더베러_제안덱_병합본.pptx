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6"/>
  </p:notesMasterIdLst>
  <p:sldIdLst>
    <p:sldId id="447" r:id="rId5"/>
    <p:sldId id="444" r:id="rId6"/>
    <p:sldId id="465" r:id="rId7"/>
    <p:sldId id="466" r:id="rId8"/>
    <p:sldId id="462" r:id="rId9"/>
    <p:sldId id="463" r:id="rId10"/>
    <p:sldId id="468" r:id="rId11"/>
    <p:sldId id="469" r:id="rId12"/>
    <p:sldId id="471" r:id="rId13"/>
    <p:sldId id="467" r:id="rId14"/>
    <p:sldId id="470" r:id="rId15"/>
    <p:sldId id="472" r:id="rId16"/>
    <p:sldId id="474" r:id="rId17"/>
    <p:sldId id="473" r:id="rId18"/>
    <p:sldId id="475" r:id="rId19"/>
    <p:sldId id="476" r:id="rId20"/>
    <p:sldId id="477" r:id="rId21"/>
    <p:sldId id="478" r:id="rId22"/>
    <p:sldId id="480" r:id="rId23"/>
    <p:sldId id="481" r:id="rId24"/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503" r:id="rId33"/>
    <p:sldId id="2147483638" r:id="rId34"/>
    <p:sldId id="479" r:id="rId35"/>
    <p:sldId id="482" r:id="rId36"/>
    <p:sldId id="483" r:id="rId37"/>
    <p:sldId id="492" r:id="rId38"/>
    <p:sldId id="493" r:id="rId39"/>
    <p:sldId id="496" r:id="rId40"/>
    <p:sldId id="494" r:id="rId41"/>
    <p:sldId id="495" r:id="rId42"/>
    <p:sldId id="497" r:id="rId43"/>
    <p:sldId id="498" r:id="rId44"/>
    <p:sldId id="499" r:id="rId45"/>
    <p:sldId id="500" r:id="rId46"/>
    <p:sldId id="2147483639" r:id="rId47"/>
    <p:sldId id="2147483640" r:id="rId48"/>
    <p:sldId id="2147483641" r:id="rId49"/>
    <p:sldId id="2147483642" r:id="rId50"/>
    <p:sldId id="2147483643" r:id="rId51"/>
    <p:sldId id="2147483644" r:id="rId52"/>
    <p:sldId id="2147483645" r:id="rId53"/>
    <p:sldId id="2147483646" r:id="rId54"/>
    <p:sldId id="2147483647" r:id="rId55"/>
    <p:sldId id="484" r:id="rId56"/>
    <p:sldId id="502" r:id="rId57"/>
    <p:sldId id="485" r:id="rId58"/>
    <p:sldId id="486" r:id="rId59"/>
    <p:sldId id="487" r:id="rId60"/>
    <p:sldId id="488" r:id="rId61"/>
    <p:sldId id="489" r:id="rId62"/>
    <p:sldId id="490" r:id="rId63"/>
    <p:sldId id="491" r:id="rId64"/>
    <p:sldId id="366" r:id="rId65"/>
    <p:sldId id="364" r:id="rId66"/>
    <p:sldId id="356" r:id="rId67"/>
    <p:sldId id="445" r:id="rId68"/>
    <p:sldId id="358" r:id="rId69"/>
    <p:sldId id="264" r:id="rId70"/>
    <p:sldId id="302" r:id="rId71"/>
    <p:sldId id="303" r:id="rId72"/>
    <p:sldId id="360" r:id="rId73"/>
    <p:sldId id="361" r:id="rId74"/>
    <p:sldId id="269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/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2147483639"/>
            <p14:sldId id="2147483640"/>
            <p14:sldId id="2147483641"/>
            <p14:sldId id="2147483642"/>
            <p14:sldId id="2147483643"/>
            <p14:sldId id="2147483644"/>
            <p14:sldId id="2147483645"/>
            <p14:sldId id="2147483646"/>
            <p14:sldId id="2147483647"/>
            <p14:sldId id="484"/>
            <p14:sldId id="502"/>
            <p14:sldId id="485"/>
            <p14:sldId id="486"/>
            <p14:sldId id="487"/>
            <p14:sldId id="488"/>
            <p14:sldId id="489"/>
            <p14:sldId id="490"/>
            <p14:sldId id="491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111"/>
    <a:srgbClr val="FEFFA1"/>
    <a:srgbClr val="181800"/>
    <a:srgbClr val="A9E5E6"/>
    <a:srgbClr val="3AB8B4"/>
    <a:srgbClr val="5FD0CE"/>
    <a:srgbClr val="3BB9B5"/>
    <a:srgbClr val="C5EDDE"/>
    <a:srgbClr val="67D3AF"/>
    <a:srgbClr val="E1F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9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lang="ko-KR" altLang="en-US" sz="1600" b="1" spc="-100" dirty="0">
                <a:solidFill>
                  <a:schemeClr val="bg1"/>
                </a:solidFill>
                <a:latin typeface="Pretendard"/>
                <a:ea typeface="Pretendard"/>
              </a:rPr>
              <a:t>매출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87872"/>
                </a:solidFill>
                <a:latin typeface="맑은 고딕"/>
              </a:rPr>
              <a:t>우리가 올리브영에서 직접 만든 성과 — 매체·데이터·크리에이티브·시딩 네 역량 모두 올더베러에 그대로 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매체 · 퍼포먼스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올영세일 운영·타겟·IP 매체로 ROAS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95728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487168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메타 CPM 위기 대응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고CPM OFF→구매잠재(기프트카드·쿠폰)·어드밴티지 재구성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12592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12592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249168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CPM 210,158→12,033원 · ROAS 324→515%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79519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870959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사전 캠페인 목표 검증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장바구니 vs 구매 목표 동시 운영·연계 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96384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96384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4632960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본행사 장바구니 ROAS 1,180% vs 구매 699%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3312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5254751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IP·모델 맞춤 매체 발굴 (브링그린·컬러그램)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X 커스텀라이크+GFA / 인스티즈 신규 발굴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검색 9K→140K(15배) · 인스티즈 노출 733만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0984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데이터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리뷰·VOC를 직접 수집·분석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올리브영 VOC 리뷰 크롤링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기존 리스닝 툴로 구매자 리뷰 맥락·진정성 파악 한계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파이썬 크롤러 자체 개발 + R 빈도·키워드 분석, ‘상황·목적’ 중심 분류 → 검색·SNS·리뷰 연계 종합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VOC 딥다이브 대시보드(히어로 3종·리뷰 1,104건)로 이미 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00984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00984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47288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올영 타 브랜드 추가 리포트 요청 연쇄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크리에이티브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감도 × 성과를 잇는 소재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2395728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2487168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‘써먹히는’ 소재 가이드 (브링그린·웨이크메이크)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감도 vs 성과 기준 모호 → 컨펌 지연·QC 혼선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목적 중심 분류(USP형/프로모션형)+비주얼 키워드화(CLEAN·COOL·DYNAMIC)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3904487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4768" y="3904487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941063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빅&amp;스몰웨이브 실행 구조로 정착·내부 공유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471416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4562856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웨이크메이크 산리오 콜라보 스프레이AI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3~40개 브랜드 동시 콜라보·색조 경쟁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맞춤 크리에이터+스프레이AI·메타 파트너십·틱톡 미러링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4768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파트너십 ROAS 127→356→589% · CPC -38%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88552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34856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인플루언서 · 시딩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맞춤 크리에이터·시딩으로 바이럴·전환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88552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34856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바이오힐 보(US) 시딩 콘텐츠 기획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B&amp;A 컷 확보 불가(인플 대부분 20대)·짧은 일정 내 바이럴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‘노인 필터’ 역발상+감정 트리거 자막, 나노 인플·실시간 QC·부정댓글 모니터링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마이크로/나노 시딩 앵글·역발상 훅 설계에 적용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8552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8552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34856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틱톡 75만 뷰 · CPV 3원(업계 1/5) · 공유 601건</a:t>
            </a:r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시딩 콘텐츠 앵글 — VOC 기반 설계 원칙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리뷰 1,104건 딥다이브 · ‘소비자가 이미 하는 말’을 후킹으로 · 식품 분류별 심의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492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① VOC 빈도 = 공감 확률 — 리뷰에 자주 나온 말을 그대로 훅으로 사용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② 식품 분류별 표현 필터링 우선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일반식품(올리브오일·멜라나잇·콜라겐 구미): 건강·기능 효능 표현 일체 불가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건강기능식품 구미(루테인·바나바잎 등): 인정받은 기능성 문구 안에서만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③ 공통 약점 방어 — ‘효과 미체감’·‘가격/할인 의존’을 루틴·기대치 관리로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VOC 진단 — 3트랙 전략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920240"/>
          <a:ext cx="4526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제품(전략)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재구매율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핵심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 (캐시카우)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24.1%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편의 55% / 목넘김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웰니스 구미 (이탈 방어)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9.6%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 50.7% / 호불호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스틱 (맛 개선)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16.2%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별점 4.65 / 불호 70%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526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✅ 살릴 점: ‘먹기 편한 건기식’·캡슐 가성비/충성·데일리 루틴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07070"/>
                </a:solidFill>
                <a:latin typeface="맑은 고딕"/>
              </a:rPr>
              <a:t>⚠️ 막을 점: 효과 미체감(섭취 타이밍 가이드)·맛 호불호(소용량/샘플)·가격 의존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제품별 릴스 컨셉 8종 — 한눈에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성공 훅 = 명확한 타겟 × 구체적 상황 × 반전/팩트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808768"/>
              </p:ext>
            </p:extLst>
          </p:nvPr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챌린지 → 캡슐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“내 눈 24시간 근무 중인데…”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식후 디저트처럼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“밥 먹고 나면 꼭 단 게 당기죠?”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자기 전 무드 리추얼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“불 끄기 전, 나만의 마무리 한 알”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“단 거 당기는데 죄책감은 싫고”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가방에 쏙, 출근길 한 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“요즘 가방에 꼭 챙기는 거 하나”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“</a:t>
                      </a:r>
                      <a:r>
                        <a:rPr lang="ko-KR" alt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오일에서는 역시 오일 맛이 </a:t>
                      </a:r>
                      <a:r>
                        <a:rPr lang="ko-KR" altLang="en-US" sz="950" b="0" dirty="0" err="1">
                          <a:solidFill>
                            <a:srgbClr val="333333"/>
                          </a:solidFill>
                          <a:latin typeface="맑은 고딕"/>
                        </a:rPr>
                        <a:t>나야죠</a:t>
                      </a:r>
                      <a:r>
                        <a:rPr lang="en-US" altLang="ko-KR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"</a:t>
                      </a:r>
                      <a:endParaRPr sz="950" b="0" dirty="0">
                        <a:solidFill>
                          <a:srgbClr val="333333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VOC 키워드를 후킹으로 사용 · 식품 분류별 심의 가드 + 풀 대본/자막 타임코드 보유(부록)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캡슐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효능 표현 금지(원료·맛·편의만) · 캐시카우 충성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생올리브오일 챌린지 → 캡슐 반전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15초·Before/After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한 입 → ‘윽’ 리액션 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2–6s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자막 ‘몸에 좋다길래 생으로… 너무 매워 😵’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6–11s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‘이걸 캡슐로?’ 한 포 물과 함께 슉, 표정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11–15s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아침 식탁 루틴 + 제품 클로즈업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364992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‘엑스트라 버진 올리브오일을 한 포 캡슐로’ 원료·맛·편의만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‘알약 잘 못 먹는 사람용’ 목넘김 실연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12초·공감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‘알약만 먹으면 목에 걸리는 사람… 저요 🙋’ (VOC 29%)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 표면 클로즈업 → 물과 함께 ASMR ‘매끄러워서 슉’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개별포장 ‘들고 다니기도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단점1위 목넘김 32.6% 솔직 인정 → ‘매끄럽다’ 실연(과장 ❌)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(건강기능식품)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인정 기능성 문구 ‘그대로’만 · 효과 암시·체험 단정 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건기식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모니터 앞 직장인의 눈 챙기기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건기식·루테인 · 15초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모니터·폰 일상 타임랩스 ‘내 눈 24시간 근무 중 👀’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책상 위 구미 톡, 맛있게 ‘맛은 거의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성분 자막 + 유료광고 표시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‘루테인은 눈 건강에 도움을 줄 수 있어요’ 인정문구 그대로 · ‘눈 좋아진다’ 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식후 디저트처럼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건기식·바나바잎 · 15초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식사 마무리 ‘밥 먹고 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3–9s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 ASMR + 인정 기능성 자막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9–15s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‘식후 루틴’ + 표시광고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‘식후 혈당상승 억제에 도움’ · ‘혈당 낮춤/당뇨’ 질병·치료 표방 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(일반식품)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효능 표현 전면 배제 · 무드·맛·간식 대체 앵글만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C. 자기 전 무드 리추얼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일반식품·멜라나잇 · 12초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조명 끄고 침대 정돈 (무드 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젤리 입에 쏙 ‘오늘 하루 마무리’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불 끄는 컷으로 마무리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★ 심의: 수면·숙면·잠 표현 전면 금지 — ‘자기 전 리추얼·달달한 마무리’ 무드/맛만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D. 디저트 대신 한 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일반식품·콜라겐 · 12초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달달한 거 당기는 순간 ‘디저트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맛·식감 ASMR ‘간식처럼 챙겨 먹는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가방·파우치에서 꺼내는 휴대 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피부·주름·탄력 효능 금지 — 맛·간식 대체·휴대 앵글만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스틱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휴대·원료·편의 · 맛 불호 69.8% 선제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가방에 쏙, 출근길 한 포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12초·휴대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파우치에서 스틱 발견 ‘가방에 꼭 챙기는 것 👜’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톡 따서 한 포 ‘한 포 휴대 간편’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‘엑스트라 버진 올리브오일을 이렇게’ 원료 자막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원료명·휴대·편의만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오일 맛 솔직 리뷰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15초·내돈내산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467993"/>
              </p:ext>
            </p:extLst>
          </p:nvPr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0–4s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</a:t>
                      </a:r>
                      <a:r>
                        <a:rPr lang="ko-KR" alt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건강한 올리브 오일 맛 아시나요</a:t>
                      </a:r>
                      <a:r>
                        <a:rPr lang="en-US" altLang="ko-KR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?!”</a:t>
                      </a:r>
                      <a:endParaRPr sz="900" b="0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4–10s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차갑게/물과 함께 먹는 섭취 팁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10–15s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‘이 맛 OK</a:t>
                      </a:r>
                      <a:r>
                        <a:rPr 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,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휴대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진짜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편함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맛 약점 먼저 인정 → 신뢰 확보 → 섭취 팁 전환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심의 가드 &amp; 표현 치환표 (❌ → ✅)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식품 분류별 표현 규칙 · 위험 표현을 안전 표현으로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08760"/>
          <a:ext cx="11292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❌ 위험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✅ 안전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캡슐·스틱(일반)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혈관에 좋은 올리브오일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엑스트라 버진 올리브오일을 한 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구미·멜라나잇(일반)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숙면 젤리 / 잠 잘 오는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자기 전 리추얼 / 하루 마무리 젤리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피부·주름 콜라겐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디저트 대신 챙기는 젤리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구미·루테인(건기식)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눈이 좋아지는 / 덜 침침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루테인, 눈 건강에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구미·바나바잎(건기식)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혈당 낮춰주는 / 당뇨에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식후 혈당상승 억제에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일반식품(올리브오일·멜라나잇·콜라겐):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건기식 구미(루테인·바나바잎): 인정 기능성 문구 그대로만, 의약품 오인·과장·체험 단정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· ‘효과 미체감’ 방어: ‘꾸준히’ 표현 OK, 효과 보장·단정은 금지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공통 심의 · 표시광고 체크리스트 (인스타그램)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송출 전 필수 점검 · 건기식 컨셉은 자율심의+법무/RA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708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유료광고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/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자막+음성+캡션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모두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광고·유료광고·협찬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명시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인스타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파트너십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태그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공정위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추천·보증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심사지침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일반식품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올리브오일·멜라나잇·콜라겐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질병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예방·치료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신체기능·건강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효능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전면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건기식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구미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루테인·바나바잎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기능성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문구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그대로만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의약품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오인·과장·체험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단정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한국건강기능식품협회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자율심의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권고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미체감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방어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꾸준히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OK, 단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보장·단정은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☑ 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건강기능식품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컨셉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루테인·바나바잎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)은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송출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전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한국건강기능식품협회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자율심의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및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법무·RA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검토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707070"/>
                </a:solidFill>
                <a:latin typeface="맑은 고딕"/>
              </a:rPr>
              <a:t>→ AI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심의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가이드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검증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봇으로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사전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필터링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(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반려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↓·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기간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단축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) 후, 위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체크리스트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최종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점검</a:t>
            </a:r>
            <a:endParaRPr sz="1200" b="1" dirty="0">
              <a:solidFill>
                <a:srgbClr val="70707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074920" cy="841248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87872"/>
                </a:solidFill>
                <a:latin typeface="맑은 고딕"/>
              </a:rPr>
              <a:t>PROBLEM  · 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2"/>
                </a:solidFill>
                <a:latin typeface="맑은 고딕"/>
              </a:rPr>
              <a:t>팔리는데 기억되지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브랜드 검색 월 3천 · 시그니처 키워드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627632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605272" cy="84124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4B4AC"/>
                </a:solidFill>
                <a:latin typeface="맑은 고딕"/>
              </a:rPr>
              <a:t>STRATEGY  · 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3035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‘우연 → 의도’ 각인  ·  시그니처 키워드 「채움」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75104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E2E2DB"/>
                </a:solidFill>
                <a:latin typeface="맑은 고딕"/>
              </a:rPr>
              <a:t>EAT — 매일(Everyday) · 쉽게(Accessible) · 맛있게(Tasty)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40864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373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14016"/>
            <a:ext cx="1463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4B4AC"/>
                </a:solidFill>
                <a:latin typeface="맑은 고딕"/>
              </a:rPr>
              <a:t>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377440"/>
            <a:ext cx="9692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7월 중 올영 카테고리 랭킹 1위 달성  →  9·12월 올영세일 확대  →  웰니스 대표 PB 브랜드 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12745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73734"/>
                </a:solidFill>
                <a:latin typeface="맑은 고딕"/>
              </a:rPr>
              <a:t>ENGINE   ·   SEED → PROVE → BOOST → RETAIN   (시딩–콘텐츠–퍼포 연결)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경험·후기 생산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마이크로/나노 시딩 (월 대량)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챌린저스 · KOL 무가시딩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EGC · 제품 콘텐츠 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82696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9896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6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선택 근거 증명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82696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리뷰·해시태그·UGC 축적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커뮤니티 체험단(탑)·파워페이지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네이버 블로그 SEO·검색 자산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15584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8192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BOOST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전환 증폭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퍼포 매체 (PA·올영 인앱)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LMF 위닝 소재 · 어필리에이트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올영세일 집중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33688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61704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RETAIN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13848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재구매·확장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33688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9992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CRM(플친)·루틴 리마인드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위닝 소재 재활용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라인 확장 (크로스셀)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38928"/>
            <a:ext cx="1127455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6개월 운영 · 1·2차 웨이브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7월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착수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4635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265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9265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웨이브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355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18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18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피크·세일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246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09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10월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09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유지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380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6010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010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★2차·블프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029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 피크·세일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브랜드 검색량 3,000 → 10,000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73552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73552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랭킹 1위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9904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9904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시그니처 키워드 노출률 90%+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06256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06256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예산 2.5억 (퍼포 별첨)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455664"/>
            <a:ext cx="11274552" cy="329184"/>
          </a:xfrm>
          <a:prstGeom prst="roundRect">
            <a:avLst>
              <a:gd name="adj" fmla="val 20000"/>
            </a:avLst>
          </a:prstGeom>
          <a:solidFill>
            <a:srgbClr val="F1F0E6"/>
          </a:solidFill>
          <a:ln w="1524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차별점   웰니스 심의 다이나믹스 대응 + AI 심의 가이드 검증  ·  콘텐츠 × 퍼포먼스 × 운영을 하나의 구매 흐름으로 설계 = BAT</a:t>
            </a:r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279185"/>
              </p:ext>
            </p:extLst>
          </p:nvPr>
        </p:nvGraphicFramePr>
        <p:xfrm>
          <a:off x="472441" y="960120"/>
          <a:ext cx="11247118" cy="559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28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14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  <a:endParaRPr sz="950" b="1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95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 dirty="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63569"/>
              </p:ext>
            </p:extLst>
          </p:nvPr>
        </p:nvGraphicFramePr>
        <p:xfrm>
          <a:off x="563880" y="960120"/>
          <a:ext cx="11064240" cy="5377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9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</a:t>
                      </a:r>
                      <a:r>
                        <a:rPr sz="1000" b="1" dirty="0">
                          <a:solidFill>
                            <a:srgbClr val="111111"/>
                          </a:solidFill>
                          <a:latin typeface="맑은 고딕"/>
                        </a:rPr>
                        <a:t>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chemeClr val="bg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dirty="0" err="1">
                <a:solidFill>
                  <a:schemeClr val="bg1"/>
                </a:solidFill>
                <a:latin typeface="맑은 고딕"/>
              </a:rPr>
              <a:t>유지</a:t>
            </a:r>
            <a:r>
              <a:rPr lang="en-US" sz="1200" b="1" dirty="0">
                <a:solidFill>
                  <a:schemeClr val="bg1"/>
                </a:solidFill>
                <a:latin typeface="맑은 고딕"/>
              </a:rPr>
              <a:t>-</a:t>
            </a:r>
            <a:r>
              <a:rPr lang="ko-KR" altLang="en-US" sz="1200" b="1" dirty="0">
                <a:solidFill>
                  <a:schemeClr val="bg1"/>
                </a:solidFill>
                <a:latin typeface="맑은 고딕"/>
              </a:rPr>
              <a:t>확산</a:t>
            </a:r>
            <a:endParaRPr sz="12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5309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1 (7~9월)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빠른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반응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확보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일반식품·심의불필요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선행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+ 8·9월 1차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전환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2 (10~12월)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확장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11·12월 2차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블프·올영세일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)로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착지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콘텐츠·이미지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소재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LMF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테스트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→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위닝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메시지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선별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일반식품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즉시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라이브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파이프라인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착수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(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가이드→섭외→콘티→접수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가동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검색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선점</a:t>
            </a:r>
            <a:r>
              <a:rPr lang="en-US" sz="1350" dirty="0">
                <a:solidFill>
                  <a:srgbClr val="333333"/>
                </a:solidFill>
                <a:latin typeface="맑은 고딕"/>
              </a:rPr>
              <a:t> / </a:t>
            </a: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프로세스 확립 및 구동 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110건) 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합류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파워페이지·커뮤니티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네이버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완료분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업로드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‘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1위’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플레이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가동 및 수량 누적 증대</a:t>
            </a:r>
            <a:endParaRPr lang="en-US" altLang="ko-KR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EGC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콘텐츠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: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구매 전환 최적화 콘텐츠 소재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재확대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90건)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매크로·체험단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재가동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프로모션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연계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RTB+혜택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결합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·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신뢰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자산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보강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333333"/>
                </a:solidFill>
                <a:latin typeface="맑은 고딕"/>
              </a:rPr>
              <a:t>“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웰니스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카테고리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착지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12월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—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라인업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100건)·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쟁임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재구매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CRM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피크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87299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9354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839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3468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377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7845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5805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34076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7727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62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63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22878</TotalTime>
  <Words>4393</Words>
  <Application>Microsoft Office PowerPoint</Application>
  <PresentationFormat>와이드스크린</PresentationFormat>
  <Paragraphs>970</Paragraphs>
  <Slides>71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2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USER</cp:lastModifiedBy>
  <cp:revision>38</cp:revision>
  <dcterms:created xsi:type="dcterms:W3CDTF">2024-02-22T09:08:38Z</dcterms:created>
  <dcterms:modified xsi:type="dcterms:W3CDTF">2026-06-14T11:38:11Z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