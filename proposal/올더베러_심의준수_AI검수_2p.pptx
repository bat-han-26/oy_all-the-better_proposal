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B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515600" cy="256032"/>
          </a:xfrm>
          <a:prstGeom prst="rect">
            <a:avLst/>
          </a:prstGeom>
          <a:noFill/>
        </p:spPr>
        <p:txBody>
          <a:bodyPr wrap="square" anchor="t" lIns="38100" rIns="38100" tIns="12700" bIns="12700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787872"/>
                </a:solidFill>
                <a:latin typeface="맑은 고딕"/>
              </a:rPr>
              <a:t>03 심의·표시광고 준수 체계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30352"/>
            <a:ext cx="11247120" cy="548640"/>
          </a:xfrm>
          <a:prstGeom prst="rect">
            <a:avLst/>
          </a:prstGeom>
          <a:noFill/>
        </p:spPr>
        <p:txBody>
          <a:bodyPr wrap="square" anchor="t" lIns="38100" rIns="38100" tIns="12700" bIns="12700">
            <a:spAutoFit/>
          </a:bodyPr>
          <a:lstStyle/>
          <a:p>
            <a:pPr algn="l">
              <a:spcAft>
                <a:spcPts val="200"/>
              </a:spcAft>
            </a:pPr>
            <a:r>
              <a:rPr sz="2600" b="1">
                <a:solidFill>
                  <a:srgbClr val="141412"/>
                </a:solidFill>
                <a:latin typeface="맑은 고딕"/>
              </a:rPr>
              <a:t>심의 리스크는 ‘앞단’에서 차단합니다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11247120" cy="310896"/>
          </a:xfrm>
          <a:prstGeom prst="rect">
            <a:avLst/>
          </a:prstGeom>
          <a:noFill/>
        </p:spPr>
        <p:txBody>
          <a:bodyPr wrap="square" anchor="t" lIns="38100" rIns="38100" tIns="12700" bIns="1270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373734"/>
                </a:solidFill>
                <a:latin typeface="맑은 고딕"/>
              </a:rPr>
              <a:t>BAT는 식품·건기식 심의 가이드를 준수하고, 송출 前 Claude AI로 1차 검수합니다.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463040"/>
            <a:ext cx="11274552" cy="27432"/>
          </a:xfrm>
          <a:prstGeom prst="rect">
            <a:avLst/>
          </a:prstGeom>
          <a:solidFill>
            <a:srgbClr val="1414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" y="1627632"/>
            <a:ext cx="11274552" cy="512064"/>
          </a:xfrm>
          <a:prstGeom prst="roundRect">
            <a:avLst>
              <a:gd name="adj" fmla="val 10000"/>
            </a:avLst>
          </a:prstGeom>
          <a:solidFill>
            <a:srgbClr val="1414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627632"/>
            <a:ext cx="11274552" cy="512064"/>
          </a:xfrm>
          <a:prstGeom prst="rect">
            <a:avLst/>
          </a:prstGeom>
          <a:noFill/>
        </p:spPr>
        <p:txBody>
          <a:bodyPr wrap="square" anchor="ctr" lIns="38100" rIns="38100" tIns="12700" bIns="12700">
            <a:spAutoFit/>
          </a:bodyPr>
          <a:lstStyle/>
          <a:p>
            <a:pPr algn="ctr">
              <a:spcAft>
                <a:spcPts val="200"/>
              </a:spcAft>
            </a:pPr>
            <a:r>
              <a:rPr sz="1550" b="1">
                <a:solidFill>
                  <a:srgbClr val="FFFFFF"/>
                </a:solidFill>
                <a:latin typeface="맑은 고딕"/>
              </a:rPr>
              <a:t>콘텐츠 송출 前, Claude AI가 먼저 읽습니다 — 사람이 놓치는 위험 표현을 앞단에서 거릅니다.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340864"/>
            <a:ext cx="10058400" cy="274320"/>
          </a:xfrm>
          <a:prstGeom prst="rect">
            <a:avLst/>
          </a:prstGeom>
          <a:noFill/>
        </p:spPr>
        <p:txBody>
          <a:bodyPr wrap="square" anchor="t" lIns="38100" rIns="38100" tIns="12700" bIns="1270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41412"/>
                </a:solidFill>
                <a:latin typeface="맑은 고딕"/>
              </a:rPr>
              <a:t>Claude AI 사전 검수 워크플로우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2670048"/>
            <a:ext cx="2679192" cy="457200"/>
          </a:xfrm>
          <a:prstGeom prst="roundRect">
            <a:avLst>
              <a:gd name="adj" fmla="val 14000"/>
            </a:avLst>
          </a:prstGeom>
          <a:solidFill>
            <a:srgbClr val="1414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85216" y="2715768"/>
            <a:ext cx="457200" cy="365760"/>
          </a:xfrm>
          <a:prstGeom prst="rect">
            <a:avLst/>
          </a:prstGeom>
          <a:noFill/>
        </p:spPr>
        <p:txBody>
          <a:bodyPr wrap="square" anchor="ctr" lIns="38100" rIns="38100" tIns="12700" bIns="12700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B0B0A8"/>
                </a:solidFill>
                <a:latin typeface="맑은 고딕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4128" y="2715768"/>
            <a:ext cx="2039112" cy="365760"/>
          </a:xfrm>
          <a:prstGeom prst="rect">
            <a:avLst/>
          </a:prstGeom>
          <a:noFill/>
        </p:spPr>
        <p:txBody>
          <a:bodyPr wrap="square" anchor="ctr" lIns="38100" rIns="38100" tIns="12700" bIns="12700">
            <a:spAutoFit/>
          </a:bodyPr>
          <a:lstStyle/>
          <a:p>
            <a:pPr algn="l">
              <a:spcAft>
                <a:spcPts val="200"/>
              </a:spcAft>
            </a:pPr>
            <a:r>
              <a:rPr sz="1150" b="1">
                <a:solidFill>
                  <a:srgbClr val="FFFFFF"/>
                </a:solidFill>
                <a:latin typeface="맑은 고딕"/>
              </a:rPr>
              <a:t>대본·자막·캡션 입력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3127248"/>
            <a:ext cx="2679192" cy="12984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2222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3504" y="3236976"/>
            <a:ext cx="2404872" cy="1115568"/>
          </a:xfrm>
          <a:prstGeom prst="rect">
            <a:avLst/>
          </a:prstGeom>
          <a:noFill/>
        </p:spPr>
        <p:txBody>
          <a:bodyPr wrap="square" anchor="t" lIns="38100" rIns="38100" tIns="12700" bIns="12700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373734"/>
                </a:solidFill>
                <a:latin typeface="맑은 고딕"/>
              </a:rPr>
              <a:t>릴스/쇼츠 대본, 자막 타임코드, 캡션·해시태그를 검수 큐에 등록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80944" y="3538728"/>
            <a:ext cx="457200" cy="365760"/>
          </a:xfrm>
          <a:prstGeom prst="rect">
            <a:avLst/>
          </a:prstGeom>
          <a:noFill/>
        </p:spPr>
        <p:txBody>
          <a:bodyPr wrap="square" anchor="ctr" lIns="38100" rIns="38100" tIns="12700" bIns="12700">
            <a:spAutoFit/>
          </a:bodyPr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141412"/>
                </a:solidFill>
                <a:latin typeface="맑은 고딕"/>
              </a:rPr>
              <a:t>▶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282696" y="2670048"/>
            <a:ext cx="2679192" cy="457200"/>
          </a:xfrm>
          <a:prstGeom prst="roundRect">
            <a:avLst>
              <a:gd name="adj" fmla="val 14000"/>
            </a:avLst>
          </a:prstGeom>
          <a:solidFill>
            <a:srgbClr val="1414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410712" y="2715768"/>
            <a:ext cx="457200" cy="365760"/>
          </a:xfrm>
          <a:prstGeom prst="rect">
            <a:avLst/>
          </a:prstGeom>
          <a:noFill/>
        </p:spPr>
        <p:txBody>
          <a:bodyPr wrap="square" anchor="ctr" lIns="38100" rIns="38100" tIns="12700" bIns="12700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B0B0A8"/>
                </a:solidFill>
                <a:latin typeface="맑은 고딕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49624" y="2715768"/>
            <a:ext cx="2039112" cy="365760"/>
          </a:xfrm>
          <a:prstGeom prst="rect">
            <a:avLst/>
          </a:prstGeom>
          <a:noFill/>
        </p:spPr>
        <p:txBody>
          <a:bodyPr wrap="square" anchor="ctr" lIns="38100" rIns="38100" tIns="12700" bIns="12700">
            <a:spAutoFit/>
          </a:bodyPr>
          <a:lstStyle/>
          <a:p>
            <a:pPr algn="l">
              <a:spcAft>
                <a:spcPts val="200"/>
              </a:spcAft>
            </a:pPr>
            <a:r>
              <a:rPr sz="1150" b="1">
                <a:solidFill>
                  <a:srgbClr val="FFFFFF"/>
                </a:solidFill>
                <a:latin typeface="맑은 고딕"/>
              </a:rPr>
              <a:t>Claude AI 1차 스크리닝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282696" y="3127248"/>
            <a:ext cx="2679192" cy="12984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2222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429000" y="3236976"/>
            <a:ext cx="2404872" cy="1115568"/>
          </a:xfrm>
          <a:prstGeom prst="rect">
            <a:avLst/>
          </a:prstGeom>
          <a:noFill/>
        </p:spPr>
        <p:txBody>
          <a:bodyPr wrap="square" anchor="t" lIns="38100" rIns="38100" tIns="12700" bIns="12700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373734"/>
                </a:solidFill>
                <a:latin typeface="맑은 고딕"/>
              </a:rPr>
              <a:t>제품 분류(일반식품/건기식) 자동 분기 → 효능·과장·질병 표현 자동 탐지·플래그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806440" y="3538728"/>
            <a:ext cx="457200" cy="365760"/>
          </a:xfrm>
          <a:prstGeom prst="rect">
            <a:avLst/>
          </a:prstGeom>
          <a:noFill/>
        </p:spPr>
        <p:txBody>
          <a:bodyPr wrap="square" anchor="ctr" lIns="38100" rIns="38100" tIns="12700" bIns="12700">
            <a:spAutoFit/>
          </a:bodyPr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141412"/>
                </a:solidFill>
                <a:latin typeface="맑은 고딕"/>
              </a:rPr>
              <a:t>▶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08192" y="2670048"/>
            <a:ext cx="2679192" cy="457200"/>
          </a:xfrm>
          <a:prstGeom prst="roundRect">
            <a:avLst>
              <a:gd name="adj" fmla="val 14000"/>
            </a:avLst>
          </a:prstGeom>
          <a:solidFill>
            <a:srgbClr val="1414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36208" y="2715768"/>
            <a:ext cx="457200" cy="365760"/>
          </a:xfrm>
          <a:prstGeom prst="rect">
            <a:avLst/>
          </a:prstGeom>
          <a:noFill/>
        </p:spPr>
        <p:txBody>
          <a:bodyPr wrap="square" anchor="ctr" lIns="38100" rIns="38100" tIns="12700" bIns="12700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B0B0A8"/>
                </a:solidFill>
                <a:latin typeface="맑은 고딕"/>
              </a:rP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75120" y="2715768"/>
            <a:ext cx="2039112" cy="365760"/>
          </a:xfrm>
          <a:prstGeom prst="rect">
            <a:avLst/>
          </a:prstGeom>
          <a:noFill/>
        </p:spPr>
        <p:txBody>
          <a:bodyPr wrap="square" anchor="ctr" lIns="38100" rIns="38100" tIns="12700" bIns="12700">
            <a:spAutoFit/>
          </a:bodyPr>
          <a:lstStyle/>
          <a:p>
            <a:pPr algn="l">
              <a:spcAft>
                <a:spcPts val="200"/>
              </a:spcAft>
            </a:pPr>
            <a:r>
              <a:rPr sz="1150" b="1">
                <a:solidFill>
                  <a:srgbClr val="FFFFFF"/>
                </a:solidFill>
                <a:latin typeface="맑은 고딕"/>
              </a:rPr>
              <a:t>안전 표현 치환 제안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08192" y="3127248"/>
            <a:ext cx="2679192" cy="12984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2222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54496" y="3236976"/>
            <a:ext cx="2404872" cy="1115568"/>
          </a:xfrm>
          <a:prstGeom prst="rect">
            <a:avLst/>
          </a:prstGeom>
          <a:noFill/>
        </p:spPr>
        <p:txBody>
          <a:bodyPr wrap="square" anchor="t" lIns="38100" rIns="38100" tIns="12700" bIns="12700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373734"/>
                </a:solidFill>
                <a:latin typeface="맑은 고딕"/>
              </a:rPr>
              <a:t>분류별 규칙 기반으로 위험 문구 → 안전 문구 대안 제시 (근거 조항 함께)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31936" y="3538728"/>
            <a:ext cx="457200" cy="365760"/>
          </a:xfrm>
          <a:prstGeom prst="rect">
            <a:avLst/>
          </a:prstGeom>
          <a:noFill/>
        </p:spPr>
        <p:txBody>
          <a:bodyPr wrap="square" anchor="ctr" lIns="38100" rIns="38100" tIns="12700" bIns="12700">
            <a:spAutoFit/>
          </a:bodyPr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141412"/>
                </a:solidFill>
                <a:latin typeface="맑은 고딕"/>
              </a:rPr>
              <a:t>▶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933688" y="2670048"/>
            <a:ext cx="2679192" cy="457200"/>
          </a:xfrm>
          <a:prstGeom prst="roundRect">
            <a:avLst>
              <a:gd name="adj" fmla="val 14000"/>
            </a:avLst>
          </a:prstGeom>
          <a:solidFill>
            <a:srgbClr val="1414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061704" y="2715768"/>
            <a:ext cx="457200" cy="365760"/>
          </a:xfrm>
          <a:prstGeom prst="rect">
            <a:avLst/>
          </a:prstGeom>
          <a:noFill/>
        </p:spPr>
        <p:txBody>
          <a:bodyPr wrap="square" anchor="ctr" lIns="38100" rIns="38100" tIns="12700" bIns="12700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B0B0A8"/>
                </a:solidFill>
                <a:latin typeface="맑은 고딕"/>
              </a:rPr>
              <a:t>04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500616" y="2715768"/>
            <a:ext cx="2039112" cy="365760"/>
          </a:xfrm>
          <a:prstGeom prst="rect">
            <a:avLst/>
          </a:prstGeom>
          <a:noFill/>
        </p:spPr>
        <p:txBody>
          <a:bodyPr wrap="square" anchor="ctr" lIns="38100" rIns="38100" tIns="12700" bIns="12700">
            <a:spAutoFit/>
          </a:bodyPr>
          <a:lstStyle/>
          <a:p>
            <a:pPr algn="l">
              <a:spcAft>
                <a:spcPts val="200"/>
              </a:spcAft>
            </a:pPr>
            <a:r>
              <a:rPr sz="1150" b="1">
                <a:solidFill>
                  <a:srgbClr val="FFFFFF"/>
                </a:solidFill>
                <a:latin typeface="맑은 고딕"/>
              </a:rPr>
              <a:t>법무·RA 최종 검토 · 송출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933688" y="3127248"/>
            <a:ext cx="2679192" cy="12984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2222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079992" y="3236976"/>
            <a:ext cx="2404872" cy="1115568"/>
          </a:xfrm>
          <a:prstGeom prst="rect">
            <a:avLst/>
          </a:prstGeom>
          <a:noFill/>
        </p:spPr>
        <p:txBody>
          <a:bodyPr wrap="square" anchor="t" lIns="38100" rIns="38100" tIns="12700" bIns="12700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373734"/>
                </a:solidFill>
                <a:latin typeface="맑은 고딕"/>
              </a:rPr>
              <a:t>건기식은 자율심의·법무 확인까지 완료 후 송출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57200" y="4608576"/>
            <a:ext cx="2679192" cy="384048"/>
          </a:xfrm>
          <a:prstGeom prst="roundRect">
            <a:avLst>
              <a:gd name="adj" fmla="val 50000"/>
            </a:avLst>
          </a:prstGeom>
          <a:solidFill>
            <a:srgbClr val="F1F0E5"/>
          </a:solidFill>
          <a:ln w="16510">
            <a:solidFill>
              <a:srgbClr val="2222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57200" y="4654296"/>
            <a:ext cx="2679192" cy="292608"/>
          </a:xfrm>
          <a:prstGeom prst="rect">
            <a:avLst/>
          </a:prstGeom>
          <a:noFill/>
        </p:spPr>
        <p:txBody>
          <a:bodyPr wrap="square" anchor="ctr" lIns="38100" rIns="38100" tIns="12700" bIns="12700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141412"/>
                </a:solidFill>
                <a:latin typeface="맑은 고딕"/>
              </a:rPr>
              <a:t>✓  심의 반려율 ↓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282696" y="4608576"/>
            <a:ext cx="2679192" cy="384048"/>
          </a:xfrm>
          <a:prstGeom prst="roundRect">
            <a:avLst>
              <a:gd name="adj" fmla="val 50000"/>
            </a:avLst>
          </a:prstGeom>
          <a:solidFill>
            <a:srgbClr val="F1F0E5"/>
          </a:solidFill>
          <a:ln w="16510">
            <a:solidFill>
              <a:srgbClr val="2222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282696" y="4654296"/>
            <a:ext cx="2679192" cy="292608"/>
          </a:xfrm>
          <a:prstGeom prst="rect">
            <a:avLst/>
          </a:prstGeom>
          <a:noFill/>
        </p:spPr>
        <p:txBody>
          <a:bodyPr wrap="square" anchor="ctr" lIns="38100" rIns="38100" tIns="12700" bIns="12700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141412"/>
                </a:solidFill>
                <a:latin typeface="맑은 고딕"/>
              </a:rPr>
              <a:t>✓  검토 기간 단축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108192" y="4608576"/>
            <a:ext cx="2679192" cy="384048"/>
          </a:xfrm>
          <a:prstGeom prst="roundRect">
            <a:avLst>
              <a:gd name="adj" fmla="val 50000"/>
            </a:avLst>
          </a:prstGeom>
          <a:solidFill>
            <a:srgbClr val="F1F0E5"/>
          </a:solidFill>
          <a:ln w="16510">
            <a:solidFill>
              <a:srgbClr val="2222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108192" y="4654296"/>
            <a:ext cx="2679192" cy="292608"/>
          </a:xfrm>
          <a:prstGeom prst="rect">
            <a:avLst/>
          </a:prstGeom>
          <a:noFill/>
        </p:spPr>
        <p:txBody>
          <a:bodyPr wrap="square" anchor="ctr" lIns="38100" rIns="38100" tIns="12700" bIns="12700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141412"/>
                </a:solidFill>
                <a:latin typeface="맑은 고딕"/>
              </a:rPr>
              <a:t>✓  표현 일관성 확보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933688" y="4608576"/>
            <a:ext cx="2679192" cy="384048"/>
          </a:xfrm>
          <a:prstGeom prst="roundRect">
            <a:avLst>
              <a:gd name="adj" fmla="val 50000"/>
            </a:avLst>
          </a:prstGeom>
          <a:solidFill>
            <a:srgbClr val="F1F0E5"/>
          </a:solidFill>
          <a:ln w="16510">
            <a:solidFill>
              <a:srgbClr val="2222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933688" y="4654296"/>
            <a:ext cx="2679192" cy="292608"/>
          </a:xfrm>
          <a:prstGeom prst="rect">
            <a:avLst/>
          </a:prstGeom>
          <a:noFill/>
        </p:spPr>
        <p:txBody>
          <a:bodyPr wrap="square" anchor="ctr" lIns="38100" rIns="38100" tIns="12700" bIns="12700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141412"/>
                </a:solidFill>
                <a:latin typeface="맑은 고딕"/>
              </a:rPr>
              <a:t>✓  분류별 자동 분기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7200" y="5175504"/>
            <a:ext cx="10058400" cy="274320"/>
          </a:xfrm>
          <a:prstGeom prst="rect">
            <a:avLst/>
          </a:prstGeom>
          <a:noFill/>
        </p:spPr>
        <p:txBody>
          <a:bodyPr wrap="square" anchor="t" lIns="38100" rIns="38100" tIns="12700" bIns="1270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41412"/>
                </a:solidFill>
                <a:latin typeface="맑은 고딕"/>
              </a:rPr>
              <a:t>제품 분류별 심의 원칙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57200" y="5468112"/>
            <a:ext cx="5541264" cy="96926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2222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21792" y="5541264"/>
            <a:ext cx="5303520" cy="274320"/>
          </a:xfrm>
          <a:prstGeom prst="rect">
            <a:avLst/>
          </a:prstGeom>
          <a:noFill/>
        </p:spPr>
        <p:txBody>
          <a:bodyPr wrap="square" anchor="t" lIns="38100" rIns="38100" tIns="12700" bIns="12700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141412"/>
                </a:solidFill>
                <a:latin typeface="맑은 고딕"/>
              </a:rPr>
              <a:t>일반식품  </a:t>
            </a:r>
            <a:r>
              <a:rPr sz="950" b="1">
                <a:solidFill>
                  <a:srgbClr val="787872"/>
                </a:solidFill>
                <a:latin typeface="맑은 고딕"/>
              </a:rPr>
              <a:t>올리브오일 · 멜라나잇 · 콜라겐 구미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21792" y="5815584"/>
            <a:ext cx="5303520" cy="585216"/>
          </a:xfrm>
          <a:prstGeom prst="rect">
            <a:avLst/>
          </a:prstGeom>
          <a:noFill/>
        </p:spPr>
        <p:txBody>
          <a:bodyPr wrap="square" anchor="t" lIns="38100" rIns="38100" tIns="12700" bIns="12700">
            <a:spAutoFit/>
          </a:bodyPr>
          <a:lstStyle/>
          <a:p>
            <a:pPr algn="l">
              <a:spcAft>
                <a:spcPts val="200"/>
              </a:spcAft>
            </a:pPr>
            <a:r>
              <a:rPr sz="980" b="0">
                <a:solidFill>
                  <a:srgbClr val="373734"/>
                </a:solidFill>
                <a:latin typeface="맑은 고딕"/>
              </a:rPr>
              <a:t>질병 예방·치료, 신체조직·기능 효능 표현 </a:t>
            </a:r>
            <a:r>
              <a:rPr sz="980" b="1">
                <a:solidFill>
                  <a:srgbClr val="B03A2E"/>
                </a:solidFill>
                <a:latin typeface="맑은 고딕"/>
              </a:rPr>
              <a:t>전면 금지</a:t>
            </a:r>
            <a:r>
              <a:rPr sz="980" b="0">
                <a:solidFill>
                  <a:srgbClr val="373734"/>
                </a:solidFill>
                <a:latin typeface="맑은 고딕"/>
              </a:rPr>
              <a:t> → 원료·맛·편의·무드 앵글만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190488" y="5468112"/>
            <a:ext cx="5541264" cy="96926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2222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355080" y="5541264"/>
            <a:ext cx="5303520" cy="274320"/>
          </a:xfrm>
          <a:prstGeom prst="rect">
            <a:avLst/>
          </a:prstGeom>
          <a:noFill/>
        </p:spPr>
        <p:txBody>
          <a:bodyPr wrap="square" anchor="t" lIns="38100" rIns="38100" tIns="12700" bIns="12700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141412"/>
                </a:solidFill>
                <a:latin typeface="맑은 고딕"/>
              </a:rPr>
              <a:t>건강기능식품  </a:t>
            </a:r>
            <a:r>
              <a:rPr sz="950" b="1">
                <a:solidFill>
                  <a:srgbClr val="787872"/>
                </a:solidFill>
                <a:latin typeface="맑은 고딕"/>
              </a:rPr>
              <a:t>루테인 · 바나바잎 구미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355080" y="5815584"/>
            <a:ext cx="5303520" cy="585216"/>
          </a:xfrm>
          <a:prstGeom prst="rect">
            <a:avLst/>
          </a:prstGeom>
          <a:noFill/>
        </p:spPr>
        <p:txBody>
          <a:bodyPr wrap="square" anchor="t" lIns="38100" rIns="38100" tIns="12700" bIns="12700">
            <a:spAutoFit/>
          </a:bodyPr>
          <a:lstStyle/>
          <a:p>
            <a:pPr algn="l">
              <a:spcAft>
                <a:spcPts val="200"/>
              </a:spcAft>
            </a:pPr>
            <a:r>
              <a:rPr sz="980" b="0">
                <a:solidFill>
                  <a:srgbClr val="373734"/>
                </a:solidFill>
                <a:latin typeface="맑은 고딕"/>
              </a:rPr>
              <a:t>인정 기능성 문구 </a:t>
            </a:r>
            <a:r>
              <a:rPr sz="980" b="1">
                <a:solidFill>
                  <a:srgbClr val="2E5A3A"/>
                </a:solidFill>
                <a:latin typeface="맑은 고딕"/>
              </a:rPr>
              <a:t>그대로만</a:t>
            </a:r>
            <a:r>
              <a:rPr sz="980" b="0">
                <a:solidFill>
                  <a:srgbClr val="373734"/>
                </a:solidFill>
                <a:latin typeface="맑은 고딕"/>
              </a:rPr>
              <a:t> · 의약품 오인·과장·체험 단정 금지 · 자율심의 대상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57200" y="6510528"/>
            <a:ext cx="11247120" cy="274320"/>
          </a:xfrm>
          <a:prstGeom prst="rect">
            <a:avLst/>
          </a:prstGeom>
          <a:noFill/>
        </p:spPr>
        <p:txBody>
          <a:bodyPr wrap="square" anchor="t" lIns="38100" rIns="38100" tIns="12700" bIns="12700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0">
                <a:solidFill>
                  <a:srgbClr val="787872"/>
                </a:solidFill>
                <a:latin typeface="맑은 고딕"/>
              </a:rPr>
              <a:t>근거: 식품 등의 표시·광고에 관한 법률 · 한국건강기능식품협회 자율심의 · 공정위 추천·보증 심사지침(유료광고·협찬 표시)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B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515600" cy="256032"/>
          </a:xfrm>
          <a:prstGeom prst="rect">
            <a:avLst/>
          </a:prstGeom>
          <a:noFill/>
        </p:spPr>
        <p:txBody>
          <a:bodyPr wrap="square" anchor="t" lIns="38100" rIns="38100" tIns="12700" bIns="12700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787872"/>
                </a:solidFill>
                <a:latin typeface="맑은 고딕"/>
              </a:rPr>
              <a:t>03 심의·표시광고 준수 체계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30352"/>
            <a:ext cx="11247120" cy="548640"/>
          </a:xfrm>
          <a:prstGeom prst="rect">
            <a:avLst/>
          </a:prstGeom>
          <a:noFill/>
        </p:spPr>
        <p:txBody>
          <a:bodyPr wrap="square" anchor="t" lIns="38100" rIns="38100" tIns="12700" bIns="12700">
            <a:spAutoFit/>
          </a:bodyPr>
          <a:lstStyle/>
          <a:p>
            <a:pPr algn="l">
              <a:spcAft>
                <a:spcPts val="200"/>
              </a:spcAft>
            </a:pPr>
            <a:r>
              <a:rPr sz="2600" b="1">
                <a:solidFill>
                  <a:srgbClr val="141412"/>
                </a:solidFill>
                <a:latin typeface="맑은 고딕"/>
              </a:rPr>
              <a:t>표현 치환표 &amp; 송출 전 체크리스트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11247120" cy="310896"/>
          </a:xfrm>
          <a:prstGeom prst="rect">
            <a:avLst/>
          </a:prstGeom>
          <a:noFill/>
        </p:spPr>
        <p:txBody>
          <a:bodyPr wrap="square" anchor="t" lIns="38100" rIns="38100" tIns="12700" bIns="1270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373734"/>
                </a:solidFill>
                <a:latin typeface="맑은 고딕"/>
              </a:rPr>
              <a:t>위험 표현(❌)을 안전 표현(✅)으로 — Claude AI가 1차로, 사람이 최종으로 검수합니다.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463040"/>
            <a:ext cx="11274552" cy="27432"/>
          </a:xfrm>
          <a:prstGeom prst="rect">
            <a:avLst/>
          </a:prstGeom>
          <a:solidFill>
            <a:srgbClr val="1414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627632"/>
          <a:ext cx="11274551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4023360"/>
                <a:gridCol w="4050791"/>
              </a:tblGrid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</a:rPr>
                        <a:t>제품 (분류)</a:t>
                      </a:r>
                    </a:p>
                  </a:txBody>
                  <a:tcPr marL="76200" marR="63500" marT="25400" marB="25400" anchor="ctr">
                    <a:solidFill>
                      <a:srgbClr val="14141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</a:rPr>
                        <a:t>❌ 위험 표현</a:t>
                      </a:r>
                    </a:p>
                  </a:txBody>
                  <a:tcPr marL="76200" marR="63500" marT="25400" marB="25400" anchor="ctr">
                    <a:solidFill>
                      <a:srgbClr val="14141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</a:rPr>
                        <a:t>✅ 안전 표현</a:t>
                      </a:r>
                    </a:p>
                  </a:txBody>
                  <a:tcPr marL="76200" marR="63500" marT="25400" marB="25400" anchor="ctr">
                    <a:solidFill>
                      <a:srgbClr val="14141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141412"/>
                          </a:solidFill>
                          <a:latin typeface="맑은 고딕"/>
                        </a:rPr>
                        <a:t>올리브오일 캡슐·스틱 (일반)</a:t>
                      </a:r>
                    </a:p>
                  </a:txBody>
                  <a:tcPr marL="762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B03A2E"/>
                          </a:solidFill>
                          <a:latin typeface="맑은 고딕"/>
                        </a:rPr>
                        <a:t>혈관·콜레스테롤에 좋은</a:t>
                      </a:r>
                    </a:p>
                  </a:txBody>
                  <a:tcPr marL="762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2E5A3A"/>
                          </a:solidFill>
                          <a:latin typeface="맑은 고딕"/>
                        </a:rPr>
                        <a:t>엑스트라 버진 올리브오일을 한 포로</a:t>
                      </a:r>
                    </a:p>
                  </a:txBody>
                  <a:tcPr marL="76200" marR="63500" marT="25400" marB="25400" anchor="ctr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141412"/>
                          </a:solidFill>
                          <a:latin typeface="맑은 고딕"/>
                        </a:rPr>
                        <a:t>멜라나잇 구미 (일반)</a:t>
                      </a:r>
                    </a:p>
                  </a:txBody>
                  <a:tcPr marL="76200" marR="63500" marT="25400" marB="25400" anchor="ctr">
                    <a:solidFill>
                      <a:srgbClr val="F6F5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B03A2E"/>
                          </a:solidFill>
                          <a:latin typeface="맑은 고딕"/>
                        </a:rPr>
                        <a:t>숙면 젤리 / 잠 잘 오는</a:t>
                      </a:r>
                    </a:p>
                  </a:txBody>
                  <a:tcPr marL="76200" marR="63500" marT="25400" marB="25400" anchor="ctr">
                    <a:solidFill>
                      <a:srgbClr val="F6F5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2E5A3A"/>
                          </a:solidFill>
                          <a:latin typeface="맑은 고딕"/>
                        </a:rPr>
                        <a:t>자기 전 리추얼 / 하루 마무리 한 알</a:t>
                      </a:r>
                    </a:p>
                  </a:txBody>
                  <a:tcPr marL="76200" marR="63500" marT="25400" marB="25400" anchor="ctr">
                    <a:solidFill>
                      <a:srgbClr val="F6F5EC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141412"/>
                          </a:solidFill>
                          <a:latin typeface="맑은 고딕"/>
                        </a:rPr>
                        <a:t>콜라겐 구미 (일반)</a:t>
                      </a:r>
                    </a:p>
                  </a:txBody>
                  <a:tcPr marL="762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B03A2E"/>
                          </a:solidFill>
                          <a:latin typeface="맑은 고딕"/>
                        </a:rPr>
                        <a:t>피부·주름·탄력 콜라겐</a:t>
                      </a:r>
                    </a:p>
                  </a:txBody>
                  <a:tcPr marL="762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2E5A3A"/>
                          </a:solidFill>
                          <a:latin typeface="맑은 고딕"/>
                        </a:rPr>
                        <a:t>디저트 대신 챙기는 젤리</a:t>
                      </a:r>
                    </a:p>
                  </a:txBody>
                  <a:tcPr marL="76200" marR="63500" marT="25400" marB="25400" anchor="ctr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141412"/>
                          </a:solidFill>
                          <a:latin typeface="맑은 고딕"/>
                        </a:rPr>
                        <a:t>루테인 구미 (건기식)</a:t>
                      </a:r>
                    </a:p>
                  </a:txBody>
                  <a:tcPr marL="76200" marR="63500" marT="25400" marB="25400" anchor="ctr">
                    <a:solidFill>
                      <a:srgbClr val="F6F5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B03A2E"/>
                          </a:solidFill>
                          <a:latin typeface="맑은 고딕"/>
                        </a:rPr>
                        <a:t>눈이 좋아지는 / 덜 침침해진</a:t>
                      </a:r>
                    </a:p>
                  </a:txBody>
                  <a:tcPr marL="76200" marR="63500" marT="25400" marB="25400" anchor="ctr">
                    <a:solidFill>
                      <a:srgbClr val="F6F5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2E5A3A"/>
                          </a:solidFill>
                          <a:latin typeface="맑은 고딕"/>
                        </a:rPr>
                        <a:t>루테인, 눈 건강에 도움을 줄 수 있음</a:t>
                      </a:r>
                    </a:p>
                  </a:txBody>
                  <a:tcPr marL="76200" marR="63500" marT="25400" marB="25400" anchor="ctr">
                    <a:solidFill>
                      <a:srgbClr val="F6F5EC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141412"/>
                          </a:solidFill>
                          <a:latin typeface="맑은 고딕"/>
                        </a:rPr>
                        <a:t>바나바잎 구미 (건기식)</a:t>
                      </a:r>
                    </a:p>
                  </a:txBody>
                  <a:tcPr marL="762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B03A2E"/>
                          </a:solidFill>
                          <a:latin typeface="맑은 고딕"/>
                        </a:rPr>
                        <a:t>혈당 낮추는 / 당뇨에 좋은</a:t>
                      </a:r>
                    </a:p>
                  </a:txBody>
                  <a:tcPr marL="762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2E5A3A"/>
                          </a:solidFill>
                          <a:latin typeface="맑은 고딕"/>
                        </a:rPr>
                        <a:t>식후 혈당 상승 억제에 도움을 줄 수 있음</a:t>
                      </a:r>
                    </a:p>
                  </a:txBody>
                  <a:tcPr marL="76200" marR="63500" marT="25400" marB="254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4261104"/>
            <a:ext cx="10058400" cy="274320"/>
          </a:xfrm>
          <a:prstGeom prst="rect">
            <a:avLst/>
          </a:prstGeom>
          <a:noFill/>
        </p:spPr>
        <p:txBody>
          <a:bodyPr wrap="square" anchor="t" lIns="38100" rIns="38100" tIns="12700" bIns="1270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41412"/>
                </a:solidFill>
                <a:latin typeface="맑은 고딕"/>
              </a:rPr>
              <a:t>송출 전 필수 체크리스트 (인스타그램 릴스 기준)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4553712"/>
            <a:ext cx="11274552" cy="3657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240">
            <a:solidFill>
              <a:srgbClr val="2222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3504" y="4599432"/>
            <a:ext cx="365760" cy="274320"/>
          </a:xfrm>
          <a:prstGeom prst="rect">
            <a:avLst/>
          </a:prstGeom>
          <a:noFill/>
        </p:spPr>
        <p:txBody>
          <a:bodyPr wrap="square" anchor="t" lIns="38100" rIns="38100" tIns="12700" bIns="1270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41412"/>
                </a:solidFill>
                <a:latin typeface="맑은 고딕"/>
              </a:rPr>
              <a:t>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9264" y="4599432"/>
            <a:ext cx="10607040" cy="292608"/>
          </a:xfrm>
          <a:prstGeom prst="rect">
            <a:avLst/>
          </a:prstGeom>
          <a:noFill/>
        </p:spPr>
        <p:txBody>
          <a:bodyPr wrap="square" anchor="ctr" lIns="38100" rIns="38100" tIns="12700" bIns="12700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373734"/>
                </a:solidFill>
                <a:latin typeface="맑은 고딕"/>
              </a:rPr>
              <a:t>유료광고·협찬 표시 — 자막 + 음성 + 캡션 + 인스타 ‘유료 파트너십’ 태그 모두 적용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74336"/>
            <a:ext cx="11274552" cy="365760"/>
          </a:xfrm>
          <a:prstGeom prst="roundRect">
            <a:avLst>
              <a:gd name="adj" fmla="val 10000"/>
            </a:avLst>
          </a:prstGeom>
          <a:solidFill>
            <a:srgbClr val="F1F0E5"/>
          </a:solidFill>
          <a:ln w="15240">
            <a:solidFill>
              <a:srgbClr val="2222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03504" y="5020056"/>
            <a:ext cx="365760" cy="274320"/>
          </a:xfrm>
          <a:prstGeom prst="rect">
            <a:avLst/>
          </a:prstGeom>
          <a:noFill/>
        </p:spPr>
        <p:txBody>
          <a:bodyPr wrap="square" anchor="t" lIns="38100" rIns="38100" tIns="12700" bIns="1270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41412"/>
                </a:solidFill>
                <a:latin typeface="맑은 고딕"/>
              </a:rPr>
              <a:t>☑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9264" y="5020056"/>
            <a:ext cx="10607040" cy="292608"/>
          </a:xfrm>
          <a:prstGeom prst="rect">
            <a:avLst/>
          </a:prstGeom>
          <a:noFill/>
        </p:spPr>
        <p:txBody>
          <a:bodyPr wrap="square" anchor="ctr" lIns="38100" rIns="38100" tIns="12700" bIns="12700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373734"/>
                </a:solidFill>
                <a:latin typeface="맑은 고딕"/>
              </a:rPr>
              <a:t>일반식품(올리브오일·멜라나잇·콜라겐) — 질병·신체기능·건강 효능 표현 전면 배제 확인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5394960"/>
            <a:ext cx="11274552" cy="3657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240">
            <a:solidFill>
              <a:srgbClr val="2222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03504" y="5440680"/>
            <a:ext cx="365760" cy="274320"/>
          </a:xfrm>
          <a:prstGeom prst="rect">
            <a:avLst/>
          </a:prstGeom>
          <a:noFill/>
        </p:spPr>
        <p:txBody>
          <a:bodyPr wrap="square" anchor="t" lIns="38100" rIns="38100" tIns="12700" bIns="1270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41412"/>
                </a:solidFill>
                <a:latin typeface="맑은 고딕"/>
              </a:rPr>
              <a:t>☑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9264" y="5440680"/>
            <a:ext cx="10607040" cy="292608"/>
          </a:xfrm>
          <a:prstGeom prst="rect">
            <a:avLst/>
          </a:prstGeom>
          <a:noFill/>
        </p:spPr>
        <p:txBody>
          <a:bodyPr wrap="square" anchor="ctr" lIns="38100" rIns="38100" tIns="12700" bIns="12700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373734"/>
                </a:solidFill>
                <a:latin typeface="맑은 고딕"/>
              </a:rPr>
              <a:t>건기식(루테인·바나바잎) — 인정 기능성 문구 그대로, 의약품 오인·과장·체험 단정 없음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5815584"/>
            <a:ext cx="11274552" cy="365760"/>
          </a:xfrm>
          <a:prstGeom prst="roundRect">
            <a:avLst>
              <a:gd name="adj" fmla="val 10000"/>
            </a:avLst>
          </a:prstGeom>
          <a:solidFill>
            <a:srgbClr val="F1F0E5"/>
          </a:solidFill>
          <a:ln w="15240">
            <a:solidFill>
              <a:srgbClr val="2222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03504" y="5861304"/>
            <a:ext cx="365760" cy="274320"/>
          </a:xfrm>
          <a:prstGeom prst="rect">
            <a:avLst/>
          </a:prstGeom>
          <a:noFill/>
        </p:spPr>
        <p:txBody>
          <a:bodyPr wrap="square" anchor="t" lIns="38100" rIns="38100" tIns="12700" bIns="1270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41412"/>
                </a:solidFill>
                <a:latin typeface="맑은 고딕"/>
              </a:rPr>
              <a:t>☑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9264" y="5861304"/>
            <a:ext cx="10607040" cy="292608"/>
          </a:xfrm>
          <a:prstGeom prst="rect">
            <a:avLst/>
          </a:prstGeom>
          <a:noFill/>
        </p:spPr>
        <p:txBody>
          <a:bodyPr wrap="square" anchor="ctr" lIns="38100" rIns="38100" tIns="12700" bIns="12700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373734"/>
                </a:solidFill>
                <a:latin typeface="맑은 고딕"/>
              </a:rPr>
              <a:t>‘효과 미체감’ 방어 — ‘꾸준히’ 표현 OK, 효과 보장·단정 금지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6236208"/>
            <a:ext cx="11274552" cy="3657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240">
            <a:solidFill>
              <a:srgbClr val="2222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03504" y="6281928"/>
            <a:ext cx="365760" cy="274320"/>
          </a:xfrm>
          <a:prstGeom prst="rect">
            <a:avLst/>
          </a:prstGeom>
          <a:noFill/>
        </p:spPr>
        <p:txBody>
          <a:bodyPr wrap="square" anchor="t" lIns="38100" rIns="38100" tIns="12700" bIns="1270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41412"/>
                </a:solidFill>
                <a:latin typeface="맑은 고딕"/>
              </a:rPr>
              <a:t>☑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9264" y="6281928"/>
            <a:ext cx="10607040" cy="292608"/>
          </a:xfrm>
          <a:prstGeom prst="rect">
            <a:avLst/>
          </a:prstGeom>
          <a:noFill/>
        </p:spPr>
        <p:txBody>
          <a:bodyPr wrap="square" anchor="ctr" lIns="38100" rIns="38100" tIns="12700" bIns="12700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373734"/>
                </a:solidFill>
                <a:latin typeface="맑은 고딕"/>
              </a:rPr>
              <a:t>건기식 컨셉은 송출 前 한국건강기능식품협회 자율심의 + 법무·RA 검토 완료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6693408"/>
            <a:ext cx="11274552" cy="384048"/>
          </a:xfrm>
          <a:prstGeom prst="roundRect">
            <a:avLst>
              <a:gd name="adj" fmla="val 10000"/>
            </a:avLst>
          </a:prstGeom>
          <a:solidFill>
            <a:srgbClr val="1414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6693408"/>
            <a:ext cx="11274552" cy="384048"/>
          </a:xfrm>
          <a:prstGeom prst="rect">
            <a:avLst/>
          </a:prstGeom>
          <a:noFill/>
        </p:spPr>
        <p:txBody>
          <a:bodyPr wrap="square" anchor="ctr" lIns="38100" rIns="38100" tIns="12700" bIns="12700">
            <a:spAutoFit/>
          </a:bodyPr>
          <a:lstStyle/>
          <a:p>
            <a:pPr algn="ctr">
              <a:spcAft>
                <a:spcPts val="200"/>
              </a:spcAft>
            </a:pPr>
            <a:r>
              <a:rPr sz="1150" b="1">
                <a:solidFill>
                  <a:srgbClr val="FFFFFF"/>
                </a:solidFill>
                <a:latin typeface="맑은 고딕"/>
              </a:rPr>
              <a:t>→ Claude AI 사전 검수로 1차 필터링(반려↓·기간 단축) 후, 위 체크리스트로 사람이 최종 점검합니다.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