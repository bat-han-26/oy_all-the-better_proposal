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0058400" cy="566928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/>
            <a:r>
              <a:rPr sz="2700" b="1">
                <a:solidFill>
                  <a:srgbClr val="222222"/>
                </a:solidFill>
                <a:latin typeface="맑은 고딕"/>
                <a:ea typeface="맑은 고딕"/>
              </a:rPr>
              <a:t>견적서 </a:t>
            </a:r>
            <a:r>
              <a:rPr sz="2000" b="1">
                <a:solidFill>
                  <a:srgbClr val="222222"/>
                </a:solidFill>
                <a:latin typeface="맑은 고딕"/>
                <a:ea typeface="맑은 고딕"/>
              </a:rPr>
              <a:t>(Quotation)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86384"/>
            <a:ext cx="10515600" cy="31089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/>
            <a:r>
              <a:rPr sz="1200" b="0">
                <a:solidFill>
                  <a:srgbClr val="888886"/>
                </a:solidFill>
                <a:latin typeface="맑은 고딕"/>
                <a:ea typeface="맑은 고딕"/>
              </a:rPr>
              <a:t>올리브영 PB 올더베러 브랜드 빌딩 캠페인  ·  단위 원 (VAT 별도)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83112" cy="3291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6903720" cy="329184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세부 항목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097280"/>
            <a:ext cx="1097280" cy="329184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수량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097280"/>
            <a:ext cx="1280160" cy="329184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단가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20" y="1097280"/>
            <a:ext cx="1417320" cy="329184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금액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26464"/>
            <a:ext cx="11183112" cy="25146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26464"/>
            <a:ext cx="10908792" cy="251460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/>
            <a:r>
              <a:rPr sz="1150" b="1">
                <a:solidFill>
                  <a:srgbClr val="222222"/>
                </a:solidFill>
                <a:latin typeface="맑은 고딕"/>
                <a:ea typeface="맑은 고딕"/>
              </a:rPr>
              <a:t>제작비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677924"/>
            <a:ext cx="1118311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77924"/>
            <a:ext cx="681228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  <a:ea typeface="맑은 고딕"/>
              </a:rPr>
              <a:t>콘텐츠 제작 (KV·디자인·영상·이미지)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1677924"/>
            <a:ext cx="109728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/>
            <a:r>
              <a:rPr sz="1050" b="0">
                <a:solidFill>
                  <a:srgbClr val="888886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677924"/>
            <a:ext cx="128016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050" b="0">
                <a:solidFill>
                  <a:srgbClr val="888886"/>
                </a:solidFill>
                <a:latin typeface="맑은 고딕"/>
                <a:ea typeface="맑은 고딕"/>
              </a:rPr>
              <a:t>1,000,000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04120" y="1677924"/>
            <a:ext cx="141732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050" b="1">
                <a:solidFill>
                  <a:srgbClr val="222222"/>
                </a:solidFill>
                <a:latin typeface="맑은 고딕"/>
                <a:ea typeface="맑은 고딕"/>
              </a:rPr>
              <a:t>6,000,000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920240"/>
            <a:ext cx="1118311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1920240"/>
            <a:ext cx="681228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  <a:ea typeface="맑은 고딕"/>
              </a:rPr>
              <a:t>EGC 콘텐츠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1920240"/>
            <a:ext cx="109728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/>
            <a:r>
              <a:rPr sz="1050" b="0">
                <a:solidFill>
                  <a:srgbClr val="888886"/>
                </a:solidFill>
                <a:latin typeface="맑은 고딕"/>
                <a:ea typeface="맑은 고딕"/>
              </a:rPr>
              <a:t>120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1920240"/>
            <a:ext cx="128016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050" b="0">
                <a:solidFill>
                  <a:srgbClr val="888886"/>
                </a:solidFill>
                <a:latin typeface="맑은 고딕"/>
                <a:ea typeface="맑은 고딕"/>
              </a:rPr>
              <a:t>500,000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04120" y="1920240"/>
            <a:ext cx="141732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050" b="1">
                <a:solidFill>
                  <a:srgbClr val="222222"/>
                </a:solidFill>
                <a:latin typeface="맑은 고딕"/>
                <a:ea typeface="맑은 고딕"/>
              </a:rPr>
              <a:t>60,000,000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162556"/>
            <a:ext cx="1118311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162556"/>
            <a:ext cx="681228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  <a:ea typeface="맑은 고딕"/>
              </a:rPr>
              <a:t>Half EGC 콘텐츠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162556"/>
            <a:ext cx="109728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/>
            <a:r>
              <a:rPr sz="1050" b="0">
                <a:solidFill>
                  <a:srgbClr val="888886"/>
                </a:solidFill>
                <a:latin typeface="맑은 고딕"/>
                <a:ea typeface="맑은 고딕"/>
              </a:rPr>
              <a:t>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162556"/>
            <a:ext cx="128016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050" b="0">
                <a:solidFill>
                  <a:srgbClr val="888886"/>
                </a:solidFill>
                <a:latin typeface="맑은 고딕"/>
                <a:ea typeface="맑은 고딕"/>
              </a:rPr>
              <a:t>750,000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04120" y="2162556"/>
            <a:ext cx="141732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050" b="1">
                <a:solidFill>
                  <a:srgbClr val="222222"/>
                </a:solidFill>
                <a:latin typeface="맑은 고딕"/>
                <a:ea typeface="맑은 고딕"/>
              </a:rPr>
              <a:t>18,000,000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404872"/>
            <a:ext cx="11183112" cy="25146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2404872"/>
            <a:ext cx="10908792" cy="251460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/>
            <a:r>
              <a:rPr sz="1150" b="1">
                <a:solidFill>
                  <a:srgbClr val="222222"/>
                </a:solidFill>
                <a:latin typeface="맑은 고딕"/>
                <a:ea typeface="맑은 고딕"/>
              </a:rPr>
              <a:t>크리에이터 시딩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656332"/>
            <a:ext cx="1118311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2656332"/>
            <a:ext cx="681228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  <a:ea typeface="맑은 고딕"/>
              </a:rPr>
              <a:t>나노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2656332"/>
            <a:ext cx="109728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/>
            <a:r>
              <a:rPr sz="1050" b="0">
                <a:solidFill>
                  <a:srgbClr val="888886"/>
                </a:solidFill>
                <a:latin typeface="맑은 고딕"/>
                <a:ea typeface="맑은 고딕"/>
              </a:rPr>
              <a:t>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2656332"/>
            <a:ext cx="128016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050" b="0">
                <a:solidFill>
                  <a:srgbClr val="888886"/>
                </a:solidFill>
                <a:latin typeface="맑은 고딕"/>
                <a:ea typeface="맑은 고딕"/>
              </a:rPr>
              <a:t>270,000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20" y="2656332"/>
            <a:ext cx="141732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050" b="1">
                <a:solidFill>
                  <a:srgbClr val="222222"/>
                </a:solidFill>
                <a:latin typeface="맑은 고딕"/>
                <a:ea typeface="맑은 고딕"/>
              </a:rPr>
              <a:t>24,300,000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2898648"/>
            <a:ext cx="1118311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2898648"/>
            <a:ext cx="681228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  <a:ea typeface="맑은 고딕"/>
              </a:rPr>
              <a:t>마이크로 (UGC)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2898648"/>
            <a:ext cx="109728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/>
            <a:r>
              <a:rPr sz="1050" b="0">
                <a:solidFill>
                  <a:srgbClr val="888886"/>
                </a:solidFill>
                <a:latin typeface="맑은 고딕"/>
                <a:ea typeface="맑은 고딕"/>
              </a:rPr>
              <a:t>140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2898648"/>
            <a:ext cx="128016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050" b="0">
                <a:solidFill>
                  <a:srgbClr val="888886"/>
                </a:solidFill>
                <a:latin typeface="맑은 고딕"/>
                <a:ea typeface="맑은 고딕"/>
              </a:rPr>
              <a:t>420,000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04120" y="2898648"/>
            <a:ext cx="141732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050" b="1">
                <a:solidFill>
                  <a:srgbClr val="222222"/>
                </a:solidFill>
                <a:latin typeface="맑은 고딕"/>
                <a:ea typeface="맑은 고딕"/>
              </a:rPr>
              <a:t>58,800,000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140964"/>
            <a:ext cx="1118311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140964"/>
            <a:ext cx="681228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  <a:ea typeface="맑은 고딕"/>
              </a:rPr>
              <a:t>매크로 (인스타·유튜브)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3140964"/>
            <a:ext cx="109728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/>
            <a:r>
              <a:rPr sz="1050" b="0">
                <a:solidFill>
                  <a:srgbClr val="888886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3140964"/>
            <a:ext cx="128016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050" b="0">
                <a:solidFill>
                  <a:srgbClr val="888886"/>
                </a:solidFill>
                <a:latin typeface="맑은 고딕"/>
                <a:ea typeface="맑은 고딕"/>
              </a:rPr>
              <a:t>880,000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04120" y="3140964"/>
            <a:ext cx="141732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050" b="1">
                <a:solidFill>
                  <a:srgbClr val="222222"/>
                </a:solidFill>
                <a:latin typeface="맑은 고딕"/>
                <a:ea typeface="맑은 고딕"/>
              </a:rPr>
              <a:t>10,560,000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3383280"/>
            <a:ext cx="1118311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3383280"/>
            <a:ext cx="681228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  <a:ea typeface="맑은 고딕"/>
              </a:rPr>
              <a:t>KOL 무가시딩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0" y="3383280"/>
            <a:ext cx="109728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/>
            <a:r>
              <a:rPr sz="1050" b="0">
                <a:solidFill>
                  <a:srgbClr val="888886"/>
                </a:solidFill>
                <a:latin typeface="맑은 고딕"/>
                <a:ea typeface="맑은 고딕"/>
              </a:rPr>
              <a:t>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3383280"/>
            <a:ext cx="128016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050" b="0">
                <a:solidFill>
                  <a:srgbClr val="888886"/>
                </a:solidFill>
                <a:latin typeface="맑은 고딕"/>
                <a:ea typeface="맑은 고딕"/>
              </a:rPr>
              <a:t>100,000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04120" y="3383280"/>
            <a:ext cx="141732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050" b="1">
                <a:solidFill>
                  <a:srgbClr val="222222"/>
                </a:solidFill>
                <a:latin typeface="맑은 고딕"/>
                <a:ea typeface="맑은 고딕"/>
              </a:rPr>
              <a:t>3,000,000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3625596"/>
            <a:ext cx="1118311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3625596"/>
            <a:ext cx="681228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  <a:ea typeface="맑은 고딕"/>
              </a:rPr>
              <a:t>X (트위터) 시딩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9520" y="3625596"/>
            <a:ext cx="109728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/>
            <a:r>
              <a:rPr sz="1050" b="0">
                <a:solidFill>
                  <a:srgbClr val="888886"/>
                </a:solidFill>
                <a:latin typeface="맑은 고딕"/>
                <a:ea typeface="맑은 고딕"/>
              </a:rPr>
              <a:t>24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3625596"/>
            <a:ext cx="128016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050" b="0">
                <a:solidFill>
                  <a:srgbClr val="888886"/>
                </a:solidFill>
                <a:latin typeface="맑은 고딕"/>
                <a:ea typeface="맑은 고딕"/>
              </a:rPr>
              <a:t>550,000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04120" y="3625596"/>
            <a:ext cx="141732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050" b="1">
                <a:solidFill>
                  <a:srgbClr val="222222"/>
                </a:solidFill>
                <a:latin typeface="맑은 고딕"/>
                <a:ea typeface="맑은 고딕"/>
              </a:rPr>
              <a:t>13,200,000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3867912"/>
            <a:ext cx="1118311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" y="3867912"/>
            <a:ext cx="681228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  <a:ea typeface="맑은 고딕"/>
              </a:rPr>
              <a:t>네이버 블로그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89520" y="3867912"/>
            <a:ext cx="109728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/>
            <a:r>
              <a:rPr sz="1050" b="0">
                <a:solidFill>
                  <a:srgbClr val="888886"/>
                </a:solidFill>
                <a:latin typeface="맑은 고딕"/>
                <a:ea typeface="맑은 고딕"/>
              </a:rPr>
              <a:t>15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3867912"/>
            <a:ext cx="128016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050" b="0">
                <a:solidFill>
                  <a:srgbClr val="888886"/>
                </a:solidFill>
                <a:latin typeface="맑은 고딕"/>
                <a:ea typeface="맑은 고딕"/>
              </a:rPr>
              <a:t>220,000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04120" y="3867912"/>
            <a:ext cx="141732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050" b="1">
                <a:solidFill>
                  <a:srgbClr val="222222"/>
                </a:solidFill>
                <a:latin typeface="맑은 고딕"/>
                <a:ea typeface="맑은 고딕"/>
              </a:rPr>
              <a:t>3,300,000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4110228"/>
            <a:ext cx="1118311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4110228"/>
            <a:ext cx="681228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  <a:ea typeface="맑은 고딕"/>
              </a:rPr>
              <a:t>BATi 마이크로 앰배서더 (시딩)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89520" y="4110228"/>
            <a:ext cx="109728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/>
            <a:r>
              <a:rPr sz="1050" b="0">
                <a:solidFill>
                  <a:srgbClr val="888886"/>
                </a:solidFill>
                <a:latin typeface="맑은 고딕"/>
                <a:ea typeface="맑은 고딕"/>
              </a:rPr>
              <a:t>60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4110228"/>
            <a:ext cx="128016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050" b="0">
                <a:solidFill>
                  <a:srgbClr val="888886"/>
                </a:solidFill>
                <a:latin typeface="맑은 고딕"/>
                <a:ea typeface="맑은 고딕"/>
              </a:rPr>
              <a:t>500,000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04120" y="4110228"/>
            <a:ext cx="141732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050" b="1">
                <a:solidFill>
                  <a:srgbClr val="222222"/>
                </a:solidFill>
                <a:latin typeface="맑은 고딕"/>
                <a:ea typeface="맑은 고딕"/>
              </a:rPr>
              <a:t>30,000,000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4352544"/>
            <a:ext cx="11183112" cy="25146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" y="4352544"/>
            <a:ext cx="10908792" cy="251460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/>
            <a:r>
              <a:rPr sz="1150" b="1">
                <a:solidFill>
                  <a:srgbClr val="222222"/>
                </a:solidFill>
                <a:latin typeface="맑은 고딕"/>
                <a:ea typeface="맑은 고딕"/>
              </a:rPr>
              <a:t>콘텐츠 · 바이럴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" y="4604004"/>
            <a:ext cx="1118311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4604004"/>
            <a:ext cx="681228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  <a:ea typeface="맑은 고딕"/>
              </a:rPr>
              <a:t>파워페이지 콘텐츠 바이럴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89520" y="4604004"/>
            <a:ext cx="109728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/>
            <a:r>
              <a:rPr sz="1050" b="0">
                <a:solidFill>
                  <a:srgbClr val="888886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800" y="4604004"/>
            <a:ext cx="128016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050" b="0">
                <a:solidFill>
                  <a:srgbClr val="888886"/>
                </a:solidFill>
                <a:latin typeface="맑은 고딕"/>
                <a:ea typeface="맑은 고딕"/>
              </a:rPr>
              <a:t>750,000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04120" y="4604004"/>
            <a:ext cx="141732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050" b="1">
                <a:solidFill>
                  <a:srgbClr val="222222"/>
                </a:solidFill>
                <a:latin typeface="맑은 고딕"/>
                <a:ea typeface="맑은 고딕"/>
              </a:rPr>
              <a:t>4,500,000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4846320"/>
            <a:ext cx="1118311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5800" y="4846320"/>
            <a:ext cx="681228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  <a:ea typeface="맑은 고딕"/>
              </a:rPr>
              <a:t>커뮤니티 체험단 (탑 2건)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89520" y="4846320"/>
            <a:ext cx="109728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/>
            <a:r>
              <a:rPr sz="1050" b="0">
                <a:solidFill>
                  <a:srgbClr val="888886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86800" y="4846320"/>
            <a:ext cx="128016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050" b="0">
                <a:solidFill>
                  <a:srgbClr val="888886"/>
                </a:solidFill>
                <a:latin typeface="맑은 고딕"/>
                <a:ea typeface="맑은 고딕"/>
              </a:rPr>
              <a:t>4,300,000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04120" y="4846320"/>
            <a:ext cx="141732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050" b="1">
                <a:solidFill>
                  <a:srgbClr val="222222"/>
                </a:solidFill>
                <a:latin typeface="맑은 고딕"/>
                <a:ea typeface="맑은 고딕"/>
              </a:rPr>
              <a:t>8,600,000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2920" y="5088636"/>
            <a:ext cx="1118311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5800" y="5088636"/>
            <a:ext cx="681228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  <a:ea typeface="맑은 고딕"/>
              </a:rPr>
              <a:t>챌린저스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89520" y="5088636"/>
            <a:ext cx="109728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/>
            <a:r>
              <a:rPr sz="1050" b="0">
                <a:solidFill>
                  <a:srgbClr val="888886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86800" y="5088636"/>
            <a:ext cx="128016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050" b="0">
                <a:solidFill>
                  <a:srgbClr val="888886"/>
                </a:solidFill>
                <a:latin typeface="맑은 고딕"/>
                <a:ea typeface="맑은 고딕"/>
              </a:rPr>
              <a:t>4,800,000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104120" y="5088636"/>
            <a:ext cx="141732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050" b="1">
                <a:solidFill>
                  <a:srgbClr val="222222"/>
                </a:solidFill>
                <a:latin typeface="맑은 고딕"/>
                <a:ea typeface="맑은 고딕"/>
              </a:rPr>
              <a:t>9,600,000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2920" y="5330951"/>
            <a:ext cx="11183112" cy="25146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85800" y="5330951"/>
            <a:ext cx="10908792" cy="251460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/>
            <a:r>
              <a:rPr sz="1150" b="1">
                <a:solidFill>
                  <a:srgbClr val="222222"/>
                </a:solidFill>
                <a:latin typeface="맑은 고딕"/>
                <a:ea typeface="맑은 고딕"/>
              </a:rPr>
              <a:t>솔루션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02920" y="5582412"/>
            <a:ext cx="1118311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85800" y="5582412"/>
            <a:ext cx="681228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  <a:ea typeface="맑은 고딕"/>
              </a:rPr>
              <a:t>스프레이ai 솔루션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89520" y="5582412"/>
            <a:ext cx="109728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/>
            <a:r>
              <a:rPr sz="1050" b="0">
                <a:solidFill>
                  <a:srgbClr val="888886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686800" y="5582412"/>
            <a:ext cx="128016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050" b="0">
                <a:solidFill>
                  <a:srgbClr val="888886"/>
                </a:solidFill>
                <a:latin typeface="맑은 고딕"/>
                <a:ea typeface="맑은 고딕"/>
              </a:rPr>
              <a:t>23,333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104120" y="5582412"/>
            <a:ext cx="1417320" cy="24231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050" b="1">
                <a:solidFill>
                  <a:srgbClr val="222222"/>
                </a:solidFill>
                <a:latin typeface="맑은 고딕"/>
                <a:ea typeface="맑은 고딕"/>
              </a:rPr>
              <a:t>140,000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589520" y="5879591"/>
            <a:ext cx="2377440" cy="292608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150" b="1">
                <a:solidFill>
                  <a:srgbClr val="222222"/>
                </a:solidFill>
                <a:latin typeface="맑은 고딕"/>
                <a:ea typeface="맑은 고딕"/>
              </a:rPr>
              <a:t>공급가액 소계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104120" y="5879591"/>
            <a:ext cx="1417320" cy="292608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150" b="1">
                <a:solidFill>
                  <a:srgbClr val="222222"/>
                </a:solidFill>
                <a:latin typeface="맑은 고딕"/>
                <a:ea typeface="맑은 고딕"/>
              </a:rPr>
              <a:t>250,000,000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589520" y="6172199"/>
            <a:ext cx="2377440" cy="292608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150" b="1">
                <a:solidFill>
                  <a:srgbClr val="222222"/>
                </a:solidFill>
                <a:latin typeface="맑은 고딕"/>
                <a:ea typeface="맑은 고딕"/>
              </a:rPr>
              <a:t>부가가치세 (10%)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104120" y="6172199"/>
            <a:ext cx="1417320" cy="292608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150" b="1">
                <a:solidFill>
                  <a:srgbClr val="222222"/>
                </a:solidFill>
                <a:latin typeface="맑은 고딕"/>
                <a:ea typeface="맑은 고딕"/>
              </a:rPr>
              <a:t>25,000,000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589520" y="6483095"/>
            <a:ext cx="4096512" cy="31089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589520" y="6483095"/>
            <a:ext cx="2377440" cy="31089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합계 금액 (VAT 포함)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104120" y="6483095"/>
            <a:ext cx="1417320" cy="31089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275,000,000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/>
            <a:r>
              <a:rPr sz="1000" b="0">
                <a:solidFill>
                  <a:srgbClr val="888886"/>
                </a:solidFill>
                <a:latin typeface="맑은 고딕"/>
                <a:ea typeface="맑은 고딕"/>
              </a:rPr>
              <a:t>© 2026 BAT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