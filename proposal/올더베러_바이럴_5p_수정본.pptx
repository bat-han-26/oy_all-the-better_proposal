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3" r:id="rId24"/>
    <p:sldId id="274" r:id="rId25"/>
    <p:sldId id="275" r:id="rId26"/>
    <p:sldId id="276" r:id="rId27"/>
    <p:sldId id="277" r:id="rId2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310896"/>
            <a:ext cx="12188952" cy="310896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500" b="1" spc="150">
                <a:solidFill>
                  <a:srgbClr val="3D2B1B"/>
                </a:solidFill>
                <a:latin typeface="Pretendard"/>
                <a:ea typeface="Pretendard"/>
              </a:rPr>
              <a:t>역량 </a:t>
            </a:r>
            <a:r>
              <a:rPr sz="1500" b="1" spc="150">
                <a:solidFill>
                  <a:srgbClr val="141412"/>
                </a:solidFill>
                <a:latin typeface="Pretendard"/>
                <a:ea typeface="Pretendard"/>
              </a:rPr>
              <a:t>CAPABILITY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801868" y="676656"/>
            <a:ext cx="585215" cy="0"/>
          </a:xfrm>
          <a:prstGeom prst="bentConnector3">
            <a:avLst/>
          </a:prstGeom>
          <a:ln w="27940">
            <a:solidFill>
              <a:srgbClr val="3D2B1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987552"/>
            <a:ext cx="10543032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 spc="-100">
                <a:solidFill>
                  <a:srgbClr val="141412"/>
                </a:solidFill>
                <a:latin typeface="Pretendard"/>
                <a:ea typeface="Pretendard"/>
              </a:rPr>
              <a:t>올리브영 1등을 직접 만든 실행 역량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664208"/>
            <a:ext cx="96286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spc="-100">
                <a:solidFill>
                  <a:srgbClr val="868680"/>
                </a:solidFill>
                <a:latin typeface="Pretendard"/>
                <a:ea typeface="Pretendard"/>
              </a:rPr>
              <a:t>매체·데이터·크리에이티브·시딩 — 성공 방식을 올더베러 캠페인에 그대로 이식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502920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C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78992" y="2359152"/>
            <a:ext cx="457200" cy="457200"/>
          </a:xfrm>
          <a:prstGeom prst="ellipse">
            <a:avLst/>
          </a:prstGeom>
          <a:solidFill>
            <a:srgbClr val="3D2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91640" y="2359152"/>
            <a:ext cx="40233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spc="-100">
                <a:solidFill>
                  <a:srgbClr val="141412"/>
                </a:solidFill>
                <a:latin typeface="Pretendard"/>
                <a:ea typeface="Pretendard"/>
              </a:rPr>
              <a:t>매체 · 퍼포먼스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7180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spc="-100">
                <a:solidFill>
                  <a:srgbClr val="868680"/>
                </a:solidFill>
                <a:latin typeface="Pretendard"/>
                <a:ea typeface="Pretendard"/>
              </a:rPr>
              <a:t>올영세일 운영·타겟·IP 매체로 ROAS 견인. 올영세일 메타 고CPM 위기를 OFF→구매잠재(기프트카드·쿠폰)·어드밴티지 재구성으로 대응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36792" y="2103120"/>
            <a:ext cx="502920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C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592824" y="2359152"/>
            <a:ext cx="457200" cy="457200"/>
          </a:xfrm>
          <a:prstGeom prst="ellipse">
            <a:avLst/>
          </a:prstGeom>
          <a:solidFill>
            <a:srgbClr val="3D2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05472" y="2359152"/>
            <a:ext cx="40233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spc="-100">
                <a:solidFill>
                  <a:srgbClr val="141412"/>
                </a:solidFill>
                <a:latin typeface="Pretendard"/>
                <a:ea typeface="Pretendard"/>
              </a:rPr>
              <a:t>데이터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11112" y="297180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spc="-100">
                <a:solidFill>
                  <a:srgbClr val="868680"/>
                </a:solidFill>
                <a:latin typeface="Pretendard"/>
                <a:ea typeface="Pretendard"/>
              </a:rPr>
              <a:t>파이썬 크롤러 자체 개발 + R 빈도·키워드 분석으로 리뷰·VOC 직접 수집. ‘상황·목적’ 분류 → 올더베러 1,104건 딥다이브 대시보드 구현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703320"/>
            <a:ext cx="502920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C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78992" y="3959352"/>
            <a:ext cx="457200" cy="457200"/>
          </a:xfrm>
          <a:prstGeom prst="ellipse">
            <a:avLst/>
          </a:prstGeom>
          <a:solidFill>
            <a:srgbClr val="3D2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91640" y="3959352"/>
            <a:ext cx="40233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spc="-100">
                <a:solidFill>
                  <a:srgbClr val="141412"/>
                </a:solidFill>
                <a:latin typeface="Pretendard"/>
                <a:ea typeface="Pretendard"/>
              </a:rPr>
              <a:t>크리에이티브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57200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spc="-100">
                <a:solidFill>
                  <a:srgbClr val="868680"/>
                </a:solidFill>
                <a:latin typeface="Pretendard"/>
                <a:ea typeface="Pretendard"/>
              </a:rPr>
              <a:t>감도×성과를 잇는 소재 시스템 — 목적 중심 분류(USP형/프로모션형) + 비주얼 키워드화(CLEAN·COOL·DYNAMIC)로 컨펌·QC 혼선 해소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36792" y="3703320"/>
            <a:ext cx="502920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C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592824" y="3959352"/>
            <a:ext cx="457200" cy="457200"/>
          </a:xfrm>
          <a:prstGeom prst="ellipse">
            <a:avLst/>
          </a:prstGeom>
          <a:solidFill>
            <a:srgbClr val="3D2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05472" y="3959352"/>
            <a:ext cx="40233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spc="-100">
                <a:solidFill>
                  <a:srgbClr val="141412"/>
                </a:solidFill>
                <a:latin typeface="Pretendard"/>
                <a:ea typeface="Pretendard"/>
              </a:rPr>
              <a:t>인플루언서 · 시딩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11112" y="457200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spc="-100">
                <a:solidFill>
                  <a:srgbClr val="868680"/>
                </a:solidFill>
                <a:latin typeface="Pretendard"/>
                <a:ea typeface="Pretendard"/>
              </a:rPr>
              <a:t>바이오힐보 US 시딩·산리오 콜라보·IP 모델 맞춤 매체 발굴 — ‘노인 필터’ 역발상 훅·나노 시딩·실시간 QC·부정댓글 모니터링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" y="5413248"/>
            <a:ext cx="2615184" cy="64008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800" b="1" spc="-100">
                <a:solidFill>
                  <a:srgbClr val="3D2B1B"/>
                </a:solidFill>
                <a:latin typeface="Pretendard"/>
                <a:ea typeface="Pretendard"/>
              </a:rPr>
              <a:t>ROAS 324→515%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" y="6089904"/>
            <a:ext cx="26151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spc="-100">
                <a:solidFill>
                  <a:srgbClr val="141412"/>
                </a:solidFill>
                <a:latin typeface="Pretendard"/>
                <a:ea typeface="Pretendard"/>
              </a:rPr>
              <a:t>올영세일 운영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11296" y="5413248"/>
            <a:ext cx="2615184" cy="64008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800" b="1" spc="-100">
                <a:solidFill>
                  <a:srgbClr val="3D2B1B"/>
                </a:solidFill>
                <a:latin typeface="Pretendard"/>
                <a:ea typeface="Pretendard"/>
              </a:rPr>
              <a:t>검색 9K→140K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11296" y="6089904"/>
            <a:ext cx="26151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spc="-100">
                <a:solidFill>
                  <a:srgbClr val="141412"/>
                </a:solidFill>
                <a:latin typeface="Pretendard"/>
                <a:ea typeface="Pretendard"/>
              </a:rPr>
              <a:t>브링그린(15배)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81344" y="5413248"/>
            <a:ext cx="2615184" cy="64008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800" b="1" spc="-100">
                <a:solidFill>
                  <a:srgbClr val="3D2B1B"/>
                </a:solidFill>
                <a:latin typeface="Pretendard"/>
                <a:ea typeface="Pretendard"/>
              </a:rPr>
              <a:t>CPM 21만→1.2만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81344" y="6089904"/>
            <a:ext cx="26151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spc="-100">
                <a:solidFill>
                  <a:srgbClr val="141412"/>
                </a:solidFill>
                <a:latin typeface="Pretendard"/>
                <a:ea typeface="Pretendard"/>
              </a:rPr>
              <a:t>바이오힐보 ROAS 515%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51392" y="5413248"/>
            <a:ext cx="2615184" cy="64008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800" b="1" spc="-100">
                <a:solidFill>
                  <a:srgbClr val="3D2B1B"/>
                </a:solidFill>
                <a:latin typeface="Pretendard"/>
                <a:ea typeface="Pretendard"/>
              </a:rPr>
              <a:t>ROAS 127→589%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51392" y="6089904"/>
            <a:ext cx="26151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spc="-100">
                <a:solidFill>
                  <a:srgbClr val="141412"/>
                </a:solidFill>
                <a:latin typeface="Pretendard"/>
                <a:ea typeface="Pretendard"/>
              </a:rPr>
              <a:t>산리오 파트너십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6355080"/>
            <a:ext cx="10543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spc="-100">
                <a:solidFill>
                  <a:srgbClr val="868680"/>
                </a:solidFill>
                <a:latin typeface="Pretendard"/>
                <a:ea typeface="Pretendard"/>
              </a:rPr>
              <a:t>대표 케이스 — 올영세일 사전 캠페인 목표 검증 · 웨이크메이크 산리오 스프레이AI(장바구니 ROAS 1,180%) · 인스티즈 노출 733만 · 틱톡 75만뷰 CPV 3원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37276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-100">
                <a:solidFill>
                  <a:srgbClr val="C9C4B8"/>
                </a:solidFill>
                <a:latin typeface="Pretendard"/>
                <a:ea typeface="Pretendard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D2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>
            <a:off x="-1097280" y="0"/>
            <a:ext cx="8961120" cy="6858000"/>
          </a:xfrm>
          <a:prstGeom prst="rtTriangle">
            <a:avLst/>
          </a:prstGeom>
          <a:solidFill>
            <a:srgbClr val="0E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286000"/>
            <a:ext cx="6400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spc="300">
                <a:solidFill>
                  <a:srgbClr val="C7CE3E"/>
                </a:solidFill>
                <a:latin typeface="Pretendard"/>
                <a:ea typeface="Pretendard"/>
              </a:rPr>
              <a:t>PART 03   SEEDING CONTENT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43200"/>
            <a:ext cx="8229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800" b="1" spc="-100">
                <a:solidFill>
                  <a:srgbClr val="FFFFFF"/>
                </a:solidFill>
                <a:latin typeface="Pretendard"/>
                <a:ea typeface="Pretendard"/>
              </a:rPr>
              <a:t>시딩 콘텐츠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977639"/>
            <a:ext cx="7772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spc="-100">
                <a:solidFill>
                  <a:srgbClr val="D9E5DD"/>
                </a:solidFill>
                <a:latin typeface="Pretendard"/>
                <a:ea typeface="Pretendard"/>
              </a:rPr>
              <a:t>플라이휠을 돌리는 첫 바퀴</a:t>
            </a:r>
          </a:p>
        </p:txBody>
      </p:sp>
      <p:sp>
        <p:nvSpPr>
          <p:cNvPr id="7" name="Oval 6"/>
          <p:cNvSpPr/>
          <p:nvPr/>
        </p:nvSpPr>
        <p:spPr>
          <a:xfrm>
            <a:off x="10012680" y="777240"/>
            <a:ext cx="1234440" cy="12344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12680" y="777240"/>
            <a:ext cx="123444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spc="-100">
                <a:solidFill>
                  <a:srgbClr val="3D2B1B"/>
                </a:solidFill>
                <a:latin typeface="Pretendard"/>
                <a:ea typeface="Pretendard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37276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-100">
                <a:solidFill>
                  <a:srgbClr val="C9C4B8"/>
                </a:solidFill>
                <a:latin typeface="Pretendard"/>
                <a:ea typeface="Pretendard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310896"/>
            <a:ext cx="12188952" cy="310896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500" b="1" spc="150">
                <a:solidFill>
                  <a:srgbClr val="3D2B1B"/>
                </a:solidFill>
                <a:latin typeface="Pretendard"/>
                <a:ea typeface="Pretendard"/>
              </a:rPr>
              <a:t>프레임워크 </a:t>
            </a:r>
            <a:r>
              <a:rPr sz="1500" b="1" spc="150">
                <a:solidFill>
                  <a:srgbClr val="141412"/>
                </a:solidFill>
                <a:latin typeface="Pretendard"/>
                <a:ea typeface="Pretendard"/>
              </a:rPr>
              <a:t>FRAMEWORK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801868" y="676656"/>
            <a:ext cx="585215" cy="0"/>
          </a:xfrm>
          <a:prstGeom prst="bentConnector3">
            <a:avLst/>
          </a:prstGeom>
          <a:ln w="27940">
            <a:solidFill>
              <a:srgbClr val="3D2B1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987552"/>
            <a:ext cx="10543032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 spc="-100">
                <a:solidFill>
                  <a:srgbClr val="141412"/>
                </a:solidFill>
                <a:latin typeface="Pretendard"/>
                <a:ea typeface="Pretendard"/>
              </a:rPr>
              <a:t>채움 플라이휠 (Flywheel)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664208"/>
            <a:ext cx="96286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spc="-100">
                <a:solidFill>
                  <a:srgbClr val="868680"/>
                </a:solidFill>
                <a:latin typeface="Pretendard"/>
                <a:ea typeface="Pretendard"/>
              </a:rPr>
              <a:t>무겁지만 한번 돌면 멈추지 않는 성장 엔진 — 가장 무거운 ‘첫 바퀴’를 시딩으로 민다</a:t>
            </a:r>
          </a:p>
        </p:txBody>
      </p:sp>
      <p:sp>
        <p:nvSpPr>
          <p:cNvPr id="6" name="Oval 5"/>
          <p:cNvSpPr/>
          <p:nvPr/>
        </p:nvSpPr>
        <p:spPr>
          <a:xfrm>
            <a:off x="1727072" y="2240280"/>
            <a:ext cx="621792" cy="621792"/>
          </a:xfrm>
          <a:prstGeom prst="ellipse">
            <a:avLst/>
          </a:prstGeom>
          <a:solidFill>
            <a:srgbClr val="3D2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27072" y="2240280"/>
            <a:ext cx="62179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 spc="-100">
                <a:solidFill>
                  <a:srgbClr val="FFFFFF"/>
                </a:solidFill>
                <a:latin typeface="Pretendard"/>
                <a:ea typeface="Pretendard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71800"/>
            <a:ext cx="243001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1" spc="-100">
                <a:solidFill>
                  <a:srgbClr val="141412"/>
                </a:solidFill>
                <a:latin typeface="Pretendard"/>
                <a:ea typeface="Pretendard"/>
              </a:rPr>
              <a:t>① 인플루언서 시딩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447288"/>
            <a:ext cx="233857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spc="-100">
                <a:solidFill>
                  <a:srgbClr val="868680"/>
                </a:solidFill>
                <a:latin typeface="Pretendard"/>
                <a:ea typeface="Pretendard"/>
              </a:rPr>
              <a:t>콘텐츠·후기 볼륨 (첫 바퀴)</a:t>
            </a:r>
          </a:p>
        </p:txBody>
      </p:sp>
      <p:sp>
        <p:nvSpPr>
          <p:cNvPr id="10" name="Chevron 9"/>
          <p:cNvSpPr/>
          <p:nvPr/>
        </p:nvSpPr>
        <p:spPr>
          <a:xfrm>
            <a:off x="3207258" y="2423160"/>
            <a:ext cx="365760" cy="256032"/>
          </a:xfrm>
          <a:prstGeom prst="chevron">
            <a:avLst/>
          </a:prstGeom>
          <a:solidFill>
            <a:srgbClr val="0E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431411" y="2240280"/>
            <a:ext cx="621792" cy="621792"/>
          </a:xfrm>
          <a:prstGeom prst="ellipse">
            <a:avLst/>
          </a:prstGeom>
          <a:solidFill>
            <a:srgbClr val="3D2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1411" y="2240280"/>
            <a:ext cx="62179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 spc="-100">
                <a:solidFill>
                  <a:srgbClr val="FFFFFF"/>
                </a:solidFill>
                <a:latin typeface="Pretendard"/>
                <a:ea typeface="Pretendard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7298" y="2971800"/>
            <a:ext cx="243001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1" spc="-100">
                <a:solidFill>
                  <a:srgbClr val="141412"/>
                </a:solidFill>
                <a:latin typeface="Pretendard"/>
                <a:ea typeface="Pretendard"/>
              </a:rPr>
              <a:t>② 신뢰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73018" y="3447288"/>
            <a:ext cx="233857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spc="-100">
                <a:solidFill>
                  <a:srgbClr val="868680"/>
                </a:solidFill>
                <a:latin typeface="Pretendard"/>
                <a:ea typeface="Pretendard"/>
              </a:rPr>
              <a:t>다수 반복 노출 → 각인</a:t>
            </a:r>
          </a:p>
        </p:txBody>
      </p:sp>
      <p:sp>
        <p:nvSpPr>
          <p:cNvPr id="15" name="Chevron 14"/>
          <p:cNvSpPr/>
          <p:nvPr/>
        </p:nvSpPr>
        <p:spPr>
          <a:xfrm>
            <a:off x="5911596" y="2423160"/>
            <a:ext cx="365760" cy="256032"/>
          </a:xfrm>
          <a:prstGeom prst="chevron">
            <a:avLst/>
          </a:prstGeom>
          <a:solidFill>
            <a:srgbClr val="0E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35749" y="2240280"/>
            <a:ext cx="621792" cy="621792"/>
          </a:xfrm>
          <a:prstGeom prst="ellipse">
            <a:avLst/>
          </a:prstGeom>
          <a:solidFill>
            <a:srgbClr val="3D2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5749" y="2240280"/>
            <a:ext cx="62179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 spc="-100">
                <a:solidFill>
                  <a:srgbClr val="FFFFFF"/>
                </a:solidFill>
                <a:latin typeface="Pretendard"/>
                <a:ea typeface="Pretendard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31636" y="2971800"/>
            <a:ext cx="243001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1" spc="-100">
                <a:solidFill>
                  <a:srgbClr val="141412"/>
                </a:solidFill>
                <a:latin typeface="Pretendard"/>
                <a:ea typeface="Pretendard"/>
              </a:rPr>
              <a:t>③ 전환·랭킹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7356" y="3447288"/>
            <a:ext cx="233857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spc="-100">
                <a:solidFill>
                  <a:srgbClr val="868680"/>
                </a:solidFill>
                <a:latin typeface="Pretendard"/>
                <a:ea typeface="Pretendard"/>
              </a:rPr>
              <a:t>위닝소재·PA·올영세일</a:t>
            </a:r>
          </a:p>
        </p:txBody>
      </p:sp>
      <p:sp>
        <p:nvSpPr>
          <p:cNvPr id="20" name="Chevron 19"/>
          <p:cNvSpPr/>
          <p:nvPr/>
        </p:nvSpPr>
        <p:spPr>
          <a:xfrm>
            <a:off x="8615934" y="2423160"/>
            <a:ext cx="365760" cy="256032"/>
          </a:xfrm>
          <a:prstGeom prst="chevron">
            <a:avLst/>
          </a:prstGeom>
          <a:solidFill>
            <a:srgbClr val="0E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840087" y="2240280"/>
            <a:ext cx="621792" cy="621792"/>
          </a:xfrm>
          <a:prstGeom prst="ellipse">
            <a:avLst/>
          </a:prstGeom>
          <a:solidFill>
            <a:srgbClr val="3D2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40087" y="2240280"/>
            <a:ext cx="62179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 spc="-100">
                <a:solidFill>
                  <a:srgbClr val="FFFFFF"/>
                </a:solidFill>
                <a:latin typeface="Pretendard"/>
                <a:ea typeface="Pretendar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35974" y="2971800"/>
            <a:ext cx="243001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1" spc="-100">
                <a:solidFill>
                  <a:srgbClr val="141412"/>
                </a:solidFill>
                <a:latin typeface="Pretendard"/>
                <a:ea typeface="Pretendard"/>
              </a:rPr>
              <a:t>④ 재구매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81694" y="3447288"/>
            <a:ext cx="233857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spc="-100">
                <a:solidFill>
                  <a:srgbClr val="868680"/>
                </a:solidFill>
                <a:latin typeface="Pretendard"/>
                <a:ea typeface="Pretendard"/>
              </a:rPr>
              <a:t>후기·CRM (다음 연료)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3977639"/>
            <a:ext cx="103601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spc="-100">
                <a:solidFill>
                  <a:srgbClr val="0E5A30"/>
                </a:solidFill>
                <a:latin typeface="Pretendard"/>
                <a:ea typeface="Pretendard"/>
              </a:rPr>
              <a:t>↻  ④의 후기·CRM·재구매가 다시 ①의 연료가 되어 자가가속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4343400"/>
            <a:ext cx="3346704" cy="1554480"/>
          </a:xfrm>
          <a:prstGeom prst="roundRect">
            <a:avLst>
              <a:gd name="adj" fmla="val 8000"/>
            </a:avLst>
          </a:prstGeom>
          <a:solidFill>
            <a:srgbClr val="F3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" y="4343400"/>
            <a:ext cx="82296" cy="1554480"/>
          </a:xfrm>
          <a:prstGeom prst="rect">
            <a:avLst/>
          </a:prstGeom>
          <a:solidFill>
            <a:srgbClr val="3D2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78992" y="4498848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spc="-100">
                <a:solidFill>
                  <a:srgbClr val="141412"/>
                </a:solidFill>
                <a:latin typeface="Pretendard"/>
                <a:ea typeface="Pretendard"/>
              </a:rPr>
              <a:t>정지 마찰 돌파 · 7–8월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" y="4901184"/>
            <a:ext cx="2926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spc="-100">
                <a:solidFill>
                  <a:srgbClr val="868680"/>
                </a:solidFill>
                <a:latin typeface="Pretendard"/>
                <a:ea typeface="Pretendard"/>
              </a:rPr>
              <a:t>다수 마이크로·나노 시딩으로 UGC 바이럴 점화 — ‘많이 보이는 제품’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52544" y="4343400"/>
            <a:ext cx="3346704" cy="1554480"/>
          </a:xfrm>
          <a:prstGeom prst="roundRect">
            <a:avLst>
              <a:gd name="adj" fmla="val 8000"/>
            </a:avLst>
          </a:prstGeom>
          <a:solidFill>
            <a:srgbClr val="F3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52544" y="4343400"/>
            <a:ext cx="82296" cy="1554480"/>
          </a:xfrm>
          <a:prstGeom prst="rect">
            <a:avLst/>
          </a:prstGeom>
          <a:solidFill>
            <a:srgbClr val="3D2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08576" y="4498848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spc="-100">
                <a:solidFill>
                  <a:srgbClr val="141412"/>
                </a:solidFill>
                <a:latin typeface="Pretendard"/>
                <a:ea typeface="Pretendard"/>
              </a:rPr>
              <a:t>관성 · 복리 · 9–11월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08576" y="4901184"/>
            <a:ext cx="2926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spc="-100">
                <a:solidFill>
                  <a:srgbClr val="868680"/>
                </a:solidFill>
                <a:latin typeface="Pretendard"/>
                <a:ea typeface="Pretendard"/>
              </a:rPr>
              <a:t>후기·신뢰·전환·랭킹·재노출 고리가 스스로 돌고 위닝 소재 PA 재투입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882127" y="4343400"/>
            <a:ext cx="3346704" cy="1554480"/>
          </a:xfrm>
          <a:prstGeom prst="roundRect">
            <a:avLst>
              <a:gd name="adj" fmla="val 8000"/>
            </a:avLst>
          </a:prstGeom>
          <a:solidFill>
            <a:srgbClr val="F3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882127" y="4343400"/>
            <a:ext cx="82296" cy="1554480"/>
          </a:xfrm>
          <a:prstGeom prst="rect">
            <a:avLst/>
          </a:prstGeom>
          <a:solidFill>
            <a:srgbClr val="3D2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38159" y="4498848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spc="-100">
                <a:solidFill>
                  <a:srgbClr val="141412"/>
                </a:solidFill>
                <a:latin typeface="Pretendard"/>
                <a:ea typeface="Pretendard"/>
              </a:rPr>
              <a:t>자가가속 · 12월~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38159" y="4901184"/>
            <a:ext cx="2926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spc="-100">
                <a:solidFill>
                  <a:srgbClr val="868680"/>
                </a:solidFill>
                <a:latin typeface="Pretendard"/>
                <a:ea typeface="Pretendard"/>
              </a:rPr>
              <a:t>후기·CRM·재구매가 다음 시딩 연료 — 적은 힘으로 내년 1Q 견인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2960" y="6144768"/>
            <a:ext cx="10543032" cy="457200"/>
          </a:xfrm>
          <a:prstGeom prst="rect">
            <a:avLst/>
          </a:prstGeom>
          <a:solidFill>
            <a:srgbClr val="F3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22960" y="6144768"/>
            <a:ext cx="82296" cy="457200"/>
          </a:xfrm>
          <a:prstGeom prst="rect">
            <a:avLst/>
          </a:prstGeom>
          <a:solidFill>
            <a:srgbClr val="3D2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97280" y="6144768"/>
            <a:ext cx="10058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 spc="-100">
                <a:solidFill>
                  <a:srgbClr val="141412"/>
                </a:solidFill>
                <a:latin typeface="Pretendard"/>
                <a:ea typeface="Pretendard"/>
              </a:rPr>
              <a:t>가장 무거운 ‘첫 바퀴’, 그 바퀴를 돌리는 ‘동력’ = BAT 인플루언서 캠페인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37276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-100">
                <a:solidFill>
                  <a:srgbClr val="C9C4B8"/>
                </a:solidFill>
                <a:latin typeface="Pretendard"/>
                <a:ea typeface="Pretendard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310896"/>
            <a:ext cx="12188952" cy="310896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500" b="1" spc="150">
                <a:solidFill>
                  <a:srgbClr val="3D2B1B"/>
                </a:solidFill>
                <a:latin typeface="Pretendard"/>
                <a:ea typeface="Pretendard"/>
              </a:rPr>
              <a:t>시딩 </a:t>
            </a:r>
            <a:r>
              <a:rPr sz="1500" b="1" spc="150">
                <a:solidFill>
                  <a:srgbClr val="141412"/>
                </a:solidFill>
                <a:latin typeface="Pretendard"/>
                <a:ea typeface="Pretendard"/>
              </a:rPr>
              <a:t>SEEDING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801868" y="676656"/>
            <a:ext cx="585215" cy="0"/>
          </a:xfrm>
          <a:prstGeom prst="bentConnector3">
            <a:avLst/>
          </a:prstGeom>
          <a:ln w="27940">
            <a:solidFill>
              <a:srgbClr val="3D2B1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987552"/>
            <a:ext cx="10543032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 spc="-100">
                <a:solidFill>
                  <a:srgbClr val="141412"/>
                </a:solidFill>
                <a:latin typeface="Pretendard"/>
                <a:ea typeface="Pretendard"/>
              </a:rPr>
              <a:t>왜 인플루언서 시딩이 1순위인가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664208"/>
            <a:ext cx="96286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spc="-100">
                <a:solidFill>
                  <a:srgbClr val="868680"/>
                </a:solidFill>
                <a:latin typeface="Pretendard"/>
                <a:ea typeface="Pretendard"/>
              </a:rPr>
              <a:t>플라이휠의 첫 바퀴 — 가장 무겁지만 가장 먼저 밀어야 하는 곳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502920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C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78992" y="2386584"/>
            <a:ext cx="548640" cy="548640"/>
          </a:xfrm>
          <a:prstGeom prst="ellipse">
            <a:avLst/>
          </a:prstGeom>
          <a:solidFill>
            <a:srgbClr val="3D2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386584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spc="-100">
                <a:solidFill>
                  <a:srgbClr val="FFFFFF"/>
                </a:solidFill>
                <a:latin typeface="Pretendard"/>
                <a:ea typeface="Pretendard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55648" y="2404872"/>
            <a:ext cx="39319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spc="-100">
                <a:solidFill>
                  <a:srgbClr val="141412"/>
                </a:solidFill>
                <a:latin typeface="Pretendard"/>
                <a:ea typeface="Pretendard"/>
              </a:rPr>
              <a:t>‘올더베러’를 시장에 선보인다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063240"/>
            <a:ext cx="4480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spc="-100">
                <a:solidFill>
                  <a:srgbClr val="868680"/>
                </a:solidFill>
                <a:latin typeface="Pretendard"/>
                <a:ea typeface="Pretendard"/>
              </a:rPr>
              <a:t>다수 진성(나노·마이크로) UGC를 전략 일자에 노출해 ‘익숙함·신뢰’를 먼저 쌓는다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383280"/>
            <a:ext cx="4480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spc="-100">
                <a:solidFill>
                  <a:srgbClr val="3D2B1B"/>
                </a:solidFill>
                <a:latin typeface="Pretendard"/>
                <a:ea typeface="Pretendard"/>
              </a:rPr>
              <a:t>브랜드 검색 月 3,000 · #올더베러 100+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36792" y="2148840"/>
            <a:ext cx="502920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C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92824" y="2386584"/>
            <a:ext cx="548640" cy="548640"/>
          </a:xfrm>
          <a:prstGeom prst="ellipse">
            <a:avLst/>
          </a:prstGeom>
          <a:solidFill>
            <a:srgbClr val="3D2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92824" y="2386584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spc="-100">
                <a:solidFill>
                  <a:srgbClr val="FFFFFF"/>
                </a:solidFill>
                <a:latin typeface="Pretendard"/>
                <a:ea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80" y="2404872"/>
            <a:ext cx="39319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spc="-100">
                <a:solidFill>
                  <a:srgbClr val="141412"/>
                </a:solidFill>
                <a:latin typeface="Pretendard"/>
                <a:ea typeface="Pretendard"/>
              </a:rPr>
              <a:t>소비자는 사기 전에 검증한다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11112" y="3063240"/>
            <a:ext cx="4480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spc="-100">
                <a:solidFill>
                  <a:srgbClr val="868680"/>
                </a:solidFill>
                <a:latin typeface="Pretendard"/>
                <a:ea typeface="Pretendard"/>
              </a:rPr>
              <a:t>가격 외 ‘선택 근거’(후기·리뷰·콘텐츠 볼륨)를 쌓아 잘 보이는 제품으로 전환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11112" y="3383280"/>
            <a:ext cx="4480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spc="-100">
                <a:solidFill>
                  <a:srgbClr val="3D2B1B"/>
                </a:solidFill>
                <a:latin typeface="Pretendard"/>
                <a:ea typeface="Pretendard"/>
              </a:rPr>
              <a:t>VOC 재구매율 15.5% · 검증형 구매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023360"/>
            <a:ext cx="502920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C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78992" y="4261104"/>
            <a:ext cx="548640" cy="548640"/>
          </a:xfrm>
          <a:prstGeom prst="ellipse">
            <a:avLst/>
          </a:prstGeom>
          <a:solidFill>
            <a:srgbClr val="3D2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78992" y="4261104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spc="-100">
                <a:solidFill>
                  <a:srgbClr val="FFFFFF"/>
                </a:solidFill>
                <a:latin typeface="Pretendard"/>
                <a:ea typeface="Pretendard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55648" y="4279392"/>
            <a:ext cx="39319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spc="-100">
                <a:solidFill>
                  <a:srgbClr val="141412"/>
                </a:solidFill>
                <a:latin typeface="Pretendard"/>
                <a:ea typeface="Pretendard"/>
              </a:rPr>
              <a:t>‘어떻게 먹는지’를 보여준다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937760"/>
            <a:ext cx="4480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spc="-100">
                <a:solidFill>
                  <a:srgbClr val="868680"/>
                </a:solidFill>
                <a:latin typeface="Pretendard"/>
                <a:ea typeface="Pretendard"/>
              </a:rPr>
              <a:t>실제 사용 상황(아침 공복·야근·취침 전)을 일상으로 가져오는 CDJ 패턴 진입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5257800"/>
            <a:ext cx="4480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spc="-100">
                <a:solidFill>
                  <a:srgbClr val="3D2B1B"/>
                </a:solidFill>
                <a:latin typeface="Pretendard"/>
                <a:ea typeface="Pretendard"/>
              </a:rPr>
              <a:t>올영 VOC + 인스타 릴스 분석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36792" y="4023360"/>
            <a:ext cx="502920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C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592824" y="4261104"/>
            <a:ext cx="548640" cy="548640"/>
          </a:xfrm>
          <a:prstGeom prst="ellipse">
            <a:avLst/>
          </a:prstGeom>
          <a:solidFill>
            <a:srgbClr val="3D2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92824" y="4261104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spc="-100">
                <a:solidFill>
                  <a:srgbClr val="FFFFFF"/>
                </a:solidFill>
                <a:latin typeface="Pretendard"/>
                <a:ea typeface="Pretendard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69480" y="4279392"/>
            <a:ext cx="39319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spc="-100">
                <a:solidFill>
                  <a:srgbClr val="141412"/>
                </a:solidFill>
                <a:latin typeface="Pretendard"/>
                <a:ea typeface="Pretendard"/>
              </a:rPr>
              <a:t>올영 PB에서 검증된 방식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11112" y="4937760"/>
            <a:ext cx="4480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spc="-100">
                <a:solidFill>
                  <a:srgbClr val="868680"/>
                </a:solidFill>
                <a:latin typeface="Pretendard"/>
                <a:ea typeface="Pretendard"/>
              </a:rPr>
              <a:t>‘시딩→위닝 콘텐츠→PA 2차’ 성공 공식을 한정 비용 내 최고 효율로 적용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11112" y="5257800"/>
            <a:ext cx="4480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spc="-100">
                <a:solidFill>
                  <a:srgbClr val="3D2B1B"/>
                </a:solidFill>
                <a:latin typeface="Pretendard"/>
                <a:ea typeface="Pretendard"/>
              </a:rPr>
              <a:t>검색 9K→140K · ROAS 324→515%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" y="6144768"/>
            <a:ext cx="10543032" cy="457200"/>
          </a:xfrm>
          <a:prstGeom prst="rect">
            <a:avLst/>
          </a:prstGeom>
          <a:solidFill>
            <a:srgbClr val="F3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2960" y="6144768"/>
            <a:ext cx="82296" cy="457200"/>
          </a:xfrm>
          <a:prstGeom prst="rect">
            <a:avLst/>
          </a:prstGeom>
          <a:solidFill>
            <a:srgbClr val="3D2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97280" y="6144768"/>
            <a:ext cx="10058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 spc="-100">
                <a:solidFill>
                  <a:srgbClr val="141412"/>
                </a:solidFill>
                <a:latin typeface="Pretendard"/>
                <a:ea typeface="Pretendard"/>
              </a:rPr>
              <a:t>그래서 인플루언서 시딩이 1순위 — 플라이휠을 돌리는 현 시장 최고효율 캠페인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37276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-100">
                <a:solidFill>
                  <a:srgbClr val="C9C4B8"/>
                </a:solidFill>
                <a:latin typeface="Pretendard"/>
                <a:ea typeface="Pretendard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310896"/>
            <a:ext cx="12188952" cy="310896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500" b="1" spc="150">
                <a:solidFill>
                  <a:srgbClr val="3D2B1B"/>
                </a:solidFill>
                <a:latin typeface="Pretendard"/>
                <a:ea typeface="Pretendard"/>
              </a:rPr>
              <a:t>시딩 </a:t>
            </a:r>
            <a:r>
              <a:rPr sz="1500" b="1" spc="150">
                <a:solidFill>
                  <a:srgbClr val="141412"/>
                </a:solidFill>
                <a:latin typeface="Pretendard"/>
                <a:ea typeface="Pretendard"/>
              </a:rPr>
              <a:t>SEEDING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801868" y="676656"/>
            <a:ext cx="585215" cy="0"/>
          </a:xfrm>
          <a:prstGeom prst="bentConnector3">
            <a:avLst/>
          </a:prstGeom>
          <a:ln w="27940">
            <a:solidFill>
              <a:srgbClr val="3D2B1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987552"/>
            <a:ext cx="10543032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 spc="-100">
                <a:solidFill>
                  <a:srgbClr val="141412"/>
                </a:solidFill>
                <a:latin typeface="Pretendard"/>
                <a:ea typeface="Pretendard"/>
              </a:rPr>
              <a:t>왜 마이크로·나노 중심인가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664208"/>
            <a:ext cx="96286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spc="-100">
                <a:solidFill>
                  <a:srgbClr val="868680"/>
                </a:solidFill>
                <a:latin typeface="Pretendard"/>
                <a:ea typeface="Pretendard"/>
              </a:rPr>
              <a:t>대형 1회 광고보다, 다수의 생활자가 루틴처럼 말하는 콘텐츠가 웰니스 신뢰를 만든다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5760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-100">
                <a:solidFill>
                  <a:srgbClr val="141412"/>
                </a:solidFill>
                <a:latin typeface="Pretendard"/>
                <a:ea typeface="Pretendard"/>
              </a:rPr>
              <a:t>한눈 비교 — 메가·매크로 vs 마이크로·나노 (2026)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2359152"/>
          <a:ext cx="5760718" cy="2834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68418"/>
                <a:gridCol w="1807284"/>
                <a:gridCol w="2485016"/>
              </a:tblGrid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000" b="1" spc="-10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지표</a:t>
                      </a:r>
                    </a:p>
                  </a:txBody>
                  <a:tcPr marL="63500" marR="63500" marT="25400" marB="25400" anchor="ctr">
                    <a:solidFill>
                      <a:srgbClr val="3D2B1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spc="-10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메가·매크로</a:t>
                      </a:r>
                    </a:p>
                  </a:txBody>
                  <a:tcPr marL="63500" marR="63500" marT="25400" marB="25400" anchor="ctr">
                    <a:solidFill>
                      <a:srgbClr val="3D2B1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spc="-10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마이크로·나노 ★</a:t>
                      </a:r>
                    </a:p>
                  </a:txBody>
                  <a:tcPr marL="63500" marR="63500" marT="25400" marB="25400" anchor="ctr">
                    <a:solidFill>
                      <a:srgbClr val="3D2B1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950" b="1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인게이지먼트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평균 1%대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나노 6.23% (전 티어 최고)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950" b="1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전환율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상대적으로 낮음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매크로 대비 2~3배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950" b="1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진성도·신뢰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광고로 인식·낮음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나노 최고·진성 리뷰 접근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950" b="1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비용·ROI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고비용·단발성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73% 우선 선택·ROI 우수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858000" y="2359152"/>
            <a:ext cx="4480560" cy="10607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C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0" y="2359152"/>
            <a:ext cx="82296" cy="1060704"/>
          </a:xfrm>
          <a:prstGeom prst="rect">
            <a:avLst/>
          </a:prstGeom>
          <a:solidFill>
            <a:srgbClr val="3D2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86600" y="2468880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-100">
                <a:solidFill>
                  <a:srgbClr val="3D2B1B"/>
                </a:solidFill>
                <a:latin typeface="Pretendard"/>
                <a:ea typeface="Pretendard"/>
              </a:rPr>
              <a:t>진성도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600" y="2761488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80" b="0" spc="-100">
                <a:solidFill>
                  <a:srgbClr val="868680"/>
                </a:solidFill>
                <a:latin typeface="Pretendard"/>
                <a:ea typeface="Pretendard"/>
              </a:rPr>
              <a:t>광고가 아니라 ‘내 주변의 후기’ — 니치 생활자의 실제 루틴 콘텐츠가 웰니스 신뢰를 만든다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6600" y="3182112"/>
            <a:ext cx="4114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spc="-100">
                <a:solidFill>
                  <a:srgbClr val="141412"/>
                </a:solidFill>
                <a:latin typeface="Pretendard"/>
                <a:ea typeface="Pretendard"/>
              </a:rPr>
              <a:t>데이터  소비자는 작은 크리에이터를 더 신뢰 (나노 ER 6.23%)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0" y="3547872"/>
            <a:ext cx="4480560" cy="10607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C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0" y="3547872"/>
            <a:ext cx="82296" cy="1060704"/>
          </a:xfrm>
          <a:prstGeom prst="rect">
            <a:avLst/>
          </a:prstGeom>
          <a:solidFill>
            <a:srgbClr val="3D2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86600" y="3657600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-100">
                <a:solidFill>
                  <a:srgbClr val="3D2B1B"/>
                </a:solidFill>
                <a:latin typeface="Pretendard"/>
                <a:ea typeface="Pretendard"/>
              </a:rPr>
              <a:t>반복 노출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6600" y="3950208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80" b="0" spc="-100">
                <a:solidFill>
                  <a:srgbClr val="868680"/>
                </a:solidFill>
                <a:latin typeface="Pretendard"/>
                <a:ea typeface="Pretendard"/>
              </a:rPr>
              <a:t>다수가 같은 시점·다양한 TPO로 말할 때 ‘요즘 올영에서 많이 보이는 제품’ 인식 형성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4370832"/>
            <a:ext cx="4114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spc="-100">
                <a:solidFill>
                  <a:srgbClr val="141412"/>
                </a:solidFill>
                <a:latin typeface="Pretendard"/>
                <a:ea typeface="Pretendard"/>
              </a:rPr>
              <a:t>데이터  73% 브랜드가 마이크로·미드티어 우선 선택(2026)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0" y="4736592"/>
            <a:ext cx="4480560" cy="10607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C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0" y="4736592"/>
            <a:ext cx="82296" cy="1060704"/>
          </a:xfrm>
          <a:prstGeom prst="rect">
            <a:avLst/>
          </a:prstGeom>
          <a:solidFill>
            <a:srgbClr val="3D2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6600" y="4846320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-100">
                <a:solidFill>
                  <a:srgbClr val="3D2B1B"/>
                </a:solidFill>
                <a:latin typeface="Pretendard"/>
                <a:ea typeface="Pretendard"/>
              </a:rPr>
              <a:t>자산화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5138928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80" b="0" spc="-100">
                <a:solidFill>
                  <a:srgbClr val="868680"/>
                </a:solidFill>
                <a:latin typeface="Pretendard"/>
                <a:ea typeface="Pretendard"/>
              </a:rPr>
              <a:t>저단가·다수 콘텐츠가 후기·검색·퍼포먼스 소재로 이어지는 원천 자산이 된다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86600" y="5559552"/>
            <a:ext cx="4114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spc="-100">
                <a:solidFill>
                  <a:srgbClr val="141412"/>
                </a:solidFill>
                <a:latin typeface="Pretendard"/>
                <a:ea typeface="Pretendard"/>
              </a:rPr>
              <a:t>데이터  유료광고 전환 시 ER 2~3배·CPA 절감(PA 2차)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6144768"/>
            <a:ext cx="10543032" cy="457200"/>
          </a:xfrm>
          <a:prstGeom prst="rect">
            <a:avLst/>
          </a:prstGeom>
          <a:solidFill>
            <a:srgbClr val="F3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60" y="6144768"/>
            <a:ext cx="82296" cy="457200"/>
          </a:xfrm>
          <a:prstGeom prst="rect">
            <a:avLst/>
          </a:prstGeom>
          <a:solidFill>
            <a:srgbClr val="3D2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6144768"/>
            <a:ext cx="10058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 spc="-100">
                <a:solidFill>
                  <a:srgbClr val="141412"/>
                </a:solidFill>
                <a:latin typeface="Pretendard"/>
                <a:ea typeface="Pretendard"/>
              </a:rPr>
              <a:t>메가는 ‘광고’, 마이크로·나노는 ‘소문과 디토’ — 다수의 다양한 힘이 플라이휠을 굴린다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37276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-100">
                <a:solidFill>
                  <a:srgbClr val="C9C4B8"/>
                </a:solidFill>
                <a:latin typeface="Pretendard"/>
                <a:ea typeface="Pretendard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310896"/>
            <a:ext cx="12188952" cy="310896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500" b="1" spc="150">
                <a:solidFill>
                  <a:srgbClr val="3D2B1B"/>
                </a:solidFill>
                <a:latin typeface="Pretendard"/>
                <a:ea typeface="Pretendard"/>
              </a:rPr>
              <a:t>운영 </a:t>
            </a:r>
            <a:r>
              <a:rPr sz="1500" b="1" spc="150">
                <a:solidFill>
                  <a:srgbClr val="141412"/>
                </a:solidFill>
                <a:latin typeface="Pretendard"/>
                <a:ea typeface="Pretendard"/>
              </a:rPr>
              <a:t>CREATOR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801868" y="676656"/>
            <a:ext cx="585215" cy="0"/>
          </a:xfrm>
          <a:prstGeom prst="bentConnector3">
            <a:avLst/>
          </a:prstGeom>
          <a:ln w="27940">
            <a:solidFill>
              <a:srgbClr val="3D2B1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987552"/>
            <a:ext cx="10543032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 spc="-100">
                <a:solidFill>
                  <a:srgbClr val="141412"/>
                </a:solidFill>
                <a:latin typeface="Pretendard"/>
                <a:ea typeface="Pretendard"/>
              </a:rPr>
              <a:t>크리에이터 전략 — 역할 &amp; 채널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664208"/>
            <a:ext cx="96286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spc="-100">
                <a:solidFill>
                  <a:srgbClr val="868680"/>
                </a:solidFill>
                <a:latin typeface="Pretendard"/>
                <a:ea typeface="Pretendard"/>
              </a:rPr>
              <a:t>진성·다수의 나노·마이크로를 코어로, 대세감용 매크로 + 멀티 플랫폼 전략 활용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spc="-100">
                <a:solidFill>
                  <a:srgbClr val="141412"/>
                </a:solidFill>
                <a:latin typeface="Pretendard"/>
                <a:ea typeface="Pretendard"/>
              </a:rPr>
              <a:t>① 역할별 구분 (3·4Q 합계 390건)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2377440"/>
          <a:ext cx="5394958" cy="22677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59724"/>
                <a:gridCol w="867047"/>
                <a:gridCol w="2312125"/>
                <a:gridCol w="1156062"/>
              </a:tblGrid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 spc="-10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등급</a:t>
                      </a:r>
                    </a:p>
                  </a:txBody>
                  <a:tcPr marL="63500" marR="63500" marT="25400" marB="25400" anchor="ctr">
                    <a:solidFill>
                      <a:srgbClr val="3D2B1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spc="-10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ER</a:t>
                      </a:r>
                    </a:p>
                  </a:txBody>
                  <a:tcPr marL="63500" marR="63500" marT="25400" marB="25400" anchor="ctr">
                    <a:solidFill>
                      <a:srgbClr val="3D2B1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spc="-10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역할</a:t>
                      </a:r>
                    </a:p>
                  </a:txBody>
                  <a:tcPr marL="63500" marR="63500" marT="25400" marB="25400" anchor="ctr">
                    <a:solidFill>
                      <a:srgbClr val="3D2B1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spc="-10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비중</a:t>
                      </a:r>
                    </a:p>
                  </a:txBody>
                  <a:tcPr marL="63500" marR="63500" marT="25400" marB="25400" anchor="ctr">
                    <a:solidFill>
                      <a:srgbClr val="3D2B1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00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나노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4~6%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진성 후기·UGC 볼륨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225건 44%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00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마이크로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2~4%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전문·전환 코어→PA 2차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150건 47%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00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매크로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1~2%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도달·화제성 점화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15건 9%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92240" y="2011680"/>
            <a:ext cx="48463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spc="-100">
                <a:solidFill>
                  <a:srgbClr val="141412"/>
                </a:solidFill>
                <a:latin typeface="Pretendard"/>
                <a:ea typeface="Pretendard"/>
              </a:rPr>
              <a:t>② 채널별 구분 (인스타그램 절대 비중)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92240" y="2377440"/>
          <a:ext cx="4846319" cy="228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600"/>
                <a:gridCol w="3474719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 spc="-10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채널</a:t>
                      </a:r>
                    </a:p>
                  </a:txBody>
                  <a:tcPr marL="63500" marR="63500" marT="25400" marB="25400" anchor="ctr">
                    <a:solidFill>
                      <a:srgbClr val="3D2B1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spc="-10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역할</a:t>
                      </a:r>
                    </a:p>
                  </a:txBody>
                  <a:tcPr marL="63500" marR="63500" marT="25400" marB="25400" anchor="ctr">
                    <a:solidFill>
                      <a:srgbClr val="3D2B1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★ 인스타 릴스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시딩 코어·전환 허브 → 메타 파트너십 2차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유튜브·틱톡 쇼츠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숏폼 바이럴·확산 보조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X (트위터)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실시간 트렌드 + 바이럴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네이버 블로그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검색 후기·신뢰·정보 탐색 대응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22960" y="5074920"/>
            <a:ext cx="10515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spc="-100">
                <a:solidFill>
                  <a:srgbClr val="141412"/>
                </a:solidFill>
                <a:latin typeface="Pretendard"/>
                <a:ea typeface="Pretendard"/>
              </a:rPr>
              <a:t>크리에이터 풀 = 웰니스 접점 타겟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5440680"/>
            <a:ext cx="2542032" cy="457200"/>
          </a:xfrm>
          <a:prstGeom prst="roundRect">
            <a:avLst>
              <a:gd name="adj" fmla="val 8000"/>
            </a:avLst>
          </a:prstGeom>
          <a:solidFill>
            <a:srgbClr val="F3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5440680"/>
            <a:ext cx="254203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spc="-100">
                <a:solidFill>
                  <a:srgbClr val="141412"/>
                </a:solidFill>
                <a:latin typeface="Pretendard"/>
                <a:ea typeface="Pretendard"/>
              </a:rPr>
              <a:t>✓  홈트·피트니스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29584" y="5440680"/>
            <a:ext cx="2542032" cy="457200"/>
          </a:xfrm>
          <a:prstGeom prst="roundRect">
            <a:avLst>
              <a:gd name="adj" fmla="val 8000"/>
            </a:avLst>
          </a:prstGeom>
          <a:solidFill>
            <a:srgbClr val="F3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9584" y="5440680"/>
            <a:ext cx="254203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spc="-100">
                <a:solidFill>
                  <a:srgbClr val="141412"/>
                </a:solidFill>
                <a:latin typeface="Pretendard"/>
                <a:ea typeface="Pretendard"/>
              </a:rPr>
              <a:t>✓  요가·필라테스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5440680"/>
            <a:ext cx="2542032" cy="457200"/>
          </a:xfrm>
          <a:prstGeom prst="roundRect">
            <a:avLst>
              <a:gd name="adj" fmla="val 8000"/>
            </a:avLst>
          </a:prstGeom>
          <a:solidFill>
            <a:srgbClr val="F3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36208" y="5440680"/>
            <a:ext cx="254203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spc="-100">
                <a:solidFill>
                  <a:srgbClr val="141412"/>
                </a:solidFill>
                <a:latin typeface="Pretendard"/>
                <a:ea typeface="Pretendard"/>
              </a:rPr>
              <a:t>✓  러닝크루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42832" y="5440680"/>
            <a:ext cx="2542032" cy="457200"/>
          </a:xfrm>
          <a:prstGeom prst="roundRect">
            <a:avLst>
              <a:gd name="adj" fmla="val 8000"/>
            </a:avLst>
          </a:prstGeom>
          <a:solidFill>
            <a:srgbClr val="F3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42832" y="5440680"/>
            <a:ext cx="254203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spc="-100">
                <a:solidFill>
                  <a:srgbClr val="141412"/>
                </a:solidFill>
                <a:latin typeface="Pretendard"/>
                <a:ea typeface="Pretendard"/>
              </a:rPr>
              <a:t>✓  헬시 레시피·식단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5989320"/>
            <a:ext cx="2542032" cy="457200"/>
          </a:xfrm>
          <a:prstGeom prst="roundRect">
            <a:avLst>
              <a:gd name="adj" fmla="val 8000"/>
            </a:avLst>
          </a:prstGeom>
          <a:solidFill>
            <a:srgbClr val="F3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5989320"/>
            <a:ext cx="254203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spc="-100">
                <a:solidFill>
                  <a:srgbClr val="141412"/>
                </a:solidFill>
                <a:latin typeface="Pretendard"/>
                <a:ea typeface="Pretendard"/>
              </a:rPr>
              <a:t>✓  다이어트·바디프로필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29584" y="5989320"/>
            <a:ext cx="2542032" cy="457200"/>
          </a:xfrm>
          <a:prstGeom prst="roundRect">
            <a:avLst>
              <a:gd name="adj" fmla="val 8000"/>
            </a:avLst>
          </a:prstGeom>
          <a:solidFill>
            <a:srgbClr val="F3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29584" y="5989320"/>
            <a:ext cx="254203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spc="-100">
                <a:solidFill>
                  <a:srgbClr val="141412"/>
                </a:solidFill>
                <a:latin typeface="Pretendard"/>
                <a:ea typeface="Pretendard"/>
              </a:rPr>
              <a:t>✓  직장인 모닝루틴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6208" y="5989320"/>
            <a:ext cx="2542032" cy="457200"/>
          </a:xfrm>
          <a:prstGeom prst="roundRect">
            <a:avLst>
              <a:gd name="adj" fmla="val 8000"/>
            </a:avLst>
          </a:prstGeom>
          <a:solidFill>
            <a:srgbClr val="F3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36208" y="5989320"/>
            <a:ext cx="254203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spc="-100">
                <a:solidFill>
                  <a:srgbClr val="141412"/>
                </a:solidFill>
                <a:latin typeface="Pretendard"/>
                <a:ea typeface="Pretendard"/>
              </a:rPr>
              <a:t>✓  헬시플레저 라이프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42832" y="5989320"/>
            <a:ext cx="2542032" cy="457200"/>
          </a:xfrm>
          <a:prstGeom prst="roundRect">
            <a:avLst>
              <a:gd name="adj" fmla="val 8000"/>
            </a:avLst>
          </a:prstGeom>
          <a:solidFill>
            <a:srgbClr val="F3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42832" y="5989320"/>
            <a:ext cx="254203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spc="-100">
                <a:solidFill>
                  <a:srgbClr val="141412"/>
                </a:solidFill>
                <a:latin typeface="Pretendard"/>
                <a:ea typeface="Pretendard"/>
              </a:rPr>
              <a:t>✓  러닝·자기관리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6510528"/>
            <a:ext cx="10543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spc="-100">
                <a:solidFill>
                  <a:srgbClr val="868680"/>
                </a:solidFill>
                <a:latin typeface="Pretendard"/>
                <a:ea typeface="Pretendard"/>
              </a:rPr>
              <a:t>※ ER(인게이지먼트율) = (좋아요+댓글+저장+공유) ÷ 팔로워, 게시물당 평균 · 인스타그램 기준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37276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-100">
                <a:solidFill>
                  <a:srgbClr val="C9C4B8"/>
                </a:solidFill>
                <a:latin typeface="Pretendard"/>
                <a:ea typeface="Pretendard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310896"/>
            <a:ext cx="12188952" cy="310896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500" b="1" spc="150">
                <a:solidFill>
                  <a:srgbClr val="3D2B1B"/>
                </a:solidFill>
                <a:latin typeface="Pretendard"/>
                <a:ea typeface="Pretendard"/>
              </a:rPr>
              <a:t>운영 </a:t>
            </a:r>
            <a:r>
              <a:rPr sz="1500" b="1" spc="150">
                <a:solidFill>
                  <a:srgbClr val="141412"/>
                </a:solidFill>
                <a:latin typeface="Pretendard"/>
                <a:ea typeface="Pretendard"/>
              </a:rPr>
              <a:t>CREATOR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801868" y="676656"/>
            <a:ext cx="585215" cy="0"/>
          </a:xfrm>
          <a:prstGeom prst="bentConnector3">
            <a:avLst/>
          </a:prstGeom>
          <a:ln w="27940">
            <a:solidFill>
              <a:srgbClr val="3D2B1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987552"/>
            <a:ext cx="10543032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 spc="-100">
                <a:solidFill>
                  <a:srgbClr val="141412"/>
                </a:solidFill>
                <a:latin typeface="Pretendard"/>
                <a:ea typeface="Pretendard"/>
              </a:rPr>
              <a:t>크리에이터 리스트업 — 기준 &amp; 매칭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664208"/>
            <a:ext cx="96286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spc="-100">
                <a:solidFill>
                  <a:srgbClr val="868680"/>
                </a:solidFill>
                <a:latin typeface="Pretendard"/>
                <a:ea typeface="Pretendard"/>
              </a:rPr>
              <a:t>‘많이’가 아닌 ‘맞는’ 크리에이터 — 웰니스 버티컬별로 제품·앵글 매칭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2148840"/>
            <a:ext cx="566928" cy="566928"/>
          </a:xfrm>
          <a:prstGeom prst="ellipse">
            <a:avLst/>
          </a:prstGeom>
          <a:solidFill>
            <a:srgbClr val="3D2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spc="-100">
                <a:solidFill>
                  <a:srgbClr val="FFFFFF"/>
                </a:solidFill>
                <a:latin typeface="Pretendard"/>
                <a:ea typeface="Pretendard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148840"/>
            <a:ext cx="32918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-100">
                <a:solidFill>
                  <a:srgbClr val="141412"/>
                </a:solidFill>
                <a:latin typeface="Pretendard"/>
                <a:ea typeface="Pretendard"/>
              </a:rPr>
              <a:t>브랜드 적합도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478024"/>
            <a:ext cx="3291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spc="-100">
                <a:solidFill>
                  <a:srgbClr val="868680"/>
                </a:solidFill>
                <a:latin typeface="Pretendard"/>
                <a:ea typeface="Pretendard"/>
              </a:rPr>
              <a:t>30대 직장인·웰니스 + 라이프스타일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3108960"/>
            <a:ext cx="566928" cy="566928"/>
          </a:xfrm>
          <a:prstGeom prst="ellipse">
            <a:avLst/>
          </a:prstGeom>
          <a:solidFill>
            <a:srgbClr val="3D2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10896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spc="-100">
                <a:solidFill>
                  <a:srgbClr val="FFFFFF"/>
                </a:solidFill>
                <a:latin typeface="Pretendard"/>
                <a:ea typeface="Pretendard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3108960"/>
            <a:ext cx="32918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-100">
                <a:solidFill>
                  <a:srgbClr val="141412"/>
                </a:solidFill>
                <a:latin typeface="Pretendard"/>
                <a:ea typeface="Pretendard"/>
              </a:rPr>
              <a:t>진성도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438144"/>
            <a:ext cx="3291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spc="-100">
                <a:solidFill>
                  <a:srgbClr val="868680"/>
                </a:solidFill>
                <a:latin typeface="Pretendard"/>
                <a:ea typeface="Pretendard"/>
              </a:rPr>
              <a:t>팔로워 대비 ER 지수 체크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4069080"/>
            <a:ext cx="566928" cy="566928"/>
          </a:xfrm>
          <a:prstGeom prst="ellipse">
            <a:avLst/>
          </a:prstGeom>
          <a:solidFill>
            <a:srgbClr val="3D2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06908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spc="-100">
                <a:solidFill>
                  <a:srgbClr val="FFFFFF"/>
                </a:solidFill>
                <a:latin typeface="Pretendard"/>
                <a:ea typeface="Pretendard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4069080"/>
            <a:ext cx="32918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-100">
                <a:solidFill>
                  <a:srgbClr val="141412"/>
                </a:solidFill>
                <a:latin typeface="Pretendard"/>
                <a:ea typeface="Pretendard"/>
              </a:rPr>
              <a:t>콘텐츠 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4398264"/>
            <a:ext cx="3291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spc="-100">
                <a:solidFill>
                  <a:srgbClr val="868680"/>
                </a:solidFill>
                <a:latin typeface="Pretendard"/>
                <a:ea typeface="Pretendard"/>
              </a:rPr>
              <a:t>일상에 녹이는 톤앤무드 부합</a:t>
            </a:r>
          </a:p>
        </p:txBody>
      </p:sp>
      <p:sp>
        <p:nvSpPr>
          <p:cNvPr id="18" name="Oval 17"/>
          <p:cNvSpPr/>
          <p:nvPr/>
        </p:nvSpPr>
        <p:spPr>
          <a:xfrm>
            <a:off x="822960" y="5029200"/>
            <a:ext cx="566928" cy="566928"/>
          </a:xfrm>
          <a:prstGeom prst="ellipse">
            <a:avLst/>
          </a:prstGeom>
          <a:solidFill>
            <a:srgbClr val="3D2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02920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spc="-100">
                <a:solidFill>
                  <a:srgbClr val="FFFFFF"/>
                </a:solidFill>
                <a:latin typeface="Pretendard"/>
                <a:ea typeface="Pretendard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5029200"/>
            <a:ext cx="32918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-100">
                <a:solidFill>
                  <a:srgbClr val="141412"/>
                </a:solidFill>
                <a:latin typeface="Pretendard"/>
                <a:ea typeface="Pretendard"/>
              </a:rPr>
              <a:t>심의 안전성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5358384"/>
            <a:ext cx="3291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spc="-100">
                <a:solidFill>
                  <a:srgbClr val="868680"/>
                </a:solidFill>
                <a:latin typeface="Pretendard"/>
                <a:ea typeface="Pretendard"/>
              </a:rPr>
              <a:t>건기식 소개 심의 가이드 준수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5212080" y="2148840"/>
          <a:ext cx="6126480" cy="37124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31620"/>
                <a:gridCol w="1327404"/>
                <a:gridCol w="3267456"/>
              </a:tblGrid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050" b="1" spc="-10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웰니스 버티컬</a:t>
                      </a:r>
                    </a:p>
                  </a:txBody>
                  <a:tcPr marL="63500" marR="63500" marT="25400" marB="25400" anchor="ctr">
                    <a:solidFill>
                      <a:srgbClr val="3D2B1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spc="-10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등급</a:t>
                      </a:r>
                    </a:p>
                  </a:txBody>
                  <a:tcPr marL="63500" marR="63500" marT="25400" marB="25400" anchor="ctr">
                    <a:solidFill>
                      <a:srgbClr val="3D2B1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spc="-10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매칭 제품 · 앵글</a:t>
                      </a:r>
                    </a:p>
                  </a:txBody>
                  <a:tcPr marL="63500" marR="63500" marT="25400" marB="25400" anchor="ctr">
                    <a:solidFill>
                      <a:srgbClr val="3D2B1B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9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홈트·피트니스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마이크로·나노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구미(루테인·올인원) — 운동 루틴 챙김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9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요가·필라테스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마이크로·나노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멜라나잇·콜라겐 — 자기관리 리추얼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9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러닝크루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나노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스틱·캡슐 — 휴대·아침 에너지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9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헬시 레시피·식단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마이크로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올리브오일 — 요리·식단 자연 노출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9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다이어트·바디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마이크로·나노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구미·스틱 — 식단 간식 대체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9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헬시플레저 라이프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매크로·마이크로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전 라인 — ‘건강하게 즐기는’ 무드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</a:tr>
            </a:tbl>
          </a:graphicData>
        </a:graphic>
      </p:graphicFrame>
      <p:sp>
        <p:nvSpPr>
          <p:cNvPr id="23" name="Rectangle 22"/>
          <p:cNvSpPr/>
          <p:nvPr/>
        </p:nvSpPr>
        <p:spPr>
          <a:xfrm>
            <a:off x="822960" y="6144768"/>
            <a:ext cx="10543032" cy="457200"/>
          </a:xfrm>
          <a:prstGeom prst="rect">
            <a:avLst/>
          </a:prstGeom>
          <a:solidFill>
            <a:srgbClr val="F3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60" y="6144768"/>
            <a:ext cx="82296" cy="457200"/>
          </a:xfrm>
          <a:prstGeom prst="rect">
            <a:avLst/>
          </a:prstGeom>
          <a:solidFill>
            <a:srgbClr val="3D2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6144768"/>
            <a:ext cx="10058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 spc="-100">
                <a:solidFill>
                  <a:srgbClr val="141412"/>
                </a:solidFill>
                <a:latin typeface="Pretendard"/>
                <a:ea typeface="Pretendard"/>
              </a:rPr>
              <a:t>프로세스 — 롱리스트 → 진성·심의 스크리닝 → 숏리스트 컨택 → 시즌별 배분(세일=매크로 가중)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37276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-100">
                <a:solidFill>
                  <a:srgbClr val="C9C4B8"/>
                </a:solidFill>
                <a:latin typeface="Pretendard"/>
                <a:ea typeface="Pretendard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310896"/>
            <a:ext cx="12188952" cy="310896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500" b="1" spc="150">
                <a:solidFill>
                  <a:srgbClr val="3D2B1B"/>
                </a:solidFill>
                <a:latin typeface="Pretendard"/>
                <a:ea typeface="Pretendard"/>
              </a:rPr>
              <a:t>콘텐츠 </a:t>
            </a:r>
            <a:r>
              <a:rPr sz="1500" b="1" spc="150">
                <a:solidFill>
                  <a:srgbClr val="141412"/>
                </a:solidFill>
                <a:latin typeface="Pretendard"/>
                <a:ea typeface="Pretendard"/>
              </a:rPr>
              <a:t>ANGLE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801868" y="676656"/>
            <a:ext cx="585215" cy="0"/>
          </a:xfrm>
          <a:prstGeom prst="bentConnector3">
            <a:avLst/>
          </a:prstGeom>
          <a:ln w="27940">
            <a:solidFill>
              <a:srgbClr val="3D2B1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987552"/>
            <a:ext cx="10543032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 spc="-100">
                <a:solidFill>
                  <a:srgbClr val="141412"/>
                </a:solidFill>
                <a:latin typeface="Pretendard"/>
                <a:ea typeface="Pretendard"/>
              </a:rPr>
              <a:t>제품·단계·타겟·TPO별 콘텐츠 앵글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664208"/>
            <a:ext cx="96286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spc="-100">
                <a:solidFill>
                  <a:srgbClr val="868680"/>
                </a:solidFill>
                <a:latin typeface="Pretendard"/>
                <a:ea typeface="Pretendard"/>
              </a:rPr>
              <a:t>성공 훅 = 명확한 타겟 × 구체적 상황·에피소드 × 반전 또는 팩트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2615184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C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48840"/>
            <a:ext cx="2615184" cy="841248"/>
          </a:xfrm>
          <a:prstGeom prst="rect">
            <a:avLst/>
          </a:prstGeom>
          <a:solidFill>
            <a:srgbClr val="3D2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258568"/>
            <a:ext cx="261518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spc="200">
                <a:solidFill>
                  <a:srgbClr val="C7CE3E"/>
                </a:solidFill>
                <a:latin typeface="Pretendard"/>
                <a:ea typeface="Pretendard"/>
              </a:rPr>
              <a:t>SEED · 첫 바퀴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32888"/>
            <a:ext cx="261518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spc="-100">
                <a:solidFill>
                  <a:srgbClr val="FFFFFF"/>
                </a:solidFill>
                <a:latin typeface="Pretendard"/>
                <a:ea typeface="Pretendard"/>
              </a:rPr>
              <a:t>① 인지·발견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" y="3172968"/>
            <a:ext cx="2157984" cy="2423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050" b="0" spc="-100">
                <a:solidFill>
                  <a:srgbClr val="868680"/>
                </a:solidFill>
                <a:latin typeface="Pretendard"/>
                <a:ea typeface="Pretendard"/>
              </a:rPr>
              <a:t>·  멜라나잇 · 취침 전
밤에 쉽게 못 드는 30대
“불 끄기 전, 마무리 한 알”</a:t>
            </a:r>
          </a:p>
          <a:p>
            <a:pPr>
              <a:spcAft>
                <a:spcPts val="600"/>
              </a:spcAft>
            </a:pPr>
            <a:r>
              <a:rPr sz="1050" b="0" spc="-100">
                <a:solidFill>
                  <a:srgbClr val="868680"/>
                </a:solidFill>
                <a:latin typeface="Pretendard"/>
                <a:ea typeface="Pretendard"/>
              </a:rPr>
              <a:t>·  웰니스 구미 · 오후 슬럼프
야근 잦은 직장인
“11시 퇴근, 나른한 3시”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75303" y="2148840"/>
            <a:ext cx="2615184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C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75303" y="2148840"/>
            <a:ext cx="2615184" cy="841248"/>
          </a:xfrm>
          <a:prstGeom prst="rect">
            <a:avLst/>
          </a:prstGeom>
          <a:solidFill>
            <a:srgbClr val="3D2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75303" y="2258568"/>
            <a:ext cx="261518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spc="200">
                <a:solidFill>
                  <a:srgbClr val="C7CE3E"/>
                </a:solidFill>
                <a:latin typeface="Pretendard"/>
                <a:ea typeface="Pretendard"/>
              </a:rPr>
              <a:t>PROVE · 관성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75303" y="2532888"/>
            <a:ext cx="261518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spc="-100">
                <a:solidFill>
                  <a:srgbClr val="FFFFFF"/>
                </a:solidFill>
                <a:latin typeface="Pretendard"/>
                <a:ea typeface="Pretendard"/>
              </a:rPr>
              <a:t>② 검증·신뢰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13048" y="3172968"/>
            <a:ext cx="2157984" cy="2423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050" b="0" spc="-100">
                <a:solidFill>
                  <a:srgbClr val="868680"/>
                </a:solidFill>
                <a:latin typeface="Pretendard"/>
                <a:ea typeface="Pretendard"/>
              </a:rPr>
              <a:t>·  올리브오일 캡슐 · 아침 공복
공복 섭취 고민 입문자
“공복에 올리브오일? 속쓰림?”</a:t>
            </a:r>
          </a:p>
          <a:p>
            <a:pPr>
              <a:spcAft>
                <a:spcPts val="600"/>
              </a:spcAft>
            </a:pPr>
            <a:r>
              <a:rPr sz="1050" b="0" spc="-100">
                <a:solidFill>
                  <a:srgbClr val="868680"/>
                </a:solidFill>
                <a:latin typeface="Pretendard"/>
                <a:ea typeface="Pretendard"/>
              </a:rPr>
              <a:t>·  캡슐 · 정보 탐색
가성비 따지는 30대
“생오일 vs 캡슐 가성비 팩트체크”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27648" y="2148840"/>
            <a:ext cx="2615184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C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27648" y="2148840"/>
            <a:ext cx="2615184" cy="841248"/>
          </a:xfrm>
          <a:prstGeom prst="rect">
            <a:avLst/>
          </a:prstGeom>
          <a:solidFill>
            <a:srgbClr val="3D2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27648" y="2258568"/>
            <a:ext cx="261518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spc="200">
                <a:solidFill>
                  <a:srgbClr val="C7CE3E"/>
                </a:solidFill>
                <a:latin typeface="Pretendard"/>
                <a:ea typeface="Pretendard"/>
              </a:rPr>
              <a:t>BOOST · 가속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7648" y="2532888"/>
            <a:ext cx="261518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spc="-100">
                <a:solidFill>
                  <a:srgbClr val="FFFFFF"/>
                </a:solidFill>
                <a:latin typeface="Pretendard"/>
                <a:ea typeface="Pretendard"/>
              </a:rPr>
              <a:t>③ 전환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65392" y="3172968"/>
            <a:ext cx="2157984" cy="2423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050" b="0" spc="-100">
                <a:solidFill>
                  <a:srgbClr val="868680"/>
                </a:solidFill>
                <a:latin typeface="Pretendard"/>
                <a:ea typeface="Pretendard"/>
              </a:rPr>
              <a:t>·  스틱 · 재구매 고민
맛 때문에 망설인 사람
“오일 무슨 맛인지 표현해볼게요”</a:t>
            </a:r>
          </a:p>
          <a:p>
            <a:pPr>
              <a:spcAft>
                <a:spcPts val="600"/>
              </a:spcAft>
            </a:pPr>
            <a:r>
              <a:rPr sz="1050" b="0" spc="-100">
                <a:solidFill>
                  <a:srgbClr val="868680"/>
                </a:solidFill>
                <a:latin typeface="Pretendard"/>
                <a:ea typeface="Pretendard"/>
              </a:rPr>
              <a:t>·  히어로 라인 · 올영세일
장바구니 담아둔 대기족
“이번 세일 꼭 사야 하는 이유”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79992" y="2148840"/>
            <a:ext cx="2615184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C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79992" y="2148840"/>
            <a:ext cx="2615184" cy="841248"/>
          </a:xfrm>
          <a:prstGeom prst="rect">
            <a:avLst/>
          </a:prstGeom>
          <a:solidFill>
            <a:srgbClr val="3D2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79992" y="2258568"/>
            <a:ext cx="261518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spc="200">
                <a:solidFill>
                  <a:srgbClr val="C7CE3E"/>
                </a:solidFill>
                <a:latin typeface="Pretendard"/>
                <a:ea typeface="Pretendard"/>
              </a:rPr>
              <a:t>RETAIN · 자가가속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79992" y="2532888"/>
            <a:ext cx="261518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spc="-100">
                <a:solidFill>
                  <a:srgbClr val="FFFFFF"/>
                </a:solidFill>
                <a:latin typeface="Pretendard"/>
                <a:ea typeface="Pretendard"/>
              </a:rPr>
              <a:t>④ 재구매·확장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17736" y="3172968"/>
            <a:ext cx="2157984" cy="2423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050" b="0" spc="-100">
                <a:solidFill>
                  <a:srgbClr val="868680"/>
                </a:solidFill>
                <a:latin typeface="Pretendard"/>
                <a:ea typeface="Pretendard"/>
              </a:rPr>
              <a:t>·  구미·캡슐 · 완주 인증
작심삼일러 · 한 통 완주 후
“안 먹고 쌓인 통 vs 싹 비운 통”</a:t>
            </a:r>
          </a:p>
          <a:p>
            <a:pPr>
              <a:spcAft>
                <a:spcPts val="600"/>
              </a:spcAft>
            </a:pPr>
            <a:r>
              <a:rPr sz="1050" b="0" spc="-100">
                <a:solidFill>
                  <a:srgbClr val="868680"/>
                </a:solidFill>
                <a:latin typeface="Pretendard"/>
                <a:ea typeface="Pretendard"/>
              </a:rPr>
              <a:t>·  스틱 · K-웰니스
K-뷰티 관심 외국인
“K-뷰티 다음은 K-웰니스”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6144768"/>
            <a:ext cx="10543032" cy="457200"/>
          </a:xfrm>
          <a:prstGeom prst="rect">
            <a:avLst/>
          </a:prstGeom>
          <a:solidFill>
            <a:srgbClr val="F3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" y="6144768"/>
            <a:ext cx="82296" cy="457200"/>
          </a:xfrm>
          <a:prstGeom prst="rect">
            <a:avLst/>
          </a:prstGeom>
          <a:solidFill>
            <a:srgbClr val="3D2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" y="6144768"/>
            <a:ext cx="10058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 spc="-100">
                <a:solidFill>
                  <a:srgbClr val="141412"/>
                </a:solidFill>
                <a:latin typeface="Pretendard"/>
                <a:ea typeface="Pretendard"/>
              </a:rPr>
              <a:t>앵글은 VOC 1,104건에서 도출 · 식품 분류별 심의 가드 + 풀 대본은 부록 참조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37276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-100">
                <a:solidFill>
                  <a:srgbClr val="C9C4B8"/>
                </a:solidFill>
                <a:latin typeface="Pretendard"/>
                <a:ea typeface="Pretendard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310896"/>
            <a:ext cx="12188952" cy="310896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500" b="1" spc="150">
                <a:solidFill>
                  <a:srgbClr val="3D2B1B"/>
                </a:solidFill>
                <a:latin typeface="Pretendard"/>
                <a:ea typeface="Pretendard"/>
              </a:rPr>
              <a:t>콘텐츠 </a:t>
            </a:r>
            <a:r>
              <a:rPr sz="1500" b="1" spc="150">
                <a:solidFill>
                  <a:srgbClr val="141412"/>
                </a:solidFill>
                <a:latin typeface="Pretendard"/>
                <a:ea typeface="Pretendard"/>
              </a:rPr>
              <a:t>REELS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801868" y="676656"/>
            <a:ext cx="585215" cy="0"/>
          </a:xfrm>
          <a:prstGeom prst="bentConnector3">
            <a:avLst/>
          </a:prstGeom>
          <a:ln w="27940">
            <a:solidFill>
              <a:srgbClr val="3D2B1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987552"/>
            <a:ext cx="10543032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 spc="-100">
                <a:solidFill>
                  <a:srgbClr val="141412"/>
                </a:solidFill>
                <a:latin typeface="Pretendard"/>
                <a:ea typeface="Pretendard"/>
              </a:rPr>
              <a:t>제품별 릴스 컨셉 — 올리브오일 4 · 구미 8종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664208"/>
            <a:ext cx="96286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spc="-100">
                <a:solidFill>
                  <a:srgbClr val="868680"/>
                </a:solidFill>
                <a:latin typeface="Pretendard"/>
                <a:ea typeface="Pretendard"/>
              </a:rPr>
              <a:t>성공 훅 = 명확한 타겟 × 구체적 상황 × 반전/팩트 · 모든 훅은 VOC 1,104건에서 도출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2194560"/>
          <a:ext cx="10543031" cy="41010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43198"/>
                <a:gridCol w="3589117"/>
                <a:gridCol w="4710716"/>
              </a:tblGrid>
              <a:tr h="315468">
                <a:tc>
                  <a:txBody>
                    <a:bodyPr wrap="square"/>
                    <a:lstStyle/>
                    <a:p>
                      <a:pPr algn="l"/>
                      <a:r>
                        <a:rPr sz="1000" b="1" spc="-10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제품 (분류)</a:t>
                      </a:r>
                    </a:p>
                  </a:txBody>
                  <a:tcPr marL="63500" marR="63500" marT="25400" marB="25400" anchor="ctr">
                    <a:solidFill>
                      <a:srgbClr val="3D2B1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spc="-10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컨셉 / 훅</a:t>
                      </a:r>
                    </a:p>
                  </a:txBody>
                  <a:tcPr marL="63500" marR="63500" marT="25400" marB="25400" anchor="ctr">
                    <a:solidFill>
                      <a:srgbClr val="3D2B1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spc="-10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인트로 예시 (소비자 언어)</a:t>
                      </a:r>
                    </a:p>
                  </a:txBody>
                  <a:tcPr marL="63500" marR="63500" marT="25400" marB="25400" anchor="ctr">
                    <a:solidFill>
                      <a:srgbClr val="3D2B1B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l"/>
                      <a:r>
                        <a:rPr sz="90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캡슐 A (일반)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생올리브오일 챌린지 → 캡슐 반전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“몸에 좋다길래 생으로 먹어봤다 울었음 😵”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l"/>
                      <a:r>
                        <a:rPr sz="90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캡슐 B (일반)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‘알약 잘 못 먹는 사람용’ 목넘김 실연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“알약만 먹으면 목에 걸리는 사람… 저요 🙋”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l"/>
                      <a:r>
                        <a:rPr sz="90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스틱 A (일반)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가방에 쏙, 출근길 한 포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“요즘 가방에 꼭 챙기는 거 하나”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l"/>
                      <a:r>
                        <a:rPr sz="90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스틱 B (일반)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오일 맛 솔직 리뷰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“오일에서는 역시 오일 맛이 나야죠”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l"/>
                      <a:r>
                        <a:rPr sz="90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구미·멜라나잇 (일반)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자기 전 무드 리추얼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“잠 들기 전 마지막으로… 할 일이 있어요”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l"/>
                      <a:r>
                        <a:rPr sz="90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구미·콜라겐 (일반)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디저트 대신 한 알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“단 거 당기는데 죄책감은 싫고”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l"/>
                      <a:r>
                        <a:rPr sz="90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구미·올인원 (건기식)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영양제 5통 대신 하루 두 알 — 입문자용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“영양제 사두고 결국 안 먹게 되는 사람 모여라”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l"/>
                      <a:r>
                        <a:rPr sz="90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구미·철분 (건기식)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비린 철분제 포기족 → 안 비린 젤리 반전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“철분제 비려서 뱉어본 사람… 이건 좀 다른데?”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l"/>
                      <a:r>
                        <a:rPr sz="90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구미·루테인 (건기식)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모니터 앞 직장인의 눈 챙기기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“내 눈 하루 종일 혹사 당하는데 괜찮으려나”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l"/>
                      <a:r>
                        <a:rPr sz="90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구미·비타민C (건기식)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시고 큰 알약 대신 새콤한 한 알 · 환절기 챙김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“환절기마다 챙기는데 알약은 너무 크잖아요”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l"/>
                      <a:r>
                        <a:rPr sz="90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구미·바나바잎 (건기식)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식후 혈당 스파이크 공감 연출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“혈당 스파이크 뚜드려 맞는 당신!”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l"/>
                      <a:r>
                        <a:rPr sz="90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구미·비오틴 (건기식)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베개 위 머리카락 늘었다면 — 헤어케어 루틴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“요즘 머리 신경 쓰여서 챙기기 시작한 거”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22960" y="6400800"/>
            <a:ext cx="10543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spc="-100">
                <a:solidFill>
                  <a:srgbClr val="868680"/>
                </a:solidFill>
                <a:latin typeface="Pretendard"/>
                <a:ea typeface="Pretendard"/>
              </a:rPr>
              <a:t>신규 4종(올인원·철분·비타민C·비오틴) = VOC 질문·긍정 리뷰 기반 · 건기식은 인정 기능성 범위(맛·편의·TPO) 내 Half-EGC로 운영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37276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-100">
                <a:solidFill>
                  <a:srgbClr val="C9C4B8"/>
                </a:solidFill>
                <a:latin typeface="Pretendard"/>
                <a:ea typeface="Pretendard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310896"/>
            <a:ext cx="12188952" cy="310896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500" b="1" spc="150">
                <a:solidFill>
                  <a:srgbClr val="3D2B1B"/>
                </a:solidFill>
                <a:latin typeface="Pretendard"/>
                <a:ea typeface="Pretendard"/>
              </a:rPr>
              <a:t>콘텐츠 </a:t>
            </a:r>
            <a:r>
              <a:rPr sz="1500" b="1" spc="150">
                <a:solidFill>
                  <a:srgbClr val="141412"/>
                </a:solidFill>
                <a:latin typeface="Pretendard"/>
                <a:ea typeface="Pretendard"/>
              </a:rPr>
              <a:t>CONTENT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801868" y="676656"/>
            <a:ext cx="585215" cy="0"/>
          </a:xfrm>
          <a:prstGeom prst="bentConnector3">
            <a:avLst/>
          </a:prstGeom>
          <a:ln w="27940">
            <a:solidFill>
              <a:srgbClr val="3D2B1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987552"/>
            <a:ext cx="10543032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 spc="-100">
                <a:solidFill>
                  <a:srgbClr val="141412"/>
                </a:solidFill>
                <a:latin typeface="Pretendard"/>
                <a:ea typeface="Pretendard"/>
              </a:rPr>
              <a:t>영상 콘텐츠 유형 ① 일반식품 UGC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48840"/>
            <a:ext cx="594360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C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5943600" cy="777240"/>
          </a:xfrm>
          <a:prstGeom prst="rect">
            <a:avLst/>
          </a:prstGeom>
          <a:solidFill>
            <a:srgbClr val="3D2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48840"/>
            <a:ext cx="54864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spc="-100">
                <a:solidFill>
                  <a:srgbClr val="FFFFFF"/>
                </a:solidFill>
                <a:latin typeface="Pretendard"/>
                <a:ea typeface="Pretendard"/>
              </a:rPr>
              <a:t>Concept A · 일반식품 UGC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200400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spc="-100">
                <a:solidFill>
                  <a:srgbClr val="3D2B1B"/>
                </a:solidFill>
                <a:latin typeface="Pretendard"/>
                <a:ea typeface="Pretendard"/>
              </a:rPr>
              <a:t>제품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3200400"/>
            <a:ext cx="4297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spc="-100">
                <a:solidFill>
                  <a:srgbClr val="141412"/>
                </a:solidFill>
                <a:latin typeface="Pretendard"/>
                <a:ea typeface="Pretendard"/>
              </a:rPr>
              <a:t>멜라나잇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069080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spc="-100">
                <a:solidFill>
                  <a:srgbClr val="3D2B1B"/>
                </a:solidFill>
                <a:latin typeface="Pretendard"/>
                <a:ea typeface="Pretendard"/>
              </a:rPr>
              <a:t>컨셉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4069080"/>
            <a:ext cx="4297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spc="-100">
                <a:solidFill>
                  <a:srgbClr val="141412"/>
                </a:solidFill>
                <a:latin typeface="Pretendard"/>
                <a:ea typeface="Pretendard"/>
              </a:rPr>
              <a:t>자기 전 리추얼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937760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spc="-100">
                <a:solidFill>
                  <a:srgbClr val="3D2B1B"/>
                </a:solidFill>
                <a:latin typeface="Pretendard"/>
                <a:ea typeface="Pretendard"/>
              </a:rPr>
              <a:t>포인트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4937760"/>
            <a:ext cx="4297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spc="-100">
                <a:solidFill>
                  <a:srgbClr val="141412"/>
                </a:solidFill>
                <a:latin typeface="Pretendard"/>
                <a:ea typeface="Pretendard"/>
              </a:rPr>
              <a:t>효능 대신 밤 TPO·루틴 중심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5806440"/>
            <a:ext cx="5394960" cy="502920"/>
          </a:xfrm>
          <a:prstGeom prst="roundRect">
            <a:avLst>
              <a:gd name="adj" fmla="val 8000"/>
            </a:avLst>
          </a:prstGeom>
          <a:solidFill>
            <a:srgbClr val="F3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5806440"/>
            <a:ext cx="53949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spc="-100">
                <a:solidFill>
                  <a:srgbClr val="141412"/>
                </a:solidFill>
                <a:latin typeface="Pretendard"/>
                <a:ea typeface="Pretendard"/>
              </a:rPr>
              <a:t>심의-프리 일반식품 — TPO·무드 앵글로 안전하게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40880" y="2148840"/>
            <a:ext cx="4297680" cy="3657600"/>
          </a:xfrm>
          <a:prstGeom prst="roundRect">
            <a:avLst>
              <a:gd name="adj" fmla="val 8000"/>
            </a:avLst>
          </a:prstGeom>
          <a:solidFill>
            <a:srgbClr val="F3F2E7"/>
          </a:solidFill>
          <a:ln w="12700">
            <a:solidFill>
              <a:srgbClr val="C9C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869680" y="3520439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D2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25128" y="3520439"/>
            <a:ext cx="329184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spc="-100">
                <a:solidFill>
                  <a:srgbClr val="3D2B1B"/>
                </a:solidFill>
                <a:latin typeface="Pretendard"/>
                <a:ea typeface="Pretendard"/>
              </a:rPr>
              <a:t>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4251959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spc="-100">
                <a:solidFill>
                  <a:srgbClr val="868680"/>
                </a:solidFill>
                <a:latin typeface="Pretendard"/>
                <a:ea typeface="Pretendard"/>
              </a:rPr>
              <a:t>레퍼런스 영상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37276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-100">
                <a:solidFill>
                  <a:srgbClr val="C9C4B8"/>
                </a:solidFill>
                <a:latin typeface="Pretendard"/>
                <a:ea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310896"/>
            <a:ext cx="12188952" cy="310896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500" b="1" spc="150">
                <a:solidFill>
                  <a:srgbClr val="3D2B1B"/>
                </a:solidFill>
                <a:latin typeface="Pretendard"/>
                <a:ea typeface="Pretendard"/>
              </a:rPr>
              <a:t>콘텐츠 </a:t>
            </a:r>
            <a:r>
              <a:rPr sz="1500" b="1" spc="150">
                <a:solidFill>
                  <a:srgbClr val="141412"/>
                </a:solidFill>
                <a:latin typeface="Pretendard"/>
                <a:ea typeface="Pretendard"/>
              </a:rPr>
              <a:t>CONTENT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801868" y="676656"/>
            <a:ext cx="585215" cy="0"/>
          </a:xfrm>
          <a:prstGeom prst="bentConnector3">
            <a:avLst/>
          </a:prstGeom>
          <a:ln w="27940">
            <a:solidFill>
              <a:srgbClr val="3D2B1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987552"/>
            <a:ext cx="10543032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 spc="-100">
                <a:solidFill>
                  <a:srgbClr val="141412"/>
                </a:solidFill>
                <a:latin typeface="Pretendard"/>
                <a:ea typeface="Pretendard"/>
              </a:rPr>
              <a:t>영상 콘텐츠 유형 ② 건기식 Half-EGC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48840"/>
            <a:ext cx="594360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C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5943600" cy="777240"/>
          </a:xfrm>
          <a:prstGeom prst="rect">
            <a:avLst/>
          </a:prstGeom>
          <a:solidFill>
            <a:srgbClr val="3D2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48840"/>
            <a:ext cx="54864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spc="-100">
                <a:solidFill>
                  <a:srgbClr val="FFFFFF"/>
                </a:solidFill>
                <a:latin typeface="Pretendard"/>
                <a:ea typeface="Pretendard"/>
              </a:rPr>
              <a:t>Concept B · 건기식 Half-EGC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200400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spc="-100">
                <a:solidFill>
                  <a:srgbClr val="3D2B1B"/>
                </a:solidFill>
                <a:latin typeface="Pretendard"/>
                <a:ea typeface="Pretendard"/>
              </a:rPr>
              <a:t>제품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3200400"/>
            <a:ext cx="4297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spc="-100">
                <a:solidFill>
                  <a:srgbClr val="141412"/>
                </a:solidFill>
                <a:latin typeface="Pretendard"/>
                <a:ea typeface="Pretendard"/>
              </a:rPr>
              <a:t>루테인 구미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069080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spc="-100">
                <a:solidFill>
                  <a:srgbClr val="3D2B1B"/>
                </a:solidFill>
                <a:latin typeface="Pretendard"/>
                <a:ea typeface="Pretendard"/>
              </a:rPr>
              <a:t>컨셉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4069080"/>
            <a:ext cx="4297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spc="-100">
                <a:solidFill>
                  <a:srgbClr val="141412"/>
                </a:solidFill>
                <a:latin typeface="Pretendard"/>
                <a:ea typeface="Pretendard"/>
              </a:rPr>
              <a:t>모니터 앞 직장인 루틴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937760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spc="-100">
                <a:solidFill>
                  <a:srgbClr val="3D2B1B"/>
                </a:solidFill>
                <a:latin typeface="Pretendard"/>
                <a:ea typeface="Pretendard"/>
              </a:rPr>
              <a:t>포인트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4937760"/>
            <a:ext cx="4297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spc="-100">
                <a:solidFill>
                  <a:srgbClr val="141412"/>
                </a:solidFill>
                <a:latin typeface="Pretendard"/>
                <a:ea typeface="Pretendard"/>
              </a:rPr>
              <a:t>인정 기능성 문구 범위 내 Half-EGC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5806440"/>
            <a:ext cx="5394960" cy="502920"/>
          </a:xfrm>
          <a:prstGeom prst="roundRect">
            <a:avLst>
              <a:gd name="adj" fmla="val 8000"/>
            </a:avLst>
          </a:prstGeom>
          <a:solidFill>
            <a:srgbClr val="F3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5806440"/>
            <a:ext cx="53949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spc="-100">
                <a:solidFill>
                  <a:srgbClr val="141412"/>
                </a:solidFill>
                <a:latin typeface="Pretendard"/>
                <a:ea typeface="Pretendard"/>
              </a:rPr>
              <a:t>건기식 — 인정 기능성 문구만, 심의 준수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40880" y="2148840"/>
            <a:ext cx="4297680" cy="3657600"/>
          </a:xfrm>
          <a:prstGeom prst="roundRect">
            <a:avLst>
              <a:gd name="adj" fmla="val 8000"/>
            </a:avLst>
          </a:prstGeom>
          <a:solidFill>
            <a:srgbClr val="F3F2E7"/>
          </a:solidFill>
          <a:ln w="12700">
            <a:solidFill>
              <a:srgbClr val="C9C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869680" y="3520439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D2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25128" y="3520439"/>
            <a:ext cx="329184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spc="-100">
                <a:solidFill>
                  <a:srgbClr val="3D2B1B"/>
                </a:solidFill>
                <a:latin typeface="Pretendard"/>
                <a:ea typeface="Pretendard"/>
              </a:rPr>
              <a:t>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4251959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spc="-100">
                <a:solidFill>
                  <a:srgbClr val="868680"/>
                </a:solidFill>
                <a:latin typeface="Pretendard"/>
                <a:ea typeface="Pretendard"/>
              </a:rPr>
              <a:t>레퍼런스 영상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37276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-100">
                <a:solidFill>
                  <a:srgbClr val="C9C4B8"/>
                </a:solidFill>
                <a:latin typeface="Pretendard"/>
                <a:ea typeface="Pretendar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310896"/>
            <a:ext cx="12188952" cy="310896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500" b="1" spc="150">
                <a:solidFill>
                  <a:srgbClr val="3D2B1B"/>
                </a:solidFill>
                <a:latin typeface="Pretendard"/>
                <a:ea typeface="Pretendard"/>
              </a:rPr>
              <a:t>콘텐츠 </a:t>
            </a:r>
            <a:r>
              <a:rPr sz="1500" b="1" spc="150">
                <a:solidFill>
                  <a:srgbClr val="141412"/>
                </a:solidFill>
                <a:latin typeface="Pretendard"/>
                <a:ea typeface="Pretendard"/>
              </a:rPr>
              <a:t>CONTENT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801868" y="676656"/>
            <a:ext cx="585215" cy="0"/>
          </a:xfrm>
          <a:prstGeom prst="bentConnector3">
            <a:avLst/>
          </a:prstGeom>
          <a:ln w="27940">
            <a:solidFill>
              <a:srgbClr val="3D2B1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987552"/>
            <a:ext cx="10543032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 spc="-100">
                <a:solidFill>
                  <a:srgbClr val="141412"/>
                </a:solidFill>
                <a:latin typeface="Pretendard"/>
                <a:ea typeface="Pretendard"/>
              </a:rPr>
              <a:t>영상 콘텐츠 유형 ③ 직원 피셜 EGC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664208"/>
            <a:ext cx="96286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spc="-100">
                <a:solidFill>
                  <a:srgbClr val="868680"/>
                </a:solidFill>
                <a:latin typeface="Pretendard"/>
                <a:ea typeface="Pretendard"/>
              </a:rPr>
              <a:t>“이 스펙을 이 가격에 가져온 이유” — 신뢰 기반 EGC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10543032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C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286000"/>
            <a:ext cx="1554480" cy="1051560"/>
          </a:xfrm>
          <a:prstGeom prst="rect">
            <a:avLst/>
          </a:prstGeom>
          <a:solidFill>
            <a:srgbClr val="3D2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286000"/>
            <a:ext cx="155448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spc="-100">
                <a:solidFill>
                  <a:srgbClr val="FFFFFF"/>
                </a:solidFill>
                <a:latin typeface="Pretendard"/>
                <a:ea typeface="Pretendard"/>
              </a:rPr>
              <a:t>Hook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2286000"/>
            <a:ext cx="841248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spc="-100">
                <a:solidFill>
                  <a:srgbClr val="141412"/>
                </a:solidFill>
                <a:latin typeface="Pretendard"/>
                <a:ea typeface="Pretendard"/>
              </a:rPr>
              <a:t>“이 스펙을 이 가격에 가져온 이유”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520440"/>
            <a:ext cx="10543032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C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3520440"/>
            <a:ext cx="1554480" cy="1051560"/>
          </a:xfrm>
          <a:prstGeom prst="rect">
            <a:avLst/>
          </a:prstGeom>
          <a:solidFill>
            <a:srgbClr val="3D2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520440"/>
            <a:ext cx="155448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spc="-100">
                <a:solidFill>
                  <a:srgbClr val="FFFFFF"/>
                </a:solidFill>
                <a:latin typeface="Pretendard"/>
                <a:ea typeface="Pretendard"/>
              </a:rPr>
              <a:t>Body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3520440"/>
            <a:ext cx="841248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spc="-100">
                <a:solidFill>
                  <a:srgbClr val="141412"/>
                </a:solidFill>
                <a:latin typeface="Pretendard"/>
                <a:ea typeface="Pretendard"/>
              </a:rPr>
              <a:t>스페인산 피쿠알 · 낮은 산도 · 폴리페놀 · 개별 포장 · 가격 접근성 설명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754880"/>
            <a:ext cx="10543032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C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4754880"/>
            <a:ext cx="1554480" cy="1051560"/>
          </a:xfrm>
          <a:prstGeom prst="rect">
            <a:avLst/>
          </a:prstGeom>
          <a:solidFill>
            <a:srgbClr val="3D2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754880"/>
            <a:ext cx="155448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spc="-100">
                <a:solidFill>
                  <a:srgbClr val="FFFFFF"/>
                </a:solidFill>
                <a:latin typeface="Pretendard"/>
                <a:ea typeface="Pretendard"/>
              </a:rPr>
              <a:t>CTA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4754880"/>
            <a:ext cx="841248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spc="-100">
                <a:solidFill>
                  <a:srgbClr val="141412"/>
                </a:solidFill>
                <a:latin typeface="Pretendard"/>
                <a:ea typeface="Pretendard"/>
              </a:rPr>
              <a:t>“파격가로 가볍게 시작하는 올리브오일 루틴”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37276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-100">
                <a:solidFill>
                  <a:srgbClr val="C9C4B8"/>
                </a:solidFill>
                <a:latin typeface="Pretendard"/>
                <a:ea typeface="Pretendar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310896"/>
            <a:ext cx="12188952" cy="310896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500" b="1" spc="150">
                <a:solidFill>
                  <a:srgbClr val="3D2B1B"/>
                </a:solidFill>
                <a:latin typeface="Pretendard"/>
                <a:ea typeface="Pretendard"/>
              </a:rPr>
              <a:t>콘텐츠 </a:t>
            </a:r>
            <a:r>
              <a:rPr sz="1500" b="1" spc="150">
                <a:solidFill>
                  <a:srgbClr val="141412"/>
                </a:solidFill>
                <a:latin typeface="Pretendard"/>
                <a:ea typeface="Pretendard"/>
              </a:rPr>
              <a:t>OFFLINE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801868" y="676656"/>
            <a:ext cx="585215" cy="0"/>
          </a:xfrm>
          <a:prstGeom prst="bentConnector3">
            <a:avLst/>
          </a:prstGeom>
          <a:ln w="27940">
            <a:solidFill>
              <a:srgbClr val="3D2B1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987552"/>
            <a:ext cx="10543032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 spc="-100">
                <a:solidFill>
                  <a:srgbClr val="141412"/>
                </a:solidFill>
                <a:latin typeface="Pretendard"/>
                <a:ea typeface="Pretendard"/>
              </a:rPr>
              <a:t>오프라인 인증형 시딩 콘텐츠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664208"/>
            <a:ext cx="96286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spc="-100">
                <a:solidFill>
                  <a:srgbClr val="868680"/>
                </a:solidFill>
                <a:latin typeface="Pretendard"/>
                <a:ea typeface="Pretendard"/>
              </a:rPr>
              <a:t>올리브베러 광화문점 위주 방문형 — ‘현장 인증 접점’으로 활용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5760720" cy="3383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C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651760"/>
            <a:ext cx="512064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32"/>
              </a:spcAft>
            </a:pPr>
            <a:r>
              <a:rPr sz="1300" b="0" spc="-100">
                <a:solidFill>
                  <a:srgbClr val="141412"/>
                </a:solidFill>
                <a:latin typeface="Pretendard"/>
                <a:ea typeface="Pretendard"/>
              </a:rPr>
              <a:t>·  “올영에서 실제로 파는 제품”이라는 현장감 확보</a:t>
            </a:r>
          </a:p>
          <a:p>
            <a:pPr>
              <a:spcAft>
                <a:spcPts val="1032"/>
              </a:spcAft>
            </a:pPr>
            <a:r>
              <a:rPr sz="1300" b="0" spc="-100">
                <a:solidFill>
                  <a:srgbClr val="141412"/>
                </a:solidFill>
                <a:latin typeface="Pretendard"/>
                <a:ea typeface="Pretendard"/>
              </a:rPr>
              <a:t>·  자연 발견형 바이럴 — 매장 방문·진열 인증</a:t>
            </a:r>
          </a:p>
          <a:p>
            <a:pPr>
              <a:spcAft>
                <a:spcPts val="1032"/>
              </a:spcAft>
            </a:pPr>
            <a:r>
              <a:rPr sz="1300" b="0" spc="-100">
                <a:solidFill>
                  <a:srgbClr val="141412"/>
                </a:solidFill>
                <a:latin typeface="Pretendard"/>
                <a:ea typeface="Pretendard"/>
              </a:rPr>
              <a:t>·  전국 매장 입점 올더베러 소개 콘텐츠</a:t>
            </a:r>
          </a:p>
          <a:p>
            <a:pPr>
              <a:spcAft>
                <a:spcPts val="1032"/>
              </a:spcAft>
            </a:pPr>
            <a:r>
              <a:rPr sz="1300" b="0" spc="-100">
                <a:solidFill>
                  <a:srgbClr val="141412"/>
                </a:solidFill>
                <a:latin typeface="Pretendard"/>
                <a:ea typeface="Pretendard"/>
              </a:rPr>
              <a:t>·  +@ 내한 외국인 대상 K-웰니스 바이럴 유도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2286000"/>
            <a:ext cx="4480560" cy="3383280"/>
          </a:xfrm>
          <a:prstGeom prst="roundRect">
            <a:avLst>
              <a:gd name="adj" fmla="val 8000"/>
            </a:avLst>
          </a:prstGeom>
          <a:solidFill>
            <a:srgbClr val="F3F2E7"/>
          </a:solidFill>
          <a:ln w="12700">
            <a:solidFill>
              <a:srgbClr val="C9C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0" y="3520439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D2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33688" y="3520439"/>
            <a:ext cx="329184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spc="-100">
                <a:solidFill>
                  <a:srgbClr val="3D2B1B"/>
                </a:solidFill>
                <a:latin typeface="Pretendard"/>
                <a:ea typeface="Pretendard"/>
              </a:rPr>
              <a:t>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4251959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spc="-100">
                <a:solidFill>
                  <a:srgbClr val="868680"/>
                </a:solidFill>
                <a:latin typeface="Pretendard"/>
                <a:ea typeface="Pretendard"/>
              </a:rPr>
              <a:t>광화문점 방문형 레퍼런스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37276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-100">
                <a:solidFill>
                  <a:srgbClr val="C9C4B8"/>
                </a:solidFill>
                <a:latin typeface="Pretendard"/>
                <a:ea typeface="Pretendard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310896"/>
            <a:ext cx="12188952" cy="310896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500" b="1" spc="150">
                <a:solidFill>
                  <a:srgbClr val="3D2B1B"/>
                </a:solidFill>
                <a:latin typeface="Pretendard"/>
                <a:ea typeface="Pretendard"/>
              </a:rPr>
              <a:t>운영 </a:t>
            </a:r>
            <a:r>
              <a:rPr sz="1500" b="1" spc="150">
                <a:solidFill>
                  <a:srgbClr val="141412"/>
                </a:solidFill>
                <a:latin typeface="Pretendard"/>
                <a:ea typeface="Pretendard"/>
              </a:rPr>
              <a:t>KOL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801868" y="676656"/>
            <a:ext cx="585215" cy="0"/>
          </a:xfrm>
          <a:prstGeom prst="bentConnector3">
            <a:avLst/>
          </a:prstGeom>
          <a:ln w="27940">
            <a:solidFill>
              <a:srgbClr val="3D2B1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987552"/>
            <a:ext cx="10543032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 spc="-100">
                <a:solidFill>
                  <a:srgbClr val="141412"/>
                </a:solidFill>
                <a:latin typeface="Pretendard"/>
                <a:ea typeface="Pretendard"/>
              </a:rPr>
              <a:t>KOL 무가시딩 — 대상 × 방식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664208"/>
            <a:ext cx="96286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spc="-100">
                <a:solidFill>
                  <a:srgbClr val="868680"/>
                </a:solidFill>
                <a:latin typeface="Pretendard"/>
                <a:ea typeface="Pretendard"/>
              </a:rPr>
              <a:t>무가시딩 = 노출을 사는 게 아닌 ‘관계를 빌드업’ — 자발 게시 유도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240280"/>
            <a:ext cx="4997196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C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240280"/>
            <a:ext cx="4997196" cy="566928"/>
          </a:xfrm>
          <a:prstGeom prst="rect">
            <a:avLst/>
          </a:prstGeom>
          <a:solidFill>
            <a:srgbClr val="3D2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240280"/>
            <a:ext cx="444855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spc="-100">
                <a:solidFill>
                  <a:srgbClr val="FFFFFF"/>
                </a:solidFill>
                <a:latin typeface="Pretendard"/>
                <a:ea typeface="Pretendard"/>
              </a:rPr>
              <a:t>① 누구에게 — 대상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44485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spc="-100">
                <a:solidFill>
                  <a:srgbClr val="3D2B1B"/>
                </a:solidFill>
                <a:latin typeface="Pretendard"/>
                <a:ea typeface="Pretendard"/>
              </a:rPr>
              <a:t>웰니스 접점 크리에이터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291840"/>
            <a:ext cx="444855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spc="-100">
                <a:solidFill>
                  <a:srgbClr val="868680"/>
                </a:solidFill>
                <a:latin typeface="Pretendard"/>
                <a:ea typeface="Pretendard"/>
              </a:rPr>
              <a:t>마이크로~매크로 중 브랜드 캠페인 제안 가능 대상 우선 리스트업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096512"/>
            <a:ext cx="44485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spc="-100">
                <a:solidFill>
                  <a:srgbClr val="3D2B1B"/>
                </a:solidFill>
                <a:latin typeface="Pretendard"/>
                <a:ea typeface="Pretendard"/>
              </a:rPr>
              <a:t>타깃 결 일치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370832"/>
            <a:ext cx="444855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spc="-100">
                <a:solidFill>
                  <a:srgbClr val="868680"/>
                </a:solidFill>
                <a:latin typeface="Pretendard"/>
                <a:ea typeface="Pretendard"/>
              </a:rPr>
              <a:t>30대 직장인·웰니스 라이프와 겹치는 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175504"/>
            <a:ext cx="44485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spc="-100">
                <a:solidFill>
                  <a:srgbClr val="3D2B1B"/>
                </a:solidFill>
                <a:latin typeface="Pretendard"/>
                <a:ea typeface="Pretendard"/>
              </a:rPr>
              <a:t>자생적 진성 계정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5449824"/>
            <a:ext cx="444855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spc="-100">
                <a:solidFill>
                  <a:srgbClr val="868680"/>
                </a:solidFill>
                <a:latin typeface="Pretendard"/>
                <a:ea typeface="Pretendard"/>
              </a:rPr>
              <a:t>이미 헬시플레저·자기관리 중인 진성 계정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68796" y="2240280"/>
            <a:ext cx="4997196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C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68796" y="2240280"/>
            <a:ext cx="4997196" cy="566928"/>
          </a:xfrm>
          <a:prstGeom prst="rect">
            <a:avLst/>
          </a:prstGeom>
          <a:solidFill>
            <a:srgbClr val="3D2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43116" y="2240280"/>
            <a:ext cx="444855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spc="-100">
                <a:solidFill>
                  <a:srgbClr val="FFFFFF"/>
                </a:solidFill>
                <a:latin typeface="Pretendard"/>
                <a:ea typeface="Pretendard"/>
              </a:rPr>
              <a:t>② 어떻게 — 운영 방식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43116" y="3017520"/>
            <a:ext cx="44485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spc="-100">
                <a:solidFill>
                  <a:srgbClr val="3D2B1B"/>
                </a:solidFill>
                <a:latin typeface="Pretendard"/>
                <a:ea typeface="Pretendard"/>
              </a:rPr>
              <a:t>등급별 차등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43116" y="3291840"/>
            <a:ext cx="444855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spc="-100">
                <a:solidFill>
                  <a:srgbClr val="868680"/>
                </a:solidFill>
                <a:latin typeface="Pretendard"/>
                <a:ea typeface="Pretendard"/>
              </a:rPr>
              <a:t>매크로=커스텀 키트+정기 접촉 / 마이크로·나노=제품 제공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43116" y="4096512"/>
            <a:ext cx="44485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spc="-100">
                <a:solidFill>
                  <a:srgbClr val="3D2B1B"/>
                </a:solidFill>
                <a:latin typeface="Pretendard"/>
                <a:ea typeface="Pretendard"/>
              </a:rPr>
              <a:t>게시 의무 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43116" y="4370832"/>
            <a:ext cx="444855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spc="-100">
                <a:solidFill>
                  <a:srgbClr val="868680"/>
                </a:solidFill>
                <a:latin typeface="Pretendard"/>
                <a:ea typeface="Pretendard"/>
              </a:rPr>
              <a:t>자발 게시 유도 — 관계로 지속 발화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43116" y="5175504"/>
            <a:ext cx="44485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spc="-100">
                <a:solidFill>
                  <a:srgbClr val="3D2B1B"/>
                </a:solidFill>
                <a:latin typeface="Pretendard"/>
                <a:ea typeface="Pretendard"/>
              </a:rPr>
              <a:t>관계 자산화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43116" y="5449824"/>
            <a:ext cx="444855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spc="-100">
                <a:solidFill>
                  <a:srgbClr val="868680"/>
                </a:solidFill>
                <a:latin typeface="Pretendard"/>
                <a:ea typeface="Pretendard"/>
              </a:rPr>
              <a:t>향후 유가 캠페인 전환 풀로 축적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37276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-100">
                <a:solidFill>
                  <a:srgbClr val="C9C4B8"/>
                </a:solidFill>
                <a:latin typeface="Pretendard"/>
                <a:ea typeface="Pretendard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310896"/>
            <a:ext cx="12188952" cy="310896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500" b="1" spc="150">
                <a:solidFill>
                  <a:srgbClr val="3D2B1B"/>
                </a:solidFill>
                <a:latin typeface="Pretendard"/>
                <a:ea typeface="Pretendard"/>
              </a:rPr>
              <a:t>심의 </a:t>
            </a:r>
            <a:r>
              <a:rPr sz="1500" b="1" spc="150">
                <a:solidFill>
                  <a:srgbClr val="141412"/>
                </a:solidFill>
                <a:latin typeface="Pretendard"/>
                <a:ea typeface="Pretendard"/>
              </a:rPr>
              <a:t>COMPLIANCE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801868" y="676656"/>
            <a:ext cx="585215" cy="0"/>
          </a:xfrm>
          <a:prstGeom prst="bentConnector3">
            <a:avLst/>
          </a:prstGeom>
          <a:ln w="27940">
            <a:solidFill>
              <a:srgbClr val="3D2B1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987552"/>
            <a:ext cx="10543032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 spc="-100">
                <a:solidFill>
                  <a:srgbClr val="141412"/>
                </a:solidFill>
                <a:latin typeface="Pretendard"/>
                <a:ea typeface="Pretendard"/>
              </a:rPr>
              <a:t>심의 리스크는 ‘앞단’에서 차단합니다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664208"/>
            <a:ext cx="96286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spc="-100">
                <a:solidFill>
                  <a:srgbClr val="868680"/>
                </a:solidFill>
                <a:latin typeface="Pretendard"/>
                <a:ea typeface="Pretendard"/>
              </a:rPr>
              <a:t>콘텐츠 송출 前 Claude AI가 먼저 읽고, 사람이 최종 검토합니다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240280"/>
            <a:ext cx="2487168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C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240280"/>
            <a:ext cx="2487168" cy="73152"/>
          </a:xfrm>
          <a:prstGeom prst="rect">
            <a:avLst/>
          </a:prstGeom>
          <a:solidFill>
            <a:srgbClr val="3D2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728216" y="2432304"/>
            <a:ext cx="676656" cy="676656"/>
          </a:xfrm>
          <a:prstGeom prst="ellipse">
            <a:avLst/>
          </a:prstGeom>
          <a:solidFill>
            <a:srgbClr val="3D2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28216" y="2432304"/>
            <a:ext cx="676656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 spc="-100">
                <a:solidFill>
                  <a:srgbClr val="FFFFFF"/>
                </a:solidFill>
                <a:latin typeface="Pretendard"/>
                <a:ea typeface="Pretendard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" y="3218688"/>
            <a:ext cx="21945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 spc="-100">
                <a:solidFill>
                  <a:srgbClr val="141412"/>
                </a:solidFill>
                <a:latin typeface="Pretendard"/>
                <a:ea typeface="Pretendard"/>
              </a:rPr>
              <a:t>대본·자막·캡션 입력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694176"/>
            <a:ext cx="212140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80" b="0" spc="-100">
                <a:solidFill>
                  <a:srgbClr val="868680"/>
                </a:solidFill>
                <a:latin typeface="Pretendard"/>
                <a:ea typeface="Pretendard"/>
              </a:rPr>
              <a:t>릴스/쇼츠 대본·자막·해시태그를 검수 큐에 등록</a:t>
            </a:r>
          </a:p>
        </p:txBody>
      </p:sp>
      <p:sp>
        <p:nvSpPr>
          <p:cNvPr id="12" name="Chevron 11"/>
          <p:cNvSpPr/>
          <p:nvPr/>
        </p:nvSpPr>
        <p:spPr>
          <a:xfrm>
            <a:off x="3323844" y="2999232"/>
            <a:ext cx="196596" cy="256032"/>
          </a:xfrm>
          <a:prstGeom prst="chevron">
            <a:avLst/>
          </a:prstGeom>
          <a:solidFill>
            <a:srgbClr val="0E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525012" y="2240280"/>
            <a:ext cx="2487168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C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25012" y="2240280"/>
            <a:ext cx="2487168" cy="73152"/>
          </a:xfrm>
          <a:prstGeom prst="rect">
            <a:avLst/>
          </a:prstGeom>
          <a:solidFill>
            <a:srgbClr val="3D2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30268" y="2432304"/>
            <a:ext cx="676656" cy="676656"/>
          </a:xfrm>
          <a:prstGeom prst="ellipse">
            <a:avLst/>
          </a:prstGeom>
          <a:solidFill>
            <a:srgbClr val="3D2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0268" y="2432304"/>
            <a:ext cx="676656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 spc="-100">
                <a:solidFill>
                  <a:srgbClr val="FFFFFF"/>
                </a:solidFill>
                <a:latin typeface="Pretendard"/>
                <a:ea typeface="Pretendard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71315" y="3218688"/>
            <a:ext cx="21945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 spc="-100">
                <a:solidFill>
                  <a:srgbClr val="141412"/>
                </a:solidFill>
                <a:latin typeface="Pretendard"/>
                <a:ea typeface="Pretendard"/>
              </a:rPr>
              <a:t>Claude AI 1차 스크리닝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7891" y="3694176"/>
            <a:ext cx="212140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80" b="0" spc="-100">
                <a:solidFill>
                  <a:srgbClr val="868680"/>
                </a:solidFill>
                <a:latin typeface="Pretendard"/>
                <a:ea typeface="Pretendard"/>
              </a:rPr>
              <a:t>제품 분류 자동 분기 → 효능·과장·질병 표현 탐지·플래그</a:t>
            </a:r>
          </a:p>
        </p:txBody>
      </p:sp>
      <p:sp>
        <p:nvSpPr>
          <p:cNvPr id="19" name="Chevron 18"/>
          <p:cNvSpPr/>
          <p:nvPr/>
        </p:nvSpPr>
        <p:spPr>
          <a:xfrm>
            <a:off x="6025896" y="2999232"/>
            <a:ext cx="196596" cy="256032"/>
          </a:xfrm>
          <a:prstGeom prst="chevron">
            <a:avLst/>
          </a:prstGeom>
          <a:solidFill>
            <a:srgbClr val="0E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27064" y="2240280"/>
            <a:ext cx="2487168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C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27064" y="2240280"/>
            <a:ext cx="2487168" cy="73152"/>
          </a:xfrm>
          <a:prstGeom prst="rect">
            <a:avLst/>
          </a:prstGeom>
          <a:solidFill>
            <a:srgbClr val="3D2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132320" y="2432304"/>
            <a:ext cx="676656" cy="676656"/>
          </a:xfrm>
          <a:prstGeom prst="ellipse">
            <a:avLst/>
          </a:prstGeom>
          <a:solidFill>
            <a:srgbClr val="3D2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0" y="2432304"/>
            <a:ext cx="676656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 spc="-100">
                <a:solidFill>
                  <a:srgbClr val="FFFFFF"/>
                </a:solidFill>
                <a:latin typeface="Pretendard"/>
                <a:ea typeface="Pretendard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3368" y="3218688"/>
            <a:ext cx="21945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 spc="-100">
                <a:solidFill>
                  <a:srgbClr val="141412"/>
                </a:solidFill>
                <a:latin typeface="Pretendard"/>
                <a:ea typeface="Pretendard"/>
              </a:rPr>
              <a:t>안전 표현 치환 제안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9944" y="3694176"/>
            <a:ext cx="212140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80" b="0" spc="-100">
                <a:solidFill>
                  <a:srgbClr val="868680"/>
                </a:solidFill>
                <a:latin typeface="Pretendard"/>
                <a:ea typeface="Pretendard"/>
              </a:rPr>
              <a:t>위험 문구 → 안전 문구 대안 제시 (근거 조항 동반)</a:t>
            </a:r>
          </a:p>
        </p:txBody>
      </p:sp>
      <p:sp>
        <p:nvSpPr>
          <p:cNvPr id="26" name="Chevron 25"/>
          <p:cNvSpPr/>
          <p:nvPr/>
        </p:nvSpPr>
        <p:spPr>
          <a:xfrm>
            <a:off x="8727948" y="2999232"/>
            <a:ext cx="196596" cy="256032"/>
          </a:xfrm>
          <a:prstGeom prst="chevron">
            <a:avLst/>
          </a:prstGeom>
          <a:solidFill>
            <a:srgbClr val="0E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929116" y="2240280"/>
            <a:ext cx="2487168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C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929116" y="2240280"/>
            <a:ext cx="2487168" cy="73152"/>
          </a:xfrm>
          <a:prstGeom prst="rect">
            <a:avLst/>
          </a:prstGeom>
          <a:solidFill>
            <a:srgbClr val="3D2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834372" y="2432304"/>
            <a:ext cx="676656" cy="676656"/>
          </a:xfrm>
          <a:prstGeom prst="ellipse">
            <a:avLst/>
          </a:prstGeom>
          <a:solidFill>
            <a:srgbClr val="3D2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34372" y="2432304"/>
            <a:ext cx="676656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 spc="-100">
                <a:solidFill>
                  <a:srgbClr val="FFFFFF"/>
                </a:solidFill>
                <a:latin typeface="Pretendard"/>
                <a:ea typeface="Pretendard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75420" y="3218688"/>
            <a:ext cx="21945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 spc="-100">
                <a:solidFill>
                  <a:srgbClr val="141412"/>
                </a:solidFill>
                <a:latin typeface="Pretendard"/>
                <a:ea typeface="Pretendard"/>
              </a:rPr>
              <a:t>법무·RA 최종 검토·송출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11996" y="3694176"/>
            <a:ext cx="212140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80" b="0" spc="-100">
                <a:solidFill>
                  <a:srgbClr val="868680"/>
                </a:solidFill>
                <a:latin typeface="Pretendard"/>
                <a:ea typeface="Pretendard"/>
              </a:rPr>
              <a:t>건기식 자율심의·법무 확인까지 완료 후 송출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2960" y="4297680"/>
            <a:ext cx="10543032" cy="603504"/>
          </a:xfrm>
          <a:prstGeom prst="roundRect">
            <a:avLst>
              <a:gd name="adj" fmla="val 8000"/>
            </a:avLst>
          </a:prstGeom>
          <a:solidFill>
            <a:srgbClr val="F3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4297680"/>
            <a:ext cx="2633472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spc="-100">
                <a:solidFill>
                  <a:srgbClr val="3D2B1B"/>
                </a:solidFill>
                <a:latin typeface="Pretendard"/>
                <a:ea typeface="Pretendard"/>
              </a:rPr>
              <a:t>✓  심의 반려율 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56432" y="4297680"/>
            <a:ext cx="2633472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spc="-100">
                <a:solidFill>
                  <a:srgbClr val="3D2B1B"/>
                </a:solidFill>
                <a:latin typeface="Pretendard"/>
                <a:ea typeface="Pretendard"/>
              </a:rPr>
              <a:t>✓  검토 기간 단축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89904" y="4297680"/>
            <a:ext cx="2633472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spc="-100">
                <a:solidFill>
                  <a:srgbClr val="3D2B1B"/>
                </a:solidFill>
                <a:latin typeface="Pretendard"/>
                <a:ea typeface="Pretendard"/>
              </a:rPr>
              <a:t>✓  표현 일관성 확보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23376" y="4297680"/>
            <a:ext cx="2633472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spc="-100">
                <a:solidFill>
                  <a:srgbClr val="3D2B1B"/>
                </a:solidFill>
                <a:latin typeface="Pretendard"/>
                <a:ea typeface="Pretendard"/>
              </a:rPr>
              <a:t>✓  분류별 자동 분기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2960" y="5120640"/>
            <a:ext cx="512064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C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22960" y="5120640"/>
            <a:ext cx="82296" cy="960120"/>
          </a:xfrm>
          <a:prstGeom prst="rect">
            <a:avLst/>
          </a:prstGeom>
          <a:solidFill>
            <a:srgbClr val="3D2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15568" y="523036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-100">
                <a:solidFill>
                  <a:srgbClr val="3D2B1B"/>
                </a:solidFill>
                <a:latin typeface="Pretendard"/>
                <a:ea typeface="Pretendard"/>
              </a:rPr>
              <a:t>일반식품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651760" y="5248656"/>
            <a:ext cx="31089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1" spc="-100">
                <a:solidFill>
                  <a:srgbClr val="141412"/>
                </a:solidFill>
                <a:latin typeface="Pretendard"/>
                <a:ea typeface="Pretendard"/>
              </a:rPr>
              <a:t>올리브오일 · 멜라나잇 · 콜라겐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15568" y="5559552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spc="-100">
                <a:solidFill>
                  <a:srgbClr val="868680"/>
                </a:solidFill>
                <a:latin typeface="Pretendard"/>
                <a:ea typeface="Pretendard"/>
              </a:rPr>
              <a:t>질병·신체기능·건강 효능 표현 전면 금지 → 원료·맛·편의·무드 앵글만 사용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45352" y="5120640"/>
            <a:ext cx="512064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C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45352" y="5120640"/>
            <a:ext cx="82296" cy="960120"/>
          </a:xfrm>
          <a:prstGeom prst="rect">
            <a:avLst/>
          </a:prstGeom>
          <a:solidFill>
            <a:srgbClr val="3D2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37960" y="523036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-100">
                <a:solidFill>
                  <a:srgbClr val="3D2B1B"/>
                </a:solidFill>
                <a:latin typeface="Pretendard"/>
                <a:ea typeface="Pretendard"/>
              </a:rPr>
              <a:t>건강기능식품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74152" y="5248656"/>
            <a:ext cx="31089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1" spc="-100">
                <a:solidFill>
                  <a:srgbClr val="141412"/>
                </a:solidFill>
                <a:latin typeface="Pretendard"/>
                <a:ea typeface="Pretendard"/>
              </a:rPr>
              <a:t>루테인·바나바잎·올인원·철분·비타민C·비오틴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37960" y="5559552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spc="-100">
                <a:solidFill>
                  <a:srgbClr val="868680"/>
                </a:solidFill>
                <a:latin typeface="Pretendard"/>
                <a:ea typeface="Pretendard"/>
              </a:rPr>
              <a:t>인정 기능성 문구 그대로만 · 의약품 오인·과장·체험 단정 금지 · 자율심의 대상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60" y="6199632"/>
            <a:ext cx="10543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spc="-100">
                <a:solidFill>
                  <a:srgbClr val="868680"/>
                </a:solidFill>
                <a:latin typeface="Pretendard"/>
                <a:ea typeface="Pretendard"/>
              </a:rPr>
              <a:t>근거 — 식품 등의 표시·광고에 관한 법률 · 한국건강기능식품협회 자율심의 · 공정위 추천·보증 심사지침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37276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-100">
                <a:solidFill>
                  <a:srgbClr val="C9C4B8"/>
                </a:solidFill>
                <a:latin typeface="Pretendard"/>
                <a:ea typeface="Pretendard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310896"/>
            <a:ext cx="12188952" cy="310896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500" b="1" spc="150">
                <a:solidFill>
                  <a:srgbClr val="3D2B1B"/>
                </a:solidFill>
                <a:latin typeface="Pretendard"/>
                <a:ea typeface="Pretendard"/>
              </a:rPr>
              <a:t>심의 </a:t>
            </a:r>
            <a:r>
              <a:rPr sz="1500" b="1" spc="150">
                <a:solidFill>
                  <a:srgbClr val="141412"/>
                </a:solidFill>
                <a:latin typeface="Pretendard"/>
                <a:ea typeface="Pretendard"/>
              </a:rPr>
              <a:t>COMPLIANCE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801868" y="676656"/>
            <a:ext cx="585215" cy="0"/>
          </a:xfrm>
          <a:prstGeom prst="bentConnector3">
            <a:avLst/>
          </a:prstGeom>
          <a:ln w="27940">
            <a:solidFill>
              <a:srgbClr val="3D2B1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987552"/>
            <a:ext cx="10543032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 spc="-100">
                <a:solidFill>
                  <a:srgbClr val="141412"/>
                </a:solidFill>
                <a:latin typeface="Pretendard"/>
                <a:ea typeface="Pretendard"/>
              </a:rPr>
              <a:t>표현 치환표 &amp; 송출 전 체크리스트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664208"/>
            <a:ext cx="96286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spc="-100">
                <a:solidFill>
                  <a:srgbClr val="868680"/>
                </a:solidFill>
                <a:latin typeface="Pretendard"/>
                <a:ea typeface="Pretendard"/>
              </a:rPr>
              <a:t>위험 표현(❌)을 안전 표현(✅)으로 — Claude AI 1차, 사람 최종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2240280"/>
          <a:ext cx="6400800" cy="3703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27200"/>
                <a:gridCol w="2133600"/>
                <a:gridCol w="2540000"/>
              </a:tblGrid>
              <a:tr h="370332">
                <a:tc>
                  <a:txBody>
                    <a:bodyPr wrap="square"/>
                    <a:lstStyle/>
                    <a:p>
                      <a:pPr algn="l"/>
                      <a:r>
                        <a:rPr sz="1000" b="1" spc="-10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제품 (분류)</a:t>
                      </a:r>
                    </a:p>
                  </a:txBody>
                  <a:tcPr marL="63500" marR="63500" marT="25400" marB="25400" anchor="ctr">
                    <a:solidFill>
                      <a:srgbClr val="3D2B1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spc="-10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❌ 위험 표현</a:t>
                      </a:r>
                    </a:p>
                  </a:txBody>
                  <a:tcPr marL="63500" marR="63500" marT="25400" marB="25400" anchor="ctr">
                    <a:solidFill>
                      <a:srgbClr val="3D2B1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spc="-10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✅ 안전 표현</a:t>
                      </a:r>
                    </a:p>
                  </a:txBody>
                  <a:tcPr marL="63500" marR="63500" marT="25400" marB="25400" anchor="ctr">
                    <a:solidFill>
                      <a:srgbClr val="3D2B1B"/>
                    </a:solidFill>
                  </a:tcPr>
                </a:tc>
              </a:tr>
              <a:tr h="370332">
                <a:tc>
                  <a:txBody>
                    <a:bodyPr wrap="square"/>
                    <a:lstStyle/>
                    <a:p>
                      <a:pPr algn="l"/>
                      <a:r>
                        <a:rPr sz="90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올리브오일 (일반)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혈관·콜레스테롤에 좋은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엑스트라버진 올리브오일 한 포로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370332">
                <a:tc>
                  <a:txBody>
                    <a:bodyPr wrap="square"/>
                    <a:lstStyle/>
                    <a:p>
                      <a:pPr algn="l"/>
                      <a:r>
                        <a:rPr sz="90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멜라나잇 (일반)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숙면 젤리 / 잠 잘 오는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자기 전 리추얼 / 하루 마무리 한 알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</a:tr>
              <a:tr h="370332">
                <a:tc>
                  <a:txBody>
                    <a:bodyPr wrap="square"/>
                    <a:lstStyle/>
                    <a:p>
                      <a:pPr algn="l"/>
                      <a:r>
                        <a:rPr sz="90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콜라겐 (일반)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피부·주름·탄력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디저트 대신 챙기는 젤리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370332">
                <a:tc>
                  <a:txBody>
                    <a:bodyPr wrap="square"/>
                    <a:lstStyle/>
                    <a:p>
                      <a:pPr algn="l"/>
                      <a:r>
                        <a:rPr sz="90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올인원 (건기식)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이거 하나면 영양 끝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영양제 여러 통 대신 하루 두 알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</a:tr>
              <a:tr h="370332">
                <a:tc>
                  <a:txBody>
                    <a:bodyPr wrap="square"/>
                    <a:lstStyle/>
                    <a:p>
                      <a:pPr algn="l"/>
                      <a:r>
                        <a:rPr sz="90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철분 (건기식)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빈혈 치료 / 피 만드는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철분, 혈액 생성에 필요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370332">
                <a:tc>
                  <a:txBody>
                    <a:bodyPr wrap="square"/>
                    <a:lstStyle/>
                    <a:p>
                      <a:pPr algn="l"/>
                      <a:r>
                        <a:rPr sz="90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루테인 (건기식)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눈이 좋아지는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눈 건강에 도움을 줄 수 있음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</a:tr>
              <a:tr h="370332">
                <a:tc>
                  <a:txBody>
                    <a:bodyPr wrap="square"/>
                    <a:lstStyle/>
                    <a:p>
                      <a:pPr algn="l"/>
                      <a:r>
                        <a:rPr sz="90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비타민C (건기식)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감기 예방 / 면역력 올리는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비타민C, 항산화에 도움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370332">
                <a:tc>
                  <a:txBody>
                    <a:bodyPr wrap="square"/>
                    <a:lstStyle/>
                    <a:p>
                      <a:pPr algn="l"/>
                      <a:r>
                        <a:rPr sz="90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바나바잎 (건기식)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혈당 낮추는 / 당뇨에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식후 혈당 상승 억제에 도움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</a:tr>
              <a:tr h="370332">
                <a:tc>
                  <a:txBody>
                    <a:bodyPr wrap="square"/>
                    <a:lstStyle/>
                    <a:p>
                      <a:pPr algn="l"/>
                      <a:r>
                        <a:rPr sz="90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비오틴 (건기식)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탈모 치료 / 머리 나는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비오틴, 모발·손발톱 건강에 필요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498079" y="2240280"/>
            <a:ext cx="38404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spc="-100">
                <a:solidFill>
                  <a:srgbClr val="141412"/>
                </a:solidFill>
                <a:latin typeface="Pretendard"/>
                <a:ea typeface="Pretendard"/>
              </a:rPr>
              <a:t>송출 전 필수 체크리스트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2670048"/>
            <a:ext cx="3840480" cy="603504"/>
          </a:xfrm>
          <a:prstGeom prst="roundRect">
            <a:avLst>
              <a:gd name="adj" fmla="val 8000"/>
            </a:avLst>
          </a:prstGeom>
          <a:solidFill>
            <a:srgbClr val="F3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6096" y="2670048"/>
            <a:ext cx="4572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spc="-100">
                <a:solidFill>
                  <a:srgbClr val="3D2B1B"/>
                </a:solidFill>
                <a:latin typeface="Pretendard"/>
                <a:ea typeface="Pretendard"/>
              </a:rPr>
              <a:t>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83296" y="2670048"/>
            <a:ext cx="31089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 spc="-100">
                <a:solidFill>
                  <a:srgbClr val="141412"/>
                </a:solidFill>
                <a:latin typeface="Pretendard"/>
                <a:ea typeface="Pretendard"/>
              </a:rPr>
              <a:t>유료광고·협찬 표시 — 자막+음성+캡션+‘유료 파트너십’ 태그 모두 적용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79" y="3364991"/>
            <a:ext cx="3840480" cy="603504"/>
          </a:xfrm>
          <a:prstGeom prst="roundRect">
            <a:avLst>
              <a:gd name="adj" fmla="val 8000"/>
            </a:avLst>
          </a:prstGeom>
          <a:solidFill>
            <a:srgbClr val="F3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6096" y="3364991"/>
            <a:ext cx="4572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spc="-100">
                <a:solidFill>
                  <a:srgbClr val="3D2B1B"/>
                </a:solidFill>
                <a:latin typeface="Pretendard"/>
                <a:ea typeface="Pretendard"/>
              </a:rPr>
              <a:t>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83296" y="3364991"/>
            <a:ext cx="31089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 spc="-100">
                <a:solidFill>
                  <a:srgbClr val="141412"/>
                </a:solidFill>
                <a:latin typeface="Pretendard"/>
                <a:ea typeface="Pretendard"/>
              </a:rPr>
              <a:t>일반식품 — 질병·신체기능·건강 효능 표현 전면 배제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79" y="4059935"/>
            <a:ext cx="3840480" cy="603504"/>
          </a:xfrm>
          <a:prstGeom prst="roundRect">
            <a:avLst>
              <a:gd name="adj" fmla="val 8000"/>
            </a:avLst>
          </a:prstGeom>
          <a:solidFill>
            <a:srgbClr val="F3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26096" y="4059935"/>
            <a:ext cx="4572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spc="-100">
                <a:solidFill>
                  <a:srgbClr val="3D2B1B"/>
                </a:solidFill>
                <a:latin typeface="Pretendard"/>
                <a:ea typeface="Pretendard"/>
              </a:rPr>
              <a:t>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83296" y="4059935"/>
            <a:ext cx="31089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 spc="-100">
                <a:solidFill>
                  <a:srgbClr val="141412"/>
                </a:solidFill>
                <a:latin typeface="Pretendard"/>
                <a:ea typeface="Pretendard"/>
              </a:rPr>
              <a:t>건기식 — 인정 기능성 문구 그대로, 의약품 오인·과장 없음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79" y="4754880"/>
            <a:ext cx="3840480" cy="603504"/>
          </a:xfrm>
          <a:prstGeom prst="roundRect">
            <a:avLst>
              <a:gd name="adj" fmla="val 8000"/>
            </a:avLst>
          </a:prstGeom>
          <a:solidFill>
            <a:srgbClr val="F3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26096" y="4754880"/>
            <a:ext cx="4572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spc="-100">
                <a:solidFill>
                  <a:srgbClr val="3D2B1B"/>
                </a:solidFill>
                <a:latin typeface="Pretendard"/>
                <a:ea typeface="Pretendard"/>
              </a:rPr>
              <a:t>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83296" y="4754880"/>
            <a:ext cx="31089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 spc="-100">
                <a:solidFill>
                  <a:srgbClr val="141412"/>
                </a:solidFill>
                <a:latin typeface="Pretendard"/>
                <a:ea typeface="Pretendard"/>
              </a:rPr>
              <a:t>‘효과 미체감’ 방어 — ‘꾸준히’ OK / 보장·단정 금지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79" y="5449824"/>
            <a:ext cx="3840480" cy="603504"/>
          </a:xfrm>
          <a:prstGeom prst="roundRect">
            <a:avLst>
              <a:gd name="adj" fmla="val 8000"/>
            </a:avLst>
          </a:prstGeom>
          <a:solidFill>
            <a:srgbClr val="F3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26096" y="5449824"/>
            <a:ext cx="4572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spc="-100">
                <a:solidFill>
                  <a:srgbClr val="3D2B1B"/>
                </a:solidFill>
                <a:latin typeface="Pretendard"/>
                <a:ea typeface="Pretendard"/>
              </a:rPr>
              <a:t>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83296" y="5449824"/>
            <a:ext cx="31089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 spc="-100">
                <a:solidFill>
                  <a:srgbClr val="141412"/>
                </a:solidFill>
                <a:latin typeface="Pretendard"/>
                <a:ea typeface="Pretendard"/>
              </a:rPr>
              <a:t>건기식 자율심의 + 법무·RA 검토 완료 후 송출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6144768"/>
            <a:ext cx="10543032" cy="457200"/>
          </a:xfrm>
          <a:prstGeom prst="rect">
            <a:avLst/>
          </a:prstGeom>
          <a:solidFill>
            <a:srgbClr val="F3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60" y="6144768"/>
            <a:ext cx="82296" cy="457200"/>
          </a:xfrm>
          <a:prstGeom prst="rect">
            <a:avLst/>
          </a:prstGeom>
          <a:solidFill>
            <a:srgbClr val="3D2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6144768"/>
            <a:ext cx="10058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 spc="-100">
                <a:solidFill>
                  <a:srgbClr val="141412"/>
                </a:solidFill>
                <a:latin typeface="Pretendard"/>
                <a:ea typeface="Pretendard"/>
              </a:rPr>
              <a:t>Claude AI 사전 검수로 1차 필터링(반려↓·기간 단축) 후, 체크리스트로 사람이 최종 점검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37276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-100">
                <a:solidFill>
                  <a:srgbClr val="C9C4B8"/>
                </a:solidFill>
                <a:latin typeface="Pretendard"/>
                <a:ea typeface="Pretendard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D2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>
            <a:off x="-1097280" y="0"/>
            <a:ext cx="8961120" cy="6858000"/>
          </a:xfrm>
          <a:prstGeom prst="rtTriangle">
            <a:avLst/>
          </a:prstGeom>
          <a:solidFill>
            <a:srgbClr val="0E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286000"/>
            <a:ext cx="6400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spc="300">
                <a:solidFill>
                  <a:srgbClr val="C7CE3E"/>
                </a:solidFill>
                <a:latin typeface="Pretendard"/>
                <a:ea typeface="Pretendard"/>
              </a:rPr>
              <a:t>PART 04   VIRAL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43200"/>
            <a:ext cx="8229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800" b="1" spc="-100">
                <a:solidFill>
                  <a:srgbClr val="FFFFFF"/>
                </a:solidFill>
                <a:latin typeface="Pretendard"/>
                <a:ea typeface="Pretendard"/>
              </a:rPr>
              <a:t>바이럴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977639"/>
            <a:ext cx="7772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spc="-100">
                <a:solidFill>
                  <a:srgbClr val="D9E5DD"/>
                </a:solidFill>
                <a:latin typeface="Pretendard"/>
                <a:ea typeface="Pretendard"/>
              </a:rPr>
              <a:t>구매 직전의 ‘확신’을 만든다</a:t>
            </a:r>
          </a:p>
        </p:txBody>
      </p:sp>
      <p:sp>
        <p:nvSpPr>
          <p:cNvPr id="7" name="Oval 6"/>
          <p:cNvSpPr/>
          <p:nvPr/>
        </p:nvSpPr>
        <p:spPr>
          <a:xfrm>
            <a:off x="10012680" y="777240"/>
            <a:ext cx="1234440" cy="12344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12680" y="777240"/>
            <a:ext cx="123444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spc="-100">
                <a:solidFill>
                  <a:srgbClr val="3D2B1B"/>
                </a:solidFill>
                <a:latin typeface="Pretendard"/>
                <a:ea typeface="Pretendard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37276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-100">
                <a:solidFill>
                  <a:srgbClr val="C9C4B8"/>
                </a:solidFill>
                <a:latin typeface="Pretendard"/>
                <a:ea typeface="Pretendard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310896"/>
            <a:ext cx="12188952" cy="310896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500" b="1" spc="150">
                <a:solidFill>
                  <a:srgbClr val="3D2B1B"/>
                </a:solidFill>
                <a:latin typeface="Pretendard"/>
                <a:ea typeface="Pretendard"/>
              </a:rPr>
              <a:t>바이럴 </a:t>
            </a:r>
            <a:r>
              <a:rPr sz="1500" b="1" spc="150">
                <a:solidFill>
                  <a:srgbClr val="141412"/>
                </a:solidFill>
                <a:latin typeface="Pretendard"/>
                <a:ea typeface="Pretendard"/>
              </a:rPr>
              <a:t>VIRAL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801868" y="676656"/>
            <a:ext cx="585215" cy="0"/>
          </a:xfrm>
          <a:prstGeom prst="bentConnector3">
            <a:avLst/>
          </a:prstGeom>
          <a:ln w="27940">
            <a:solidFill>
              <a:srgbClr val="3D2B1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987552"/>
            <a:ext cx="10543032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 spc="-100">
                <a:solidFill>
                  <a:srgbClr val="141412"/>
                </a:solidFill>
                <a:latin typeface="Pretendard"/>
                <a:ea typeface="Pretendard"/>
              </a:rPr>
              <a:t>바이럴의 역할은 구매 직전의 ‘확신’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664208"/>
            <a:ext cx="96286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spc="-100">
                <a:solidFill>
                  <a:srgbClr val="868680"/>
                </a:solidFill>
                <a:latin typeface="Pretendard"/>
                <a:ea typeface="Pretendard"/>
              </a:rPr>
              <a:t>소비자가 제품을 본 뒤 검색·비교하는 순간, 충분한 후기·추천 맥락이 보이도록 설계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10543032" cy="1078992"/>
          </a:xfrm>
          <a:prstGeom prst="roundRect">
            <a:avLst>
              <a:gd name="adj" fmla="val 8000"/>
            </a:avLst>
          </a:prstGeom>
          <a:solidFill>
            <a:srgbClr val="F3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223113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spc="-100">
                <a:solidFill>
                  <a:srgbClr val="3D2B1B"/>
                </a:solidFill>
                <a:latin typeface="Pretendard"/>
                <a:ea typeface="Pretendard"/>
              </a:rPr>
              <a:t>소비자 구매 여정 — 올영 외부에서도 ‘선택 근거’를 채운다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2596896"/>
            <a:ext cx="22860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3D2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96896"/>
            <a:ext cx="2286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spc="-100">
                <a:solidFill>
                  <a:srgbClr val="3D2B1B"/>
                </a:solidFill>
                <a:latin typeface="Pretendard"/>
                <a:ea typeface="Pretendard"/>
              </a:rPr>
              <a:t>제품을 본다</a:t>
            </a:r>
          </a:p>
        </p:txBody>
      </p:sp>
      <p:sp>
        <p:nvSpPr>
          <p:cNvPr id="10" name="Chevron 9"/>
          <p:cNvSpPr/>
          <p:nvPr/>
        </p:nvSpPr>
        <p:spPr>
          <a:xfrm>
            <a:off x="3273552" y="2715768"/>
            <a:ext cx="237744" cy="256032"/>
          </a:xfrm>
          <a:prstGeom prst="chevron">
            <a:avLst/>
          </a:prstGeom>
          <a:solidFill>
            <a:srgbClr val="0E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566160" y="2596896"/>
            <a:ext cx="22860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3D2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2596896"/>
            <a:ext cx="2286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spc="-100">
                <a:solidFill>
                  <a:srgbClr val="3D2B1B"/>
                </a:solidFill>
                <a:latin typeface="Pretendard"/>
                <a:ea typeface="Pretendard"/>
              </a:rPr>
              <a:t>검색·비교한다</a:t>
            </a:r>
          </a:p>
        </p:txBody>
      </p:sp>
      <p:sp>
        <p:nvSpPr>
          <p:cNvPr id="13" name="Chevron 12"/>
          <p:cNvSpPr/>
          <p:nvPr/>
        </p:nvSpPr>
        <p:spPr>
          <a:xfrm>
            <a:off x="5879592" y="2715768"/>
            <a:ext cx="237744" cy="256032"/>
          </a:xfrm>
          <a:prstGeom prst="chevron">
            <a:avLst/>
          </a:prstGeom>
          <a:solidFill>
            <a:srgbClr val="0E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72200" y="2596896"/>
            <a:ext cx="22860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3D2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2596896"/>
            <a:ext cx="2286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spc="-100">
                <a:solidFill>
                  <a:srgbClr val="3D2B1B"/>
                </a:solidFill>
                <a:latin typeface="Pretendard"/>
                <a:ea typeface="Pretendard"/>
              </a:rPr>
              <a:t>‘선택해도 된다’ 확신</a:t>
            </a:r>
          </a:p>
        </p:txBody>
      </p:sp>
      <p:sp>
        <p:nvSpPr>
          <p:cNvPr id="16" name="Chevron 15"/>
          <p:cNvSpPr/>
          <p:nvPr/>
        </p:nvSpPr>
        <p:spPr>
          <a:xfrm>
            <a:off x="8485632" y="2715768"/>
            <a:ext cx="237744" cy="256032"/>
          </a:xfrm>
          <a:prstGeom prst="chevron">
            <a:avLst/>
          </a:prstGeom>
          <a:solidFill>
            <a:srgbClr val="0E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778240" y="2596896"/>
            <a:ext cx="22860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3D2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0" y="2596896"/>
            <a:ext cx="2286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spc="-100">
                <a:solidFill>
                  <a:srgbClr val="3D2B1B"/>
                </a:solidFill>
                <a:latin typeface="Pretendard"/>
                <a:ea typeface="Pretendard"/>
              </a:rPr>
              <a:t>구매·전환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3401568"/>
            <a:ext cx="3383280" cy="25054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C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" y="3401568"/>
            <a:ext cx="3383280" cy="566928"/>
          </a:xfrm>
          <a:prstGeom prst="rect">
            <a:avLst/>
          </a:prstGeom>
          <a:solidFill>
            <a:srgbClr val="3D2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401568"/>
            <a:ext cx="3383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 spc="-100">
                <a:solidFill>
                  <a:srgbClr val="FFFFFF"/>
                </a:solidFill>
                <a:latin typeface="Pretendard"/>
                <a:ea typeface="Pretendard"/>
              </a:rPr>
              <a:t>검색 시 ‘비어 있지 않게’</a:t>
            </a:r>
          </a:p>
        </p:txBody>
      </p:sp>
      <p:sp>
        <p:nvSpPr>
          <p:cNvPr id="22" name="Oval 21"/>
          <p:cNvSpPr/>
          <p:nvPr/>
        </p:nvSpPr>
        <p:spPr>
          <a:xfrm>
            <a:off x="1078992" y="4160520"/>
            <a:ext cx="457200" cy="457200"/>
          </a:xfrm>
          <a:prstGeom prst="ellipse">
            <a:avLst/>
          </a:prstGeom>
          <a:solidFill>
            <a:srgbClr val="0E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78992" y="416052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spc="-100">
                <a:solidFill>
                  <a:srgbClr val="FFFFFF"/>
                </a:solidFill>
                <a:latin typeface="Pretendard"/>
                <a:ea typeface="Pretendard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64208" y="4160520"/>
            <a:ext cx="2377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 spc="-100">
                <a:solidFill>
                  <a:srgbClr val="3D2B1B"/>
                </a:solidFill>
                <a:latin typeface="Pretendard"/>
                <a:ea typeface="Pretendard"/>
              </a:rPr>
              <a:t>바이럴이 채우는 지점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" y="4773168"/>
            <a:ext cx="288950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80" b="0" spc="-100">
                <a:solidFill>
                  <a:srgbClr val="868680"/>
                </a:solidFill>
                <a:latin typeface="Pretendard"/>
                <a:ea typeface="Pretendard"/>
              </a:rPr>
              <a:t>제품명·카테고리·상황 키워드 검색 시 정보성 콘텐츠가 노출되도록 자산화. AI 답변·검색 결과에 ‘근거 있는 추천’으로 등장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78992" y="5541264"/>
            <a:ext cx="2889504" cy="329184"/>
          </a:xfrm>
          <a:prstGeom prst="roundRect">
            <a:avLst>
              <a:gd name="adj" fmla="val 8000"/>
            </a:avLst>
          </a:prstGeom>
          <a:solidFill>
            <a:srgbClr val="0E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78992" y="5541264"/>
            <a:ext cx="288950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 spc="-100">
                <a:solidFill>
                  <a:srgbClr val="FFFFFF"/>
                </a:solidFill>
                <a:latin typeface="Pretendard"/>
                <a:ea typeface="Pretendard"/>
              </a:rPr>
              <a:t>→  네이버·언론보도 · GEO/AEO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93692" y="3401568"/>
            <a:ext cx="3383280" cy="25054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C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93692" y="3401568"/>
            <a:ext cx="3383280" cy="566928"/>
          </a:xfrm>
          <a:prstGeom prst="rect">
            <a:avLst/>
          </a:prstGeom>
          <a:solidFill>
            <a:srgbClr val="3D2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93692" y="3401568"/>
            <a:ext cx="3383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 spc="-100">
                <a:solidFill>
                  <a:srgbClr val="FFFFFF"/>
                </a:solidFill>
                <a:latin typeface="Pretendard"/>
                <a:ea typeface="Pretendard"/>
              </a:rPr>
              <a:t>비교 시 ‘선택 근거’ 제공</a:t>
            </a:r>
          </a:p>
        </p:txBody>
      </p:sp>
      <p:sp>
        <p:nvSpPr>
          <p:cNvPr id="31" name="Oval 30"/>
          <p:cNvSpPr/>
          <p:nvPr/>
        </p:nvSpPr>
        <p:spPr>
          <a:xfrm>
            <a:off x="4649724" y="4160520"/>
            <a:ext cx="457200" cy="457200"/>
          </a:xfrm>
          <a:prstGeom prst="ellipse">
            <a:avLst/>
          </a:prstGeom>
          <a:solidFill>
            <a:srgbClr val="0E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49724" y="416052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spc="-100">
                <a:solidFill>
                  <a:srgbClr val="FFFFFF"/>
                </a:solidFill>
                <a:latin typeface="Pretendard"/>
                <a:ea typeface="Pretendard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34940" y="4160520"/>
            <a:ext cx="2377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 spc="-100">
                <a:solidFill>
                  <a:srgbClr val="3D2B1B"/>
                </a:solidFill>
                <a:latin typeface="Pretendard"/>
                <a:ea typeface="Pretendard"/>
              </a:rPr>
              <a:t>바이럴이 채우는 지점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49724" y="4773168"/>
            <a:ext cx="288950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80" b="0" spc="-100">
                <a:solidFill>
                  <a:srgbClr val="868680"/>
                </a:solidFill>
                <a:latin typeface="Pretendard"/>
                <a:ea typeface="Pretendard"/>
              </a:rPr>
              <a:t>후기·장바구니·랭킹 맥락을 만들어 ‘선택해도 되는 제품’이라는 확신을 형성. 올영 외부에서도 비교·선택 근거를 채움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649724" y="5541264"/>
            <a:ext cx="2889504" cy="329184"/>
          </a:xfrm>
          <a:prstGeom prst="roundRect">
            <a:avLst>
              <a:gd name="adj" fmla="val 8000"/>
            </a:avLst>
          </a:prstGeom>
          <a:solidFill>
            <a:srgbClr val="0E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49724" y="5541264"/>
            <a:ext cx="288950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 spc="-100">
                <a:solidFill>
                  <a:srgbClr val="FFFFFF"/>
                </a:solidFill>
                <a:latin typeface="Pretendard"/>
                <a:ea typeface="Pretendard"/>
              </a:rPr>
              <a:t>→  커뮤니티 · 파워페이지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964423" y="3401568"/>
            <a:ext cx="3383280" cy="25054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C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964423" y="3401568"/>
            <a:ext cx="3383280" cy="566928"/>
          </a:xfrm>
          <a:prstGeom prst="rect">
            <a:avLst/>
          </a:prstGeom>
          <a:solidFill>
            <a:srgbClr val="3D2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964423" y="3401568"/>
            <a:ext cx="3383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 spc="-100">
                <a:solidFill>
                  <a:srgbClr val="FFFFFF"/>
                </a:solidFill>
                <a:latin typeface="Pretendard"/>
                <a:ea typeface="Pretendard"/>
              </a:rPr>
              <a:t>구매 ‘전환’으로 연결</a:t>
            </a:r>
          </a:p>
        </p:txBody>
      </p:sp>
      <p:sp>
        <p:nvSpPr>
          <p:cNvPr id="40" name="Oval 39"/>
          <p:cNvSpPr/>
          <p:nvPr/>
        </p:nvSpPr>
        <p:spPr>
          <a:xfrm>
            <a:off x="8220455" y="4160520"/>
            <a:ext cx="457200" cy="457200"/>
          </a:xfrm>
          <a:prstGeom prst="ellipse">
            <a:avLst/>
          </a:prstGeom>
          <a:solidFill>
            <a:srgbClr val="0E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0455" y="416052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spc="-100">
                <a:solidFill>
                  <a:srgbClr val="FFFFFF"/>
                </a:solidFill>
                <a:latin typeface="Pretendard"/>
                <a:ea typeface="Pretendard"/>
              </a:rP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05672" y="4160520"/>
            <a:ext cx="2377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 spc="-100">
                <a:solidFill>
                  <a:srgbClr val="3D2B1B"/>
                </a:solidFill>
                <a:latin typeface="Pretendard"/>
                <a:ea typeface="Pretendard"/>
              </a:rPr>
              <a:t>바이럴이 채우는 지점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0455" y="4773168"/>
            <a:ext cx="288950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80" b="0" spc="-100">
                <a:solidFill>
                  <a:srgbClr val="868680"/>
                </a:solidFill>
                <a:latin typeface="Pretendard"/>
                <a:ea typeface="Pretendard"/>
              </a:rPr>
              <a:t>단순 노출이 아니라 진성 구매·리뷰·랭킹이라는 ‘행동’으로 전환. 위닝 콘텐츠는 PA 2차로 재투입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220455" y="5541264"/>
            <a:ext cx="2889504" cy="329184"/>
          </a:xfrm>
          <a:prstGeom prst="roundRect">
            <a:avLst>
              <a:gd name="adj" fmla="val 8000"/>
            </a:avLst>
          </a:prstGeom>
          <a:solidFill>
            <a:srgbClr val="0E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20455" y="5541264"/>
            <a:ext cx="288950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 spc="-100">
                <a:solidFill>
                  <a:srgbClr val="FFFFFF"/>
                </a:solidFill>
                <a:latin typeface="Pretendard"/>
                <a:ea typeface="Pretendard"/>
              </a:rPr>
              <a:t>→  챌린저스 · 어필리에이트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22960" y="6144768"/>
            <a:ext cx="10543032" cy="457200"/>
          </a:xfrm>
          <a:prstGeom prst="rect">
            <a:avLst/>
          </a:prstGeom>
          <a:solidFill>
            <a:srgbClr val="F3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22960" y="6144768"/>
            <a:ext cx="82296" cy="457200"/>
          </a:xfrm>
          <a:prstGeom prst="rect">
            <a:avLst/>
          </a:prstGeom>
          <a:solidFill>
            <a:srgbClr val="3D2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97280" y="6144768"/>
            <a:ext cx="10058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 spc="-100">
                <a:solidFill>
                  <a:srgbClr val="141412"/>
                </a:solidFill>
                <a:latin typeface="Pretendard"/>
                <a:ea typeface="Pretendard"/>
              </a:rPr>
              <a:t>바이럴 = 노출 + 구매 직전 ‘확신’의 밀도 — 검증·신뢰 단계를 채운다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37276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-100">
                <a:solidFill>
                  <a:srgbClr val="C9C4B8"/>
                </a:solidFill>
                <a:latin typeface="Pretendard"/>
                <a:ea typeface="Pretendard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310896"/>
            <a:ext cx="12188952" cy="310896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500" b="1" spc="150">
                <a:solidFill>
                  <a:srgbClr val="3D2B1B"/>
                </a:solidFill>
                <a:latin typeface="Pretendard"/>
                <a:ea typeface="Pretendard"/>
              </a:rPr>
              <a:t>바이럴 </a:t>
            </a:r>
            <a:r>
              <a:rPr sz="1500" b="1" spc="150">
                <a:solidFill>
                  <a:srgbClr val="141412"/>
                </a:solidFill>
                <a:latin typeface="Pretendard"/>
                <a:ea typeface="Pretendard"/>
              </a:rPr>
              <a:t>CHALLENGE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801868" y="676656"/>
            <a:ext cx="585215" cy="0"/>
          </a:xfrm>
          <a:prstGeom prst="bentConnector3">
            <a:avLst/>
          </a:prstGeom>
          <a:ln w="27940">
            <a:solidFill>
              <a:srgbClr val="3D2B1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987552"/>
            <a:ext cx="10543032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 spc="-100">
                <a:solidFill>
                  <a:srgbClr val="141412"/>
                </a:solidFill>
                <a:latin typeface="Pretendard"/>
                <a:ea typeface="Pretendard"/>
              </a:rPr>
              <a:t>챌린저스 — 올영 랭킹 1위 견인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664208"/>
            <a:ext cx="96286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spc="-100">
                <a:solidFill>
                  <a:srgbClr val="868680"/>
                </a:solidFill>
                <a:latin typeface="Pretendard"/>
                <a:ea typeface="Pretendard"/>
              </a:rPr>
              <a:t>실제 올영 액티브 유저의 구매·리뷰 미션 — ‘인증 기반 챌린지’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10543032" cy="1755648"/>
          </a:xfrm>
          <a:prstGeom prst="roundRect">
            <a:avLst>
              <a:gd name="adj" fmla="val 8000"/>
            </a:avLst>
          </a:prstGeom>
          <a:solidFill>
            <a:srgbClr val="F3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26513" y="2286000"/>
            <a:ext cx="621792" cy="621792"/>
          </a:xfrm>
          <a:prstGeom prst="ellipse">
            <a:avLst/>
          </a:prstGeom>
          <a:solidFill>
            <a:srgbClr val="3D2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6513" y="2286000"/>
            <a:ext cx="62179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 spc="-100">
                <a:solidFill>
                  <a:srgbClr val="FFFFFF"/>
                </a:solidFill>
                <a:latin typeface="Pretendard"/>
                <a:ea typeface="Pretendard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19" y="3017520"/>
            <a:ext cx="23545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1" spc="-100">
                <a:solidFill>
                  <a:srgbClr val="141412"/>
                </a:solidFill>
                <a:latin typeface="Pretendard"/>
                <a:ea typeface="Pretendard"/>
              </a:rPr>
              <a:t>챌린지 참여 모집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39" y="3493008"/>
            <a:ext cx="22631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spc="-100">
                <a:solidFill>
                  <a:srgbClr val="868680"/>
                </a:solidFill>
                <a:latin typeface="Pretendard"/>
                <a:ea typeface="Pretendard"/>
              </a:rPr>
              <a:t>습관 앱 챌린저스 내 미션 개설 (실구매 의사 유저 타겟)</a:t>
            </a:r>
          </a:p>
        </p:txBody>
      </p:sp>
      <p:sp>
        <p:nvSpPr>
          <p:cNvPr id="11" name="Chevron 10"/>
          <p:cNvSpPr/>
          <p:nvPr/>
        </p:nvSpPr>
        <p:spPr>
          <a:xfrm>
            <a:off x="3268979" y="2468880"/>
            <a:ext cx="365760" cy="256032"/>
          </a:xfrm>
          <a:prstGeom prst="chevron">
            <a:avLst/>
          </a:prstGeom>
          <a:solidFill>
            <a:srgbClr val="0E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455414" y="2286000"/>
            <a:ext cx="621792" cy="621792"/>
          </a:xfrm>
          <a:prstGeom prst="ellipse">
            <a:avLst/>
          </a:prstGeom>
          <a:solidFill>
            <a:srgbClr val="3D2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55414" y="2286000"/>
            <a:ext cx="62179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 spc="-100">
                <a:solidFill>
                  <a:srgbClr val="FFFFFF"/>
                </a:solidFill>
                <a:latin typeface="Pretendard"/>
                <a:ea typeface="Pretendard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9020" y="3017520"/>
            <a:ext cx="23545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1" spc="-100">
                <a:solidFill>
                  <a:srgbClr val="141412"/>
                </a:solidFill>
                <a:latin typeface="Pretendard"/>
                <a:ea typeface="Pretendard"/>
              </a:rPr>
              <a:t>액티브 유저 실구매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4740" y="3493008"/>
            <a:ext cx="22631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spc="-100">
                <a:solidFill>
                  <a:srgbClr val="868680"/>
                </a:solidFill>
                <a:latin typeface="Pretendard"/>
                <a:ea typeface="Pretendard"/>
              </a:rPr>
              <a:t>올영을 활발히 쓰는 유저가 실제 구매</a:t>
            </a:r>
          </a:p>
        </p:txBody>
      </p:sp>
      <p:sp>
        <p:nvSpPr>
          <p:cNvPr id="16" name="Chevron 15"/>
          <p:cNvSpPr/>
          <p:nvPr/>
        </p:nvSpPr>
        <p:spPr>
          <a:xfrm>
            <a:off x="5897880" y="2468880"/>
            <a:ext cx="365760" cy="256032"/>
          </a:xfrm>
          <a:prstGeom prst="chevron">
            <a:avLst/>
          </a:prstGeom>
          <a:solidFill>
            <a:srgbClr val="0E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084314" y="2286000"/>
            <a:ext cx="621792" cy="621792"/>
          </a:xfrm>
          <a:prstGeom prst="ellipse">
            <a:avLst/>
          </a:prstGeom>
          <a:solidFill>
            <a:srgbClr val="3D2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84314" y="2286000"/>
            <a:ext cx="62179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 spc="-100">
                <a:solidFill>
                  <a:srgbClr val="FFFFFF"/>
                </a:solidFill>
                <a:latin typeface="Pretendard"/>
                <a:ea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3017520"/>
            <a:ext cx="23545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1" spc="-100">
                <a:solidFill>
                  <a:srgbClr val="141412"/>
                </a:solidFill>
                <a:latin typeface="Pretendard"/>
                <a:ea typeface="Pretendard"/>
              </a:rPr>
              <a:t>사용·리뷰 인증 미션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3493008"/>
            <a:ext cx="22631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spc="-100">
                <a:solidFill>
                  <a:srgbClr val="868680"/>
                </a:solidFill>
                <a:latin typeface="Pretendard"/>
                <a:ea typeface="Pretendard"/>
              </a:rPr>
              <a:t>구매·사용·올영 리뷰 업로드를 ‘인증’으로 수행</a:t>
            </a:r>
          </a:p>
        </p:txBody>
      </p:sp>
      <p:sp>
        <p:nvSpPr>
          <p:cNvPr id="21" name="Chevron 20"/>
          <p:cNvSpPr/>
          <p:nvPr/>
        </p:nvSpPr>
        <p:spPr>
          <a:xfrm>
            <a:off x="8526780" y="2468880"/>
            <a:ext cx="365760" cy="256032"/>
          </a:xfrm>
          <a:prstGeom prst="chevron">
            <a:avLst/>
          </a:prstGeom>
          <a:solidFill>
            <a:srgbClr val="0E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713214" y="2286000"/>
            <a:ext cx="621792" cy="621792"/>
          </a:xfrm>
          <a:prstGeom prst="ellipse">
            <a:avLst/>
          </a:prstGeom>
          <a:solidFill>
            <a:srgbClr val="3D2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13214" y="2286000"/>
            <a:ext cx="62179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 spc="-100">
                <a:solidFill>
                  <a:srgbClr val="FFFFFF"/>
                </a:solidFill>
                <a:latin typeface="Pretendard"/>
                <a:ea typeface="Pretendard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46820" y="3017520"/>
            <a:ext cx="23545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1" spc="-100">
                <a:solidFill>
                  <a:srgbClr val="141412"/>
                </a:solidFill>
                <a:latin typeface="Pretendard"/>
                <a:ea typeface="Pretendard"/>
              </a:rPr>
              <a:t>랭킹 1위 달성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2540" y="3493008"/>
            <a:ext cx="22631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spc="-100">
                <a:solidFill>
                  <a:srgbClr val="868680"/>
                </a:solidFill>
                <a:latin typeface="Pretendard"/>
                <a:ea typeface="Pretendard"/>
              </a:rPr>
              <a:t>시간대 분산 운영으로 랭킹·후기 동시 점화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4023360"/>
            <a:ext cx="10543032" cy="548640"/>
          </a:xfrm>
          <a:prstGeom prst="roundRect">
            <a:avLst>
              <a:gd name="adj" fmla="val 8000"/>
            </a:avLst>
          </a:prstGeom>
          <a:solidFill>
            <a:srgbClr val="3D2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" y="4023360"/>
            <a:ext cx="10058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spc="-100">
                <a:solidFill>
                  <a:srgbClr val="FFFFFF"/>
                </a:solidFill>
                <a:latin typeface="Pretendard"/>
                <a:ea typeface="Pretendard"/>
              </a:rPr>
              <a:t>목표 — 올더베러의 올리브영 카테고리 랭킹 1위 달성 · know-how 기반 전략 운영 배치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4709160"/>
            <a:ext cx="2487168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C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2960" y="4709160"/>
            <a:ext cx="73152" cy="1188720"/>
          </a:xfrm>
          <a:prstGeom prst="rect">
            <a:avLst/>
          </a:prstGeom>
          <a:solidFill>
            <a:srgbClr val="0E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42416" y="4828032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spc="-100">
                <a:solidFill>
                  <a:srgbClr val="3D2B1B"/>
                </a:solidFill>
                <a:latin typeface="Pretendard"/>
                <a:ea typeface="Pretendard"/>
              </a:rPr>
              <a:t>올영 PB 신뢰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2416" y="5138928"/>
            <a:ext cx="221284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30" b="0" spc="-100">
                <a:solidFill>
                  <a:srgbClr val="868680"/>
                </a:solidFill>
                <a:latin typeface="Pretendard"/>
                <a:ea typeface="Pretendard"/>
              </a:rPr>
              <a:t>올영이 만든 웰니스 PB로 올영 랭킹 1위 달성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479291" y="4709160"/>
            <a:ext cx="2487168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C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479291" y="4709160"/>
            <a:ext cx="73152" cy="1188720"/>
          </a:xfrm>
          <a:prstGeom prst="rect">
            <a:avLst/>
          </a:prstGeom>
          <a:solidFill>
            <a:srgbClr val="0E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98748" y="4828032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spc="-100">
                <a:solidFill>
                  <a:srgbClr val="3D2B1B"/>
                </a:solidFill>
                <a:latin typeface="Pretendard"/>
                <a:ea typeface="Pretendard"/>
              </a:rPr>
              <a:t>‘1위’ 키워드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98748" y="5138928"/>
            <a:ext cx="221284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30" b="0" spc="-100">
                <a:solidFill>
                  <a:srgbClr val="868680"/>
                </a:solidFill>
                <a:latin typeface="Pretendard"/>
                <a:ea typeface="Pretendard"/>
              </a:rPr>
              <a:t>랭킹 달성 후 ‘1위’ 키워드 플레이로 신뢰성 획득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35624" y="4709160"/>
            <a:ext cx="2487168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C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35624" y="4709160"/>
            <a:ext cx="73152" cy="1188720"/>
          </a:xfrm>
          <a:prstGeom prst="rect">
            <a:avLst/>
          </a:prstGeom>
          <a:solidFill>
            <a:srgbClr val="0E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55080" y="4828032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spc="-100">
                <a:solidFill>
                  <a:srgbClr val="3D2B1B"/>
                </a:solidFill>
                <a:latin typeface="Pretendard"/>
                <a:ea typeface="Pretendard"/>
              </a:rPr>
              <a:t>진성 자발 리뷰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5080" y="5138928"/>
            <a:ext cx="221284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30" b="0" spc="-100">
                <a:solidFill>
                  <a:srgbClr val="868680"/>
                </a:solidFill>
                <a:latin typeface="Pretendard"/>
                <a:ea typeface="Pretendard"/>
              </a:rPr>
              <a:t>실사용자의 구매+후기로 신뢰 자산 확보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791956" y="4709160"/>
            <a:ext cx="2487168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C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791956" y="4709160"/>
            <a:ext cx="73152" cy="1188720"/>
          </a:xfrm>
          <a:prstGeom prst="rect">
            <a:avLst/>
          </a:prstGeom>
          <a:solidFill>
            <a:srgbClr val="0E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11412" y="4828032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spc="-100">
                <a:solidFill>
                  <a:srgbClr val="3D2B1B"/>
                </a:solidFill>
                <a:latin typeface="Pretendard"/>
                <a:ea typeface="Pretendard"/>
              </a:rPr>
              <a:t>동시 점화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11412" y="5138928"/>
            <a:ext cx="221284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30" b="0" spc="-100">
                <a:solidFill>
                  <a:srgbClr val="868680"/>
                </a:solidFill>
                <a:latin typeface="Pretendard"/>
                <a:ea typeface="Pretendard"/>
              </a:rPr>
              <a:t>동시 게시 = 랭킹·후기 볼륨 ‘동시 점화’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22960" y="6144768"/>
            <a:ext cx="10543032" cy="457200"/>
          </a:xfrm>
          <a:prstGeom prst="rect">
            <a:avLst/>
          </a:prstGeom>
          <a:solidFill>
            <a:srgbClr val="F3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22960" y="6144768"/>
            <a:ext cx="82296" cy="457200"/>
          </a:xfrm>
          <a:prstGeom prst="rect">
            <a:avLst/>
          </a:prstGeom>
          <a:solidFill>
            <a:srgbClr val="3D2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97280" y="6144768"/>
            <a:ext cx="10058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 spc="-100">
                <a:solidFill>
                  <a:srgbClr val="141412"/>
                </a:solidFill>
                <a:latin typeface="Pretendard"/>
                <a:ea typeface="Pretendard"/>
              </a:rPr>
              <a:t>진성 구매·리뷰를 10·12·14·16·18시로 분산 매니징 → 최저 비용 최대 효율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37276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-100">
                <a:solidFill>
                  <a:srgbClr val="C9C4B8"/>
                </a:solidFill>
                <a:latin typeface="Pretendard"/>
                <a:ea typeface="Pretendard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310896"/>
            <a:ext cx="12188952" cy="310896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500" b="1" spc="150">
                <a:solidFill>
                  <a:srgbClr val="3D2B1B"/>
                </a:solidFill>
                <a:latin typeface="Pretendard"/>
                <a:ea typeface="Pretendard"/>
              </a:rPr>
              <a:t>바이럴 </a:t>
            </a:r>
            <a:r>
              <a:rPr sz="1500" b="1" spc="150">
                <a:solidFill>
                  <a:srgbClr val="141412"/>
                </a:solidFill>
                <a:latin typeface="Pretendard"/>
                <a:ea typeface="Pretendard"/>
              </a:rPr>
              <a:t>COMMUNITY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801868" y="676656"/>
            <a:ext cx="585215" cy="0"/>
          </a:xfrm>
          <a:prstGeom prst="bentConnector3">
            <a:avLst/>
          </a:prstGeom>
          <a:ln w="27940">
            <a:solidFill>
              <a:srgbClr val="3D2B1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987552"/>
            <a:ext cx="10543032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 spc="-100">
                <a:solidFill>
                  <a:srgbClr val="141412"/>
                </a:solidFill>
                <a:latin typeface="Pretendard"/>
                <a:ea typeface="Pretendard"/>
              </a:rPr>
              <a:t>커뮤니티 · 파워페이지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664208"/>
            <a:ext cx="96286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spc="-100">
                <a:solidFill>
                  <a:srgbClr val="868680"/>
                </a:solidFill>
                <a:latin typeface="Pretendard"/>
                <a:ea typeface="Pretendard"/>
              </a:rPr>
              <a:t>‘추천템’ 검색·비교 맥락에 올더베러를 자연스럽게 진입시키는 장치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240280"/>
            <a:ext cx="5042916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C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240280"/>
            <a:ext cx="5042916" cy="640080"/>
          </a:xfrm>
          <a:prstGeom prst="rect">
            <a:avLst/>
          </a:prstGeom>
          <a:solidFill>
            <a:srgbClr val="3D2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60704" y="2359152"/>
            <a:ext cx="402336" cy="402336"/>
          </a:xfrm>
          <a:prstGeom prst="ellipse">
            <a:avLst/>
          </a:prstGeom>
          <a:solidFill>
            <a:srgbClr val="0E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0704" y="2359152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spc="-100">
                <a:solidFill>
                  <a:srgbClr val="FFFFFF"/>
                </a:solidFill>
                <a:latin typeface="Pretendard"/>
                <a:ea typeface="Pretendard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2240280"/>
            <a:ext cx="4128515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spc="-100">
                <a:solidFill>
                  <a:srgbClr val="FFFFFF"/>
                </a:solidFill>
                <a:latin typeface="Pretendard"/>
                <a:ea typeface="Pretendard"/>
              </a:rPr>
              <a:t>뷰티앱 · 커뮤니티 체험단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" y="3035808"/>
            <a:ext cx="4585716" cy="877824"/>
          </a:xfrm>
          <a:prstGeom prst="roundRect">
            <a:avLst>
              <a:gd name="adj" fmla="val 8000"/>
            </a:avLst>
          </a:prstGeom>
          <a:solidFill>
            <a:srgbClr val="F3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3145536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spc="-100">
                <a:solidFill>
                  <a:srgbClr val="3D2B1B"/>
                </a:solidFill>
                <a:latin typeface="Pretendard"/>
                <a:ea typeface="Pretendard"/>
              </a:rPr>
              <a:t>타겟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419856"/>
            <a:ext cx="42199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40" b="0" spc="-100">
                <a:solidFill>
                  <a:srgbClr val="868680"/>
                </a:solidFill>
                <a:latin typeface="Pretendard"/>
                <a:ea typeface="Pretendard"/>
              </a:rPr>
              <a:t>화해 등 뷰티앱·대형 커뮤니티의 카테고리 관여 高 사용자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51560" y="3986783"/>
            <a:ext cx="4585716" cy="877824"/>
          </a:xfrm>
          <a:prstGeom prst="roundRect">
            <a:avLst>
              <a:gd name="adj" fmla="val 8000"/>
            </a:avLst>
          </a:prstGeom>
          <a:solidFill>
            <a:srgbClr val="F3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4440" y="4096511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spc="-100">
                <a:solidFill>
                  <a:srgbClr val="3D2B1B"/>
                </a:solidFill>
                <a:latin typeface="Pretendard"/>
                <a:ea typeface="Pretendard"/>
              </a:rPr>
              <a:t>실행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370831"/>
            <a:ext cx="42199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40" b="0" spc="-100">
                <a:solidFill>
                  <a:srgbClr val="868680"/>
                </a:solidFill>
                <a:latin typeface="Pretendard"/>
                <a:ea typeface="Pretendard"/>
              </a:rPr>
              <a:t>체험단·어워드·랭킹 참여로 ‘검증된 후기’ 볼륨 확보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1560" y="4937759"/>
            <a:ext cx="4585716" cy="877824"/>
          </a:xfrm>
          <a:prstGeom prst="roundRect">
            <a:avLst>
              <a:gd name="adj" fmla="val 8000"/>
            </a:avLst>
          </a:prstGeom>
          <a:solidFill>
            <a:srgbClr val="F3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34440" y="504748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spc="-100">
                <a:solidFill>
                  <a:srgbClr val="3D2B1B"/>
                </a:solidFill>
                <a:latin typeface="Pretendard"/>
                <a:ea typeface="Pretendard"/>
              </a:rPr>
              <a:t>분석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321807"/>
            <a:ext cx="42199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40" b="0" spc="-100">
                <a:solidFill>
                  <a:srgbClr val="868680"/>
                </a:solidFill>
                <a:latin typeface="Pretendard"/>
                <a:ea typeface="Pretendard"/>
              </a:rPr>
              <a:t>화장품 구매 시 64.2%가 어워드·랭킹 참고 · 4단계 어뷰징 필터로 신뢰↑ / 핏·효율은 선별 필요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23076" y="2240280"/>
            <a:ext cx="5042916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C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23076" y="2240280"/>
            <a:ext cx="5042916" cy="640080"/>
          </a:xfrm>
          <a:prstGeom prst="rect">
            <a:avLst/>
          </a:prstGeom>
          <a:solidFill>
            <a:srgbClr val="3D2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560820" y="2359152"/>
            <a:ext cx="402336" cy="402336"/>
          </a:xfrm>
          <a:prstGeom prst="ellipse">
            <a:avLst/>
          </a:prstGeom>
          <a:solidFill>
            <a:srgbClr val="0E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60820" y="2359152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spc="-100">
                <a:solidFill>
                  <a:srgbClr val="FFFFFF"/>
                </a:solidFill>
                <a:latin typeface="Pretendard"/>
                <a:ea typeface="Pretendard"/>
              </a:rPr>
              <a:t>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00316" y="2240280"/>
            <a:ext cx="4128515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spc="-100">
                <a:solidFill>
                  <a:srgbClr val="FFFFFF"/>
                </a:solidFill>
                <a:latin typeface="Pretendard"/>
                <a:ea typeface="Pretendard"/>
              </a:rPr>
              <a:t>파워페이지 (SNS 정보성)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51676" y="3035808"/>
            <a:ext cx="4585716" cy="877824"/>
          </a:xfrm>
          <a:prstGeom prst="roundRect">
            <a:avLst>
              <a:gd name="adj" fmla="val 8000"/>
            </a:avLst>
          </a:prstGeom>
          <a:solidFill>
            <a:srgbClr val="F3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34556" y="3145536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spc="-100">
                <a:solidFill>
                  <a:srgbClr val="3D2B1B"/>
                </a:solidFill>
                <a:latin typeface="Pretendard"/>
                <a:ea typeface="Pretendard"/>
              </a:rPr>
              <a:t>타겟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34556" y="3419856"/>
            <a:ext cx="42199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40" b="0" spc="-100">
                <a:solidFill>
                  <a:srgbClr val="868680"/>
                </a:solidFill>
                <a:latin typeface="Pretendard"/>
                <a:ea typeface="Pretendard"/>
              </a:rPr>
              <a:t>SNS 잠재고객·구매 고의도 + ‘올리브오일 효능’·‘웰니스 구미 추천’ 검색자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51676" y="3986783"/>
            <a:ext cx="4585716" cy="877824"/>
          </a:xfrm>
          <a:prstGeom prst="roundRect">
            <a:avLst>
              <a:gd name="adj" fmla="val 8000"/>
            </a:avLst>
          </a:prstGeom>
          <a:solidFill>
            <a:srgbClr val="F3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34556" y="4096511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spc="-100">
                <a:solidFill>
                  <a:srgbClr val="3D2B1B"/>
                </a:solidFill>
                <a:latin typeface="Pretendard"/>
                <a:ea typeface="Pretendard"/>
              </a:rPr>
              <a:t>실행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34556" y="4370831"/>
            <a:ext cx="42199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40" b="0" spc="-100">
                <a:solidFill>
                  <a:srgbClr val="868680"/>
                </a:solidFill>
                <a:latin typeface="Pretendard"/>
                <a:ea typeface="Pretendard"/>
              </a:rPr>
              <a:t>정보성 파워 블로그·전문 채널로 검색 상위·추천 리스트 점유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51676" y="4937759"/>
            <a:ext cx="4585716" cy="877824"/>
          </a:xfrm>
          <a:prstGeom prst="roundRect">
            <a:avLst>
              <a:gd name="adj" fmla="val 8000"/>
            </a:avLst>
          </a:prstGeom>
          <a:solidFill>
            <a:srgbClr val="F3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34556" y="504748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spc="-100">
                <a:solidFill>
                  <a:srgbClr val="3D2B1B"/>
                </a:solidFill>
                <a:latin typeface="Pretendard"/>
                <a:ea typeface="Pretendard"/>
              </a:rPr>
              <a:t>분석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34556" y="5321807"/>
            <a:ext cx="42199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40" b="0" spc="-100">
                <a:solidFill>
                  <a:srgbClr val="868680"/>
                </a:solidFill>
                <a:latin typeface="Pretendard"/>
                <a:ea typeface="Pretendard"/>
              </a:rPr>
              <a:t>모르는 대상엔 인지·각인, 고의도 대상엔 전환 트리거를 퍼널 단계별로 제공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2960" y="6144768"/>
            <a:ext cx="10543032" cy="457200"/>
          </a:xfrm>
          <a:prstGeom prst="rect">
            <a:avLst/>
          </a:prstGeom>
          <a:solidFill>
            <a:srgbClr val="F3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22960" y="6144768"/>
            <a:ext cx="82296" cy="457200"/>
          </a:xfrm>
          <a:prstGeom prst="rect">
            <a:avLst/>
          </a:prstGeom>
          <a:solidFill>
            <a:srgbClr val="3D2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97280" y="6144768"/>
            <a:ext cx="10058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 spc="-100">
                <a:solidFill>
                  <a:srgbClr val="141412"/>
                </a:solidFill>
                <a:latin typeface="Pretendard"/>
                <a:ea typeface="Pretendard"/>
              </a:rPr>
              <a:t>세일 전 탐색이 곧장 장바구니로 이어지도록 ‘추천템’ 맥락을 선점한다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37276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-100">
                <a:solidFill>
                  <a:srgbClr val="C9C4B8"/>
                </a:solidFill>
                <a:latin typeface="Pretendard"/>
                <a:ea typeface="Pretendard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310896"/>
            <a:ext cx="12188952" cy="310896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500" b="1" spc="150">
                <a:solidFill>
                  <a:srgbClr val="3D2B1B"/>
                </a:solidFill>
                <a:latin typeface="Pretendard"/>
                <a:ea typeface="Pretendard"/>
              </a:rPr>
              <a:t>바이럴 </a:t>
            </a:r>
            <a:r>
              <a:rPr sz="1500" b="1" spc="150">
                <a:solidFill>
                  <a:srgbClr val="141412"/>
                </a:solidFill>
                <a:latin typeface="Pretendard"/>
                <a:ea typeface="Pretendard"/>
              </a:rPr>
              <a:t>GEO·AEO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801868" y="676656"/>
            <a:ext cx="585215" cy="0"/>
          </a:xfrm>
          <a:prstGeom prst="bentConnector3">
            <a:avLst/>
          </a:prstGeom>
          <a:ln w="27940">
            <a:solidFill>
              <a:srgbClr val="3D2B1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987552"/>
            <a:ext cx="10543032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 spc="-100">
                <a:solidFill>
                  <a:srgbClr val="141412"/>
                </a:solidFill>
                <a:latin typeface="Pretendard"/>
                <a:ea typeface="Pretendard"/>
              </a:rPr>
              <a:t>GEO/AEO — ‘검색 답변 시대’의 Pull 자산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664208"/>
            <a:ext cx="96286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spc="-100">
                <a:solidFill>
                  <a:srgbClr val="868680"/>
                </a:solidFill>
                <a:latin typeface="Pretendard"/>
                <a:ea typeface="Pretendard"/>
              </a:rPr>
              <a:t>제로 클릭 시대 : 언론보도·정보성 콘텐츠를 AI가 인용하기 좋은 구조로 발행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240280"/>
            <a:ext cx="5042916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C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240280"/>
            <a:ext cx="5042916" cy="548640"/>
          </a:xfrm>
          <a:prstGeom prst="rect">
            <a:avLst/>
          </a:prstGeom>
          <a:solidFill>
            <a:srgbClr val="3D2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240280"/>
            <a:ext cx="4494276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 spc="-100">
                <a:solidFill>
                  <a:srgbClr val="FFFFFF"/>
                </a:solidFill>
                <a:latin typeface="Pretendard"/>
                <a:ea typeface="Pretendard"/>
              </a:rPr>
              <a:t>GEO · 생성형 엔진 최적화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889504"/>
            <a:ext cx="44942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spc="-100">
                <a:solidFill>
                  <a:srgbClr val="868680"/>
                </a:solidFill>
                <a:latin typeface="Pretendard"/>
                <a:ea typeface="Pretendard"/>
              </a:rPr>
              <a:t>ChatGPT·Perplexity·Gemini가 답변 생성 시 우리 콘텐츠를 ‘근거·출처’로 고르게 설계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529584"/>
            <a:ext cx="4494276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000" b="0" spc="-100">
                <a:solidFill>
                  <a:srgbClr val="141412"/>
                </a:solidFill>
                <a:latin typeface="Pretendard"/>
                <a:ea typeface="Pretendard"/>
              </a:rPr>
              <a:t>·  검색 의도에 직답하는 구조로 작성</a:t>
            </a:r>
          </a:p>
          <a:p>
            <a:pPr>
              <a:spcAft>
                <a:spcPts val="600"/>
              </a:spcAft>
            </a:pPr>
            <a:r>
              <a:rPr sz="1000" b="0" spc="-100">
                <a:solidFill>
                  <a:srgbClr val="141412"/>
                </a:solidFill>
                <a:latin typeface="Pretendard"/>
                <a:ea typeface="Pretendard"/>
              </a:rPr>
              <a:t>·  출처·수치·정의를 명시해 ‘인용 가능’하게</a:t>
            </a:r>
          </a:p>
          <a:p>
            <a:pPr>
              <a:spcAft>
                <a:spcPts val="600"/>
              </a:spcAft>
            </a:pPr>
            <a:r>
              <a:rPr sz="1000" b="0" spc="-100">
                <a:solidFill>
                  <a:srgbClr val="141412"/>
                </a:solidFill>
                <a:latin typeface="Pretendard"/>
                <a:ea typeface="Pretendard"/>
              </a:rPr>
              <a:t>·  언론보도 초안부터 AI 인용 형식으로 발행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23076" y="2240280"/>
            <a:ext cx="5042916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C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23076" y="2240280"/>
            <a:ext cx="5042916" cy="548640"/>
          </a:xfrm>
          <a:prstGeom prst="rect">
            <a:avLst/>
          </a:prstGeom>
          <a:solidFill>
            <a:srgbClr val="3D2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97396" y="2240280"/>
            <a:ext cx="4494276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 spc="-100">
                <a:solidFill>
                  <a:srgbClr val="FFFFFF"/>
                </a:solidFill>
                <a:latin typeface="Pretendard"/>
                <a:ea typeface="Pretendard"/>
              </a:rPr>
              <a:t>AEO · 답변 엔진 최적화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97396" y="2889504"/>
            <a:ext cx="44942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spc="-100">
                <a:solidFill>
                  <a:srgbClr val="868680"/>
                </a:solidFill>
                <a:latin typeface="Pretendard"/>
                <a:ea typeface="Pretendard"/>
              </a:rPr>
              <a:t>구글 AI Overview·검색 요약 답변에 ‘정확한 출처’로 반영되도록 최적화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97396" y="3529584"/>
            <a:ext cx="4494276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000" b="0" spc="-100">
                <a:solidFill>
                  <a:srgbClr val="141412"/>
                </a:solidFill>
                <a:latin typeface="Pretendard"/>
                <a:ea typeface="Pretendard"/>
              </a:rPr>
              <a:t>·  발행 전 AI가 실제로 어떻게 읽는지 점검</a:t>
            </a:r>
          </a:p>
          <a:p>
            <a:pPr>
              <a:spcAft>
                <a:spcPts val="600"/>
              </a:spcAft>
            </a:pPr>
            <a:r>
              <a:rPr sz="1000" b="0" spc="-100">
                <a:solidFill>
                  <a:srgbClr val="141412"/>
                </a:solidFill>
                <a:latin typeface="Pretendard"/>
                <a:ea typeface="Pretendard"/>
              </a:rPr>
              <a:t>·  ‘검색 1위’보다 ‘AI 답변 인용’이 새 경쟁력</a:t>
            </a:r>
          </a:p>
          <a:p>
            <a:pPr>
              <a:spcAft>
                <a:spcPts val="600"/>
              </a:spcAft>
            </a:pPr>
            <a:r>
              <a:rPr sz="1000" b="0" spc="-100">
                <a:solidFill>
                  <a:srgbClr val="141412"/>
                </a:solidFill>
                <a:latin typeface="Pretendard"/>
                <a:ea typeface="Pretendard"/>
              </a:rPr>
              <a:t>·  Push가 닿지 않는 탐색 순간을 Pull로 선점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754880"/>
            <a:ext cx="10543032" cy="1143000"/>
          </a:xfrm>
          <a:prstGeom prst="roundRect">
            <a:avLst>
              <a:gd name="adj" fmla="val 8000"/>
            </a:avLst>
          </a:prstGeom>
          <a:solidFill>
            <a:srgbClr val="F3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" y="486460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spc="-100">
                <a:solidFill>
                  <a:srgbClr val="3D2B1B"/>
                </a:solidFill>
                <a:latin typeface="Pretendard"/>
                <a:ea typeface="Pretendard"/>
              </a:rPr>
              <a:t>운영 플로우</a:t>
            </a:r>
          </a:p>
        </p:txBody>
      </p:sp>
      <p:sp>
        <p:nvSpPr>
          <p:cNvPr id="18" name="Oval 17"/>
          <p:cNvSpPr/>
          <p:nvPr/>
        </p:nvSpPr>
        <p:spPr>
          <a:xfrm>
            <a:off x="1051560" y="5230368"/>
            <a:ext cx="457200" cy="457200"/>
          </a:xfrm>
          <a:prstGeom prst="ellipse">
            <a:avLst/>
          </a:prstGeom>
          <a:solidFill>
            <a:srgbClr val="3D2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23036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spc="-100">
                <a:solidFill>
                  <a:srgbClr val="FFFFFF"/>
                </a:solidFill>
                <a:latin typeface="Pretendard"/>
                <a:ea typeface="Pretendard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18488" y="5230368"/>
            <a:ext cx="1828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spc="-100">
                <a:solidFill>
                  <a:srgbClr val="141412"/>
                </a:solidFill>
                <a:latin typeface="Pretendard"/>
                <a:ea typeface="Pretendard"/>
              </a:rPr>
              <a:t>키워드 설계</a:t>
            </a:r>
          </a:p>
        </p:txBody>
      </p:sp>
      <p:sp>
        <p:nvSpPr>
          <p:cNvPr id="21" name="Chevron 20"/>
          <p:cNvSpPr/>
          <p:nvPr/>
        </p:nvSpPr>
        <p:spPr>
          <a:xfrm>
            <a:off x="3264408" y="5349240"/>
            <a:ext cx="237744" cy="256032"/>
          </a:xfrm>
          <a:prstGeom prst="chevron">
            <a:avLst/>
          </a:prstGeom>
          <a:solidFill>
            <a:srgbClr val="0E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593591" y="5230368"/>
            <a:ext cx="457200" cy="457200"/>
          </a:xfrm>
          <a:prstGeom prst="ellipse">
            <a:avLst/>
          </a:prstGeom>
          <a:solidFill>
            <a:srgbClr val="3D2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93591" y="523036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spc="-100">
                <a:solidFill>
                  <a:srgbClr val="FFFFFF"/>
                </a:solidFill>
                <a:latin typeface="Pretendard"/>
                <a:ea typeface="Pretendard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60520" y="5230368"/>
            <a:ext cx="1828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spc="-100">
                <a:solidFill>
                  <a:srgbClr val="141412"/>
                </a:solidFill>
                <a:latin typeface="Pretendard"/>
                <a:ea typeface="Pretendard"/>
              </a:rPr>
              <a:t>콘텐츠 발행</a:t>
            </a:r>
          </a:p>
        </p:txBody>
      </p:sp>
      <p:sp>
        <p:nvSpPr>
          <p:cNvPr id="25" name="Chevron 24"/>
          <p:cNvSpPr/>
          <p:nvPr/>
        </p:nvSpPr>
        <p:spPr>
          <a:xfrm>
            <a:off x="5806440" y="5349240"/>
            <a:ext cx="237744" cy="256032"/>
          </a:xfrm>
          <a:prstGeom prst="chevron">
            <a:avLst/>
          </a:prstGeom>
          <a:solidFill>
            <a:srgbClr val="0E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135623" y="5230368"/>
            <a:ext cx="457200" cy="457200"/>
          </a:xfrm>
          <a:prstGeom prst="ellipse">
            <a:avLst/>
          </a:prstGeom>
          <a:solidFill>
            <a:srgbClr val="3D2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35623" y="523036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spc="-100">
                <a:solidFill>
                  <a:srgbClr val="FFFFFF"/>
                </a:solidFill>
                <a:latin typeface="Pretendard"/>
                <a:ea typeface="Pretendard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02551" y="5230368"/>
            <a:ext cx="1828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spc="-100">
                <a:solidFill>
                  <a:srgbClr val="141412"/>
                </a:solidFill>
                <a:latin typeface="Pretendard"/>
                <a:ea typeface="Pretendard"/>
              </a:rPr>
              <a:t>검색·AI 답변 점유</a:t>
            </a:r>
          </a:p>
        </p:txBody>
      </p:sp>
      <p:sp>
        <p:nvSpPr>
          <p:cNvPr id="29" name="Chevron 28"/>
          <p:cNvSpPr/>
          <p:nvPr/>
        </p:nvSpPr>
        <p:spPr>
          <a:xfrm>
            <a:off x="8348471" y="5349240"/>
            <a:ext cx="237744" cy="256032"/>
          </a:xfrm>
          <a:prstGeom prst="chevron">
            <a:avLst/>
          </a:prstGeom>
          <a:solidFill>
            <a:srgbClr val="0E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677656" y="5230368"/>
            <a:ext cx="457200" cy="457200"/>
          </a:xfrm>
          <a:prstGeom prst="ellipse">
            <a:avLst/>
          </a:prstGeom>
          <a:solidFill>
            <a:srgbClr val="3D2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77656" y="523036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spc="-100">
                <a:solidFill>
                  <a:srgbClr val="FFFFFF"/>
                </a:solidFill>
                <a:latin typeface="Pretendard"/>
                <a:ea typeface="Pretendard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44584" y="5230368"/>
            <a:ext cx="1828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spc="-100">
                <a:solidFill>
                  <a:srgbClr val="141412"/>
                </a:solidFill>
                <a:latin typeface="Pretendard"/>
                <a:ea typeface="Pretendard"/>
              </a:rPr>
              <a:t>자연 유입 증가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2960" y="6144768"/>
            <a:ext cx="10543032" cy="457200"/>
          </a:xfrm>
          <a:prstGeom prst="rect">
            <a:avLst/>
          </a:prstGeom>
          <a:solidFill>
            <a:srgbClr val="F3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22960" y="6144768"/>
            <a:ext cx="82296" cy="457200"/>
          </a:xfrm>
          <a:prstGeom prst="rect">
            <a:avLst/>
          </a:prstGeom>
          <a:solidFill>
            <a:srgbClr val="3D2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97280" y="6144768"/>
            <a:ext cx="10058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 spc="-100">
                <a:solidFill>
                  <a:srgbClr val="141412"/>
                </a:solidFill>
                <a:latin typeface="Pretendard"/>
                <a:ea typeface="Pretendard"/>
              </a:rPr>
              <a:t>‘검색 1위’가 아니라 ‘AI 답변에 인용’ — 탐색 순간을 Pull로 선점한다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37276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-100">
                <a:solidFill>
                  <a:srgbClr val="C9C4B8"/>
                </a:solidFill>
                <a:latin typeface="Pretendard"/>
                <a:ea typeface="Pretendard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310896"/>
            <a:ext cx="12188952" cy="310896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500" b="1" spc="150">
                <a:solidFill>
                  <a:srgbClr val="3D2B1B"/>
                </a:solidFill>
                <a:latin typeface="Pretendard"/>
                <a:ea typeface="Pretendard"/>
              </a:rPr>
              <a:t>바이럴 </a:t>
            </a:r>
            <a:r>
              <a:rPr sz="1500" b="1" spc="150">
                <a:solidFill>
                  <a:srgbClr val="141412"/>
                </a:solidFill>
                <a:latin typeface="Pretendard"/>
                <a:ea typeface="Pretendard"/>
              </a:rPr>
              <a:t>AFFILIATE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801868" y="676656"/>
            <a:ext cx="585215" cy="0"/>
          </a:xfrm>
          <a:prstGeom prst="bentConnector3">
            <a:avLst/>
          </a:prstGeom>
          <a:ln w="27940">
            <a:solidFill>
              <a:srgbClr val="3D2B1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987552"/>
            <a:ext cx="10543032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 spc="-100">
                <a:solidFill>
                  <a:srgbClr val="141412"/>
                </a:solidFill>
                <a:latin typeface="Pretendard"/>
                <a:ea typeface="Pretendard"/>
              </a:rPr>
              <a:t>어필리에이트 — 추천을 구매로 연결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664208"/>
            <a:ext cx="96286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spc="-100">
                <a:solidFill>
                  <a:srgbClr val="868680"/>
                </a:solidFill>
                <a:latin typeface="Pretendard"/>
                <a:ea typeface="Pretendard"/>
              </a:rPr>
              <a:t>올영 쇼핑 큐레이터를 코어로 — 앱 내 발견·구매로 직결, 랭킹 견인에 기여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21408"/>
            <a:ext cx="3383280" cy="548640"/>
          </a:xfrm>
          <a:prstGeom prst="roundRect">
            <a:avLst>
              <a:gd name="adj" fmla="val 8000"/>
            </a:avLst>
          </a:prstGeom>
          <a:solidFill>
            <a:srgbClr val="F3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21408"/>
            <a:ext cx="73152" cy="548640"/>
          </a:xfrm>
          <a:prstGeom prst="rect">
            <a:avLst/>
          </a:prstGeom>
          <a:solidFill>
            <a:srgbClr val="0E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121408"/>
            <a:ext cx="3108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spc="-100">
                <a:solidFill>
                  <a:srgbClr val="141412"/>
                </a:solidFill>
                <a:latin typeface="Pretendard"/>
                <a:ea typeface="Pretendard"/>
              </a:rPr>
              <a:t>✓  올영 앱 내 ‘발견 → 구매’ 직결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93692" y="2121408"/>
            <a:ext cx="3383280" cy="548640"/>
          </a:xfrm>
          <a:prstGeom prst="roundRect">
            <a:avLst>
              <a:gd name="adj" fmla="val 8000"/>
            </a:avLst>
          </a:prstGeom>
          <a:solidFill>
            <a:srgbClr val="F3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93692" y="2121408"/>
            <a:ext cx="73152" cy="548640"/>
          </a:xfrm>
          <a:prstGeom prst="rect">
            <a:avLst/>
          </a:prstGeom>
          <a:solidFill>
            <a:srgbClr val="0E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49724" y="2121408"/>
            <a:ext cx="3108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spc="-100">
                <a:solidFill>
                  <a:srgbClr val="141412"/>
                </a:solidFill>
                <a:latin typeface="Pretendard"/>
                <a:ea typeface="Pretendard"/>
              </a:rPr>
              <a:t>✓  세일 기간 랭킹·매출 견인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64423" y="2121408"/>
            <a:ext cx="3383280" cy="548640"/>
          </a:xfrm>
          <a:prstGeom prst="roundRect">
            <a:avLst>
              <a:gd name="adj" fmla="val 8000"/>
            </a:avLst>
          </a:prstGeom>
          <a:solidFill>
            <a:srgbClr val="F3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64423" y="2121408"/>
            <a:ext cx="73152" cy="548640"/>
          </a:xfrm>
          <a:prstGeom prst="rect">
            <a:avLst/>
          </a:prstGeom>
          <a:solidFill>
            <a:srgbClr val="0E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0455" y="2121408"/>
            <a:ext cx="3108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spc="-100">
                <a:solidFill>
                  <a:srgbClr val="141412"/>
                </a:solidFill>
                <a:latin typeface="Pretendard"/>
                <a:ea typeface="Pretendard"/>
              </a:rPr>
              <a:t>✓  고객 참여형 진성 추천 자산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822960" y="2852928"/>
          <a:ext cx="10543030" cy="2377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09680"/>
                <a:gridCol w="4559148"/>
                <a:gridCol w="4274202"/>
              </a:tblGrid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00" b="1" spc="-10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구분</a:t>
                      </a:r>
                    </a:p>
                  </a:txBody>
                  <a:tcPr marL="63500" marR="63500" marT="25400" marB="25400" anchor="ctr">
                    <a:solidFill>
                      <a:srgbClr val="3D2B1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spc="-10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★ 올리브영 쇼핑 큐레이터 (코어)</a:t>
                      </a:r>
                    </a:p>
                  </a:txBody>
                  <a:tcPr marL="63500" marR="63500" marT="25400" marB="25400" anchor="ctr">
                    <a:solidFill>
                      <a:srgbClr val="3D2B1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spc="-10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쿠팡 파트너스</a:t>
                      </a:r>
                    </a:p>
                  </a:txBody>
                  <a:tcPr marL="63500" marR="63500" marT="25400" marB="25400" anchor="ctr">
                    <a:solidFill>
                      <a:srgbClr val="3D2B1B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1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역할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올영 고객 참여형 — 앱 내 전환 직결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외부 구매 링크로 연결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1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운영 방식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개인 URL·셔터, 인스타·블로그·틱톡·유튜브 추천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고유 추적 링크 기반 외부 트래픽 확보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1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콘텐츠 주제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올영세일 장바구니·웰니스 추천템·구미 입문템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가격 비교·제품 후기·카테고리 추천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1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기대 효과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앱 내 발견→구매, 세일 랭킹/매출 견인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외부 유입 보강·전환 링크 확보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</a:tr>
            </a:tbl>
          </a:graphicData>
        </a:graphic>
      </p:graphicFrame>
      <p:sp>
        <p:nvSpPr>
          <p:cNvPr id="16" name="Rectangle 15"/>
          <p:cNvSpPr/>
          <p:nvPr/>
        </p:nvSpPr>
        <p:spPr>
          <a:xfrm>
            <a:off x="2532640" y="2852928"/>
            <a:ext cx="4559148" cy="2377440"/>
          </a:xfrm>
          <a:prstGeom prst="rect">
            <a:avLst/>
          </a:prstGeom>
          <a:noFill/>
          <a:ln w="31750">
            <a:solidFill>
              <a:srgbClr val="0E5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2960" y="5486400"/>
            <a:ext cx="10543032" cy="457200"/>
          </a:xfrm>
          <a:prstGeom prst="roundRect">
            <a:avLst>
              <a:gd name="adj" fmla="val 8000"/>
            </a:avLst>
          </a:prstGeom>
          <a:solidFill>
            <a:srgbClr val="F3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5486400"/>
            <a:ext cx="2194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spc="-100">
                <a:solidFill>
                  <a:srgbClr val="3D2B1B"/>
                </a:solidFill>
                <a:latin typeface="Pretendard"/>
                <a:ea typeface="Pretendard"/>
              </a:rPr>
              <a:t>추천 콘텐츠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94760" y="5486400"/>
            <a:ext cx="2194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spc="-100">
                <a:solidFill>
                  <a:srgbClr val="3D2B1B"/>
                </a:solidFill>
                <a:latin typeface="Pretendard"/>
                <a:ea typeface="Pretendard"/>
              </a:rPr>
              <a:t>→  개인 URL·셔터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5486400"/>
            <a:ext cx="2194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spc="-100">
                <a:solidFill>
                  <a:srgbClr val="3D2B1B"/>
                </a:solidFill>
                <a:latin typeface="Pretendard"/>
                <a:ea typeface="Pretendard"/>
              </a:rPr>
              <a:t>→  앱 내 발견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9720" y="5486400"/>
            <a:ext cx="2194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spc="-100">
                <a:solidFill>
                  <a:srgbClr val="3D2B1B"/>
                </a:solidFill>
                <a:latin typeface="Pretendard"/>
                <a:ea typeface="Pretendard"/>
              </a:rPr>
              <a:t>→  구매·랭킹 견인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6144768"/>
            <a:ext cx="10543032" cy="457200"/>
          </a:xfrm>
          <a:prstGeom prst="rect">
            <a:avLst/>
          </a:prstGeom>
          <a:solidFill>
            <a:srgbClr val="F3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" y="6144768"/>
            <a:ext cx="82296" cy="457200"/>
          </a:xfrm>
          <a:prstGeom prst="rect">
            <a:avLst/>
          </a:prstGeom>
          <a:solidFill>
            <a:srgbClr val="3D2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6144768"/>
            <a:ext cx="10058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 spc="-100">
                <a:solidFill>
                  <a:srgbClr val="141412"/>
                </a:solidFill>
                <a:latin typeface="Pretendard"/>
                <a:ea typeface="Pretendard"/>
              </a:rPr>
              <a:t>올영 쇼핑 큐레이터를 코어로 — 추천이 앱 내 발견·구매·랭킹으로 직결된다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37276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-100">
                <a:solidFill>
                  <a:srgbClr val="C9C4B8"/>
                </a:solidFill>
                <a:latin typeface="Pretendard"/>
                <a:ea typeface="Pretendard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D2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>
            <a:off x="-1097280" y="0"/>
            <a:ext cx="8961120" cy="6858000"/>
          </a:xfrm>
          <a:prstGeom prst="rtTriangle">
            <a:avLst/>
          </a:prstGeom>
          <a:solidFill>
            <a:srgbClr val="0E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286000"/>
            <a:ext cx="6400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spc="300">
                <a:solidFill>
                  <a:srgbClr val="C7CE3E"/>
                </a:solidFill>
                <a:latin typeface="Pretendard"/>
                <a:ea typeface="Pretendard"/>
              </a:rPr>
              <a:t>PART 05   OPERATION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43200"/>
            <a:ext cx="8229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800" b="1" spc="-100">
                <a:solidFill>
                  <a:srgbClr val="FFFFFF"/>
                </a:solidFill>
                <a:latin typeface="Pretendard"/>
                <a:ea typeface="Pretendard"/>
              </a:rPr>
              <a:t>운영 · 액션플랜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977639"/>
            <a:ext cx="7772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spc="-100">
                <a:solidFill>
                  <a:srgbClr val="D9E5DD"/>
                </a:solidFill>
                <a:latin typeface="Pretendard"/>
                <a:ea typeface="Pretendard"/>
              </a:rPr>
              <a:t>6개월 로드맵과 견적</a:t>
            </a:r>
          </a:p>
        </p:txBody>
      </p:sp>
      <p:sp>
        <p:nvSpPr>
          <p:cNvPr id="7" name="Oval 6"/>
          <p:cNvSpPr/>
          <p:nvPr/>
        </p:nvSpPr>
        <p:spPr>
          <a:xfrm>
            <a:off x="10012680" y="777240"/>
            <a:ext cx="1234440" cy="12344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12680" y="777240"/>
            <a:ext cx="123444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spc="-100">
                <a:solidFill>
                  <a:srgbClr val="3D2B1B"/>
                </a:solidFill>
                <a:latin typeface="Pretendard"/>
                <a:ea typeface="Pretendard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37276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-100">
                <a:solidFill>
                  <a:srgbClr val="C9C4B8"/>
                </a:solidFill>
                <a:latin typeface="Pretendard"/>
                <a:ea typeface="Pretendard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310896"/>
            <a:ext cx="12188952" cy="310896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500" b="1" spc="150">
                <a:solidFill>
                  <a:srgbClr val="3D2B1B"/>
                </a:solidFill>
                <a:latin typeface="Pretendard"/>
                <a:ea typeface="Pretendard"/>
              </a:rPr>
              <a:t>로드맵 </a:t>
            </a:r>
            <a:r>
              <a:rPr sz="1500" b="1" spc="150">
                <a:solidFill>
                  <a:srgbClr val="141412"/>
                </a:solidFill>
                <a:latin typeface="Pretendard"/>
                <a:ea typeface="Pretendard"/>
              </a:rPr>
              <a:t>ROADMAP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801868" y="676656"/>
            <a:ext cx="585215" cy="0"/>
          </a:xfrm>
          <a:prstGeom prst="bentConnector3">
            <a:avLst/>
          </a:prstGeom>
          <a:ln w="27940">
            <a:solidFill>
              <a:srgbClr val="3D2B1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987552"/>
            <a:ext cx="10543032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 spc="-100">
                <a:solidFill>
                  <a:srgbClr val="141412"/>
                </a:solidFill>
                <a:latin typeface="Pretendard"/>
                <a:ea typeface="Pretendard"/>
              </a:rPr>
              <a:t>6개월 캠페인 로드맵 한판 요약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664208"/>
            <a:ext cx="96286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spc="-100">
                <a:solidFill>
                  <a:srgbClr val="868680"/>
                </a:solidFill>
                <a:latin typeface="Pretendard"/>
                <a:ea typeface="Pretendard"/>
              </a:rPr>
              <a:t>7월 시작 → 9월 증폭 → 12월 대표성으로 착지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60120" y="2834640"/>
            <a:ext cx="10241280" cy="0"/>
          </a:xfrm>
          <a:prstGeom prst="bentConnector3">
            <a:avLst/>
          </a:prstGeom>
          <a:ln w="19050">
            <a:solidFill>
              <a:srgbClr val="C9C4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527048" y="2670048"/>
            <a:ext cx="329184" cy="329184"/>
          </a:xfrm>
          <a:prstGeom prst="ellipse">
            <a:avLst/>
          </a:prstGeom>
          <a:solidFill>
            <a:srgbClr val="3D2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3200400"/>
            <a:ext cx="173736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C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383280"/>
            <a:ext cx="1737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 spc="-100">
                <a:solidFill>
                  <a:srgbClr val="3D2B1B"/>
                </a:solidFill>
                <a:latin typeface="Pretendard"/>
                <a:ea typeface="Pretendard"/>
              </a:rPr>
              <a:t>7월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886200"/>
            <a:ext cx="1737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spc="-100">
                <a:solidFill>
                  <a:srgbClr val="141412"/>
                </a:solidFill>
                <a:latin typeface="Pretendard"/>
                <a:ea typeface="Pretendard"/>
              </a:rPr>
              <a:t>First Shot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526280"/>
            <a:ext cx="146303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spc="-100">
                <a:solidFill>
                  <a:srgbClr val="868680"/>
                </a:solidFill>
                <a:latin typeface="Pretendard"/>
                <a:ea typeface="Pretendard"/>
              </a:rPr>
              <a:t>메시지 테스트·초기 시딩·랭킹 도화선</a:t>
            </a:r>
          </a:p>
        </p:txBody>
      </p:sp>
      <p:sp>
        <p:nvSpPr>
          <p:cNvPr id="12" name="Oval 11"/>
          <p:cNvSpPr/>
          <p:nvPr/>
        </p:nvSpPr>
        <p:spPr>
          <a:xfrm>
            <a:off x="3319271" y="2670048"/>
            <a:ext cx="329184" cy="329184"/>
          </a:xfrm>
          <a:prstGeom prst="ellipse">
            <a:avLst/>
          </a:prstGeom>
          <a:solidFill>
            <a:srgbClr val="0E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615184" y="3200400"/>
            <a:ext cx="173736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C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15184" y="3383280"/>
            <a:ext cx="1737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 spc="-100">
                <a:solidFill>
                  <a:srgbClr val="3D2B1B"/>
                </a:solidFill>
                <a:latin typeface="Pretendard"/>
                <a:ea typeface="Pretendard"/>
              </a:rPr>
              <a:t>8월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15184" y="3886200"/>
            <a:ext cx="1737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spc="-100">
                <a:solidFill>
                  <a:srgbClr val="141412"/>
                </a:solidFill>
                <a:latin typeface="Pretendard"/>
                <a:ea typeface="Pretendard"/>
              </a:rPr>
              <a:t>Proof Take-off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52344" y="4526280"/>
            <a:ext cx="146303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spc="-100">
                <a:solidFill>
                  <a:srgbClr val="868680"/>
                </a:solidFill>
                <a:latin typeface="Pretendard"/>
                <a:ea typeface="Pretendard"/>
              </a:rPr>
              <a:t>후기·검색·랭킹 증거 확산</a:t>
            </a:r>
          </a:p>
        </p:txBody>
      </p:sp>
      <p:sp>
        <p:nvSpPr>
          <p:cNvPr id="17" name="Oval 16"/>
          <p:cNvSpPr/>
          <p:nvPr/>
        </p:nvSpPr>
        <p:spPr>
          <a:xfrm>
            <a:off x="5111496" y="2670048"/>
            <a:ext cx="329184" cy="329184"/>
          </a:xfrm>
          <a:prstGeom prst="ellipse">
            <a:avLst/>
          </a:prstGeom>
          <a:solidFill>
            <a:srgbClr val="3D2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407408" y="3200400"/>
            <a:ext cx="173736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C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07408" y="3383280"/>
            <a:ext cx="1737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 spc="-100">
                <a:solidFill>
                  <a:srgbClr val="3D2B1B"/>
                </a:solidFill>
                <a:latin typeface="Pretendard"/>
                <a:ea typeface="Pretendard"/>
              </a:rPr>
              <a:t>9월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07408" y="3886200"/>
            <a:ext cx="1737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spc="-100">
                <a:solidFill>
                  <a:srgbClr val="141412"/>
                </a:solidFill>
                <a:latin typeface="Pretendard"/>
                <a:ea typeface="Pretendard"/>
              </a:rPr>
              <a:t>Acceleration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4568" y="4526280"/>
            <a:ext cx="146303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spc="-100">
                <a:solidFill>
                  <a:srgbClr val="868680"/>
                </a:solidFill>
                <a:latin typeface="Pretendard"/>
                <a:ea typeface="Pretendard"/>
              </a:rPr>
              <a:t>올영세일 1차 전환 피크</a:t>
            </a:r>
          </a:p>
        </p:txBody>
      </p:sp>
      <p:sp>
        <p:nvSpPr>
          <p:cNvPr id="22" name="Oval 21"/>
          <p:cNvSpPr/>
          <p:nvPr/>
        </p:nvSpPr>
        <p:spPr>
          <a:xfrm>
            <a:off x="6903720" y="2670048"/>
            <a:ext cx="329184" cy="329184"/>
          </a:xfrm>
          <a:prstGeom prst="ellipse">
            <a:avLst/>
          </a:prstGeom>
          <a:solidFill>
            <a:srgbClr val="0E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199632" y="3200400"/>
            <a:ext cx="173736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C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99632" y="3383280"/>
            <a:ext cx="1737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 spc="-100">
                <a:solidFill>
                  <a:srgbClr val="3D2B1B"/>
                </a:solidFill>
                <a:latin typeface="Pretendard"/>
                <a:ea typeface="Pretendard"/>
              </a:rPr>
              <a:t>10월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99632" y="3886200"/>
            <a:ext cx="1737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spc="-100">
                <a:solidFill>
                  <a:srgbClr val="141412"/>
                </a:solidFill>
                <a:latin typeface="Pretendard"/>
                <a:ea typeface="Pretendard"/>
              </a:rPr>
              <a:t>Orbit Expansion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36792" y="4526280"/>
            <a:ext cx="146303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spc="-100">
                <a:solidFill>
                  <a:srgbClr val="868680"/>
                </a:solidFill>
                <a:latin typeface="Pretendard"/>
                <a:ea typeface="Pretendard"/>
              </a:rPr>
              <a:t>건기식 제품군 확장</a:t>
            </a:r>
          </a:p>
        </p:txBody>
      </p:sp>
      <p:sp>
        <p:nvSpPr>
          <p:cNvPr id="27" name="Oval 26"/>
          <p:cNvSpPr/>
          <p:nvPr/>
        </p:nvSpPr>
        <p:spPr>
          <a:xfrm>
            <a:off x="8695944" y="2670048"/>
            <a:ext cx="329184" cy="329184"/>
          </a:xfrm>
          <a:prstGeom prst="ellipse">
            <a:avLst/>
          </a:prstGeom>
          <a:solidFill>
            <a:srgbClr val="3D2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991856" y="3200400"/>
            <a:ext cx="173736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C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91856" y="3383280"/>
            <a:ext cx="1737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 spc="-100">
                <a:solidFill>
                  <a:srgbClr val="3D2B1B"/>
                </a:solidFill>
                <a:latin typeface="Pretendard"/>
                <a:ea typeface="Pretendard"/>
              </a:rPr>
              <a:t>11월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91856" y="3886200"/>
            <a:ext cx="1737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spc="-100">
                <a:solidFill>
                  <a:srgbClr val="141412"/>
                </a:solidFill>
                <a:latin typeface="Pretendard"/>
                <a:ea typeface="Pretendard"/>
              </a:rPr>
              <a:t>Boost-up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29016" y="4526280"/>
            <a:ext cx="146303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spc="-100">
                <a:solidFill>
                  <a:srgbClr val="868680"/>
                </a:solidFill>
                <a:latin typeface="Pretendard"/>
                <a:ea typeface="Pretendard"/>
              </a:rPr>
              <a:t>블프·검색·관심 증폭</a:t>
            </a:r>
          </a:p>
        </p:txBody>
      </p:sp>
      <p:sp>
        <p:nvSpPr>
          <p:cNvPr id="32" name="Oval 31"/>
          <p:cNvSpPr/>
          <p:nvPr/>
        </p:nvSpPr>
        <p:spPr>
          <a:xfrm>
            <a:off x="10488168" y="2670048"/>
            <a:ext cx="329184" cy="329184"/>
          </a:xfrm>
          <a:prstGeom prst="ellipse">
            <a:avLst/>
          </a:prstGeom>
          <a:solidFill>
            <a:srgbClr val="0E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784080" y="3200400"/>
            <a:ext cx="173736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C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84080" y="3383280"/>
            <a:ext cx="1737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 spc="-100">
                <a:solidFill>
                  <a:srgbClr val="3D2B1B"/>
                </a:solidFill>
                <a:latin typeface="Pretendard"/>
                <a:ea typeface="Pretendard"/>
              </a:rPr>
              <a:t>12월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84080" y="3886200"/>
            <a:ext cx="1737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spc="-100">
                <a:solidFill>
                  <a:srgbClr val="141412"/>
                </a:solidFill>
                <a:latin typeface="Pretendard"/>
                <a:ea typeface="Pretendard"/>
              </a:rPr>
              <a:t>Category Landing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21240" y="4526280"/>
            <a:ext cx="146303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spc="-100">
                <a:solidFill>
                  <a:srgbClr val="868680"/>
                </a:solidFill>
                <a:latin typeface="Pretendard"/>
                <a:ea typeface="Pretendard"/>
              </a:rPr>
              <a:t>12월 세일·대표성 착지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2960" y="6144768"/>
            <a:ext cx="10543032" cy="457200"/>
          </a:xfrm>
          <a:prstGeom prst="rect">
            <a:avLst/>
          </a:prstGeom>
          <a:solidFill>
            <a:srgbClr val="F3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22960" y="6144768"/>
            <a:ext cx="82296" cy="457200"/>
          </a:xfrm>
          <a:prstGeom prst="rect">
            <a:avLst/>
          </a:prstGeom>
          <a:solidFill>
            <a:srgbClr val="3D2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97280" y="6144768"/>
            <a:ext cx="10058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 spc="-100">
                <a:solidFill>
                  <a:srgbClr val="141412"/>
                </a:solidFill>
                <a:latin typeface="Pretendard"/>
                <a:ea typeface="Pretendard"/>
              </a:rPr>
              <a:t>Phase 1 (7–9월) 빠른 반응 확보 · Phase 2 (10–12월) 대표성 확장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37276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-100">
                <a:solidFill>
                  <a:srgbClr val="C9C4B8"/>
                </a:solidFill>
                <a:latin typeface="Pretendard"/>
                <a:ea typeface="Pretendard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310896"/>
            <a:ext cx="12188952" cy="310896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500" b="1" spc="150">
                <a:solidFill>
                  <a:srgbClr val="3D2B1B"/>
                </a:solidFill>
                <a:latin typeface="Pretendard"/>
                <a:ea typeface="Pretendard"/>
              </a:rPr>
              <a:t>플랜 </a:t>
            </a:r>
            <a:r>
              <a:rPr sz="1500" b="1" spc="150">
                <a:solidFill>
                  <a:srgbClr val="141412"/>
                </a:solidFill>
                <a:latin typeface="Pretendard"/>
                <a:ea typeface="Pretendard"/>
              </a:rPr>
              <a:t>PLAN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801868" y="676656"/>
            <a:ext cx="585215" cy="0"/>
          </a:xfrm>
          <a:prstGeom prst="bentConnector3">
            <a:avLst/>
          </a:prstGeom>
          <a:ln w="27940">
            <a:solidFill>
              <a:srgbClr val="3D2B1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987552"/>
            <a:ext cx="10543032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 spc="-100">
                <a:solidFill>
                  <a:srgbClr val="141412"/>
                </a:solidFill>
                <a:latin typeface="Pretendard"/>
                <a:ea typeface="Pretendard"/>
              </a:rPr>
              <a:t>월별 실행 타임라인 · 액션플랜 (견적 포함)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664208"/>
            <a:ext cx="96286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spc="-100">
                <a:solidFill>
                  <a:srgbClr val="868680"/>
                </a:solidFill>
                <a:latin typeface="Pretendard"/>
                <a:ea typeface="Pretendard"/>
              </a:rPr>
              <a:t>2.5억 / 6개월 — Phase 1 빠른 반응 → Phase 2 대표성 확장 (건당 비용 · 건수)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2057400"/>
          <a:ext cx="10543027" cy="36850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7439"/>
                <a:gridCol w="1033630"/>
                <a:gridCol w="1240356"/>
                <a:gridCol w="1136993"/>
                <a:gridCol w="1033630"/>
                <a:gridCol w="1136993"/>
                <a:gridCol w="1136993"/>
                <a:gridCol w="1136993"/>
              </a:tblGrid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900" b="1" spc="-10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항목 (건당)</a:t>
                      </a:r>
                    </a:p>
                  </a:txBody>
                  <a:tcPr marL="63500" marR="63500" marT="25400" marB="25400" anchor="ctr">
                    <a:solidFill>
                      <a:srgbClr val="3D2B1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 spc="-10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7월</a:t>
                      </a:r>
                    </a:p>
                  </a:txBody>
                  <a:tcPr marL="63500" marR="63500" marT="25400" marB="25400" anchor="ctr">
                    <a:solidFill>
                      <a:srgbClr val="3D2B1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 spc="-10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8/9사전</a:t>
                      </a:r>
                    </a:p>
                  </a:txBody>
                  <a:tcPr marL="63500" marR="63500" marT="25400" marB="25400" anchor="ctr">
                    <a:solidFill>
                      <a:srgbClr val="3D2B1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 spc="-10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9세일★</a:t>
                      </a:r>
                    </a:p>
                  </a:txBody>
                  <a:tcPr marL="63500" marR="63500" marT="25400" marB="25400" anchor="ctr">
                    <a:solidFill>
                      <a:srgbClr val="3D2B1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 spc="-10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10월</a:t>
                      </a:r>
                    </a:p>
                  </a:txBody>
                  <a:tcPr marL="63500" marR="63500" marT="25400" marB="25400" anchor="ctr">
                    <a:solidFill>
                      <a:srgbClr val="3D2B1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 spc="-10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11블프★</a:t>
                      </a:r>
                    </a:p>
                  </a:txBody>
                  <a:tcPr marL="63500" marR="63500" marT="25400" marB="25400" anchor="ctr">
                    <a:solidFill>
                      <a:srgbClr val="3D2B1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 spc="-10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12세일★</a:t>
                      </a:r>
                    </a:p>
                  </a:txBody>
                  <a:tcPr marL="63500" marR="63500" marT="25400" marB="25400" anchor="ctr">
                    <a:solidFill>
                      <a:srgbClr val="3D2B1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 spc="-10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합계</a:t>
                      </a:r>
                    </a:p>
                  </a:txBody>
                  <a:tcPr marL="63500" marR="63500" marT="25400" marB="25400" anchor="ctr">
                    <a:solidFill>
                      <a:srgbClr val="3D2B1B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850" b="1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매크로 (80만)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·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·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·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15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850" b="1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마이크로 (40만)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15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35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20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15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30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35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150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850" b="1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나노 (25만)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25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55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35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25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40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45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225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850" b="1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KOL 무가 (10만)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10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10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10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10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10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10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60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850" b="1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X 시딩 (50만)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·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·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·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15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850" b="1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파워페이지 (80만)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·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3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·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·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3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3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9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850" b="1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커뮤니티 체험단 (500만)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·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·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·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3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850" b="1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네이버 블로그 (25만)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·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5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·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·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5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5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15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850" b="1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EGC (150만)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2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2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2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2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10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850" b="1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어필리에이트 (누적)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10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20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30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40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50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60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60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850" b="1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월 시딩 총건수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50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110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65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50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90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100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465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850" b="1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월 예산 비중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10%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20%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20%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10%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18%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22%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2.5억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37276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-100">
                <a:solidFill>
                  <a:srgbClr val="C9C4B8"/>
                </a:solidFill>
                <a:latin typeface="Pretendard"/>
                <a:ea typeface="Pretendard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310896"/>
            <a:ext cx="12188952" cy="310896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500" b="1" spc="150">
                <a:solidFill>
                  <a:srgbClr val="3D2B1B"/>
                </a:solidFill>
                <a:latin typeface="Pretendard"/>
                <a:ea typeface="Pretendard"/>
              </a:rPr>
              <a:t>견적 </a:t>
            </a:r>
            <a:r>
              <a:rPr sz="1500" b="1" spc="150">
                <a:solidFill>
                  <a:srgbClr val="141412"/>
                </a:solidFill>
                <a:latin typeface="Pretendard"/>
                <a:ea typeface="Pretendard"/>
              </a:rPr>
              <a:t>QUOTATION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801868" y="676656"/>
            <a:ext cx="585215" cy="0"/>
          </a:xfrm>
          <a:prstGeom prst="bentConnector3">
            <a:avLst/>
          </a:prstGeom>
          <a:ln w="27940">
            <a:solidFill>
              <a:srgbClr val="3D2B1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987552"/>
            <a:ext cx="10543032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 spc="-100">
                <a:solidFill>
                  <a:srgbClr val="141412"/>
                </a:solidFill>
                <a:latin typeface="Pretendard"/>
                <a:ea typeface="Pretendard"/>
              </a:rPr>
              <a:t>견적서 (Quotation)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664208"/>
            <a:ext cx="96286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spc="-100">
                <a:solidFill>
                  <a:srgbClr val="868680"/>
                </a:solidFill>
                <a:latin typeface="Pretendard"/>
                <a:ea typeface="Pretendard"/>
              </a:rPr>
              <a:t>올리브영 PB 올더베러 브랜드 빌딩 · 단위 원 (VAT 별도)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463040" y="2103120"/>
          <a:ext cx="9235438" cy="4114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262510"/>
                <a:gridCol w="1319348"/>
                <a:gridCol w="1623813"/>
                <a:gridCol w="2029767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50" b="1" spc="-10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세부 항목</a:t>
                      </a:r>
                    </a:p>
                  </a:txBody>
                  <a:tcPr marL="63500" marR="63500" marT="25400" marB="25400" anchor="ctr">
                    <a:solidFill>
                      <a:srgbClr val="3D2B1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spc="-10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수량</a:t>
                      </a:r>
                    </a:p>
                  </a:txBody>
                  <a:tcPr marL="63500" marR="63500" marT="25400" marB="25400" anchor="ctr">
                    <a:solidFill>
                      <a:srgbClr val="3D2B1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spc="-10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단가</a:t>
                      </a:r>
                    </a:p>
                  </a:txBody>
                  <a:tcPr marL="63500" marR="63500" marT="25400" marB="25400" anchor="ctr">
                    <a:solidFill>
                      <a:srgbClr val="3D2B1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spc="-10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금액</a:t>
                      </a:r>
                    </a:p>
                  </a:txBody>
                  <a:tcPr marL="63500" marR="63500" marT="25400" marB="25400" anchor="ctr">
                    <a:solidFill>
                      <a:srgbClr val="3D2B1B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1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KV·디자인·영상·콘텐츠 (EGC 제외)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1식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-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67,300,000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1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EGC 콘텐츠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10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1,500,000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15,000,000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1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매크로 (인스타·유튜브)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15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800,000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12,000,000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1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마이크로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150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400,000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60,000,000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1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나노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225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250,000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56,250,000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1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KOL 무가시딩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60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100,000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6,000,000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1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X (트위터) 시딩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15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500,000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7,500,000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1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파워페이지 콘텐츠 바이럴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9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800,000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7,200,000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1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커뮤니티 체험단 (탑 3건)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3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5,000,000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15,000,000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1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네이버 블로그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15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250,000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3,750,000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1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어필리에이트 (올영 쇼핑 큐레이터)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누적 60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-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1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공급가액 소계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/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/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250,000,000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1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부가가치세 (10%)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/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/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25,000,000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1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합계 (VAT 포함)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/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/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275,000,000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37276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-100">
                <a:solidFill>
                  <a:srgbClr val="C9C4B8"/>
                </a:solidFill>
                <a:latin typeface="Pretendard"/>
                <a:ea typeface="Pretendard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310896"/>
            <a:ext cx="12188952" cy="310896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500" b="1" spc="150">
                <a:solidFill>
                  <a:srgbClr val="3D2B1B"/>
                </a:solidFill>
                <a:latin typeface="Pretendard"/>
                <a:ea typeface="Pretendard"/>
              </a:rPr>
              <a:t>플랜 </a:t>
            </a:r>
            <a:r>
              <a:rPr sz="1500" b="1" spc="150">
                <a:solidFill>
                  <a:srgbClr val="141412"/>
                </a:solidFill>
                <a:latin typeface="Pretendard"/>
                <a:ea typeface="Pretendard"/>
              </a:rPr>
              <a:t>TIMELINE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801868" y="676656"/>
            <a:ext cx="585215" cy="0"/>
          </a:xfrm>
          <a:prstGeom prst="bentConnector3">
            <a:avLst/>
          </a:prstGeom>
          <a:ln w="27940">
            <a:solidFill>
              <a:srgbClr val="3D2B1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987552"/>
            <a:ext cx="10543032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 spc="-100">
                <a:solidFill>
                  <a:srgbClr val="141412"/>
                </a:solidFill>
                <a:latin typeface="Pretendard"/>
                <a:ea typeface="Pretendard"/>
              </a:rPr>
              <a:t>3·4분기 월별 액션플랜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664208"/>
            <a:ext cx="96286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spc="-100">
                <a:solidFill>
                  <a:srgbClr val="868680"/>
                </a:solidFill>
                <a:latin typeface="Pretendard"/>
                <a:ea typeface="Pretendard"/>
              </a:rPr>
              <a:t>7월 착수 → 8·9월 1차 웨이브(올영세일) → 10월 유지 → 11·12월 2차 웨이브(블프·세일)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4405745"/>
            <a:ext cx="1700784" cy="1080654"/>
          </a:xfrm>
          <a:prstGeom prst="rect">
            <a:avLst/>
          </a:prstGeom>
          <a:solidFill>
            <a:srgbClr val="0E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094849"/>
            <a:ext cx="17007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spc="-100">
                <a:solidFill>
                  <a:srgbClr val="141412"/>
                </a:solidFill>
                <a:latin typeface="Pretendard"/>
                <a:ea typeface="Pretendard"/>
              </a:rPr>
              <a:t>10%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577840"/>
            <a:ext cx="17007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spc="-100">
                <a:solidFill>
                  <a:srgbClr val="141412"/>
                </a:solidFill>
                <a:latin typeface="Pretendard"/>
                <a:ea typeface="Pretendard"/>
              </a:rPr>
              <a:t>7월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989320"/>
            <a:ext cx="17007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spc="-100">
                <a:solidFill>
                  <a:srgbClr val="3D2B1B"/>
                </a:solidFill>
                <a:latin typeface="Pretendard"/>
                <a:ea typeface="Pretendard"/>
              </a:rPr>
              <a:t>착수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15184" y="3325090"/>
            <a:ext cx="1700784" cy="2161309"/>
          </a:xfrm>
          <a:prstGeom prst="rect">
            <a:avLst/>
          </a:prstGeom>
          <a:solidFill>
            <a:srgbClr val="3D2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15184" y="3014194"/>
            <a:ext cx="17007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spc="-100">
                <a:solidFill>
                  <a:srgbClr val="141412"/>
                </a:solidFill>
                <a:latin typeface="Pretendard"/>
                <a:ea typeface="Pretendard"/>
              </a:rPr>
              <a:t>20%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5184" y="5577840"/>
            <a:ext cx="17007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spc="-100">
                <a:solidFill>
                  <a:srgbClr val="141412"/>
                </a:solidFill>
                <a:latin typeface="Pretendard"/>
                <a:ea typeface="Pretendard"/>
              </a:rPr>
              <a:t>8월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15184" y="5989320"/>
            <a:ext cx="17007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spc="-100">
                <a:solidFill>
                  <a:srgbClr val="3D2B1B"/>
                </a:solidFill>
                <a:latin typeface="Pretendard"/>
                <a:ea typeface="Pretendard"/>
              </a:rPr>
              <a:t>★1차 웨이브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07408" y="3325090"/>
            <a:ext cx="1700784" cy="2161309"/>
          </a:xfrm>
          <a:prstGeom prst="rect">
            <a:avLst/>
          </a:prstGeom>
          <a:solidFill>
            <a:srgbClr val="3D2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07408" y="3014194"/>
            <a:ext cx="17007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spc="-100">
                <a:solidFill>
                  <a:srgbClr val="141412"/>
                </a:solidFill>
                <a:latin typeface="Pretendard"/>
                <a:ea typeface="Pretendard"/>
              </a:rPr>
              <a:t>20%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07408" y="5577840"/>
            <a:ext cx="17007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spc="-100">
                <a:solidFill>
                  <a:srgbClr val="141412"/>
                </a:solidFill>
                <a:latin typeface="Pretendard"/>
                <a:ea typeface="Pretendard"/>
              </a:rPr>
              <a:t>9월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07408" y="5989320"/>
            <a:ext cx="17007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spc="-100">
                <a:solidFill>
                  <a:srgbClr val="3D2B1B"/>
                </a:solidFill>
                <a:latin typeface="Pretendard"/>
                <a:ea typeface="Pretendard"/>
              </a:rPr>
              <a:t>★1차 웨이브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4405745"/>
            <a:ext cx="1700784" cy="1080654"/>
          </a:xfrm>
          <a:prstGeom prst="rect">
            <a:avLst/>
          </a:prstGeom>
          <a:solidFill>
            <a:srgbClr val="0E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99632" y="4094849"/>
            <a:ext cx="17007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spc="-100">
                <a:solidFill>
                  <a:srgbClr val="141412"/>
                </a:solidFill>
                <a:latin typeface="Pretendard"/>
                <a:ea typeface="Pretendard"/>
              </a:rPr>
              <a:t>10%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99632" y="5577840"/>
            <a:ext cx="17007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spc="-100">
                <a:solidFill>
                  <a:srgbClr val="141412"/>
                </a:solidFill>
                <a:latin typeface="Pretendard"/>
                <a:ea typeface="Pretendard"/>
              </a:rPr>
              <a:t>10월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99632" y="5989320"/>
            <a:ext cx="17007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spc="-100">
                <a:solidFill>
                  <a:srgbClr val="3D2B1B"/>
                </a:solidFill>
                <a:latin typeface="Pretendard"/>
                <a:ea typeface="Pretendard"/>
              </a:rPr>
              <a:t>유지·확산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91856" y="3541221"/>
            <a:ext cx="1700784" cy="1945178"/>
          </a:xfrm>
          <a:prstGeom prst="rect">
            <a:avLst/>
          </a:prstGeom>
          <a:solidFill>
            <a:srgbClr val="3D2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91856" y="3230325"/>
            <a:ext cx="17007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spc="-100">
                <a:solidFill>
                  <a:srgbClr val="141412"/>
                </a:solidFill>
                <a:latin typeface="Pretendard"/>
                <a:ea typeface="Pretendard"/>
              </a:rPr>
              <a:t>18%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91856" y="5577840"/>
            <a:ext cx="17007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spc="-100">
                <a:solidFill>
                  <a:srgbClr val="141412"/>
                </a:solidFill>
                <a:latin typeface="Pretendard"/>
                <a:ea typeface="Pretendard"/>
              </a:rPr>
              <a:t>11월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91856" y="5989320"/>
            <a:ext cx="17007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spc="-100">
                <a:solidFill>
                  <a:srgbClr val="3D2B1B"/>
                </a:solidFill>
                <a:latin typeface="Pretendard"/>
                <a:ea typeface="Pretendard"/>
              </a:rPr>
              <a:t>★2차 웨이브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784080" y="3108960"/>
            <a:ext cx="1700784" cy="2377440"/>
          </a:xfrm>
          <a:prstGeom prst="rect">
            <a:avLst/>
          </a:prstGeom>
          <a:solidFill>
            <a:srgbClr val="3D2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84080" y="2798064"/>
            <a:ext cx="17007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spc="-100">
                <a:solidFill>
                  <a:srgbClr val="141412"/>
                </a:solidFill>
                <a:latin typeface="Pretendard"/>
                <a:ea typeface="Pretendard"/>
              </a:rPr>
              <a:t>22%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0" y="5577840"/>
            <a:ext cx="17007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spc="-100">
                <a:solidFill>
                  <a:srgbClr val="141412"/>
                </a:solidFill>
                <a:latin typeface="Pretendard"/>
                <a:ea typeface="Pretendard"/>
              </a:rPr>
              <a:t>12월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84080" y="5989320"/>
            <a:ext cx="17007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spc="-100">
                <a:solidFill>
                  <a:srgbClr val="3D2B1B"/>
                </a:solidFill>
                <a:latin typeface="Pretendard"/>
                <a:ea typeface="Pretendard"/>
              </a:rPr>
              <a:t>★2차 웨이브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210312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spc="-100">
                <a:solidFill>
                  <a:srgbClr val="868680"/>
                </a:solidFill>
                <a:latin typeface="Pretendard"/>
                <a:ea typeface="Pretendard"/>
              </a:rPr>
              <a:t>Phase 1 (7–9월) — 빠른 반응 확보 : 일반식품·심의불필요 선행 + 8·9월 1차 웨이브로 올영세일 전환</a:t>
            </a:r>
          </a:p>
          <a:p>
            <a:pPr algn="l"/>
            <a:r>
              <a:rPr sz="1150" b="0" spc="-100">
                <a:solidFill>
                  <a:srgbClr val="868680"/>
                </a:solidFill>
                <a:latin typeface="Pretendard"/>
                <a:ea typeface="Pretendard"/>
              </a:rPr>
              <a:t>Phase 2 (10–12월) — 대표성 확장 : 11·12월 2차 웨이브(블프·올영세일)로 대표 브랜드 착지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37276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-100">
                <a:solidFill>
                  <a:srgbClr val="C9C4B8"/>
                </a:solidFill>
                <a:latin typeface="Pretendard"/>
                <a:ea typeface="Pretendard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310896"/>
            <a:ext cx="12188952" cy="310896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500" b="1" spc="150">
                <a:solidFill>
                  <a:srgbClr val="3D2B1B"/>
                </a:solidFill>
                <a:latin typeface="Pretendard"/>
                <a:ea typeface="Pretendard"/>
              </a:rPr>
              <a:t>플랜 </a:t>
            </a:r>
            <a:r>
              <a:rPr sz="1500" b="1" spc="150">
                <a:solidFill>
                  <a:srgbClr val="141412"/>
                </a:solidFill>
                <a:latin typeface="Pretendard"/>
                <a:ea typeface="Pretendard"/>
              </a:rPr>
              <a:t>MONTHLY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801868" y="676656"/>
            <a:ext cx="585215" cy="0"/>
          </a:xfrm>
          <a:prstGeom prst="bentConnector3">
            <a:avLst/>
          </a:prstGeom>
          <a:ln w="27940">
            <a:solidFill>
              <a:srgbClr val="3D2B1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987552"/>
            <a:ext cx="10543032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 spc="-100">
                <a:solidFill>
                  <a:srgbClr val="141412"/>
                </a:solidFill>
                <a:latin typeface="Pretendard"/>
                <a:ea typeface="Pretendard"/>
              </a:rPr>
              <a:t>7월  ·  First Shot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10543032" cy="548640"/>
          </a:xfrm>
          <a:prstGeom prst="roundRect">
            <a:avLst>
              <a:gd name="adj" fmla="val 8000"/>
            </a:avLst>
          </a:prstGeom>
          <a:solidFill>
            <a:srgbClr val="F3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783080"/>
            <a:ext cx="82296" cy="548640"/>
          </a:xfrm>
          <a:prstGeom prst="rect">
            <a:avLst/>
          </a:prstGeom>
          <a:solidFill>
            <a:srgbClr val="3D2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783080"/>
            <a:ext cx="68580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spc="-100">
                <a:solidFill>
                  <a:srgbClr val="3D2B1B"/>
                </a:solidFill>
                <a:latin typeface="Pretendard"/>
                <a:ea typeface="Pretendard"/>
              </a:rPr>
              <a:t>착수 · 콘텐츠/메시지 테스트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783080"/>
            <a:ext cx="10058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50" b="1" spc="-100">
                <a:solidFill>
                  <a:srgbClr val="141412"/>
                </a:solidFill>
                <a:latin typeface="Pretendard"/>
                <a:ea typeface="Pretendard"/>
              </a:rPr>
              <a:t>“위닝 메시지 발굴 · 시딩 도화선 점화”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60320"/>
            <a:ext cx="6400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spc="-100">
                <a:solidFill>
                  <a:srgbClr val="141412"/>
                </a:solidFill>
                <a:latin typeface="Pretendard"/>
                <a:ea typeface="Pretendard"/>
              </a:rPr>
              <a:t>이 달의 핵심 액션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971800"/>
            <a:ext cx="64008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32"/>
              </a:spcAft>
            </a:pPr>
            <a:r>
              <a:rPr sz="1150" b="0" spc="-100">
                <a:solidFill>
                  <a:srgbClr val="141412"/>
                </a:solidFill>
                <a:latin typeface="Pretendard"/>
                <a:ea typeface="Pretendard"/>
              </a:rPr>
              <a:t>■  콘텐츠·이미지 LMF 테스트 → 위닝 메시지 선별</a:t>
            </a:r>
          </a:p>
          <a:p>
            <a:pPr>
              <a:spcAft>
                <a:spcPts val="1032"/>
              </a:spcAft>
            </a:pPr>
            <a:r>
              <a:rPr sz="1150" b="0" spc="-100">
                <a:solidFill>
                  <a:srgbClr val="141412"/>
                </a:solidFill>
                <a:latin typeface="Pretendard"/>
                <a:ea typeface="Pretendard"/>
              </a:rPr>
              <a:t>■  일반식품 시딩 즉시 라이브</a:t>
            </a:r>
          </a:p>
          <a:p>
            <a:pPr>
              <a:spcAft>
                <a:spcPts val="1032"/>
              </a:spcAft>
            </a:pPr>
            <a:r>
              <a:rPr sz="1150" b="0" spc="-100">
                <a:solidFill>
                  <a:srgbClr val="141412"/>
                </a:solidFill>
                <a:latin typeface="Pretendard"/>
                <a:ea typeface="Pretendard"/>
              </a:rPr>
              <a:t>■  건기식 심의 파이프라인 착수</a:t>
            </a:r>
          </a:p>
          <a:p>
            <a:pPr>
              <a:spcAft>
                <a:spcPts val="1032"/>
              </a:spcAft>
            </a:pPr>
            <a:r>
              <a:rPr sz="1150" b="0" spc="-100">
                <a:solidFill>
                  <a:srgbClr val="141412"/>
                </a:solidFill>
                <a:latin typeface="Pretendard"/>
                <a:ea typeface="Pretendard"/>
              </a:rPr>
              <a:t>■  챌린저스 1차 가동 · 블로그 키워드 선점</a:t>
            </a:r>
          </a:p>
          <a:p>
            <a:pPr>
              <a:spcAft>
                <a:spcPts val="1032"/>
              </a:spcAft>
            </a:pPr>
            <a:r>
              <a:rPr sz="1150" b="0" spc="-100">
                <a:solidFill>
                  <a:srgbClr val="141412"/>
                </a:solidFill>
                <a:latin typeface="Pretendard"/>
                <a:ea typeface="Pretendard"/>
              </a:rPr>
              <a:t>■  어필리에이트 프로세스 확립·구동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498079" y="2560320"/>
          <a:ext cx="3840479" cy="16962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02512"/>
                <a:gridCol w="1037967"/>
              </a:tblGrid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000" b="1" spc="-10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진행 물량 (건)</a:t>
                      </a:r>
                    </a:p>
                  </a:txBody>
                  <a:tcPr marL="63500" marR="63500" marT="25400" marB="25400" anchor="ctr">
                    <a:solidFill>
                      <a:srgbClr val="3D2B1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spc="-10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7월</a:t>
                      </a:r>
                    </a:p>
                  </a:txBody>
                  <a:tcPr marL="63500" marR="63500" marT="25400" marB="25400" anchor="ctr">
                    <a:solidFill>
                      <a:srgbClr val="3D2B1B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9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마이크로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15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9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나노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25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9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KOL 무가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10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9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EGC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2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9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어필리에이트(누적)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10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9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월 총건수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50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7498079" y="5532120"/>
            <a:ext cx="3840480" cy="914400"/>
          </a:xfrm>
          <a:prstGeom prst="roundRect">
            <a:avLst>
              <a:gd name="adj" fmla="val 8000"/>
            </a:avLst>
          </a:prstGeom>
          <a:solidFill>
            <a:srgbClr val="3D2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79" y="5596128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spc="-100">
                <a:solidFill>
                  <a:srgbClr val="C7CE3E"/>
                </a:solidFill>
                <a:latin typeface="Pretendard"/>
                <a:ea typeface="Pretendard"/>
              </a:rPr>
              <a:t>이 달 예산  10%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5897880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 spc="-100">
                <a:solidFill>
                  <a:srgbClr val="FFFFFF"/>
                </a:solidFill>
                <a:latin typeface="Pretendard"/>
                <a:ea typeface="Pretendard"/>
              </a:rPr>
              <a:t>25,000,000 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6144768"/>
            <a:ext cx="10543032" cy="457200"/>
          </a:xfrm>
          <a:prstGeom prst="rect">
            <a:avLst/>
          </a:prstGeom>
          <a:solidFill>
            <a:srgbClr val="F3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6144768"/>
            <a:ext cx="82296" cy="457200"/>
          </a:xfrm>
          <a:prstGeom prst="rect">
            <a:avLst/>
          </a:prstGeom>
          <a:solidFill>
            <a:srgbClr val="3D2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6144768"/>
            <a:ext cx="10058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 spc="-100">
                <a:solidFill>
                  <a:srgbClr val="141412"/>
                </a:solidFill>
                <a:latin typeface="Pretendard"/>
                <a:ea typeface="Pretendard"/>
              </a:rPr>
              <a:t>성과 목표 — 위닝 메시지 확정 · 후기·콘텐츠 1차 적재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37276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-100">
                <a:solidFill>
                  <a:srgbClr val="C9C4B8"/>
                </a:solidFill>
                <a:latin typeface="Pretendard"/>
                <a:ea typeface="Pretendard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310896"/>
            <a:ext cx="12188952" cy="310896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500" b="1" spc="150">
                <a:solidFill>
                  <a:srgbClr val="3D2B1B"/>
                </a:solidFill>
                <a:latin typeface="Pretendard"/>
                <a:ea typeface="Pretendard"/>
              </a:rPr>
              <a:t>플랜 </a:t>
            </a:r>
            <a:r>
              <a:rPr sz="1500" b="1" spc="150">
                <a:solidFill>
                  <a:srgbClr val="141412"/>
                </a:solidFill>
                <a:latin typeface="Pretendard"/>
                <a:ea typeface="Pretendard"/>
              </a:rPr>
              <a:t>MONTHLY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801868" y="676656"/>
            <a:ext cx="585215" cy="0"/>
          </a:xfrm>
          <a:prstGeom prst="bentConnector3">
            <a:avLst/>
          </a:prstGeom>
          <a:ln w="27940">
            <a:solidFill>
              <a:srgbClr val="3D2B1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987552"/>
            <a:ext cx="10543032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 spc="-100">
                <a:solidFill>
                  <a:srgbClr val="141412"/>
                </a:solidFill>
                <a:latin typeface="Pretendard"/>
                <a:ea typeface="Pretendard"/>
              </a:rPr>
              <a:t>8월  ·  Proof Take-off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10543032" cy="548640"/>
          </a:xfrm>
          <a:prstGeom prst="roundRect">
            <a:avLst>
              <a:gd name="adj" fmla="val 8000"/>
            </a:avLst>
          </a:prstGeom>
          <a:solidFill>
            <a:srgbClr val="F3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783080"/>
            <a:ext cx="82296" cy="548640"/>
          </a:xfrm>
          <a:prstGeom prst="rect">
            <a:avLst/>
          </a:prstGeom>
          <a:solidFill>
            <a:srgbClr val="3D2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783080"/>
            <a:ext cx="68580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spc="-100">
                <a:solidFill>
                  <a:srgbClr val="3D2B1B"/>
                </a:solidFill>
                <a:latin typeface="Pretendard"/>
                <a:ea typeface="Pretendard"/>
              </a:rPr>
              <a:t>올영세일 사전 부스팅 · ★1차 웨이브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783080"/>
            <a:ext cx="10058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50" b="1" spc="-100">
                <a:solidFill>
                  <a:srgbClr val="141412"/>
                </a:solidFill>
                <a:latin typeface="Pretendard"/>
                <a:ea typeface="Pretendard"/>
              </a:rPr>
              <a:t>“세일 전 인지·각인 확산 + 선택 증거 확보”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60320"/>
            <a:ext cx="6400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spc="-100">
                <a:solidFill>
                  <a:srgbClr val="141412"/>
                </a:solidFill>
                <a:latin typeface="Pretendard"/>
                <a:ea typeface="Pretendard"/>
              </a:rPr>
              <a:t>이 달의 핵심 액션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971800"/>
            <a:ext cx="64008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32"/>
              </a:spcAft>
            </a:pPr>
            <a:r>
              <a:rPr sz="1150" b="0" spc="-100">
                <a:solidFill>
                  <a:srgbClr val="141412"/>
                </a:solidFill>
                <a:latin typeface="Pretendard"/>
                <a:ea typeface="Pretendard"/>
              </a:rPr>
              <a:t>■  시딩 대량 릴리즈(110건) — 세일 1주 전 집중</a:t>
            </a:r>
          </a:p>
          <a:p>
            <a:pPr>
              <a:spcAft>
                <a:spcPts val="1032"/>
              </a:spcAft>
            </a:pPr>
            <a:r>
              <a:rPr sz="1150" b="0" spc="-100">
                <a:solidFill>
                  <a:srgbClr val="141412"/>
                </a:solidFill>
                <a:latin typeface="Pretendard"/>
                <a:ea typeface="Pretendard"/>
              </a:rPr>
              <a:t>■  매크로 합류·파워페이지·체험단·블로그 바이럴</a:t>
            </a:r>
          </a:p>
          <a:p>
            <a:pPr>
              <a:spcAft>
                <a:spcPts val="1032"/>
              </a:spcAft>
            </a:pPr>
            <a:r>
              <a:rPr sz="1150" b="0" spc="-100">
                <a:solidFill>
                  <a:srgbClr val="141412"/>
                </a:solidFill>
                <a:latin typeface="Pretendard"/>
                <a:ea typeface="Pretendard"/>
              </a:rPr>
              <a:t>■  건기식 심의 완료분 1차 업로드</a:t>
            </a:r>
          </a:p>
          <a:p>
            <a:pPr>
              <a:spcAft>
                <a:spcPts val="1032"/>
              </a:spcAft>
            </a:pPr>
            <a:r>
              <a:rPr sz="1150" b="0" spc="-100">
                <a:solidFill>
                  <a:srgbClr val="141412"/>
                </a:solidFill>
                <a:latin typeface="Pretendard"/>
                <a:ea typeface="Pretendard"/>
              </a:rPr>
              <a:t>■  ‘올영 1위’ 키워드 플레이</a:t>
            </a:r>
          </a:p>
          <a:p>
            <a:pPr>
              <a:spcAft>
                <a:spcPts val="1032"/>
              </a:spcAft>
            </a:pPr>
            <a:r>
              <a:rPr sz="1150" b="0" spc="-100">
                <a:solidFill>
                  <a:srgbClr val="141412"/>
                </a:solidFill>
                <a:latin typeface="Pretendard"/>
                <a:ea typeface="Pretendard"/>
              </a:rPr>
              <a:t>■  어필리에이트 수량 누적 증대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498079" y="2560320"/>
          <a:ext cx="3840479" cy="16962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02512"/>
                <a:gridCol w="1037967"/>
              </a:tblGrid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000" b="1" spc="-10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진행 물량 (건)</a:t>
                      </a:r>
                    </a:p>
                  </a:txBody>
                  <a:tcPr marL="63500" marR="63500" marT="25400" marB="25400" anchor="ctr">
                    <a:solidFill>
                      <a:srgbClr val="3D2B1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spc="-10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8월</a:t>
                      </a:r>
                    </a:p>
                  </a:txBody>
                  <a:tcPr marL="63500" marR="63500" marT="25400" marB="25400" anchor="ctr">
                    <a:solidFill>
                      <a:srgbClr val="3D2B1B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9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매크로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9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마이크로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35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9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나노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55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9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파워페이지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3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9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체험단(탑)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9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월 총건수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110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7498079" y="5532120"/>
            <a:ext cx="3840480" cy="914400"/>
          </a:xfrm>
          <a:prstGeom prst="roundRect">
            <a:avLst>
              <a:gd name="adj" fmla="val 8000"/>
            </a:avLst>
          </a:prstGeom>
          <a:solidFill>
            <a:srgbClr val="3D2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79" y="5596128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spc="-100">
                <a:solidFill>
                  <a:srgbClr val="C7CE3E"/>
                </a:solidFill>
                <a:latin typeface="Pretendard"/>
                <a:ea typeface="Pretendard"/>
              </a:rPr>
              <a:t>이 달 예산  20%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5897880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 spc="-100">
                <a:solidFill>
                  <a:srgbClr val="FFFFFF"/>
                </a:solidFill>
                <a:latin typeface="Pretendard"/>
                <a:ea typeface="Pretendard"/>
              </a:rPr>
              <a:t>50,000,000 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6144768"/>
            <a:ext cx="10543032" cy="457200"/>
          </a:xfrm>
          <a:prstGeom prst="rect">
            <a:avLst/>
          </a:prstGeom>
          <a:solidFill>
            <a:srgbClr val="F3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6144768"/>
            <a:ext cx="82296" cy="457200"/>
          </a:xfrm>
          <a:prstGeom prst="rect">
            <a:avLst/>
          </a:prstGeom>
          <a:solidFill>
            <a:srgbClr val="3D2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6144768"/>
            <a:ext cx="10058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 spc="-100">
                <a:solidFill>
                  <a:srgbClr val="141412"/>
                </a:solidFill>
                <a:latin typeface="Pretendard"/>
                <a:ea typeface="Pretendard"/>
              </a:rPr>
              <a:t>성과 목표 — 1차 웨이브 사전 부스팅 · 검색·후기 증거 확산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37276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-100">
                <a:solidFill>
                  <a:srgbClr val="C9C4B8"/>
                </a:solidFill>
                <a:latin typeface="Pretendard"/>
                <a:ea typeface="Pretendard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310896"/>
            <a:ext cx="12188952" cy="310896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500" b="1" spc="150">
                <a:solidFill>
                  <a:srgbClr val="3D2B1B"/>
                </a:solidFill>
                <a:latin typeface="Pretendard"/>
                <a:ea typeface="Pretendard"/>
              </a:rPr>
              <a:t>플랜 </a:t>
            </a:r>
            <a:r>
              <a:rPr sz="1500" b="1" spc="150">
                <a:solidFill>
                  <a:srgbClr val="141412"/>
                </a:solidFill>
                <a:latin typeface="Pretendard"/>
                <a:ea typeface="Pretendard"/>
              </a:rPr>
              <a:t>MONTHLY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801868" y="676656"/>
            <a:ext cx="585215" cy="0"/>
          </a:xfrm>
          <a:prstGeom prst="bentConnector3">
            <a:avLst/>
          </a:prstGeom>
          <a:ln w="27940">
            <a:solidFill>
              <a:srgbClr val="3D2B1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987552"/>
            <a:ext cx="10543032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 spc="-100">
                <a:solidFill>
                  <a:srgbClr val="141412"/>
                </a:solidFill>
                <a:latin typeface="Pretendard"/>
                <a:ea typeface="Pretendard"/>
              </a:rPr>
              <a:t>9월  ·  Acceleration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10543032" cy="548640"/>
          </a:xfrm>
          <a:prstGeom prst="roundRect">
            <a:avLst>
              <a:gd name="adj" fmla="val 8000"/>
            </a:avLst>
          </a:prstGeom>
          <a:solidFill>
            <a:srgbClr val="F3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783080"/>
            <a:ext cx="82296" cy="548640"/>
          </a:xfrm>
          <a:prstGeom prst="rect">
            <a:avLst/>
          </a:prstGeom>
          <a:solidFill>
            <a:srgbClr val="3D2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783080"/>
            <a:ext cx="68580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spc="-100">
                <a:solidFill>
                  <a:srgbClr val="3D2B1B"/>
                </a:solidFill>
                <a:latin typeface="Pretendard"/>
                <a:ea typeface="Pretendard"/>
              </a:rPr>
              <a:t>올영세일 구매 전환 · ★1차 피크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783080"/>
            <a:ext cx="10058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50" b="1" spc="-100">
                <a:solidFill>
                  <a:srgbClr val="141412"/>
                </a:solidFill>
                <a:latin typeface="Pretendard"/>
                <a:ea typeface="Pretendard"/>
              </a:rPr>
              <a:t>“확보한 증거로 올영세일 구매 전환 폭발”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60320"/>
            <a:ext cx="6400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spc="-100">
                <a:solidFill>
                  <a:srgbClr val="141412"/>
                </a:solidFill>
                <a:latin typeface="Pretendard"/>
                <a:ea typeface="Pretendard"/>
              </a:rPr>
              <a:t>이 달의 핵심 액션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971800"/>
            <a:ext cx="64008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32"/>
              </a:spcAft>
            </a:pPr>
            <a:r>
              <a:rPr sz="1150" b="0" spc="-100">
                <a:solidFill>
                  <a:srgbClr val="141412"/>
                </a:solidFill>
                <a:latin typeface="Pretendard"/>
                <a:ea typeface="Pretendard"/>
              </a:rPr>
              <a:t>■  올영세일 집중 — 일반+건기식 동시 투입</a:t>
            </a:r>
          </a:p>
          <a:p>
            <a:pPr>
              <a:spcAft>
                <a:spcPts val="1032"/>
              </a:spcAft>
            </a:pPr>
            <a:r>
              <a:rPr sz="1150" b="0" spc="-100">
                <a:solidFill>
                  <a:srgbClr val="141412"/>
                </a:solidFill>
                <a:latin typeface="Pretendard"/>
                <a:ea typeface="Pretendard"/>
              </a:rPr>
              <a:t>■  퍼포먼스 매체·어필리에이트 전환 유도</a:t>
            </a:r>
          </a:p>
          <a:p>
            <a:pPr>
              <a:spcAft>
                <a:spcPts val="1032"/>
              </a:spcAft>
            </a:pPr>
            <a:r>
              <a:rPr sz="1150" b="0" spc="-100">
                <a:solidFill>
                  <a:srgbClr val="141412"/>
                </a:solidFill>
                <a:latin typeface="Pretendard"/>
                <a:ea typeface="Pretendard"/>
              </a:rPr>
              <a:t>■  건기식 2차 업로드 세일 직전 라이브</a:t>
            </a:r>
          </a:p>
          <a:p>
            <a:pPr>
              <a:spcAft>
                <a:spcPts val="1032"/>
              </a:spcAft>
            </a:pPr>
            <a:r>
              <a:rPr sz="1150" b="0" spc="-100">
                <a:solidFill>
                  <a:srgbClr val="141412"/>
                </a:solidFill>
                <a:latin typeface="Pretendard"/>
                <a:ea typeface="Pretendard"/>
              </a:rPr>
              <a:t>■  랭킹·후기·혜택 결합 소재 운영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498079" y="2560320"/>
          <a:ext cx="3840479" cy="16962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02512"/>
                <a:gridCol w="1037967"/>
              </a:tblGrid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000" b="1" spc="-10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진행 물량 (건)</a:t>
                      </a:r>
                    </a:p>
                  </a:txBody>
                  <a:tcPr marL="63500" marR="63500" marT="25400" marB="25400" anchor="ctr">
                    <a:solidFill>
                      <a:srgbClr val="3D2B1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spc="-10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9월</a:t>
                      </a:r>
                    </a:p>
                  </a:txBody>
                  <a:tcPr marL="63500" marR="63500" marT="25400" marB="25400" anchor="ctr">
                    <a:solidFill>
                      <a:srgbClr val="3D2B1B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9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마이크로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20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9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나노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35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9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KOL 무가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10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9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EGC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1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9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어필리에이트(누적)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30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9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월 총건수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65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7498079" y="5532120"/>
            <a:ext cx="3840480" cy="914400"/>
          </a:xfrm>
          <a:prstGeom prst="roundRect">
            <a:avLst>
              <a:gd name="adj" fmla="val 8000"/>
            </a:avLst>
          </a:prstGeom>
          <a:solidFill>
            <a:srgbClr val="3D2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79" y="5596128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spc="-100">
                <a:solidFill>
                  <a:srgbClr val="C7CE3E"/>
                </a:solidFill>
                <a:latin typeface="Pretendard"/>
                <a:ea typeface="Pretendard"/>
              </a:rPr>
              <a:t>이 달 예산  20%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5897880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 spc="-100">
                <a:solidFill>
                  <a:srgbClr val="FFFFFF"/>
                </a:solidFill>
                <a:latin typeface="Pretendard"/>
                <a:ea typeface="Pretendard"/>
              </a:rPr>
              <a:t>50,000,000 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6144768"/>
            <a:ext cx="10543032" cy="457200"/>
          </a:xfrm>
          <a:prstGeom prst="rect">
            <a:avLst/>
          </a:prstGeom>
          <a:solidFill>
            <a:srgbClr val="F3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6144768"/>
            <a:ext cx="82296" cy="457200"/>
          </a:xfrm>
          <a:prstGeom prst="rect">
            <a:avLst/>
          </a:prstGeom>
          <a:solidFill>
            <a:srgbClr val="3D2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6144768"/>
            <a:ext cx="10058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 spc="-100">
                <a:solidFill>
                  <a:srgbClr val="141412"/>
                </a:solidFill>
                <a:latin typeface="Pretendard"/>
                <a:ea typeface="Pretendard"/>
              </a:rPr>
              <a:t>성과 목표 — 1차 웨이브 매출 피크 · 카테고리 랭킹 1위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37276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-100">
                <a:solidFill>
                  <a:srgbClr val="C9C4B8"/>
                </a:solidFill>
                <a:latin typeface="Pretendard"/>
                <a:ea typeface="Pretendard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310896"/>
            <a:ext cx="12188952" cy="310896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500" b="1" spc="150">
                <a:solidFill>
                  <a:srgbClr val="3D2B1B"/>
                </a:solidFill>
                <a:latin typeface="Pretendard"/>
                <a:ea typeface="Pretendard"/>
              </a:rPr>
              <a:t>플랜 </a:t>
            </a:r>
            <a:r>
              <a:rPr sz="1500" b="1" spc="150">
                <a:solidFill>
                  <a:srgbClr val="141412"/>
                </a:solidFill>
                <a:latin typeface="Pretendard"/>
                <a:ea typeface="Pretendard"/>
              </a:rPr>
              <a:t>MONTHLY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801868" y="676656"/>
            <a:ext cx="585215" cy="0"/>
          </a:xfrm>
          <a:prstGeom prst="bentConnector3">
            <a:avLst/>
          </a:prstGeom>
          <a:ln w="27940">
            <a:solidFill>
              <a:srgbClr val="3D2B1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987552"/>
            <a:ext cx="10543032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 spc="-100">
                <a:solidFill>
                  <a:srgbClr val="141412"/>
                </a:solidFill>
                <a:latin typeface="Pretendard"/>
                <a:ea typeface="Pretendard"/>
              </a:rPr>
              <a:t>10월  ·  Orbit Expansion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10543032" cy="548640"/>
          </a:xfrm>
          <a:prstGeom prst="roundRect">
            <a:avLst>
              <a:gd name="adj" fmla="val 8000"/>
            </a:avLst>
          </a:prstGeom>
          <a:solidFill>
            <a:srgbClr val="F3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783080"/>
            <a:ext cx="82296" cy="548640"/>
          </a:xfrm>
          <a:prstGeom prst="rect">
            <a:avLst/>
          </a:prstGeom>
          <a:solidFill>
            <a:srgbClr val="3D2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783080"/>
            <a:ext cx="68580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spc="-100">
                <a:solidFill>
                  <a:srgbClr val="3D2B1B"/>
                </a:solidFill>
                <a:latin typeface="Pretendard"/>
                <a:ea typeface="Pretendard"/>
              </a:rPr>
              <a:t>유지 · 포트폴리오 확장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783080"/>
            <a:ext cx="10058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50" b="1" spc="-100">
                <a:solidFill>
                  <a:srgbClr val="141412"/>
                </a:solidFill>
                <a:latin typeface="Pretendard"/>
                <a:ea typeface="Pretendard"/>
              </a:rPr>
              <a:t>“구매 증거 기반 건기식 라인업 확장”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60320"/>
            <a:ext cx="6400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spc="-100">
                <a:solidFill>
                  <a:srgbClr val="141412"/>
                </a:solidFill>
                <a:latin typeface="Pretendard"/>
                <a:ea typeface="Pretendard"/>
              </a:rPr>
              <a:t>이 달의 핵심 액션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971800"/>
            <a:ext cx="64008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32"/>
              </a:spcAft>
            </a:pPr>
            <a:r>
              <a:rPr sz="1150" b="0" spc="-100">
                <a:solidFill>
                  <a:srgbClr val="141412"/>
                </a:solidFill>
                <a:latin typeface="Pretendard"/>
                <a:ea typeface="Pretendard"/>
              </a:rPr>
              <a:t>■  건기식 6종 본격 콘텐츠·확장 메시지 테스트</a:t>
            </a:r>
          </a:p>
          <a:p>
            <a:pPr>
              <a:spcAft>
                <a:spcPts val="1032"/>
              </a:spcAft>
            </a:pPr>
            <a:r>
              <a:rPr sz="1150" b="0" spc="-100">
                <a:solidFill>
                  <a:srgbClr val="141412"/>
                </a:solidFill>
                <a:latin typeface="Pretendard"/>
                <a:ea typeface="Pretendard"/>
              </a:rPr>
              <a:t>■  9월 위닝 소재 낙수 운영(유지)</a:t>
            </a:r>
          </a:p>
          <a:p>
            <a:pPr>
              <a:spcAft>
                <a:spcPts val="1032"/>
              </a:spcAft>
            </a:pPr>
            <a:r>
              <a:rPr sz="1150" b="0" spc="-100">
                <a:solidFill>
                  <a:srgbClr val="141412"/>
                </a:solidFill>
                <a:latin typeface="Pretendard"/>
                <a:ea typeface="Pretendard"/>
              </a:rPr>
              <a:t>■  크로스셀 CRM·후기 자산 확산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498079" y="2560320"/>
          <a:ext cx="3840479" cy="16962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02512"/>
                <a:gridCol w="1037967"/>
              </a:tblGrid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000" b="1" spc="-10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진행 물량 (건)</a:t>
                      </a:r>
                    </a:p>
                  </a:txBody>
                  <a:tcPr marL="63500" marR="63500" marT="25400" marB="25400" anchor="ctr">
                    <a:solidFill>
                      <a:srgbClr val="3D2B1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spc="-10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10월</a:t>
                      </a:r>
                    </a:p>
                  </a:txBody>
                  <a:tcPr marL="63500" marR="63500" marT="25400" marB="25400" anchor="ctr">
                    <a:solidFill>
                      <a:srgbClr val="3D2B1B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9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마이크로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15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9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나노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25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9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KOL 무가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10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9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EGC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2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9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어필리에이트(누적)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40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9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월 총건수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50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7498079" y="5532120"/>
            <a:ext cx="3840480" cy="914400"/>
          </a:xfrm>
          <a:prstGeom prst="roundRect">
            <a:avLst>
              <a:gd name="adj" fmla="val 8000"/>
            </a:avLst>
          </a:prstGeom>
          <a:solidFill>
            <a:srgbClr val="3D2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79" y="5596128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spc="-100">
                <a:solidFill>
                  <a:srgbClr val="C7CE3E"/>
                </a:solidFill>
                <a:latin typeface="Pretendard"/>
                <a:ea typeface="Pretendard"/>
              </a:rPr>
              <a:t>이 달 예산  10%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5897880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 spc="-100">
                <a:solidFill>
                  <a:srgbClr val="FFFFFF"/>
                </a:solidFill>
                <a:latin typeface="Pretendard"/>
                <a:ea typeface="Pretendard"/>
              </a:rPr>
              <a:t>25,000,000 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6144768"/>
            <a:ext cx="10543032" cy="457200"/>
          </a:xfrm>
          <a:prstGeom prst="rect">
            <a:avLst/>
          </a:prstGeom>
          <a:solidFill>
            <a:srgbClr val="F3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6144768"/>
            <a:ext cx="82296" cy="457200"/>
          </a:xfrm>
          <a:prstGeom prst="rect">
            <a:avLst/>
          </a:prstGeom>
          <a:solidFill>
            <a:srgbClr val="3D2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6144768"/>
            <a:ext cx="10058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 spc="-100">
                <a:solidFill>
                  <a:srgbClr val="141412"/>
                </a:solidFill>
                <a:latin typeface="Pretendard"/>
                <a:ea typeface="Pretendard"/>
              </a:rPr>
              <a:t>성과 목표 — 매출 유지 · 건기식 라인 인지 형성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37276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-100">
                <a:solidFill>
                  <a:srgbClr val="C9C4B8"/>
                </a:solidFill>
                <a:latin typeface="Pretendard"/>
                <a:ea typeface="Pretendard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310896"/>
            <a:ext cx="12188952" cy="310896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500" b="1" spc="150">
                <a:solidFill>
                  <a:srgbClr val="3D2B1B"/>
                </a:solidFill>
                <a:latin typeface="Pretendard"/>
                <a:ea typeface="Pretendard"/>
              </a:rPr>
              <a:t>플랜 </a:t>
            </a:r>
            <a:r>
              <a:rPr sz="1500" b="1" spc="150">
                <a:solidFill>
                  <a:srgbClr val="141412"/>
                </a:solidFill>
                <a:latin typeface="Pretendard"/>
                <a:ea typeface="Pretendard"/>
              </a:rPr>
              <a:t>MONTHLY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801868" y="676656"/>
            <a:ext cx="585215" cy="0"/>
          </a:xfrm>
          <a:prstGeom prst="bentConnector3">
            <a:avLst/>
          </a:prstGeom>
          <a:ln w="27940">
            <a:solidFill>
              <a:srgbClr val="3D2B1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987552"/>
            <a:ext cx="10543032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 spc="-100">
                <a:solidFill>
                  <a:srgbClr val="141412"/>
                </a:solidFill>
                <a:latin typeface="Pretendard"/>
                <a:ea typeface="Pretendard"/>
              </a:rPr>
              <a:t>11월  ·  Boost-up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10543032" cy="548640"/>
          </a:xfrm>
          <a:prstGeom prst="roundRect">
            <a:avLst>
              <a:gd name="adj" fmla="val 8000"/>
            </a:avLst>
          </a:prstGeom>
          <a:solidFill>
            <a:srgbClr val="F3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783080"/>
            <a:ext cx="82296" cy="548640"/>
          </a:xfrm>
          <a:prstGeom prst="rect">
            <a:avLst/>
          </a:prstGeom>
          <a:solidFill>
            <a:srgbClr val="3D2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783080"/>
            <a:ext cx="68580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spc="-100">
                <a:solidFill>
                  <a:srgbClr val="3D2B1B"/>
                </a:solidFill>
                <a:latin typeface="Pretendard"/>
                <a:ea typeface="Pretendard"/>
              </a:rPr>
              <a:t>블프 · 재점화 · ★2차 웨이브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783080"/>
            <a:ext cx="10058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50" b="1" spc="-100">
                <a:solidFill>
                  <a:srgbClr val="141412"/>
                </a:solidFill>
                <a:latin typeface="Pretendard"/>
                <a:ea typeface="Pretendard"/>
              </a:rPr>
              <a:t>“많이 보이고 많이 찾는 브랜드로 재점화”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60320"/>
            <a:ext cx="6400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spc="-100">
                <a:solidFill>
                  <a:srgbClr val="141412"/>
                </a:solidFill>
                <a:latin typeface="Pretendard"/>
                <a:ea typeface="Pretendard"/>
              </a:rPr>
              <a:t>이 달의 핵심 액션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971800"/>
            <a:ext cx="64008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32"/>
              </a:spcAft>
            </a:pPr>
            <a:r>
              <a:rPr sz="1150" b="0" spc="-100">
                <a:solidFill>
                  <a:srgbClr val="141412"/>
                </a:solidFill>
                <a:latin typeface="Pretendard"/>
                <a:ea typeface="Pretendard"/>
              </a:rPr>
              <a:t>■  시딩 재확대(90건)·매크로·체험단·파워페이지 재가동</a:t>
            </a:r>
          </a:p>
          <a:p>
            <a:pPr>
              <a:spcAft>
                <a:spcPts val="1032"/>
              </a:spcAft>
            </a:pPr>
            <a:r>
              <a:rPr sz="1150" b="0" spc="-100">
                <a:solidFill>
                  <a:srgbClr val="141412"/>
                </a:solidFill>
                <a:latin typeface="Pretendard"/>
                <a:ea typeface="Pretendard"/>
              </a:rPr>
              <a:t>■  블프 프로모션 퍼포먼스·건기식 RTB+혜택</a:t>
            </a:r>
          </a:p>
          <a:p>
            <a:pPr>
              <a:spcAft>
                <a:spcPts val="1032"/>
              </a:spcAft>
            </a:pPr>
            <a:r>
              <a:rPr sz="1150" b="0" spc="-100">
                <a:solidFill>
                  <a:srgbClr val="141412"/>
                </a:solidFill>
                <a:latin typeface="Pretendard"/>
                <a:ea typeface="Pretendard"/>
              </a:rPr>
              <a:t>■  챌린저스 2차·신뢰 자산 보강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498079" y="2560320"/>
          <a:ext cx="3840479" cy="16962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02512"/>
                <a:gridCol w="1037967"/>
              </a:tblGrid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000" b="1" spc="-10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진행 물량 (건)</a:t>
                      </a:r>
                    </a:p>
                  </a:txBody>
                  <a:tcPr marL="63500" marR="63500" marT="25400" marB="25400" anchor="ctr">
                    <a:solidFill>
                      <a:srgbClr val="3D2B1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spc="-10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11월</a:t>
                      </a:r>
                    </a:p>
                  </a:txBody>
                  <a:tcPr marL="63500" marR="63500" marT="25400" marB="25400" anchor="ctr">
                    <a:solidFill>
                      <a:srgbClr val="3D2B1B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9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매크로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9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마이크로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30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9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나노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40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9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파워페이지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3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9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체험단(탑)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9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월 총건수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90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7498079" y="5532120"/>
            <a:ext cx="3840480" cy="914400"/>
          </a:xfrm>
          <a:prstGeom prst="roundRect">
            <a:avLst>
              <a:gd name="adj" fmla="val 8000"/>
            </a:avLst>
          </a:prstGeom>
          <a:solidFill>
            <a:srgbClr val="3D2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79" y="5596128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spc="-100">
                <a:solidFill>
                  <a:srgbClr val="C7CE3E"/>
                </a:solidFill>
                <a:latin typeface="Pretendard"/>
                <a:ea typeface="Pretendard"/>
              </a:rPr>
              <a:t>이 달 예산  18%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5897880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 spc="-100">
                <a:solidFill>
                  <a:srgbClr val="FFFFFF"/>
                </a:solidFill>
                <a:latin typeface="Pretendard"/>
                <a:ea typeface="Pretendard"/>
              </a:rPr>
              <a:t>45,000,000 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6144768"/>
            <a:ext cx="10543032" cy="457200"/>
          </a:xfrm>
          <a:prstGeom prst="rect">
            <a:avLst/>
          </a:prstGeom>
          <a:solidFill>
            <a:srgbClr val="F3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6144768"/>
            <a:ext cx="82296" cy="457200"/>
          </a:xfrm>
          <a:prstGeom prst="rect">
            <a:avLst/>
          </a:prstGeom>
          <a:solidFill>
            <a:srgbClr val="3D2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6144768"/>
            <a:ext cx="10058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 spc="-100">
                <a:solidFill>
                  <a:srgbClr val="141412"/>
                </a:solidFill>
                <a:latin typeface="Pretendard"/>
                <a:ea typeface="Pretendard"/>
              </a:rPr>
              <a:t>성과 목표 — 2차 웨이브 시작 · 탐색량·관심층 확대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37276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-100">
                <a:solidFill>
                  <a:srgbClr val="C9C4B8"/>
                </a:solidFill>
                <a:latin typeface="Pretendard"/>
                <a:ea typeface="Pretendard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310896"/>
            <a:ext cx="12188952" cy="310896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500" b="1" spc="150">
                <a:solidFill>
                  <a:srgbClr val="3D2B1B"/>
                </a:solidFill>
                <a:latin typeface="Pretendard"/>
                <a:ea typeface="Pretendard"/>
              </a:rPr>
              <a:t>플랜 </a:t>
            </a:r>
            <a:r>
              <a:rPr sz="1500" b="1" spc="150">
                <a:solidFill>
                  <a:srgbClr val="141412"/>
                </a:solidFill>
                <a:latin typeface="Pretendard"/>
                <a:ea typeface="Pretendard"/>
              </a:rPr>
              <a:t>MONTHLY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801868" y="676656"/>
            <a:ext cx="585215" cy="0"/>
          </a:xfrm>
          <a:prstGeom prst="bentConnector3">
            <a:avLst/>
          </a:prstGeom>
          <a:ln w="27940">
            <a:solidFill>
              <a:srgbClr val="3D2B1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987552"/>
            <a:ext cx="10543032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 spc="-100">
                <a:solidFill>
                  <a:srgbClr val="141412"/>
                </a:solidFill>
                <a:latin typeface="Pretendard"/>
                <a:ea typeface="Pretendard"/>
              </a:rPr>
              <a:t>12월  ·  Category Landing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10543032" cy="548640"/>
          </a:xfrm>
          <a:prstGeom prst="roundRect">
            <a:avLst>
              <a:gd name="adj" fmla="val 8000"/>
            </a:avLst>
          </a:prstGeom>
          <a:solidFill>
            <a:srgbClr val="F3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783080"/>
            <a:ext cx="82296" cy="548640"/>
          </a:xfrm>
          <a:prstGeom prst="rect">
            <a:avLst/>
          </a:prstGeom>
          <a:solidFill>
            <a:srgbClr val="3D2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783080"/>
            <a:ext cx="68580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spc="-100">
                <a:solidFill>
                  <a:srgbClr val="3D2B1B"/>
                </a:solidFill>
                <a:latin typeface="Pretendard"/>
                <a:ea typeface="Pretendard"/>
              </a:rPr>
              <a:t>올영세일 · 대표성 착지 · ★2차 피크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783080"/>
            <a:ext cx="10058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50" b="1" spc="-100">
                <a:solidFill>
                  <a:srgbClr val="141412"/>
                </a:solidFill>
                <a:latin typeface="Pretendard"/>
                <a:ea typeface="Pretendard"/>
              </a:rPr>
              <a:t>“웰니스 카테고리 대표 브랜드 착지”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60320"/>
            <a:ext cx="6400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spc="-100">
                <a:solidFill>
                  <a:srgbClr val="141412"/>
                </a:solidFill>
                <a:latin typeface="Pretendard"/>
                <a:ea typeface="Pretendard"/>
              </a:rPr>
              <a:t>이 달의 핵심 액션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971800"/>
            <a:ext cx="64008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32"/>
              </a:spcAft>
            </a:pPr>
            <a:r>
              <a:rPr sz="1150" b="0" spc="-100">
                <a:solidFill>
                  <a:srgbClr val="141412"/>
                </a:solidFill>
                <a:latin typeface="Pretendard"/>
                <a:ea typeface="Pretendard"/>
              </a:rPr>
              <a:t>■  12월 올영세일 집중 — 전 라인업 대표성 콘텐츠</a:t>
            </a:r>
          </a:p>
          <a:p>
            <a:pPr>
              <a:spcAft>
                <a:spcPts val="1032"/>
              </a:spcAft>
            </a:pPr>
            <a:r>
              <a:rPr sz="1150" b="0" spc="-100">
                <a:solidFill>
                  <a:srgbClr val="141412"/>
                </a:solidFill>
                <a:latin typeface="Pretendard"/>
                <a:ea typeface="Pretendard"/>
              </a:rPr>
              <a:t>■  세일 1주 전 시딩 대량 릴리즈(100건)·바이럴</a:t>
            </a:r>
          </a:p>
          <a:p>
            <a:pPr>
              <a:spcAft>
                <a:spcPts val="1032"/>
              </a:spcAft>
            </a:pPr>
            <a:r>
              <a:rPr sz="1150" b="0" spc="-100">
                <a:solidFill>
                  <a:srgbClr val="141412"/>
                </a:solidFill>
                <a:latin typeface="Pretendard"/>
                <a:ea typeface="Pretendard"/>
              </a:rPr>
              <a:t>■  쟁임/재구매 CRM·퍼포먼스 2차 피크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498079" y="2560320"/>
          <a:ext cx="3840479" cy="16962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02512"/>
                <a:gridCol w="1037967"/>
              </a:tblGrid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000" b="1" spc="-10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진행 물량 (건)</a:t>
                      </a:r>
                    </a:p>
                  </a:txBody>
                  <a:tcPr marL="63500" marR="63500" marT="25400" marB="25400" anchor="ctr">
                    <a:solidFill>
                      <a:srgbClr val="3D2B1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spc="-10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12월</a:t>
                      </a:r>
                    </a:p>
                  </a:txBody>
                  <a:tcPr marL="63500" marR="63500" marT="25400" marB="25400" anchor="ctr">
                    <a:solidFill>
                      <a:srgbClr val="3D2B1B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9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매크로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9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마이크로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35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9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나노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45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9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파워페이지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3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9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체험단(탑)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9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월 총건수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100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7498079" y="5532120"/>
            <a:ext cx="3840480" cy="914400"/>
          </a:xfrm>
          <a:prstGeom prst="roundRect">
            <a:avLst>
              <a:gd name="adj" fmla="val 8000"/>
            </a:avLst>
          </a:prstGeom>
          <a:solidFill>
            <a:srgbClr val="3D2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79" y="5596128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spc="-100">
                <a:solidFill>
                  <a:srgbClr val="C7CE3E"/>
                </a:solidFill>
                <a:latin typeface="Pretendard"/>
                <a:ea typeface="Pretendard"/>
              </a:rPr>
              <a:t>이 달 예산  22%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5897880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 spc="-100">
                <a:solidFill>
                  <a:srgbClr val="FFFFFF"/>
                </a:solidFill>
                <a:latin typeface="Pretendard"/>
                <a:ea typeface="Pretendard"/>
              </a:rPr>
              <a:t>55,000,000 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6144768"/>
            <a:ext cx="10543032" cy="457200"/>
          </a:xfrm>
          <a:prstGeom prst="rect">
            <a:avLst/>
          </a:prstGeom>
          <a:solidFill>
            <a:srgbClr val="F3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6144768"/>
            <a:ext cx="82296" cy="457200"/>
          </a:xfrm>
          <a:prstGeom prst="rect">
            <a:avLst/>
          </a:prstGeom>
          <a:solidFill>
            <a:srgbClr val="3D2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6144768"/>
            <a:ext cx="10058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 spc="-100">
                <a:solidFill>
                  <a:srgbClr val="141412"/>
                </a:solidFill>
                <a:latin typeface="Pretendard"/>
                <a:ea typeface="Pretendard"/>
              </a:rPr>
              <a:t>성과 목표 — 2차 웨이브 매출 피크 · 대표성 착지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37276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-100">
                <a:solidFill>
                  <a:srgbClr val="C9C4B8"/>
                </a:solidFill>
                <a:latin typeface="Pretendard"/>
                <a:ea typeface="Pretendard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310896"/>
            <a:ext cx="12188952" cy="310896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500" b="1" spc="150">
                <a:solidFill>
                  <a:srgbClr val="3D2B1B"/>
                </a:solidFill>
                <a:latin typeface="Pretendard"/>
                <a:ea typeface="Pretendard"/>
              </a:rPr>
              <a:t>성과 </a:t>
            </a:r>
            <a:r>
              <a:rPr sz="1500" b="1" spc="150">
                <a:solidFill>
                  <a:srgbClr val="141412"/>
                </a:solidFill>
                <a:latin typeface="Pretendard"/>
                <a:ea typeface="Pretendard"/>
              </a:rPr>
              <a:t>KPI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801868" y="676656"/>
            <a:ext cx="585215" cy="0"/>
          </a:xfrm>
          <a:prstGeom prst="bentConnector3">
            <a:avLst/>
          </a:prstGeom>
          <a:ln w="27940">
            <a:solidFill>
              <a:srgbClr val="3D2B1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987552"/>
            <a:ext cx="10543032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 spc="-100">
                <a:solidFill>
                  <a:srgbClr val="141412"/>
                </a:solidFill>
                <a:latin typeface="Pretendard"/>
                <a:ea typeface="Pretendard"/>
              </a:rPr>
              <a:t>주요 KPI — 플라이휠 단계별 지표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664208"/>
            <a:ext cx="96286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spc="-100">
                <a:solidFill>
                  <a:srgbClr val="868680"/>
                </a:solidFill>
                <a:latin typeface="Pretendard"/>
                <a:ea typeface="Pretendard"/>
              </a:rPr>
              <a:t>‘단순 노출’이 아닌 플라이휠이 도는지 — 선행지표 → 최종 ‘올영 랭킹 1위’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2103120"/>
          <a:ext cx="10543029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57171"/>
                <a:gridCol w="3514343"/>
                <a:gridCol w="2928619"/>
                <a:gridCol w="2342896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 spc="-10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플라이휠 단계</a:t>
                      </a:r>
                    </a:p>
                  </a:txBody>
                  <a:tcPr marL="63500" marR="63500" marT="25400" marB="25400" anchor="ctr">
                    <a:solidFill>
                      <a:srgbClr val="3D2B1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spc="-10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핵심 KPI</a:t>
                      </a:r>
                    </a:p>
                  </a:txBody>
                  <a:tcPr marL="63500" marR="63500" marT="25400" marB="25400" anchor="ctr">
                    <a:solidFill>
                      <a:srgbClr val="3D2B1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spc="-10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목표 (6개월)</a:t>
                      </a:r>
                    </a:p>
                  </a:txBody>
                  <a:tcPr marL="63500" marR="63500" marT="25400" marB="25400" anchor="ctr">
                    <a:solidFill>
                      <a:srgbClr val="3D2B1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spc="-10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측정·근거</a:t>
                      </a:r>
                    </a:p>
                  </a:txBody>
                  <a:tcPr marL="63500" marR="63500" marT="25400" marB="25400" anchor="ctr">
                    <a:solidFill>
                      <a:srgbClr val="3D2B1B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00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① 인지·시딩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UGC·시딩 대량 릴리즈 · 해시태그 #오늘도배러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월 대량 시딩 · 해시태그 확대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인스타 해시태그·콘텐츠 집계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00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② 검증·신뢰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브랜드 버즈량·조회수·언급량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검색 3,000→10,000 · 버즈↑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네이버·구글·SNS 언급량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00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③ 전환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올영 카테고리 랭킹 · ROAS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7월 중 1위 · ROAS 개선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올영 랭킹·월간 리포트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00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④ 재구매·확장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재구매율 · CRM(플친) 유입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신규·재구매율 개선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spc="-10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VOC 딥다이브·CRM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22960" y="5120640"/>
            <a:ext cx="1737360" cy="64008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800" b="1" spc="-100">
                <a:solidFill>
                  <a:srgbClr val="3D2B1B"/>
                </a:solidFill>
                <a:latin typeface="Pretendard"/>
                <a:ea typeface="Pretendard"/>
              </a:rPr>
              <a:t>465건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797296"/>
            <a:ext cx="1737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spc="-100">
                <a:solidFill>
                  <a:srgbClr val="141412"/>
                </a:solidFill>
                <a:latin typeface="Pretendard"/>
                <a:ea typeface="Pretendard"/>
              </a:rPr>
              <a:t>크리에이터 시딩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96896" y="5120640"/>
            <a:ext cx="1737360" cy="64008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800" b="1" spc="-100">
                <a:solidFill>
                  <a:srgbClr val="3D2B1B"/>
                </a:solidFill>
                <a:latin typeface="Pretendard"/>
                <a:ea typeface="Pretendard"/>
              </a:rPr>
              <a:t>1,000만+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96896" y="5797296"/>
            <a:ext cx="1737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spc="-100">
                <a:solidFill>
                  <a:srgbClr val="141412"/>
                </a:solidFill>
                <a:latin typeface="Pretendard"/>
                <a:ea typeface="Pretendard"/>
              </a:rPr>
              <a:t>전체 조회수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70832" y="5120640"/>
            <a:ext cx="1737360" cy="64008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800" b="1" spc="-100">
                <a:solidFill>
                  <a:srgbClr val="3D2B1B"/>
                </a:solidFill>
                <a:latin typeface="Pretendard"/>
                <a:ea typeface="Pretendard"/>
              </a:rPr>
              <a:t>3천→1만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0832" y="5797296"/>
            <a:ext cx="1737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spc="-100">
                <a:solidFill>
                  <a:srgbClr val="141412"/>
                </a:solidFill>
                <a:latin typeface="Pretendard"/>
                <a:ea typeface="Pretendard"/>
              </a:rPr>
              <a:t>브랜드 버즈량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44768" y="5120640"/>
            <a:ext cx="1737360" cy="64008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800" b="1" spc="-100">
                <a:solidFill>
                  <a:srgbClr val="3D2B1B"/>
                </a:solidFill>
                <a:latin typeface="Pretendard"/>
                <a:ea typeface="Pretendard"/>
              </a:rPr>
              <a:t>450+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44768" y="5797296"/>
            <a:ext cx="1737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spc="-100">
                <a:solidFill>
                  <a:srgbClr val="141412"/>
                </a:solidFill>
                <a:latin typeface="Pretendard"/>
                <a:ea typeface="Pretendard"/>
              </a:rPr>
              <a:t>#오늘도배러 해시태그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18704" y="5120640"/>
            <a:ext cx="1737360" cy="64008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800" b="1" spc="-100">
                <a:solidFill>
                  <a:srgbClr val="3D2B1B"/>
                </a:solidFill>
                <a:latin typeface="Pretendard"/>
                <a:ea typeface="Pretendard"/>
              </a:rPr>
              <a:t>1,000+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18704" y="5797296"/>
            <a:ext cx="1737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spc="-100">
                <a:solidFill>
                  <a:srgbClr val="141412"/>
                </a:solidFill>
                <a:latin typeface="Pretendard"/>
                <a:ea typeface="Pretendard"/>
              </a:rPr>
              <a:t>올영 리뷰 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0" y="5120640"/>
            <a:ext cx="1737360" cy="64008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800" b="1" spc="-100">
                <a:solidFill>
                  <a:srgbClr val="3D2B1B"/>
                </a:solidFill>
                <a:latin typeface="Pretendard"/>
                <a:ea typeface="Pretendard"/>
              </a:rPr>
              <a:t>50+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0" y="5797296"/>
            <a:ext cx="1737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spc="-100">
                <a:solidFill>
                  <a:srgbClr val="141412"/>
                </a:solidFill>
                <a:latin typeface="Pretendard"/>
                <a:ea typeface="Pretendard"/>
              </a:rPr>
              <a:t>어필리에이트 구동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6035040"/>
            <a:ext cx="10543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spc="-100">
                <a:solidFill>
                  <a:srgbClr val="868680"/>
                </a:solidFill>
                <a:latin typeface="Pretendard"/>
                <a:ea typeface="Pretendard"/>
              </a:rPr>
              <a:t>측정 — 인스타 해시태그·콘텐츠 집계 / 네이버·구글 검색량·SNS 언급량 / 올영 카테고리 랭킹·월간 리포트 / VOC 딥다이브·CRM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37276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-100">
                <a:solidFill>
                  <a:srgbClr val="C9C4B8"/>
                </a:solidFill>
                <a:latin typeface="Pretendard"/>
                <a:ea typeface="Pretendard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310896"/>
            <a:ext cx="12188952" cy="310896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500" b="1" spc="150">
                <a:solidFill>
                  <a:srgbClr val="3D2B1B"/>
                </a:solidFill>
                <a:latin typeface="Pretendard"/>
                <a:ea typeface="Pretendard"/>
              </a:rPr>
              <a:t>운영 </a:t>
            </a:r>
            <a:r>
              <a:rPr sz="1500" b="1" spc="150">
                <a:solidFill>
                  <a:srgbClr val="141412"/>
                </a:solidFill>
                <a:latin typeface="Pretendard"/>
                <a:ea typeface="Pretendard"/>
              </a:rPr>
              <a:t>REPORTING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801868" y="676656"/>
            <a:ext cx="585215" cy="0"/>
          </a:xfrm>
          <a:prstGeom prst="bentConnector3">
            <a:avLst/>
          </a:prstGeom>
          <a:ln w="27940">
            <a:solidFill>
              <a:srgbClr val="3D2B1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987552"/>
            <a:ext cx="10543032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 spc="-100">
                <a:solidFill>
                  <a:srgbClr val="141412"/>
                </a:solidFill>
                <a:latin typeface="Pretendard"/>
                <a:ea typeface="Pretendard"/>
              </a:rPr>
              <a:t>성과 리포팅 솔루션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664208"/>
            <a:ext cx="96286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spc="-100">
                <a:solidFill>
                  <a:srgbClr val="868680"/>
                </a:solidFill>
                <a:latin typeface="Pretendard"/>
                <a:ea typeface="Pretendard"/>
              </a:rPr>
              <a:t>시딩·UGC 현황을 일·주·월간 단위로 투명하게 리포팅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377440"/>
            <a:ext cx="576072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C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743200"/>
            <a:ext cx="512064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76"/>
              </a:spcAft>
            </a:pPr>
            <a:r>
              <a:rPr sz="1250" b="0" spc="-100">
                <a:solidFill>
                  <a:srgbClr val="141412"/>
                </a:solidFill>
                <a:latin typeface="Pretendard"/>
                <a:ea typeface="Pretendard"/>
              </a:rPr>
              <a:t>·  시딩·UGC 진행 현황 실시간 트래킹</a:t>
            </a:r>
          </a:p>
          <a:p>
            <a:pPr>
              <a:spcAft>
                <a:spcPts val="1176"/>
              </a:spcAft>
            </a:pPr>
            <a:r>
              <a:rPr sz="1250" b="0" spc="-100">
                <a:solidFill>
                  <a:srgbClr val="141412"/>
                </a:solidFill>
                <a:latin typeface="Pretendard"/>
                <a:ea typeface="Pretendard"/>
              </a:rPr>
              <a:t>·  일간 — 라이브/인증/이슈 모니터링</a:t>
            </a:r>
          </a:p>
          <a:p>
            <a:pPr>
              <a:spcAft>
                <a:spcPts val="1176"/>
              </a:spcAft>
            </a:pPr>
            <a:r>
              <a:rPr sz="1250" b="0" spc="-100">
                <a:solidFill>
                  <a:srgbClr val="141412"/>
                </a:solidFill>
                <a:latin typeface="Pretendard"/>
                <a:ea typeface="Pretendard"/>
              </a:rPr>
              <a:t>·  주간 — 조회수·후기·랭킹 추이 리포트</a:t>
            </a:r>
          </a:p>
          <a:p>
            <a:pPr>
              <a:spcAft>
                <a:spcPts val="1176"/>
              </a:spcAft>
            </a:pPr>
            <a:r>
              <a:rPr sz="1250" b="0" spc="-100">
                <a:solidFill>
                  <a:srgbClr val="141412"/>
                </a:solidFill>
                <a:latin typeface="Pretendard"/>
                <a:ea typeface="Pretendard"/>
              </a:rPr>
              <a:t>·  월간 — KPI 달성·예산 집행·인사이트 종합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2377440"/>
            <a:ext cx="4480560" cy="3200400"/>
          </a:xfrm>
          <a:prstGeom prst="roundRect">
            <a:avLst>
              <a:gd name="adj" fmla="val 8000"/>
            </a:avLst>
          </a:prstGeom>
          <a:solidFill>
            <a:srgbClr val="F3F2E7"/>
          </a:solidFill>
          <a:ln w="12700">
            <a:solidFill>
              <a:srgbClr val="C9C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0" y="3520439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D2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33688" y="3520439"/>
            <a:ext cx="329184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spc="-100">
                <a:solidFill>
                  <a:srgbClr val="3D2B1B"/>
                </a:solidFill>
                <a:latin typeface="Pretendard"/>
                <a:ea typeface="Pretendard"/>
              </a:rPr>
              <a:t>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4251959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spc="-100">
                <a:solidFill>
                  <a:srgbClr val="868680"/>
                </a:solidFill>
                <a:latin typeface="Pretendard"/>
                <a:ea typeface="Pretendard"/>
              </a:rPr>
              <a:t>리포팅 대시보드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37276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-100">
                <a:solidFill>
                  <a:srgbClr val="C9C4B8"/>
                </a:solidFill>
                <a:latin typeface="Pretendard"/>
                <a:ea typeface="Pretendard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310896"/>
            <a:ext cx="12188952" cy="310896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500" b="1" spc="150">
                <a:solidFill>
                  <a:srgbClr val="3D2B1B"/>
                </a:solidFill>
                <a:latin typeface="Pretendard"/>
                <a:ea typeface="Pretendard"/>
              </a:rPr>
              <a:t>조직 </a:t>
            </a:r>
            <a:r>
              <a:rPr sz="1500" b="1" spc="150">
                <a:solidFill>
                  <a:srgbClr val="141412"/>
                </a:solidFill>
                <a:latin typeface="Pretendard"/>
                <a:ea typeface="Pretendard"/>
              </a:rPr>
              <a:t>TEAM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801868" y="676656"/>
            <a:ext cx="585215" cy="0"/>
          </a:xfrm>
          <a:prstGeom prst="bentConnector3">
            <a:avLst/>
          </a:prstGeom>
          <a:ln w="27940">
            <a:solidFill>
              <a:srgbClr val="3D2B1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987552"/>
            <a:ext cx="10543032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 spc="-100">
                <a:solidFill>
                  <a:srgbClr val="141412"/>
                </a:solidFill>
                <a:latin typeface="Pretendard"/>
                <a:ea typeface="Pretendard"/>
              </a:rPr>
              <a:t>올영 PB TF 인력 구성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664208"/>
            <a:ext cx="96286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spc="-100">
                <a:solidFill>
                  <a:srgbClr val="868680"/>
                </a:solidFill>
                <a:latin typeface="Pretendard"/>
                <a:ea typeface="Pretendard"/>
              </a:rPr>
              <a:t>총괄 PM급 시니어 1인 + 실무 리소스 필수 편성</a:t>
            </a:r>
          </a:p>
        </p:txBody>
      </p:sp>
      <p:sp>
        <p:nvSpPr>
          <p:cNvPr id="6" name="Oval 5"/>
          <p:cNvSpPr/>
          <p:nvPr/>
        </p:nvSpPr>
        <p:spPr>
          <a:xfrm>
            <a:off x="5454396" y="2286000"/>
            <a:ext cx="1280160" cy="1280160"/>
          </a:xfrm>
          <a:prstGeom prst="ellipse">
            <a:avLst/>
          </a:prstGeom>
          <a:solidFill>
            <a:srgbClr val="3D2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54396" y="2286000"/>
            <a:ext cx="128016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spc="-100">
                <a:solidFill>
                  <a:srgbClr val="FFFFFF"/>
                </a:solidFill>
                <a:latin typeface="Pretendard"/>
                <a:ea typeface="Pretendard"/>
              </a:rPr>
              <a:t>총괄
PM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094476" y="3566160"/>
            <a:ext cx="914" cy="0"/>
          </a:xfrm>
          <a:prstGeom prst="bentConnector3">
            <a:avLst/>
          </a:prstGeom>
          <a:ln w="12700">
            <a:solidFill>
              <a:srgbClr val="C9C4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822960" y="4023360"/>
            <a:ext cx="256032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C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4023360"/>
            <a:ext cx="2560320" cy="502920"/>
          </a:xfrm>
          <a:prstGeom prst="rect">
            <a:avLst/>
          </a:prstGeom>
          <a:solidFill>
            <a:srgbClr val="0E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023360"/>
            <a:ext cx="2560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spc="-100">
                <a:solidFill>
                  <a:srgbClr val="FFFFFF"/>
                </a:solidFill>
                <a:latin typeface="Pretendard"/>
                <a:ea typeface="Pretendard"/>
              </a:rPr>
              <a:t>마IMC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663440"/>
            <a:ext cx="2194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spc="-100">
                <a:solidFill>
                  <a:srgbClr val="868680"/>
                </a:solidFill>
                <a:latin typeface="Pretendard"/>
                <a:ea typeface="Pretendard"/>
              </a:rPr>
              <a:t>시딩·인플루언서 운영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66160" y="4023360"/>
            <a:ext cx="256032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C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66160" y="4023360"/>
            <a:ext cx="2560320" cy="502920"/>
          </a:xfrm>
          <a:prstGeom prst="rect">
            <a:avLst/>
          </a:prstGeom>
          <a:solidFill>
            <a:srgbClr val="0E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0" y="4023360"/>
            <a:ext cx="2560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spc="-100">
                <a:solidFill>
                  <a:srgbClr val="FFFFFF"/>
                </a:solidFill>
                <a:latin typeface="Pretendard"/>
                <a:ea typeface="Pretendard"/>
              </a:rPr>
              <a:t>크리에이티브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4663440"/>
            <a:ext cx="2194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spc="-100">
                <a:solidFill>
                  <a:srgbClr val="868680"/>
                </a:solidFill>
                <a:latin typeface="Pretendard"/>
                <a:ea typeface="Pretendard"/>
              </a:rPr>
              <a:t>KV·영상·EGC 제작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4023360"/>
            <a:ext cx="256032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C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4023360"/>
            <a:ext cx="2560320" cy="502920"/>
          </a:xfrm>
          <a:prstGeom prst="rect">
            <a:avLst/>
          </a:prstGeom>
          <a:solidFill>
            <a:srgbClr val="0E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4023360"/>
            <a:ext cx="2560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spc="-100">
                <a:solidFill>
                  <a:srgbClr val="FFFFFF"/>
                </a:solidFill>
                <a:latin typeface="Pretendard"/>
                <a:ea typeface="Pretendard"/>
              </a:rPr>
              <a:t>퍼포먼스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663440"/>
            <a:ext cx="2194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spc="-100">
                <a:solidFill>
                  <a:srgbClr val="868680"/>
                </a:solidFill>
                <a:latin typeface="Pretendard"/>
                <a:ea typeface="Pretendard"/>
              </a:rPr>
              <a:t>매체·전환·ROAS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52560" y="4023360"/>
            <a:ext cx="256032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C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52560" y="4023360"/>
            <a:ext cx="2560320" cy="502920"/>
          </a:xfrm>
          <a:prstGeom prst="rect">
            <a:avLst/>
          </a:prstGeom>
          <a:solidFill>
            <a:srgbClr val="0E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0" y="4023360"/>
            <a:ext cx="2560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spc="-100">
                <a:solidFill>
                  <a:srgbClr val="FFFFFF"/>
                </a:solidFill>
                <a:latin typeface="Pretendard"/>
                <a:ea typeface="Pretendard"/>
              </a:rPr>
              <a:t>데이터·RA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4663440"/>
            <a:ext cx="2194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spc="-100">
                <a:solidFill>
                  <a:srgbClr val="868680"/>
                </a:solidFill>
                <a:latin typeface="Pretendard"/>
                <a:ea typeface="Pretendard"/>
              </a:rPr>
              <a:t>VOC·리포팅·심의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37276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-100">
                <a:solidFill>
                  <a:srgbClr val="C9C4B8"/>
                </a:solidFill>
                <a:latin typeface="Pretendard"/>
                <a:ea typeface="Pretendard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310896"/>
            <a:ext cx="12188952" cy="310896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500" b="1" spc="150">
                <a:solidFill>
                  <a:srgbClr val="3D2B1B"/>
                </a:solidFill>
                <a:latin typeface="Pretendard"/>
                <a:ea typeface="Pretendard"/>
              </a:rPr>
              <a:t>운영 </a:t>
            </a:r>
            <a:r>
              <a:rPr sz="1500" b="1" spc="150">
                <a:solidFill>
                  <a:srgbClr val="141412"/>
                </a:solidFill>
                <a:latin typeface="Pretendard"/>
                <a:ea typeface="Pretendard"/>
              </a:rPr>
              <a:t>RISK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801868" y="676656"/>
            <a:ext cx="585215" cy="0"/>
          </a:xfrm>
          <a:prstGeom prst="bentConnector3">
            <a:avLst/>
          </a:prstGeom>
          <a:ln w="27940">
            <a:solidFill>
              <a:srgbClr val="3D2B1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987552"/>
            <a:ext cx="10543032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 spc="-100">
                <a:solidFill>
                  <a:srgbClr val="141412"/>
                </a:solidFill>
                <a:latin typeface="Pretendard"/>
                <a:ea typeface="Pretendard"/>
              </a:rPr>
              <a:t>위기 대응 · 바이럴/인플루언서 캠페인 관리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664208"/>
            <a:ext cx="96286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spc="-100">
                <a:solidFill>
                  <a:srgbClr val="868680"/>
                </a:solidFill>
                <a:latin typeface="Pretendard"/>
                <a:ea typeface="Pretendard"/>
              </a:rPr>
              <a:t>부정 이슈·심의 리스크를 사전 모니터링하고 신속 대응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377440"/>
            <a:ext cx="502920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C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78992" y="2633472"/>
            <a:ext cx="457200" cy="457200"/>
          </a:xfrm>
          <a:prstGeom prst="ellipse">
            <a:avLst/>
          </a:prstGeom>
          <a:solidFill>
            <a:srgbClr val="3D2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91640" y="2633472"/>
            <a:ext cx="40233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spc="-100">
                <a:solidFill>
                  <a:srgbClr val="141412"/>
                </a:solidFill>
                <a:latin typeface="Pretendard"/>
                <a:ea typeface="Pretendard"/>
              </a:rPr>
              <a:t>실시간 모니터링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24612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spc="-100">
                <a:solidFill>
                  <a:srgbClr val="868680"/>
                </a:solidFill>
                <a:latin typeface="Pretendard"/>
                <a:ea typeface="Pretendard"/>
              </a:rPr>
              <a:t>부정 댓글·이슈 키워드 상시 감지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36792" y="2377440"/>
            <a:ext cx="502920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C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592824" y="2633472"/>
            <a:ext cx="457200" cy="457200"/>
          </a:xfrm>
          <a:prstGeom prst="ellipse">
            <a:avLst/>
          </a:prstGeom>
          <a:solidFill>
            <a:srgbClr val="3D2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05472" y="2633472"/>
            <a:ext cx="40233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spc="-100">
                <a:solidFill>
                  <a:srgbClr val="141412"/>
                </a:solidFill>
                <a:latin typeface="Pretendard"/>
                <a:ea typeface="Pretendard"/>
              </a:rPr>
              <a:t>심의 사전 차단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11112" y="324612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spc="-100">
                <a:solidFill>
                  <a:srgbClr val="868680"/>
                </a:solidFill>
                <a:latin typeface="Pretendard"/>
                <a:ea typeface="Pretendard"/>
              </a:rPr>
              <a:t>Claude AI 1차 + 법무·RA 최종 검수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069080"/>
            <a:ext cx="502920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C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78992" y="4325112"/>
            <a:ext cx="457200" cy="457200"/>
          </a:xfrm>
          <a:prstGeom prst="ellipse">
            <a:avLst/>
          </a:prstGeom>
          <a:solidFill>
            <a:srgbClr val="3D2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91640" y="4325112"/>
            <a:ext cx="40233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spc="-100">
                <a:solidFill>
                  <a:srgbClr val="141412"/>
                </a:solidFill>
                <a:latin typeface="Pretendard"/>
                <a:ea typeface="Pretendard"/>
              </a:rPr>
              <a:t>신속 대응 프로토콜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93776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spc="-100">
                <a:solidFill>
                  <a:srgbClr val="868680"/>
                </a:solidFill>
                <a:latin typeface="Pretendard"/>
                <a:ea typeface="Pretendard"/>
              </a:rPr>
              <a:t>이슈 등급별 에스컬레이션·대응 매뉴얼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36792" y="4069080"/>
            <a:ext cx="502920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C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592824" y="4325112"/>
            <a:ext cx="457200" cy="457200"/>
          </a:xfrm>
          <a:prstGeom prst="ellipse">
            <a:avLst/>
          </a:prstGeom>
          <a:solidFill>
            <a:srgbClr val="3D2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05472" y="4325112"/>
            <a:ext cx="40233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spc="-100">
                <a:solidFill>
                  <a:srgbClr val="141412"/>
                </a:solidFill>
                <a:latin typeface="Pretendard"/>
                <a:ea typeface="Pretendard"/>
              </a:rPr>
              <a:t>크리에이터 QC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11112" y="493776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spc="-100">
                <a:solidFill>
                  <a:srgbClr val="868680"/>
                </a:solidFill>
                <a:latin typeface="Pretendard"/>
                <a:ea typeface="Pretendard"/>
              </a:rPr>
              <a:t>콘텐츠 사전 검수·실시간 가이드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37276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-100">
                <a:solidFill>
                  <a:srgbClr val="C9C4B8"/>
                </a:solidFill>
                <a:latin typeface="Pretendard"/>
                <a:ea typeface="Pretendard"/>
              </a:rPr>
              <a:t>37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