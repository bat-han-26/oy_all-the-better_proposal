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515600" cy="2560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787872"/>
                </a:solidFill>
                <a:latin typeface="맑은 고딕"/>
              </a:rPr>
              <a:t>02_C 바이럴 파트의 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43000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41412"/>
                </a:solidFill>
                <a:latin typeface="맑은 고딕"/>
              </a:rPr>
              <a:t>바이럴의 역할은 ‘입소문’이 아니라 구매 직전의 ‘확신’을 만드는 것입니다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338560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373734"/>
                </a:solidFill>
                <a:latin typeface="맑은 고딕"/>
              </a:rPr>
              <a:t>올더베러는 아직 브랜드명 검색·자발 탐색이 약합니다. 노출을 늘리기보다, 소비자가 제품을 본 뒤 검색·비교하는 순간에 충분한 후기와 추천 맥락이 보이도록 설계합니다.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17904"/>
            <a:ext cx="11274552" cy="27432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00784"/>
            <a:ext cx="2542032" cy="457200"/>
          </a:xfrm>
          <a:prstGeom prst="roundRect">
            <a:avLst>
              <a:gd name="adj" fmla="val 50000"/>
            </a:avLst>
          </a:prstGeom>
          <a:solidFill>
            <a:srgbClr val="F1F0E5"/>
          </a:solidFill>
          <a:ln w="1651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46504"/>
            <a:ext cx="2542032" cy="329184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141412"/>
                </a:solidFill>
                <a:latin typeface="맑은 고딕"/>
              </a:rPr>
              <a:t>제품을 본다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18103" y="1746504"/>
            <a:ext cx="457200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41412"/>
                </a:solidFill>
                <a:latin typeface="맑은 고딕"/>
              </a:rP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1296" y="1700784"/>
            <a:ext cx="2542032" cy="457200"/>
          </a:xfrm>
          <a:prstGeom prst="roundRect">
            <a:avLst>
              <a:gd name="adj" fmla="val 50000"/>
            </a:avLst>
          </a:prstGeom>
          <a:solidFill>
            <a:srgbClr val="F1F0E5"/>
          </a:solidFill>
          <a:ln w="1651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11296" y="1746504"/>
            <a:ext cx="2542032" cy="329184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141412"/>
                </a:solidFill>
                <a:latin typeface="맑은 고딕"/>
              </a:rPr>
              <a:t>검색·비교한다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19" y="1746504"/>
            <a:ext cx="457200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41412"/>
                </a:solidFill>
                <a:latin typeface="맑은 고딕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2512" y="1700784"/>
            <a:ext cx="2542032" cy="457200"/>
          </a:xfrm>
          <a:prstGeom prst="roundRect">
            <a:avLst>
              <a:gd name="adj" fmla="val 50000"/>
            </a:avLst>
          </a:prstGeom>
          <a:solidFill>
            <a:srgbClr val="F1F0E5"/>
          </a:solidFill>
          <a:ln w="1651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746504"/>
            <a:ext cx="2542032" cy="329184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141412"/>
                </a:solidFill>
                <a:latin typeface="맑은 고딕"/>
              </a:rPr>
              <a:t>‘선택해도 된다’ 확신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0536" y="1746504"/>
            <a:ext cx="457200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41412"/>
                </a:solidFill>
                <a:latin typeface="맑은 고딕"/>
              </a:rP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53727" y="1700784"/>
            <a:ext cx="2542032" cy="457200"/>
          </a:xfrm>
          <a:prstGeom prst="roundRect">
            <a:avLst>
              <a:gd name="adj" fmla="val 50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3727" y="1746504"/>
            <a:ext cx="2542032" cy="329184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구매·전환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395728"/>
            <a:ext cx="3630168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25968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596896"/>
            <a:ext cx="457200" cy="4572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5" y="2615184"/>
            <a:ext cx="2715768" cy="4572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41412"/>
                </a:solidFill>
                <a:latin typeface="맑은 고딕"/>
              </a:rPr>
              <a:t>비교 시 ‘선택 근거’ 제공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3236976"/>
            <a:ext cx="3209544" cy="914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73734"/>
                </a:solidFill>
                <a:latin typeface="맑은 고딕"/>
              </a:rPr>
              <a:t>후기·장바구니·랭킹 맥락을 만들어 “선택해도 되는 제품”이라는 확신을 형성합니다.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4224528"/>
            <a:ext cx="3209544" cy="10058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787872"/>
                </a:solidFill>
                <a:latin typeface="맑은 고딕"/>
              </a:rPr>
              <a:t>근거  </a:t>
            </a:r>
            <a:r>
              <a:rPr sz="980" b="0">
                <a:solidFill>
                  <a:srgbClr val="373734"/>
                </a:solidFill>
                <a:latin typeface="맑은 고딕"/>
              </a:rPr>
              <a:t>VOC상 다수가 ‘검색→올영 이동→후기 확인 후 구매’(검증형). 구매이유 1위가 ‘가격·할인’인 만큼, 가격 외 선택 근거를 채웁니다.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321808"/>
            <a:ext cx="3630168" cy="457200"/>
          </a:xfrm>
          <a:prstGeom prst="rect">
            <a:avLst/>
          </a:prstGeom>
          <a:solidFill>
            <a:srgbClr val="F1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321808"/>
            <a:ext cx="54864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385816"/>
            <a:ext cx="3264408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412"/>
                </a:solidFill>
                <a:latin typeface="맑은 고딕"/>
              </a:rPr>
              <a:t>→ 커뮤니티·파워페이지 (다음 장)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79392" y="2395728"/>
            <a:ext cx="3630168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80560" y="25968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2596896"/>
            <a:ext cx="457200" cy="4572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7488" y="2615184"/>
            <a:ext cx="2715768" cy="4572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41412"/>
                </a:solidFill>
                <a:latin typeface="맑은 고딕"/>
              </a:rPr>
              <a:t>구매 ‘전환’으로 연결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8848" y="3236976"/>
            <a:ext cx="3209544" cy="914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73734"/>
                </a:solidFill>
                <a:latin typeface="맑은 고딕"/>
              </a:rPr>
              <a:t>챌린저스·어필리에이트·쇼핑 큐레이터로 실제 구매와 리뷰·랭킹 견인까지 연결합니다.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8848" y="4224528"/>
            <a:ext cx="3209544" cy="10058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787872"/>
                </a:solidFill>
                <a:latin typeface="맑은 고딕"/>
              </a:rPr>
              <a:t>근거  </a:t>
            </a:r>
            <a:r>
              <a:rPr sz="980" b="0">
                <a:solidFill>
                  <a:srgbClr val="373734"/>
                </a:solidFill>
                <a:latin typeface="맑은 고딕"/>
              </a:rPr>
              <a:t>단순 노출이 아니라 진성 구매·리뷰·랭킹이라는 ‘행동’으로 전환. 위닝 콘텐츠는 PA 2차로 재투입합니다.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79392" y="5321808"/>
            <a:ext cx="3630168" cy="457200"/>
          </a:xfrm>
          <a:prstGeom prst="rect">
            <a:avLst/>
          </a:prstGeom>
          <a:solidFill>
            <a:srgbClr val="F1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79392" y="5321808"/>
            <a:ext cx="54864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5385816"/>
            <a:ext cx="3264408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412"/>
                </a:solidFill>
                <a:latin typeface="맑은 고딕"/>
              </a:rPr>
              <a:t>→ 챌린저스 (다음 장)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1584" y="2395728"/>
            <a:ext cx="3630168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302752" y="25968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02752" y="2596896"/>
            <a:ext cx="457200" cy="4572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2615184"/>
            <a:ext cx="2715768" cy="4572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41412"/>
                </a:solidFill>
                <a:latin typeface="맑은 고딕"/>
              </a:rPr>
              <a:t>검색 시 ‘비어 있지 않게’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236976"/>
            <a:ext cx="3209544" cy="9144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73734"/>
                </a:solidFill>
                <a:latin typeface="맑은 고딕"/>
              </a:rPr>
              <a:t>제품명·카테고리·상황 키워드 검색 시 정보성 콘텐츠가 노출되도록 자산화합니다.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224528"/>
            <a:ext cx="3209544" cy="10058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787872"/>
                </a:solidFill>
                <a:latin typeface="맑은 고딕"/>
              </a:rPr>
              <a:t>근거  </a:t>
            </a:r>
            <a:r>
              <a:rPr sz="980" b="0">
                <a:solidFill>
                  <a:srgbClr val="373734"/>
                </a:solidFill>
                <a:latin typeface="맑은 고딕"/>
              </a:rPr>
              <a:t>검색·AI 답변 결과에 올더베러가 ‘근거 있는 추천’으로 등장하도록 GEO/AEO 자산을 축적합니다.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01584" y="5321808"/>
            <a:ext cx="3630168" cy="457200"/>
          </a:xfrm>
          <a:prstGeom prst="rect">
            <a:avLst/>
          </a:prstGeom>
          <a:solidFill>
            <a:srgbClr val="F1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01584" y="5321808"/>
            <a:ext cx="54864" cy="457200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02752" y="5385816"/>
            <a:ext cx="3264408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412"/>
                </a:solidFill>
                <a:latin typeface="맑은 고딕"/>
              </a:rPr>
              <a:t>→ GEO·AEO (다음 장)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6035040"/>
            <a:ext cx="11274552" cy="512064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035040"/>
            <a:ext cx="11274552" cy="512064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맑은 고딕"/>
              </a:rPr>
              <a:t>바이럴 = 노출량이 아니라, 구매 직전 ‘확신’의 밀도 — 플라이휠 ② 검증·신뢰 단계를 채웁니다.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515600" cy="2560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787872"/>
                </a:solidFill>
                <a:latin typeface="맑은 고딕"/>
              </a:rPr>
              <a:t>02_C 바이럴 ① 전환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43000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41412"/>
                </a:solidFill>
                <a:latin typeface="맑은 고딕"/>
              </a:rPr>
              <a:t>챌린저스 — ‘실시간 랭킹 견인’을 위한 구매 인증형 바이럴 엔진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338560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373734"/>
                </a:solidFill>
                <a:latin typeface="맑은 고딕"/>
              </a:rPr>
              <a:t>유저가 제품가 일부를 부담하고 구매·사용·리뷰 미션을 수행하는 ‘인증 기반’ 챌린지 — 진성 구매자 리뷰를 동시 게시해 랭킹·검색 증거를 만듭니다.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17904"/>
            <a:ext cx="11274552" cy="27432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1005840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2"/>
                </a:solidFill>
                <a:latin typeface="맑은 고딕"/>
              </a:rPr>
              <a:t>작동 메커니즘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38528"/>
            <a:ext cx="2679192" cy="457200"/>
          </a:xfrm>
          <a:prstGeom prst="roundRect">
            <a:avLst>
              <a:gd name="adj" fmla="val 14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984248"/>
            <a:ext cx="457200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B0B0A8"/>
                </a:solidFill>
                <a:latin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984248"/>
            <a:ext cx="2039112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챌린지 참여 모집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95728"/>
            <a:ext cx="2679192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2505456"/>
            <a:ext cx="2404872" cy="104241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373734"/>
                </a:solidFill>
                <a:latin typeface="맑은 고딕"/>
              </a:rPr>
              <a:t>목표·습관 앱 챌린저스 내 미션 개설 (실구매 의사 유저 타겟)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0944" y="2761488"/>
            <a:ext cx="457200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41412"/>
                </a:solidFill>
                <a:latin typeface="맑은 고딕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82696" y="1938528"/>
            <a:ext cx="2679192" cy="457200"/>
          </a:xfrm>
          <a:prstGeom prst="roundRect">
            <a:avLst>
              <a:gd name="adj" fmla="val 14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2" y="1984248"/>
            <a:ext cx="457200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B0B0A8"/>
                </a:solidFill>
                <a:latin typeface="맑은 고딕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9624" y="1984248"/>
            <a:ext cx="2039112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제품가 일부 부담 구매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2696" y="2395728"/>
            <a:ext cx="2679192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2505456"/>
            <a:ext cx="2404872" cy="104241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373734"/>
                </a:solidFill>
                <a:latin typeface="맑은 고딕"/>
              </a:rPr>
              <a:t>유저가 직접 비용 일부 부담 → ‘진성 구매자’만 참여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2761488"/>
            <a:ext cx="457200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41412"/>
                </a:solidFill>
                <a:latin typeface="맑은 고딕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1938528"/>
            <a:ext cx="2679192" cy="457200"/>
          </a:xfrm>
          <a:prstGeom prst="roundRect">
            <a:avLst>
              <a:gd name="adj" fmla="val 14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1984248"/>
            <a:ext cx="457200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B0B0A8"/>
                </a:solidFill>
                <a:latin typeface="맑은 고딕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984248"/>
            <a:ext cx="2039112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사용·리뷰 인증 미션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08192" y="2395728"/>
            <a:ext cx="2679192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4496" y="2505456"/>
            <a:ext cx="2404872" cy="104241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373734"/>
                </a:solidFill>
                <a:latin typeface="맑은 고딕"/>
              </a:rPr>
              <a:t>구매·사용·올영 리뷰·릴스 업로드를 ‘인증’으로 수행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1936" y="2761488"/>
            <a:ext cx="457200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141412"/>
                </a:solidFill>
                <a:latin typeface="맑은 고딕"/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33688" y="1938528"/>
            <a:ext cx="2679192" cy="457200"/>
          </a:xfrm>
          <a:prstGeom prst="roundRect">
            <a:avLst>
              <a:gd name="adj" fmla="val 14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61704" y="1984248"/>
            <a:ext cx="457200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B0B0A8"/>
                </a:solidFill>
                <a:latin typeface="맑은 고딕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0616" y="1984248"/>
            <a:ext cx="2039112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맑은 고딕"/>
              </a:rPr>
              <a:t>동시·분산 게시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33688" y="2395728"/>
            <a:ext cx="2679192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79992" y="2505456"/>
            <a:ext cx="2404872" cy="1042416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373734"/>
                </a:solidFill>
                <a:latin typeface="맑은 고딕"/>
              </a:rPr>
              <a:t>피크 시간대에 분산 집중 게시 → 랭킹·인기검색 견인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968496"/>
            <a:ext cx="1005840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1412"/>
                </a:solidFill>
                <a:latin typeface="맑은 고딕"/>
              </a:rPr>
              <a:t>목표 — 진성 구매자 리뷰 확보 + 동시 게시로 랭킹·검색 증거 형성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297680"/>
            <a:ext cx="5486400" cy="1517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407408"/>
            <a:ext cx="512064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41412"/>
                </a:solidFill>
                <a:latin typeface="맑은 고딕"/>
              </a:rPr>
              <a:t>랭킹 견인 공략법 — 피크 시간대 분산 집중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754880"/>
            <a:ext cx="786384" cy="420624"/>
          </a:xfrm>
          <a:prstGeom prst="roundRect">
            <a:avLst>
              <a:gd name="adj" fmla="val 12000"/>
            </a:avLst>
          </a:prstGeom>
          <a:solidFill>
            <a:srgbClr val="F1F0E5"/>
          </a:solidFill>
          <a:ln w="1524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800600"/>
            <a:ext cx="786384" cy="329184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41412"/>
                </a:solidFill>
                <a:latin typeface="맑은 고딕"/>
              </a:rPr>
              <a:t>10시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8448" y="4782312"/>
            <a:ext cx="457200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787872"/>
                </a:solidFill>
                <a:latin typeface="맑은 고딕"/>
              </a:rP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572768" y="4754880"/>
            <a:ext cx="786384" cy="420624"/>
          </a:xfrm>
          <a:prstGeom prst="roundRect">
            <a:avLst>
              <a:gd name="adj" fmla="val 12000"/>
            </a:avLst>
          </a:prstGeom>
          <a:solidFill>
            <a:srgbClr val="F1F0E5"/>
          </a:solidFill>
          <a:ln w="1524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72768" y="4800600"/>
            <a:ext cx="786384" cy="329184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41412"/>
                </a:solidFill>
                <a:latin typeface="맑은 고딕"/>
              </a:rPr>
              <a:t>12시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31136" y="4782312"/>
            <a:ext cx="457200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787872"/>
                </a:solidFill>
                <a:latin typeface="맑은 고딕"/>
              </a:rPr>
              <a:t>▶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05456" y="4754880"/>
            <a:ext cx="786384" cy="420624"/>
          </a:xfrm>
          <a:prstGeom prst="roundRect">
            <a:avLst>
              <a:gd name="adj" fmla="val 12000"/>
            </a:avLst>
          </a:prstGeom>
          <a:solidFill>
            <a:srgbClr val="F1F0E5"/>
          </a:solidFill>
          <a:ln w="1524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05456" y="4800600"/>
            <a:ext cx="786384" cy="329184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41412"/>
                </a:solidFill>
                <a:latin typeface="맑은 고딕"/>
              </a:rPr>
              <a:t>14시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63824" y="4782312"/>
            <a:ext cx="457200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787872"/>
                </a:solidFill>
                <a:latin typeface="맑은 고딕"/>
              </a:rPr>
              <a:t>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38144" y="4754880"/>
            <a:ext cx="786384" cy="420624"/>
          </a:xfrm>
          <a:prstGeom prst="roundRect">
            <a:avLst>
              <a:gd name="adj" fmla="val 12000"/>
            </a:avLst>
          </a:prstGeom>
          <a:solidFill>
            <a:srgbClr val="F1F0E5"/>
          </a:solidFill>
          <a:ln w="1524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38144" y="4800600"/>
            <a:ext cx="786384" cy="329184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41412"/>
                </a:solidFill>
                <a:latin typeface="맑은 고딕"/>
              </a:rPr>
              <a:t>16시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96512" y="4782312"/>
            <a:ext cx="457200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787872"/>
                </a:solidFill>
                <a:latin typeface="맑은 고딕"/>
              </a:rPr>
              <a:t>▶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70832" y="4754880"/>
            <a:ext cx="786384" cy="420624"/>
          </a:xfrm>
          <a:prstGeom prst="roundRect">
            <a:avLst>
              <a:gd name="adj" fmla="val 12000"/>
            </a:avLst>
          </a:prstGeom>
          <a:solidFill>
            <a:srgbClr val="F1F0E5"/>
          </a:solidFill>
          <a:ln w="1524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70832" y="4800600"/>
            <a:ext cx="786384" cy="329184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41412"/>
                </a:solidFill>
                <a:latin typeface="맑은 고딕"/>
              </a:rPr>
              <a:t>18시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285232"/>
            <a:ext cx="5120640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373734"/>
                </a:solidFill>
                <a:latin typeface="맑은 고딕"/>
              </a:rPr>
              <a:t>진성 구매·리뷰 인증을 시간대별로 분산 집중 → 누적 리뷰·인기검색이 </a:t>
            </a:r>
            <a:r>
              <a:rPr sz="1000" b="1">
                <a:solidFill>
                  <a:srgbClr val="141412"/>
                </a:solidFill>
                <a:latin typeface="맑은 고딕"/>
              </a:rPr>
              <a:t>저녁 피크에 랭킹 상위로 견인</a:t>
            </a:r>
            <a:r>
              <a:rPr sz="1000" b="0">
                <a:solidFill>
                  <a:srgbClr val="373734"/>
                </a:solidFill>
                <a:latin typeface="맑은 고딕"/>
              </a:rPr>
              <a:t>. 적은 비용으로 고효율.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89904" y="4297680"/>
            <a:ext cx="5641848" cy="1517904"/>
          </a:xfrm>
          <a:prstGeom prst="roundRect">
            <a:avLst>
              <a:gd name="adj" fmla="val 6000"/>
            </a:avLst>
          </a:prstGeom>
          <a:solidFill>
            <a:srgbClr val="F1F0E5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54496" y="4407408"/>
            <a:ext cx="530352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41412"/>
                </a:solidFill>
                <a:latin typeface="맑은 고딕"/>
              </a:rPr>
              <a:t>왜 효과적인가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54496" y="4718304"/>
            <a:ext cx="5349240" cy="109728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373734"/>
                </a:solidFill>
                <a:latin typeface="맑은 고딕"/>
              </a:rPr>
              <a:t>· 진성 구매자 자발 리뷰 — ‘어뷰징’이 아닌 실제 사용 후기로 신뢰·검색 자산 확보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373734"/>
                </a:solidFill>
                <a:latin typeface="맑은 고딕"/>
              </a:rPr>
              <a:t>· 동시 게시 = 랭킹·인기검색어·후기 볼륨의 ‘동시 점화’ → 플라이휠 첫 바퀴 가속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373734"/>
                </a:solidFill>
                <a:latin typeface="맑은 고딕"/>
              </a:rPr>
              <a:t>· 표시광고 가이드 준수(체험·인증 고지) · 진성성 우선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87872"/>
                </a:solidFill>
                <a:latin typeface="맑은 고딕"/>
              </a:rPr>
              <a:t>※ 챌린저스: 목표·습관 기반 인증 앱 — 제품가 일부 부담으로 실구매 의사 유저만 참여, 구매·리뷰·릴스 등 맞춤 인증 미션 운영(공식 자료 기반).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515600" cy="2560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787872"/>
                </a:solidFill>
                <a:latin typeface="맑은 고딕"/>
              </a:rPr>
              <a:t>02_C 바이럴 ②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43000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41412"/>
                </a:solidFill>
                <a:latin typeface="맑은 고딕"/>
              </a:rPr>
              <a:t>커뮤니티·파워페이지 — ‘추천템’ 맥락에 올더베러를 진입시키는 장치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338560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373734"/>
                </a:solidFill>
                <a:latin typeface="맑은 고딕"/>
              </a:rPr>
              <a:t>소비자는 세일 전후로 “무엇을 살지” 검색·비교합니다. 이때 올더베러가 추천 리스트와 장바구니 맥락 안에 자연스럽게 들어가야 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17904"/>
            <a:ext cx="11274552" cy="27432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700784"/>
            <a:ext cx="5541264" cy="42245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00784"/>
            <a:ext cx="5541264" cy="786384"/>
          </a:xfrm>
          <a:prstGeom prst="roundRect">
            <a:avLst>
              <a:gd name="adj" fmla="val 5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883664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83664"/>
            <a:ext cx="420624" cy="420624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41412"/>
                </a:solidFill>
                <a:latin typeface="맑은 고딕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1828800"/>
            <a:ext cx="4626864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뷰티 정보 플랫폼 · 대형 커뮤니티 체험단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7" y="2157984"/>
            <a:ext cx="4626864" cy="292608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B0B0A8"/>
                </a:solidFill>
                <a:latin typeface="맑은 고딕"/>
              </a:rPr>
              <a:t>카테고리 관여가 높은 타겟에게 ‘검증된 후기’를 시딩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" y="2670048"/>
            <a:ext cx="914400" cy="310896"/>
          </a:xfrm>
          <a:prstGeom prst="roundRect">
            <a:avLst>
              <a:gd name="adj" fmla="val 20000"/>
            </a:avLst>
          </a:prstGeom>
          <a:solidFill>
            <a:srgbClr val="F1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697479"/>
            <a:ext cx="914400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41412"/>
                </a:solidFill>
                <a:latin typeface="맑은 고딕"/>
              </a:rPr>
              <a:t>타겟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633472"/>
            <a:ext cx="4078223" cy="8229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373734"/>
                </a:solidFill>
                <a:latin typeface="맑은 고딕"/>
              </a:rPr>
              <a:t>화해 등 뷰티앱·대형 커뮤니티의 카테고리 관여 高 사용자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" y="3657600"/>
            <a:ext cx="914400" cy="310896"/>
          </a:xfrm>
          <a:prstGeom prst="roundRect">
            <a:avLst>
              <a:gd name="adj" fmla="val 20000"/>
            </a:avLst>
          </a:prstGeom>
          <a:solidFill>
            <a:srgbClr val="F1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3685032"/>
            <a:ext cx="914400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41412"/>
                </a:solidFill>
                <a:latin typeface="맑은 고딕"/>
              </a:rPr>
              <a:t>실행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3621024"/>
            <a:ext cx="4078223" cy="8229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373734"/>
                </a:solidFill>
                <a:latin typeface="맑은 고딕"/>
              </a:rPr>
              <a:t>체험단·어워드·랭킹 참여로 ‘검증된 후기’ 볼륨 확보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" y="4645152"/>
            <a:ext cx="914400" cy="310896"/>
          </a:xfrm>
          <a:prstGeom prst="roundRect">
            <a:avLst>
              <a:gd name="adj" fmla="val 20000"/>
            </a:avLst>
          </a:prstGeom>
          <a:solidFill>
            <a:srgbClr val="F1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4672584"/>
            <a:ext cx="914400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41412"/>
                </a:solidFill>
                <a:latin typeface="맑은 고딕"/>
              </a:rPr>
              <a:t>근거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0784" y="4608576"/>
            <a:ext cx="4078223" cy="8229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373734"/>
                </a:solidFill>
                <a:latin typeface="맑은 고딕"/>
              </a:rPr>
              <a:t>화장품 구매 시 64.2%가 화해 어워드·랭킹 참고 · 4단계 어뷰징 필터로 신뢰도 높음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1700784"/>
            <a:ext cx="5541264" cy="42245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90488" y="1700784"/>
            <a:ext cx="5541264" cy="786384"/>
          </a:xfrm>
          <a:prstGeom prst="roundRect">
            <a:avLst>
              <a:gd name="adj" fmla="val 5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91655" y="1883664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91655" y="1883664"/>
            <a:ext cx="420624" cy="420624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141412"/>
                </a:solidFill>
                <a:latin typeface="맑은 고딕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0296" y="1828800"/>
            <a:ext cx="4626864" cy="3657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파워페이지 (정보성 블로그·전문 채널)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0296" y="2157984"/>
            <a:ext cx="4626864" cy="292608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B0B0A8"/>
                </a:solidFill>
                <a:latin typeface="맑은 고딕"/>
              </a:rPr>
              <a:t>정보성 검색 결과를 점유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9944" y="2670048"/>
            <a:ext cx="914400" cy="310896"/>
          </a:xfrm>
          <a:prstGeom prst="roundRect">
            <a:avLst>
              <a:gd name="adj" fmla="val 20000"/>
            </a:avLst>
          </a:prstGeom>
          <a:solidFill>
            <a:srgbClr val="F1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9944" y="2697479"/>
            <a:ext cx="914400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41412"/>
                </a:solidFill>
                <a:latin typeface="맑은 고딕"/>
              </a:rPr>
              <a:t>타겟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4071" y="2633472"/>
            <a:ext cx="4078223" cy="8229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373734"/>
                </a:solidFill>
                <a:latin typeface="맑은 고딕"/>
              </a:rPr>
              <a:t>‘올리브오일 효능’·‘웰니스 구미 추천’ 등 정보성 검색 사용자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9944" y="3657600"/>
            <a:ext cx="914400" cy="310896"/>
          </a:xfrm>
          <a:prstGeom prst="roundRect">
            <a:avLst>
              <a:gd name="adj" fmla="val 20000"/>
            </a:avLst>
          </a:prstGeom>
          <a:solidFill>
            <a:srgbClr val="F1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9944" y="3685032"/>
            <a:ext cx="914400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41412"/>
                </a:solidFill>
                <a:latin typeface="맑은 고딕"/>
              </a:rPr>
              <a:t>실행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34071" y="3621024"/>
            <a:ext cx="4078223" cy="8229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373734"/>
                </a:solidFill>
                <a:latin typeface="맑은 고딕"/>
              </a:rPr>
              <a:t>정보성 파워 블로그·전문 채널로 검색 상위·추천 리스트 점유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9944" y="4645152"/>
            <a:ext cx="914400" cy="310896"/>
          </a:xfrm>
          <a:prstGeom prst="roundRect">
            <a:avLst>
              <a:gd name="adj" fmla="val 20000"/>
            </a:avLst>
          </a:prstGeom>
          <a:solidFill>
            <a:srgbClr val="F1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672584"/>
            <a:ext cx="914400" cy="256032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41412"/>
                </a:solidFill>
                <a:latin typeface="맑은 고딕"/>
              </a:rPr>
              <a:t>근거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34071" y="4608576"/>
            <a:ext cx="4078223" cy="8229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373734"/>
                </a:solidFill>
                <a:latin typeface="맑은 고딕"/>
              </a:rPr>
              <a:t>세일 전 ‘무엇을 살지’ 탐색 트래픽을 선점 → 장바구니 진입 유도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6053328"/>
            <a:ext cx="11274552" cy="493776"/>
          </a:xfrm>
          <a:prstGeom prst="roundRect">
            <a:avLst>
              <a:gd name="adj" fmla="val 12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053328"/>
            <a:ext cx="11274552" cy="493776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맑은 고딕"/>
              </a:rPr>
              <a:t>‘추천템’ 검색·비교 맥락을 선점 — 세일 전 탐색이 곧장 장바구니로 이어지게 만듭니다.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515600" cy="2560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787872"/>
                </a:solidFill>
                <a:latin typeface="맑은 고딕"/>
              </a:rPr>
              <a:t>02_C 바이럴 ③ 검색 자산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43000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41412"/>
                </a:solidFill>
                <a:latin typeface="맑은 고딕"/>
              </a:rPr>
              <a:t>GEO/AEO — ‘검색 답변 시대’의 Pull 자산으로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338560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373734"/>
                </a:solidFill>
                <a:latin typeface="맑은 고딕"/>
              </a:rPr>
              <a:t>이제 검색은 ‘AI가 어떤 정보를 골라 답하는가’의 싸움입니다. 언론보도·정보성 콘텐츠를 AI가 인용하기 좋은 구조로 발행해 검색·AI 답변을 선점합니다.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17904"/>
            <a:ext cx="11274552" cy="27432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664208"/>
            <a:ext cx="5541264" cy="841248"/>
          </a:xfrm>
          <a:prstGeom prst="roundRect">
            <a:avLst>
              <a:gd name="adj" fmla="val 6000"/>
            </a:avLst>
          </a:prstGeom>
          <a:solidFill>
            <a:srgbClr val="F1F0E5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21208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2"/>
                </a:solidFill>
                <a:latin typeface="맑은 고딕"/>
              </a:rPr>
              <a:t>GEO  </a:t>
            </a:r>
            <a:r>
              <a:rPr sz="1100" b="1">
                <a:solidFill>
                  <a:srgbClr val="787872"/>
                </a:solidFill>
                <a:latin typeface="맑은 고딕"/>
              </a:rPr>
              <a:t>생성형 엔진 최적화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212080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373734"/>
                </a:solidFill>
                <a:latin typeface="맑은 고딕"/>
              </a:rPr>
              <a:t>ChatGPT·Perplexity·Gemini가 답변을 만들 때 우리 콘텐츠를 ‘근거·출처’로 고르게 설계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664208"/>
            <a:ext cx="5541264" cy="841248"/>
          </a:xfrm>
          <a:prstGeom prst="roundRect">
            <a:avLst>
              <a:gd name="adj" fmla="val 6000"/>
            </a:avLst>
          </a:prstGeom>
          <a:solidFill>
            <a:srgbClr val="F1F0E5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737360"/>
            <a:ext cx="521208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2"/>
                </a:solidFill>
                <a:latin typeface="맑은 고딕"/>
              </a:rPr>
              <a:t>AEO  </a:t>
            </a:r>
            <a:r>
              <a:rPr sz="1100" b="1">
                <a:solidFill>
                  <a:srgbClr val="787872"/>
                </a:solidFill>
                <a:latin typeface="맑은 고딕"/>
              </a:rPr>
              <a:t>답변 엔진 최적화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011680"/>
            <a:ext cx="5212080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373734"/>
                </a:solidFill>
                <a:latin typeface="맑은 고딕"/>
              </a:rPr>
              <a:t>구글 AI Overview·검색 요약 답변에 ‘정확한 출처’로 반영되도록 최적화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88336"/>
            <a:ext cx="1005840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412"/>
                </a:solidFill>
                <a:latin typeface="맑은 고딕"/>
              </a:rPr>
              <a:t>운영 플로우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17520"/>
            <a:ext cx="210312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08960"/>
            <a:ext cx="2103120" cy="6400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141412"/>
                </a:solidFill>
                <a:latin typeface="맑은 고딕"/>
              </a:rPr>
              <a:t>키워드 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6875" y="3218688"/>
            <a:ext cx="457200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787872"/>
                </a:solidFill>
                <a:latin typeface="맑은 고딕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79191" y="3017520"/>
            <a:ext cx="210312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79191" y="3108960"/>
            <a:ext cx="2103120" cy="6400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141412"/>
                </a:solidFill>
                <a:latin typeface="맑은 고딕"/>
              </a:rPr>
              <a:t>콘텐츠 발행</a:t>
            </a:r>
          </a:p>
          <a:p>
            <a:pPr algn="ctr">
              <a:spcAft>
                <a:spcPts val="200"/>
              </a:spcAft>
            </a:pPr>
            <a:r>
              <a:rPr sz="900" b="1">
                <a:solidFill>
                  <a:srgbClr val="787872"/>
                </a:solidFill>
                <a:latin typeface="맑은 고딕"/>
              </a:rPr>
              <a:t>(언론보도·정보성)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8868" y="3218688"/>
            <a:ext cx="457200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787872"/>
                </a:solidFill>
                <a:latin typeface="맑은 고딕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01183" y="3017520"/>
            <a:ext cx="210312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01183" y="3108960"/>
            <a:ext cx="2103120" cy="6400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141412"/>
                </a:solidFill>
                <a:latin typeface="맑은 고딕"/>
              </a:rPr>
              <a:t>검색·AI 답변 점유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0859" y="3218688"/>
            <a:ext cx="457200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787872"/>
                </a:solidFill>
                <a:latin typeface="맑은 고딕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23175" y="3017520"/>
            <a:ext cx="2103120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23175" y="3108960"/>
            <a:ext cx="2103120" cy="6400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141412"/>
                </a:solidFill>
                <a:latin typeface="맑은 고딕"/>
              </a:rPr>
              <a:t>세일 전 탐색 대응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2852" y="3218688"/>
            <a:ext cx="457200" cy="36576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787872"/>
                </a:solidFill>
                <a:latin typeface="맑은 고딕"/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45167" y="3017520"/>
            <a:ext cx="2103120" cy="786384"/>
          </a:xfrm>
          <a:prstGeom prst="roundRect">
            <a:avLst>
              <a:gd name="adj" fmla="val 10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5167" y="3108960"/>
            <a:ext cx="2103120" cy="64008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자연 유입 증가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114800"/>
            <a:ext cx="5541264" cy="17007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206240"/>
            <a:ext cx="521208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2"/>
                </a:solidFill>
                <a:latin typeface="맑은 고딕"/>
              </a:rPr>
              <a:t>‘AI가 읽기 좋은’ 콘텐츠 원칙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535424"/>
            <a:ext cx="5257800" cy="1243584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373734"/>
                </a:solidFill>
                <a:latin typeface="맑은 고딕"/>
              </a:rPr>
              <a:t>· 질문–답변(Q&amp;A)형 구조로 작성 (검색 의도 직답)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373734"/>
                </a:solidFill>
                <a:latin typeface="맑은 고딕"/>
              </a:rPr>
              <a:t>· 출처·수치·정의를 명시해 ‘인용 가능’하게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373734"/>
                </a:solidFill>
                <a:latin typeface="맑은 고딕"/>
              </a:rPr>
              <a:t>· 언론보도 초안부터 AI 인용 형식으로 설계·발행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373734"/>
                </a:solidFill>
                <a:latin typeface="맑은 고딕"/>
              </a:rPr>
              <a:t>· 발행 전 AI가 실제로 어떻게 읽는지 구성 점검 후 작성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0488" y="4114800"/>
            <a:ext cx="5541264" cy="1700784"/>
          </a:xfrm>
          <a:prstGeom prst="roundRect">
            <a:avLst>
              <a:gd name="adj" fmla="val 6000"/>
            </a:avLst>
          </a:prstGeom>
          <a:solidFill>
            <a:srgbClr val="F1F0E5"/>
          </a:solidFill>
          <a:ln w="2540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8" y="4206240"/>
            <a:ext cx="521208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2"/>
                </a:solidFill>
                <a:latin typeface="맑은 고딕"/>
              </a:rPr>
              <a:t>왜 지금인가 (2026)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4535424"/>
            <a:ext cx="5257800" cy="1243584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373734"/>
                </a:solidFill>
                <a:latin typeface="맑은 고딕"/>
              </a:rPr>
              <a:t>· 일상 속 생성형 AI 사용 급증 · 구글 AI Overviews 확산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373734"/>
                </a:solidFill>
                <a:latin typeface="맑은 고딕"/>
              </a:rPr>
              <a:t>· AI 추천 기반 쇼핑 기능까지 확대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412"/>
                </a:solidFill>
                <a:latin typeface="맑은 고딕"/>
              </a:rPr>
              <a:t>· ‘검색 결과 1위’보다 ‘AI 답변에 인용’이 새 경쟁력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373734"/>
                </a:solidFill>
                <a:latin typeface="맑은 고딕"/>
              </a:rPr>
              <a:t>· Push(광고)가 닿지 않는 탐색 순간을 Pull로 선점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87872"/>
                </a:solidFill>
                <a:latin typeface="맑은 고딕"/>
              </a:rPr>
              <a:t>※ GEO=생성형 AI 답변 출처 선택 최적화 / AEO=AI 요약 답변 출처 반영 최적화 (2026 검색 트렌드 자료 기반).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515600" cy="256032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787872"/>
                </a:solidFill>
                <a:latin typeface="맑은 고딕"/>
              </a:rPr>
              <a:t>04 성과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430000" cy="548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41412"/>
                </a:solidFill>
                <a:latin typeface="맑은 고딕"/>
              </a:rPr>
              <a:t>주요 KPI — 플라이휠 단계별 성과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338560" cy="457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373734"/>
                </a:solidFill>
                <a:latin typeface="맑은 고딕"/>
              </a:rPr>
              <a:t>‘노출’이 아니라 플라이휠이 도는지를 봅니다. 단계별 선행지표 → 최종 ‘올영세일 랭킹 1위’로 연결합니다.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17904"/>
            <a:ext cx="11274552" cy="27432"/>
          </a:xfrm>
          <a:prstGeom prst="rect">
            <a:avLst/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82496"/>
          <a:ext cx="1127455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657600"/>
                <a:gridCol w="3337560"/>
                <a:gridCol w="226771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플라이휠 단계</a:t>
                      </a:r>
                    </a:p>
                  </a:txBody>
                  <a:tcPr marL="76200" marR="63500" marT="25400" marB="25400" anchor="ctr">
                    <a:solidFill>
                      <a:srgbClr val="1414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핵심 KPI</a:t>
                      </a:r>
                    </a:p>
                  </a:txBody>
                  <a:tcPr marL="76200" marR="63500" marT="25400" marB="25400" anchor="ctr">
                    <a:solidFill>
                      <a:srgbClr val="1414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목표 (6개월)</a:t>
                      </a:r>
                    </a:p>
                  </a:txBody>
                  <a:tcPr marL="76200" marR="63500" marT="25400" marB="25400" anchor="ctr">
                    <a:solidFill>
                      <a:srgbClr val="1414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측정·근거</a:t>
                      </a:r>
                    </a:p>
                  </a:txBody>
                  <a:tcPr marL="76200" marR="63500" marT="25400" marB="25400" anchor="ctr">
                    <a:solidFill>
                      <a:srgbClr val="14141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41412"/>
                          </a:solidFill>
                          <a:latin typeface="맑은 고딕"/>
                        </a:rPr>
                        <a:t>① 인지·시딩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373734"/>
                          </a:solidFill>
                          <a:latin typeface="맑은 고딕"/>
                        </a:rPr>
                        <a:t>UGC·시딩 콘텐츠 수량 · #올더베러 해시태그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41412"/>
                          </a:solidFill>
                          <a:latin typeface="맑은 고딕"/>
                        </a:rPr>
                        <a:t>월 대량 시딩 · 해시태그 100여 → 대폭 확대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373734"/>
                          </a:solidFill>
                          <a:latin typeface="맑은 고딕"/>
                        </a:rPr>
                        <a:t>인스타 해시태그·콘텐츠 집계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41412"/>
                          </a:solidFill>
                          <a:latin typeface="맑은 고딕"/>
                        </a:rPr>
                        <a:t>② 검증·신뢰</a:t>
                      </a: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373734"/>
                          </a:solidFill>
                          <a:latin typeface="맑은 고딕"/>
                        </a:rPr>
                        <a:t>리뷰 수·평균 별점 · 브랜드 검색량</a:t>
                      </a: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41412"/>
                          </a:solidFill>
                          <a:latin typeface="맑은 고딕"/>
                        </a:rPr>
                        <a:t>브랜드 검색 3,000 → 10,000 · 리뷰 볼륨↑</a:t>
                      </a: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373734"/>
                          </a:solidFill>
                          <a:latin typeface="맑은 고딕"/>
                        </a:rPr>
                        <a:t>네이버·구글 검색량 · 올영 리뷰</a:t>
                      </a: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41412"/>
                          </a:solidFill>
                          <a:latin typeface="맑은 고딕"/>
                        </a:rPr>
                        <a:t>③ 전환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373734"/>
                          </a:solidFill>
                          <a:latin typeface="맑은 고딕"/>
                        </a:rPr>
                        <a:t>올영 카테고리 랭킹 · ROAS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41412"/>
                          </a:solidFill>
                          <a:latin typeface="맑은 고딕"/>
                        </a:rPr>
                        <a:t>7월 중 카테고리 1위 · 올영세일 ROAS 개선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373734"/>
                          </a:solidFill>
                          <a:latin typeface="맑은 고딕"/>
                        </a:rPr>
                        <a:t>올영 랭킹 · 매체 리포트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41412"/>
                          </a:solidFill>
                          <a:latin typeface="맑은 고딕"/>
                        </a:rPr>
                        <a:t>④ 재구매·확장</a:t>
                      </a: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373734"/>
                          </a:solidFill>
                          <a:latin typeface="맑은 고딕"/>
                        </a:rPr>
                        <a:t>재구매율 · CRM(플친) 유입</a:t>
                      </a: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41412"/>
                          </a:solidFill>
                          <a:latin typeface="맑은 고딕"/>
                        </a:rPr>
                        <a:t>캡슐 충성 유지(24.1%) · 구미 재구매 개선</a:t>
                      </a: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373734"/>
                          </a:solidFill>
                          <a:latin typeface="맑은 고딕"/>
                        </a:rPr>
                        <a:t>VOC 딥다이브 · CRM</a:t>
                      </a:r>
                    </a:p>
                  </a:txBody>
                  <a:tcPr marL="76200" marR="63500" marT="25400" marB="25400" anchor="ctr">
                    <a:solidFill>
                      <a:srgbClr val="F6F5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41412"/>
                          </a:solidFill>
                          <a:latin typeface="맑은 고딕"/>
                        </a:rPr>
                        <a:t>종합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373734"/>
                          </a:solidFill>
                          <a:latin typeface="맑은 고딕"/>
                        </a:rPr>
                        <a:t>시그니처 키워드 노출률 · EMV·SoV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141412"/>
                          </a:solidFill>
                          <a:latin typeface="맑은 고딕"/>
                        </a:rPr>
                        <a:t>시그니처 키워드 노출률 90%+ · SoV 확대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373734"/>
                          </a:solidFill>
                          <a:latin typeface="맑은 고딕"/>
                        </a:rPr>
                        <a:t>검색·리스닝 · EMV 환산</a:t>
                      </a:r>
                    </a:p>
                  </a:txBody>
                  <a:tcPr marL="762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608576"/>
            <a:ext cx="1005840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1412"/>
                </a:solidFill>
                <a:latin typeface="맑은 고딕"/>
              </a:rPr>
              <a:t>인게이지먼트(ER) 벤치마크 — ‘진성도’ 가드 (티어별)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937760"/>
            <a:ext cx="3657600" cy="548640"/>
          </a:xfrm>
          <a:prstGeom prst="roundRect">
            <a:avLst>
              <a:gd name="adj" fmla="val 10000"/>
            </a:avLst>
          </a:prstGeom>
          <a:solidFill>
            <a:srgbClr val="14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5001768"/>
            <a:ext cx="3383280" cy="420624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맑은 고딕"/>
              </a:rPr>
              <a:t>나노 (1만 이하)   </a:t>
            </a:r>
            <a:r>
              <a:rPr sz="1200" b="1">
                <a:solidFill>
                  <a:srgbClr val="B0B0A8"/>
                </a:solidFill>
                <a:latin typeface="맑은 고딕"/>
              </a:rPr>
              <a:t>ER 5–15%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4937760"/>
            <a:ext cx="3657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5696" y="5001768"/>
            <a:ext cx="3383280" cy="420624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412"/>
                </a:solidFill>
                <a:latin typeface="맑은 고딕"/>
              </a:rPr>
              <a:t>마이크로 (1만–5만)   </a:t>
            </a:r>
            <a:r>
              <a:rPr sz="1200" b="1">
                <a:solidFill>
                  <a:srgbClr val="141412"/>
                </a:solidFill>
                <a:latin typeface="맑은 고딕"/>
              </a:rPr>
              <a:t>ER 3–8%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4937760"/>
            <a:ext cx="3657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5001768"/>
            <a:ext cx="3383280" cy="420624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412"/>
                </a:solidFill>
                <a:latin typeface="맑은 고딕"/>
              </a:rPr>
              <a:t>매크로 (5만 이상)   </a:t>
            </a:r>
            <a:r>
              <a:rPr sz="1200" b="1">
                <a:solidFill>
                  <a:srgbClr val="141412"/>
                </a:solidFill>
                <a:latin typeface="맑은 고딕"/>
              </a:rPr>
              <a:t>ER 1–3%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632704"/>
            <a:ext cx="11274552" cy="457200"/>
          </a:xfrm>
          <a:prstGeom prst="roundRect">
            <a:avLst>
              <a:gd name="adj" fmla="val 10000"/>
            </a:avLst>
          </a:prstGeom>
          <a:solidFill>
            <a:srgbClr val="F1F0E5"/>
          </a:solidFill>
          <a:ln w="15240">
            <a:solidFill>
              <a:srgbClr val="2222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669280"/>
            <a:ext cx="10972800" cy="384048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373734"/>
                </a:solidFill>
                <a:latin typeface="맑은 고딕"/>
              </a:rPr>
              <a:t>ER = (좋아요+댓글+저장+공유) ÷ 도달 — 다수의 마이크로·나노로 ‘진성 ER’ 확보가 플라이휠을 굴리는 핵심 선행지표.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63056"/>
            <a:ext cx="11247120" cy="2743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787872"/>
                </a:solidFill>
                <a:latin typeface="맑은 고딕"/>
              </a:rPr>
              <a:t>※ KPI 체계: 도달·SoV / 인게이지먼트 / 전환·ROAS / 진성도 / 브랜드 상기·EMV (2026 인플루언서 마케팅 벤치마크 + BAT 올영 PB 실적).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