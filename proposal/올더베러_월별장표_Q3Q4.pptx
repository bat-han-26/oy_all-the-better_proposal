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3·4분기 월별 액션플랜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0B0B0"/>
                </a:solidFill>
                <a:latin typeface="맑은 고딕"/>
              </a:rPr>
              <a:t>7월 착수 → 8·9월 1차 웨이브(올영세일) → 10월 유지 → 11·12월 2차 웨이브(블프·올영세일)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94560"/>
            <a:ext cx="1783080" cy="13716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7월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0779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착수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707070"/>
                </a:solidFill>
                <a:latin typeface="맑은 고딕"/>
              </a:rPr>
              <a:t>10% · 25백만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1448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41448" y="23774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8월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290779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★1차 웨이브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36576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707070"/>
                </a:solidFill>
                <a:latin typeface="맑은 고딕"/>
              </a:rPr>
              <a:t>20% · 50백만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3774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9월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290779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★1차 웨이브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36576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707070"/>
                </a:solidFill>
                <a:latin typeface="맑은 고딕"/>
              </a:rPr>
              <a:t>20% · 50백만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2194560"/>
            <a:ext cx="1783080" cy="13716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23774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11111"/>
                </a:solidFill>
                <a:latin typeface="맑은 고딕"/>
              </a:rPr>
              <a:t>10월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90779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11111"/>
                </a:solidFill>
                <a:latin typeface="맑은 고딕"/>
              </a:rPr>
              <a:t>유지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36576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707070"/>
                </a:solidFill>
                <a:latin typeface="맑은 고딕"/>
              </a:rPr>
              <a:t>10% · 25백만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23774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11월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290779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★2차 웨이브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36576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707070"/>
                </a:solidFill>
                <a:latin typeface="맑은 고딕"/>
              </a:rPr>
              <a:t>18% · 45백만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12680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23774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12월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90779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★2차 웨이브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6576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707070"/>
                </a:solidFill>
                <a:latin typeface="맑은 고딕"/>
              </a:rPr>
              <a:t>22% · 55백만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· Phase 1 (7~9월) — 빠른 반응 확보 : 일반식품·심의불필요 건기식 선행 + 8·9월 1차 웨이브로 올영세일 전환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· Phase 2 (10~12월) — 대표성 확장 : 건기식 라인 확장 + 11·12월 2차 웨이브(블프·올영세일)로 대표 브랜드 착지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07070"/>
                </a:solidFill>
                <a:latin typeface="맑은 고딕"/>
              </a:rPr>
              <a:t>· 예산 총 2.5억(공급가) · 퍼포먼스 매체는 별도(별첨)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7월  ·  First Shot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0B0B0"/>
                </a:solidFill>
                <a:latin typeface="맑은 고딕"/>
              </a:rPr>
              <a:t>착수 · 콘텐츠/메시지 테스트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8899855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99855" y="365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1차 웨이브 준비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맑은 고딕"/>
              </a:rPr>
              <a:t>“위닝 메시지 발굴 · 시딩 도화선 점화”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콘텐츠·이미지 소재 LMF 테스트 → 위닝 메시지 선별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일반식품 + 심의 불필요 건기식 시딩 즉시 라이브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건기식 심의 파이프라인 착수 (가이드→섭외→콘티→접수)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챌린저스 1차 가동 · 블로그/검색 키워드 선점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7070"/>
                </a:solidFill>
                <a:latin typeface="맑은 고딕"/>
              </a:rPr>
              <a:t>성과 목표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</a:rPr>
              <a:t>위닝 메시지 확정 · 후기·콘텐츠 1차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진행 물량 (건)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118872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0B0B0"/>
                </a:solidFill>
                <a:latin typeface="맑은 고딕"/>
              </a:rPr>
              <a:t>이 달 예산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25,000,000 원   (10%)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8월  ·  Proof Take-off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0B0B0"/>
                </a:solidFill>
                <a:latin typeface="맑은 고딕"/>
              </a:rPr>
              <a:t>올영세일 사전 부스팅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8899855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99855" y="365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★ 1차 웨이브 발생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맑은 고딕"/>
              </a:rPr>
              <a:t>“세일 전 인지·각인 확산 + 선택 증거 확보”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시딩 대량 릴리즈(월 110건) — 세일 1주 전 집중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매크로 합류 · 파워페이지·커뮤니티 체험단(탑)·네이버 블로그 바이럴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건기식 심의 완료분 1차 업로드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‘올영 1위’ 키워드 플레이 · 챌린저스 랭킹 견인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7070"/>
                </a:solidFill>
                <a:latin typeface="맑은 고딕"/>
              </a:rPr>
              <a:t>성과 목표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</a:rPr>
              <a:t>1차 웨이브로 사전 부스팅 · 검색·후기 증거 확산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진행 물량 (건)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118872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0B0B0"/>
                </a:solidFill>
                <a:latin typeface="맑은 고딕"/>
              </a:rPr>
              <a:t>이 달 예산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50,000,000 원   (20%)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9월  ·  Acceleration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0B0B0"/>
                </a:solidFill>
                <a:latin typeface="맑은 고딕"/>
              </a:rPr>
              <a:t>올영세일 구매 전환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8899855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99855" y="365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★ 1차 웨이브 피크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맑은 고딕"/>
              </a:rPr>
              <a:t>“확보한 증거로 올영세일 구매 전환 폭발”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올영세일 집중 — 일반+건기식 콘텐츠 동시 투입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퍼포먼스 매체(별첨)·어필리에이트 가동 전환 유도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건기식 2차 업로드 세일 직전 라이브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랭킹/후기/혜택 결합 소재 운영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7070"/>
                </a:solidFill>
                <a:latin typeface="맑은 고딕"/>
              </a:rPr>
              <a:t>성과 목표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</a:rPr>
              <a:t>1차 웨이브 매출 피크 · 카테고리 랭킹 상위/1위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진행 물량 (건)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118872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65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0B0B0"/>
                </a:solidFill>
                <a:latin typeface="맑은 고딕"/>
              </a:rPr>
              <a:t>이 달 예산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50,000,000 원   (20%)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10월  ·  Orbit Expansion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0B0B0"/>
                </a:solidFill>
                <a:latin typeface="맑은 고딕"/>
              </a:rPr>
              <a:t>유지 · 포트폴리오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8899855" y="310896"/>
            <a:ext cx="2834640" cy="4572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99855" y="365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유지 (낙수효과)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맑은 고딕"/>
              </a:rPr>
              <a:t>“구매 증거 기반 건기식 라인업 확장”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건기식 6종 본격 콘텐츠 · 확장 메시지 테스트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9월 위닝 소재 낙수 운영(유지)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크로스셀 CRM · 후기 자산 확산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7070"/>
                </a:solidFill>
                <a:latin typeface="맑은 고딕"/>
              </a:rPr>
              <a:t>성과 목표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</a:rPr>
              <a:t>매출 유지 · 건기식 라인 인지 형성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진행 물량 (건)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118872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0B0B0"/>
                </a:solidFill>
                <a:latin typeface="맑은 고딕"/>
              </a:rPr>
              <a:t>이 달 예산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25,000,000 원   (10%)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11월  ·  Boost-up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0B0B0"/>
                </a:solidFill>
                <a:latin typeface="맑은 고딕"/>
              </a:rPr>
              <a:t>블프 · 재점화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8899855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99855" y="365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★ 2차 웨이브 발생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맑은 고딕"/>
              </a:rPr>
              <a:t>“많이 보이고 많이 찾는 브랜드로 재점화”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시딩 재확대(월 90건) · 매크로·체험단(탑)·파워페이지 재가동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블프 프로모션 연계 퍼포먼스 · 건기식 RTB+혜택 결합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챌린저스 2차 · 검색 자산 보강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7070"/>
                </a:solidFill>
                <a:latin typeface="맑은 고딕"/>
              </a:rPr>
              <a:t>성과 목표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</a:rPr>
              <a:t>2차 웨이브 시작 · 탐색량·관심층 확대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진행 물량 (건)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118872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0B0B0"/>
                </a:solidFill>
                <a:latin typeface="맑은 고딕"/>
              </a:rPr>
              <a:t>이 달 예산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45,000,000 원   (18%)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12월  ·  Category Landing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0B0B0"/>
                </a:solidFill>
                <a:latin typeface="맑은 고딕"/>
              </a:rPr>
              <a:t>올영세일 · 대표성 착지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8899855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99855" y="365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★ 2차 웨이브 피크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맑은 고딕"/>
              </a:rPr>
              <a:t>“라인업으로 웰니스 카테고리 대표 브랜드 착지”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12월 올영세일 집중 — 전 라인업 대표성 콘텐츠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세일 1주 전 시딩 대량 릴리즈(월 100건)·바이럴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쟁임/재구매 CRM · 퍼포먼스 2차 피크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7070"/>
                </a:solidFill>
                <a:latin typeface="맑은 고딕"/>
              </a:rPr>
              <a:t>성과 목표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</a:rPr>
              <a:t>2차 웨이브 매출 피크 · 대표성 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진행 물량 (건)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118872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45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0B0B0"/>
                </a:solidFill>
                <a:latin typeface="맑은 고딕"/>
              </a:rPr>
              <a:t>이 달 예산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55,000,000 원   (22%)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