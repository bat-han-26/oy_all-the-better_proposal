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BATi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AMBASSADOR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마이크로 앰배서더 — 6개월 다회차 협업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82496"/>
            <a:ext cx="9628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BAT가 보유한 우수 마이크로 인플루언서 ‘실(實)리드 풀’을 ‘마이크로 앰배서더’로 전환합니다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3392424" cy="14813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78024"/>
            <a:ext cx="457200" cy="457200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78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459736"/>
            <a:ext cx="2386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0E5A30"/>
                </a:solidFill>
                <a:latin typeface="Pretendard"/>
                <a:ea typeface="Pretendard"/>
              </a:rPr>
              <a:t>REAL-LEAD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60904"/>
            <a:ext cx="23865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실(實)리드 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2889504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3A3A36"/>
                </a:solidFill>
                <a:latin typeface="Pretendard"/>
                <a:ea typeface="Pretendard"/>
              </a:rPr>
              <a:t>다년간의 인플루언서 시딩으로 축적한 우수 마이크로 인플루언서 실리드 보유 — 검증된 풀에서 즉시 가동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240280"/>
            <a:ext cx="3392424" cy="14813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72583" y="2478024"/>
            <a:ext cx="457200" cy="457200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3" y="2478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459736"/>
            <a:ext cx="2386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0E5A30"/>
                </a:solidFill>
                <a:latin typeface="Pretendard"/>
                <a:ea typeface="Pretendard"/>
              </a:rPr>
              <a:t>MICRO MCN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660904"/>
            <a:ext cx="23865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마이크로 MCN 모듈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3" y="3108960"/>
            <a:ext cx="2889504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3A3A36"/>
                </a:solidFill>
                <a:latin typeface="Pretendard"/>
                <a:ea typeface="Pretendard"/>
              </a:rPr>
              <a:t>MCN 운영 모듈로 안정적·고퀄리티 콘텐츠를 지속 발행 — 단발 협업의 품질 편차를 제거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2240280"/>
            <a:ext cx="3392424" cy="14813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47888" y="2478024"/>
            <a:ext cx="457200" cy="457200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478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459736"/>
            <a:ext cx="2386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0E5A30"/>
                </a:solidFill>
                <a:latin typeface="Pretendard"/>
                <a:ea typeface="Pretendard"/>
              </a:rPr>
              <a:t>AMBASSADOR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2660904"/>
            <a:ext cx="23865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마이크로 앰배서더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108960"/>
            <a:ext cx="2889504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3A3A36"/>
                </a:solidFill>
                <a:latin typeface="Pretendard"/>
                <a:ea typeface="Pretendard"/>
              </a:rPr>
              <a:t>6개월간 1인당 월 1회 이상(총 6회) 다회차 협업 — 브랜드 맥락이 누적된 관계형 콘텐츠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77639"/>
            <a:ext cx="64008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142231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마이크로 앰배서더 1인 · 6개월 협업 사이클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89888" y="5001768"/>
            <a:ext cx="603504" cy="0"/>
          </a:xfrm>
          <a:prstGeom prst="line">
            <a:avLst/>
          </a:prstGeom>
          <a:ln w="20320">
            <a:solidFill>
              <a:srgbClr val="0E5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04288" y="5001768"/>
            <a:ext cx="603504" cy="0"/>
          </a:xfrm>
          <a:prstGeom prst="line">
            <a:avLst/>
          </a:prstGeom>
          <a:ln w="20320">
            <a:solidFill>
              <a:srgbClr val="0E5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18688" y="5001768"/>
            <a:ext cx="603503" cy="0"/>
          </a:xfrm>
          <a:prstGeom prst="line">
            <a:avLst/>
          </a:prstGeom>
          <a:ln w="20320">
            <a:solidFill>
              <a:srgbClr val="0E5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33087" y="5001768"/>
            <a:ext cx="603505" cy="0"/>
          </a:xfrm>
          <a:prstGeom prst="line">
            <a:avLst/>
          </a:prstGeom>
          <a:ln w="20320">
            <a:solidFill>
              <a:srgbClr val="0E5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47488" y="5001768"/>
            <a:ext cx="603504" cy="0"/>
          </a:xfrm>
          <a:prstGeom prst="line">
            <a:avLst/>
          </a:prstGeom>
          <a:ln w="20320">
            <a:solidFill>
              <a:srgbClr val="0E5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234440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7월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35" name="Oval 34"/>
          <p:cNvSpPr/>
          <p:nvPr/>
        </p:nvSpPr>
        <p:spPr>
          <a:xfrm>
            <a:off x="2148840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02536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8월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39" name="Oval 38"/>
          <p:cNvSpPr/>
          <p:nvPr/>
        </p:nvSpPr>
        <p:spPr>
          <a:xfrm>
            <a:off x="3063240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16936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9월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43" name="Oval 42"/>
          <p:cNvSpPr/>
          <p:nvPr/>
        </p:nvSpPr>
        <p:spPr>
          <a:xfrm>
            <a:off x="3977639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31335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10월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47" name="Oval 46"/>
          <p:cNvSpPr/>
          <p:nvPr/>
        </p:nvSpPr>
        <p:spPr>
          <a:xfrm>
            <a:off x="4892040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45736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11월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51" name="Oval 50"/>
          <p:cNvSpPr/>
          <p:nvPr/>
        </p:nvSpPr>
        <p:spPr>
          <a:xfrm>
            <a:off x="5806440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0136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12월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7840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24927" y="3977639"/>
            <a:ext cx="3941063" cy="1572768"/>
          </a:xfrm>
          <a:prstGeom prst="roundRect">
            <a:avLst>
              <a:gd name="adj" fmla="val 8000"/>
            </a:avLst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24927" y="4178807"/>
            <a:ext cx="39410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C7CE3E"/>
                </a:solidFill>
                <a:latin typeface="Pretendard"/>
                <a:ea typeface="Pretendard"/>
              </a:rPr>
              <a:t>본 캠페인 적용 규모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24927" y="4453127"/>
            <a:ext cx="39410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FFFFFF"/>
                </a:solidFill>
                <a:latin typeface="Pretendard"/>
                <a:ea typeface="Pretendard"/>
              </a:rPr>
              <a:t>10명 × 6회 = 60건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7808" y="5038344"/>
            <a:ext cx="35753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FE6D8"/>
                </a:solidFill>
                <a:latin typeface="Pretendard"/>
                <a:ea typeface="Pretendard"/>
              </a:rPr>
              <a:t>앰배서더 10인이 6개월간 매월 1회씩 협업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5696712"/>
            <a:ext cx="10543032" cy="42062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016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280" y="5696712"/>
            <a:ext cx="10058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0E5A30"/>
                </a:solidFill>
                <a:latin typeface="Pretendard"/>
                <a:ea typeface="Pretendard"/>
              </a:rPr>
              <a:t>e.g.  </a:t>
            </a:r>
          </a:p>
          <a:p>
            <a:pPr algn="l"/>
            <a:r>
              <a:rPr sz="1050" b="0" spc="-100">
                <a:solidFill>
                  <a:srgbClr val="141412"/>
                </a:solidFill>
                <a:latin typeface="Pretendard"/>
                <a:ea typeface="Pretendard"/>
              </a:rPr>
              <a:t>일본 마이크로 인플루언서의 SK-II 다회차 앰배서더 협업 사례 — 반복 노출로 신뢰·전환을 누적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6227064"/>
            <a:ext cx="105430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단발성 바이럴 ×   →   지속 관계 기반 네트워크 ○      ·      브랜드 캠페인의 성과와 효율을 동시에 향상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BATi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OPERATIONS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검증된 운영 시스템 — 크리에이터 그로스마케팅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82496"/>
            <a:ext cx="9628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‘마이크로 MCN 운영 핸드북’ 기반 — 감각이 아닌 표준화·데이터·자동화로 운영되는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5010912" cy="1627632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9728" cy="1627632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0864"/>
            <a:ext cx="45537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0E5A30"/>
                </a:solidFill>
                <a:latin typeface="Pretendard"/>
                <a:ea typeface="Pretendard"/>
              </a:rPr>
              <a:t>01 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7860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-100">
                <a:solidFill>
                  <a:srgbClr val="141412"/>
                </a:solidFill>
                <a:latin typeface="Pretendard"/>
                <a:ea typeface="Pretendard"/>
              </a:rPr>
              <a:t>느슨한 네트워크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4507992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고비용 계약 모델 × → 비계약·저비용 구조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인플루언서는 가볍게 온보딩, 풀은 무한 확장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단발 바이럴이 아닌 ‘생태계·관계’ 자산화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94560"/>
            <a:ext cx="5010912" cy="1627632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94560"/>
            <a:ext cx="109728" cy="1627632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340864"/>
            <a:ext cx="45537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3D2B1B"/>
                </a:solidFill>
                <a:latin typeface="Pretendard"/>
                <a:ea typeface="Pretendard"/>
              </a:rPr>
              <a:t>02  TIERING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7860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-100">
                <a:solidFill>
                  <a:srgbClr val="141412"/>
                </a:solidFill>
                <a:latin typeface="Pretendard"/>
                <a:ea typeface="Pretendard"/>
              </a:rPr>
              <a:t>데이터 기반 티어링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035808"/>
            <a:ext cx="4507992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친분 × · 데이터 ○ 로 티어 승급/강등 결정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종합 퍼포먼스·인게이지먼트·콘텐츠 만족도 기준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개인별 기준점 · 가이드 미준수 시 강등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5010912" cy="1627632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109728" cy="1627632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23944"/>
            <a:ext cx="45537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3D2B1B"/>
                </a:solidFill>
                <a:latin typeface="Pretendard"/>
                <a:ea typeface="Pretendard"/>
              </a:rPr>
              <a:t>03  INCENTIVE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6168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-100">
                <a:solidFill>
                  <a:srgbClr val="141412"/>
                </a:solidFill>
                <a:latin typeface="Pretendard"/>
                <a:ea typeface="Pretendard"/>
              </a:rPr>
              <a:t>인센티브 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18888"/>
            <a:ext cx="4507992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업로드 트래킹·조회수 임계치 기준 인센티브 지급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캠페인별 단가 별도 · 전담 매니저가 내역 관리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고성과 생산자에게 보상 집중 → 품질 상향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977639"/>
            <a:ext cx="5010912" cy="1627632"/>
          </a:xfrm>
          <a:prstGeom prst="roundRect">
            <a:avLst>
              <a:gd name="adj" fmla="val 8000"/>
            </a:avLst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123944"/>
            <a:ext cx="45537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C7CE3E"/>
                </a:solidFill>
                <a:latin typeface="Pretendard"/>
                <a:ea typeface="Pretendard"/>
              </a:rPr>
              <a:t>04  COST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36168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-100">
                <a:solidFill>
                  <a:srgbClr val="FFFFFF"/>
                </a:solidFill>
                <a:latin typeface="Pretendard"/>
                <a:ea typeface="Pretendard"/>
              </a:rPr>
              <a:t>비용 경쟁력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818888"/>
            <a:ext cx="4507992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E8F1E8"/>
                </a:solidFill>
                <a:latin typeface="Pretendard"/>
                <a:ea typeface="Pretendard"/>
              </a:rPr>
              <a:t>·  고성과 크리에이터, 시장 통상 건당 50만원 이상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E8F1E8"/>
                </a:solidFill>
                <a:latin typeface="Pretendard"/>
                <a:ea typeface="Pretendard"/>
              </a:rPr>
              <a:t>·  구좌 선점 + 다회차 계약으로 건당 40만원 확보 (20% ↓)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E8F1E8"/>
                </a:solidFill>
                <a:latin typeface="Pretendard"/>
                <a:ea typeface="Pretendard"/>
              </a:rPr>
              <a:t>·  예측 가능한 단가로 안정적 고품질 콘텐츠 수급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870448"/>
            <a:ext cx="10543032" cy="603504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870448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C7CE3E"/>
                </a:solidFill>
                <a:latin typeface="Pretendard"/>
                <a:ea typeface="Pretendard"/>
              </a:rPr>
              <a:t>광고주 베네핏     </a:t>
            </a:r>
          </a:p>
          <a:p>
            <a:pPr algn="ctr"/>
            <a:r>
              <a:rPr sz="1150" b="1" spc="-100">
                <a:solidFill>
                  <a:srgbClr val="FFFFFF"/>
                </a:solidFill>
                <a:latin typeface="Pretendard"/>
                <a:ea typeface="Pretendard"/>
              </a:rPr>
              <a:t>시장가 대비 약 20% 절감 단가   ·   검증된 고품질 콘텐츠   ·   6개월 안정적·예측 가능한 수급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