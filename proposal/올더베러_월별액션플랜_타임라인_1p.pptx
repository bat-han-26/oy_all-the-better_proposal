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1A1A"/>
                </a:solidFill>
                <a:latin typeface="맑은 고딕"/>
                <a:ea typeface="맑은 고딕"/>
              </a:rPr>
              <a:t>월별 실행 타임라인 · 액션플랜  —  견적 포함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841248"/>
            <a:ext cx="3108960" cy="41148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17520" y="950976"/>
            <a:ext cx="356616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17520" y="950976"/>
            <a:ext cx="3566160" cy="292608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PHASE 1 · 빠른 반응 확보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950976"/>
            <a:ext cx="3566160" cy="292608"/>
          </a:xfrm>
          <a:prstGeom prst="rect">
            <a:avLst/>
          </a:prstGeom>
          <a:solidFill>
            <a:srgbClr val="9C9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950976"/>
            <a:ext cx="3566160" cy="292608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PHASE 2 · 대표성 확장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2514600" cy="365760"/>
          </a:xfrm>
          <a:prstGeom prst="rect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2514600" cy="365760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항목  (건당 비용)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280160"/>
            <a:ext cx="1188720" cy="365760"/>
          </a:xfrm>
          <a:prstGeom prst="rect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280160"/>
            <a:ext cx="1188720" cy="365760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7월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280160"/>
            <a:ext cx="1188720" cy="365760"/>
          </a:xfrm>
          <a:prstGeom prst="rect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280160"/>
            <a:ext cx="1188720" cy="365760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8월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CFCB"/>
                </a:solidFill>
                <a:latin typeface="맑은 고딕"/>
                <a:ea typeface="맑은 고딕"/>
              </a:rPr>
              <a:t>세일 사전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1280160"/>
            <a:ext cx="1188720" cy="365760"/>
          </a:xfrm>
          <a:prstGeom prst="rect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1280160"/>
            <a:ext cx="1188720" cy="365760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9월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CFCB"/>
                </a:solidFill>
                <a:latin typeface="맑은 고딕"/>
                <a:ea typeface="맑은 고딕"/>
              </a:rPr>
              <a:t>세일 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280160"/>
            <a:ext cx="1188720" cy="365760"/>
          </a:xfrm>
          <a:prstGeom prst="rect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280160"/>
            <a:ext cx="1188720" cy="365760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10월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1280160"/>
            <a:ext cx="1188720" cy="365760"/>
          </a:xfrm>
          <a:prstGeom prst="rect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1280160"/>
            <a:ext cx="1188720" cy="365760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11월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CFCB"/>
                </a:solidFill>
                <a:latin typeface="맑은 고딕"/>
                <a:ea typeface="맑은 고딕"/>
              </a:rPr>
              <a:t>블프 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1280160"/>
            <a:ext cx="1188720" cy="365760"/>
          </a:xfrm>
          <a:prstGeom prst="rect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1280160"/>
            <a:ext cx="1188720" cy="365760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12월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CFCB"/>
                </a:solidFill>
                <a:latin typeface="맑은 고딕"/>
                <a:ea typeface="맑은 고딕"/>
              </a:rPr>
              <a:t>세일 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0" y="1280160"/>
            <a:ext cx="1536192" cy="365760"/>
          </a:xfrm>
          <a:prstGeom prst="rect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0" y="1280160"/>
            <a:ext cx="1536192" cy="365760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합계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645919"/>
            <a:ext cx="11183112" cy="219456"/>
          </a:xfrm>
          <a:prstGeom prst="rect">
            <a:avLst/>
          </a:prstGeom>
          <a:solidFill>
            <a:srgbClr val="ECEFE4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1645919"/>
            <a:ext cx="1109167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C3A2C"/>
                </a:solidFill>
                <a:latin typeface="맑은 고딕"/>
                <a:ea typeface="맑은 고딕"/>
              </a:rPr>
              <a:t>■ 크리에이터 시딩    (BATi 마이크로 앰배서더 포함 · 모두 '시딩')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1865376"/>
            <a:ext cx="25146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1865376"/>
            <a:ext cx="242316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나노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A8A86"/>
                </a:solidFill>
                <a:latin typeface="맑은 고딕"/>
                <a:ea typeface="맑은 고딕"/>
              </a:rPr>
              <a:t>270,000원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1865376"/>
            <a:ext cx="1188720" cy="219456"/>
          </a:xfrm>
          <a:prstGeom prst="rect">
            <a:avLst/>
          </a:prstGeom>
          <a:solidFill>
            <a:srgbClr val="959595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186537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06240" y="1865376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186537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60" y="1865376"/>
            <a:ext cx="1188720" cy="219456"/>
          </a:xfrm>
          <a:prstGeom prst="rect">
            <a:avLst/>
          </a:prstGeom>
          <a:solidFill>
            <a:srgbClr val="858585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94960" y="186537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1865376"/>
            <a:ext cx="1188720" cy="219456"/>
          </a:xfrm>
          <a:prstGeom prst="rect">
            <a:avLst/>
          </a:prstGeom>
          <a:solidFill>
            <a:srgbClr val="959595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186537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1865376"/>
            <a:ext cx="1188720" cy="219456"/>
          </a:xfrm>
          <a:prstGeom prst="rect">
            <a:avLst/>
          </a:prstGeom>
          <a:solidFill>
            <a:srgbClr val="555555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186537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61120" y="1865376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0" y="186537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49840" y="1865376"/>
            <a:ext cx="1536192" cy="219456"/>
          </a:xfrm>
          <a:prstGeom prst="rect">
            <a:avLst/>
          </a:prstGeom>
          <a:solidFill>
            <a:srgbClr val="F2F4EC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49840" y="1865376"/>
            <a:ext cx="153619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맑은 고딕"/>
                <a:ea typeface="맑은 고딕"/>
              </a:rPr>
              <a:t>90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2084832"/>
            <a:ext cx="25146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" y="2084832"/>
            <a:ext cx="242316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마이크로 (UGC)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A8A86"/>
                </a:solidFill>
                <a:latin typeface="맑은 고딕"/>
                <a:ea typeface="맑은 고딕"/>
              </a:rPr>
              <a:t>420,000원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7520" y="2084832"/>
            <a:ext cx="1188720" cy="219456"/>
          </a:xfrm>
          <a:prstGeom prst="rect">
            <a:avLst/>
          </a:prstGeom>
          <a:solidFill>
            <a:srgbClr val="8F8F8F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17520" y="208483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2084832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40" y="208483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30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94960" y="2084832"/>
            <a:ext cx="1188720" cy="219456"/>
          </a:xfrm>
          <a:prstGeom prst="rect">
            <a:avLst/>
          </a:prstGeom>
          <a:solidFill>
            <a:srgbClr val="7A7A7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94960" y="208483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0" y="2084832"/>
            <a:ext cx="1188720" cy="219456"/>
          </a:xfrm>
          <a:prstGeom prst="rect">
            <a:avLst/>
          </a:prstGeom>
          <a:solidFill>
            <a:srgbClr val="8F8F8F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0" y="208483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2084832"/>
            <a:ext cx="1188720" cy="219456"/>
          </a:xfrm>
          <a:prstGeom prst="rect">
            <a:avLst/>
          </a:prstGeom>
          <a:solidFill>
            <a:srgbClr val="505050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208483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61120" y="2084832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61120" y="208483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30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149840" y="2084832"/>
            <a:ext cx="1536192" cy="219456"/>
          </a:xfrm>
          <a:prstGeom prst="rect">
            <a:avLst/>
          </a:prstGeom>
          <a:solidFill>
            <a:srgbClr val="F2F4EC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149840" y="2084832"/>
            <a:ext cx="153619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맑은 고딕"/>
                <a:ea typeface="맑은 고딕"/>
              </a:rPr>
              <a:t>140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2304288"/>
            <a:ext cx="25146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6072" y="2304288"/>
            <a:ext cx="242316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매크로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A8A86"/>
                </a:solidFill>
                <a:latin typeface="맑은 고딕"/>
                <a:ea typeface="맑은 고딕"/>
              </a:rPr>
              <a:t>880,000원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2304288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17520" y="2304288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06240" y="2304288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06240" y="2304288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94960" y="2304288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94960" y="2304288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0" y="2304288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0" y="2304288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72400" y="2304288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72400" y="2304288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961120" y="2304288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961120" y="2304288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149840" y="2304288"/>
            <a:ext cx="1536192" cy="219456"/>
          </a:xfrm>
          <a:prstGeom prst="rect">
            <a:avLst/>
          </a:prstGeom>
          <a:solidFill>
            <a:srgbClr val="F2F4EC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49840" y="2304288"/>
            <a:ext cx="153619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2523744"/>
            <a:ext cx="25146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76072" y="2523744"/>
            <a:ext cx="242316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KOL 무가시딩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A8A86"/>
                </a:solidFill>
                <a:latin typeface="맑은 고딕"/>
                <a:ea typeface="맑은 고딕"/>
              </a:rPr>
              <a:t>100,000원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2523744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17520" y="2523744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06240" y="2523744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206240" y="2523744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394960" y="2523744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394960" y="2523744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583680" y="2523744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583680" y="2523744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72400" y="2523744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772400" y="2523744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961120" y="2523744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61120" y="2523744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149840" y="2523744"/>
            <a:ext cx="1536192" cy="219456"/>
          </a:xfrm>
          <a:prstGeom prst="rect">
            <a:avLst/>
          </a:prstGeom>
          <a:solidFill>
            <a:srgbClr val="F2F4EC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149840" y="2523744"/>
            <a:ext cx="153619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맑은 고딕"/>
                <a:ea typeface="맑은 고딕"/>
              </a:rPr>
              <a:t>30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2743200"/>
            <a:ext cx="25146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76072" y="2743200"/>
            <a:ext cx="242316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X (트위터) 시딩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A8A86"/>
                </a:solidFill>
                <a:latin typeface="맑은 고딕"/>
                <a:ea typeface="맑은 고딕"/>
              </a:rPr>
              <a:t>550,000원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017520" y="2743200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17520" y="2743200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206240" y="2743200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206240" y="2743200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394960" y="2743200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394960" y="2743200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83680" y="2743200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583680" y="2743200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772400" y="2743200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772400" y="2743200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961120" y="2743200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961120" y="2743200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149840" y="2743200"/>
            <a:ext cx="1536192" cy="219456"/>
          </a:xfrm>
          <a:prstGeom prst="rect">
            <a:avLst/>
          </a:prstGeom>
          <a:solidFill>
            <a:srgbClr val="F2F4EC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149840" y="2743200"/>
            <a:ext cx="153619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맑은 고딕"/>
                <a:ea typeface="맑은 고딕"/>
              </a:rPr>
              <a:t>24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2920" y="2962656"/>
            <a:ext cx="25146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6072" y="2962656"/>
            <a:ext cx="242316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네이버 블로그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A8A86"/>
                </a:solidFill>
                <a:latin typeface="맑은 고딕"/>
                <a:ea typeface="맑은 고딕"/>
              </a:rPr>
              <a:t>220,000원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017520" y="2962656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017520" y="296265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206240" y="2962656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206240" y="296265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394960" y="2962656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394960" y="296265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583680" y="2962656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583680" y="296265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772400" y="2962656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772400" y="296265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961120" y="2962656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961120" y="296265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0149840" y="2962656"/>
            <a:ext cx="1536192" cy="219456"/>
          </a:xfrm>
          <a:prstGeom prst="rect">
            <a:avLst/>
          </a:prstGeom>
          <a:solidFill>
            <a:srgbClr val="F2F4EC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149840" y="2962656"/>
            <a:ext cx="153619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02920" y="3182112"/>
            <a:ext cx="25146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6072" y="3182112"/>
            <a:ext cx="242316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BATi 마이크로 앰배서더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A8A86"/>
                </a:solidFill>
                <a:latin typeface="맑은 고딕"/>
                <a:ea typeface="맑은 고딕"/>
              </a:rPr>
              <a:t>500,000원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017520" y="3182112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017520" y="318211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206240" y="3182112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206240" y="318211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394960" y="3182112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394960" y="318211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583680" y="3182112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583680" y="318211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772400" y="3182112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772400" y="318211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961120" y="3182112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961120" y="318211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0149840" y="3182112"/>
            <a:ext cx="1536192" cy="219456"/>
          </a:xfrm>
          <a:prstGeom prst="rect">
            <a:avLst/>
          </a:prstGeom>
          <a:solidFill>
            <a:srgbClr val="F2F4EC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149840" y="3182112"/>
            <a:ext cx="153619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맑은 고딕"/>
                <a:ea typeface="맑은 고딕"/>
              </a:rPr>
              <a:t>60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02920" y="3401568"/>
            <a:ext cx="2514600" cy="256032"/>
          </a:xfrm>
          <a:prstGeom prst="rect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02920" y="3401568"/>
            <a:ext cx="2423160" cy="256032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월 시딩 총건수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017520" y="3401568"/>
            <a:ext cx="1188720" cy="256032"/>
          </a:xfrm>
          <a:prstGeom prst="rect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017520" y="3401568"/>
            <a:ext cx="1188720" cy="256032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41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206240" y="3401568"/>
            <a:ext cx="1188720" cy="256032"/>
          </a:xfrm>
          <a:prstGeom prst="rect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206240" y="3401568"/>
            <a:ext cx="1188720" cy="256032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82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394960" y="3401568"/>
            <a:ext cx="1188720" cy="256032"/>
          </a:xfrm>
          <a:prstGeom prst="rect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394960" y="3401568"/>
            <a:ext cx="1188720" cy="256032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47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583680" y="3401568"/>
            <a:ext cx="1188720" cy="256032"/>
          </a:xfrm>
          <a:prstGeom prst="rect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583680" y="3401568"/>
            <a:ext cx="1188720" cy="256032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41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772400" y="3401568"/>
            <a:ext cx="1188720" cy="256032"/>
          </a:xfrm>
          <a:prstGeom prst="rect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772400" y="3401568"/>
            <a:ext cx="1188720" cy="256032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78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961120" y="3401568"/>
            <a:ext cx="1188720" cy="256032"/>
          </a:xfrm>
          <a:prstGeom prst="rect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961120" y="3401568"/>
            <a:ext cx="1188720" cy="256032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82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0149840" y="3401568"/>
            <a:ext cx="1536192" cy="256032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149840" y="3401568"/>
            <a:ext cx="1536192" cy="256032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371 건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02920" y="3657600"/>
            <a:ext cx="11183112" cy="219456"/>
          </a:xfrm>
          <a:prstGeom prst="rect">
            <a:avLst/>
          </a:prstGeom>
          <a:solidFill>
            <a:srgbClr val="ECEFE4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76072" y="3657600"/>
            <a:ext cx="1109167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C3A2C"/>
                </a:solidFill>
                <a:latin typeface="맑은 고딕"/>
                <a:ea typeface="맑은 고딕"/>
              </a:rPr>
              <a:t>■ 콘텐츠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02920" y="3877056"/>
            <a:ext cx="25146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6072" y="3877056"/>
            <a:ext cx="242316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EGC 콘텐츠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A8A86"/>
                </a:solidFill>
                <a:latin typeface="맑은 고딕"/>
                <a:ea typeface="맑은 고딕"/>
              </a:rPr>
              <a:t>500,000원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3017520" y="3877056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017520" y="387705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206240" y="3877056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206240" y="387705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394960" y="3877056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5394960" y="387705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583680" y="3877056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583680" y="387705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772400" y="3877056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772400" y="387705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8961120" y="3877056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8961120" y="387705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0149840" y="3877056"/>
            <a:ext cx="1536192" cy="219456"/>
          </a:xfrm>
          <a:prstGeom prst="rect">
            <a:avLst/>
          </a:prstGeom>
          <a:solidFill>
            <a:srgbClr val="F2F4EC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0149840" y="3877056"/>
            <a:ext cx="153619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맑은 고딕"/>
                <a:ea typeface="맑은 고딕"/>
              </a:rPr>
              <a:t>120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02920" y="4096512"/>
            <a:ext cx="25146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576072" y="4096512"/>
            <a:ext cx="242316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Half EGC 콘텐츠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A8A86"/>
                </a:solidFill>
                <a:latin typeface="맑은 고딕"/>
                <a:ea typeface="맑은 고딕"/>
              </a:rPr>
              <a:t>750,000원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017520" y="4096512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3017520" y="409651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4206240" y="4096512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206240" y="409651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394960" y="4096512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5394960" y="409651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583680" y="4096512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583680" y="409651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7772400" y="4096512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7772400" y="409651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961120" y="4096512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961120" y="409651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0149840" y="4096512"/>
            <a:ext cx="1536192" cy="219456"/>
          </a:xfrm>
          <a:prstGeom prst="rect">
            <a:avLst/>
          </a:prstGeom>
          <a:solidFill>
            <a:srgbClr val="F2F4EC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149840" y="4096512"/>
            <a:ext cx="153619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맑은 고딕"/>
                <a:ea typeface="맑은 고딕"/>
              </a:rPr>
              <a:t>24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02920" y="4315968"/>
            <a:ext cx="25146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576072" y="4315968"/>
            <a:ext cx="242316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콘텐츠 제작 (KV·디자인·영상)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A8A86"/>
                </a:solidFill>
                <a:latin typeface="맑은 고딕"/>
                <a:ea typeface="맑은 고딕"/>
              </a:rPr>
              <a:t>1,000,000원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3017520" y="4315968"/>
            <a:ext cx="1188720" cy="219456"/>
          </a:xfrm>
          <a:prstGeom prst="rect">
            <a:avLst/>
          </a:prstGeom>
          <a:solidFill>
            <a:srgbClr val="6E6E6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3017520" y="4315968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</a:rPr>
              <a:t>●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4206240" y="4315968"/>
            <a:ext cx="1188720" cy="219456"/>
          </a:xfrm>
          <a:prstGeom prst="rect">
            <a:avLst/>
          </a:prstGeom>
          <a:solidFill>
            <a:srgbClr val="6E6E6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4206240" y="4315968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</a:rPr>
              <a:t>●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5394960" y="4315968"/>
            <a:ext cx="1188720" cy="219456"/>
          </a:xfrm>
          <a:prstGeom prst="rect">
            <a:avLst/>
          </a:prstGeom>
          <a:solidFill>
            <a:srgbClr val="6E6E6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5394960" y="4315968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</a:rPr>
              <a:t>●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6583680" y="4315968"/>
            <a:ext cx="1188720" cy="219456"/>
          </a:xfrm>
          <a:prstGeom prst="rect">
            <a:avLst/>
          </a:prstGeom>
          <a:solidFill>
            <a:srgbClr val="6E6E6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6583680" y="4315968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</a:rPr>
              <a:t>●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772400" y="4315968"/>
            <a:ext cx="1188720" cy="219456"/>
          </a:xfrm>
          <a:prstGeom prst="rect">
            <a:avLst/>
          </a:prstGeom>
          <a:solidFill>
            <a:srgbClr val="6E6E6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772400" y="4315968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</a:rPr>
              <a:t>●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8961120" y="4315968"/>
            <a:ext cx="1188720" cy="219456"/>
          </a:xfrm>
          <a:prstGeom prst="rect">
            <a:avLst/>
          </a:prstGeom>
          <a:solidFill>
            <a:srgbClr val="6E6E6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8961120" y="4315968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</a:rPr>
              <a:t>●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10149840" y="4315968"/>
            <a:ext cx="1536192" cy="219456"/>
          </a:xfrm>
          <a:prstGeom prst="rect">
            <a:avLst/>
          </a:prstGeom>
          <a:solidFill>
            <a:srgbClr val="F2F4EC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0149840" y="4315968"/>
            <a:ext cx="153619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맑은 고딕"/>
                <a:ea typeface="맑은 고딕"/>
              </a:rPr>
              <a:t>6 (상시)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502920" y="4535424"/>
            <a:ext cx="11183112" cy="219456"/>
          </a:xfrm>
          <a:prstGeom prst="rect">
            <a:avLst/>
          </a:prstGeom>
          <a:solidFill>
            <a:srgbClr val="ECEFE4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576072" y="4535424"/>
            <a:ext cx="1109167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C3A2C"/>
                </a:solidFill>
                <a:latin typeface="맑은 고딕"/>
                <a:ea typeface="맑은 고딕"/>
              </a:rPr>
              <a:t>■ 바이럴 · 전환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502920" y="4754880"/>
            <a:ext cx="25146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576072" y="4754880"/>
            <a:ext cx="242316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파워페이지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A8A86"/>
                </a:solidFill>
                <a:latin typeface="맑은 고딕"/>
                <a:ea typeface="맑은 고딕"/>
              </a:rPr>
              <a:t>750,000원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3017520" y="4754880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3017520" y="4754880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4206240" y="4754880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4206240" y="4754880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394960" y="4754880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5394960" y="4754880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6583680" y="4754880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583680" y="4754880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772400" y="4754880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772400" y="4754880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8961120" y="4754880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8961120" y="4754880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10149840" y="4754880"/>
            <a:ext cx="1536192" cy="219456"/>
          </a:xfrm>
          <a:prstGeom prst="rect">
            <a:avLst/>
          </a:prstGeom>
          <a:solidFill>
            <a:srgbClr val="F2F4EC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10149840" y="4754880"/>
            <a:ext cx="153619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502920" y="4974336"/>
            <a:ext cx="25146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576072" y="4974336"/>
            <a:ext cx="242316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커뮤니티 체험단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A8A86"/>
                </a:solidFill>
                <a:latin typeface="맑은 고딕"/>
                <a:ea typeface="맑은 고딕"/>
              </a:rPr>
              <a:t>4,300,000원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3017520" y="4974336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3017520" y="497433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4206240" y="4974336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4206240" y="497433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394960" y="4974336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5394960" y="497433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6583680" y="4974336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6583680" y="497433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7772400" y="4974336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7772400" y="497433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8961120" y="4974336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8961120" y="4974336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10149840" y="4974336"/>
            <a:ext cx="1536192" cy="219456"/>
          </a:xfrm>
          <a:prstGeom prst="rect">
            <a:avLst/>
          </a:prstGeom>
          <a:solidFill>
            <a:srgbClr val="F2F4EC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10149840" y="4974336"/>
            <a:ext cx="153619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502920" y="5193792"/>
            <a:ext cx="25146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576072" y="5193792"/>
            <a:ext cx="242316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챌린저스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A8A86"/>
                </a:solidFill>
                <a:latin typeface="맑은 고딕"/>
                <a:ea typeface="맑은 고딕"/>
              </a:rPr>
              <a:t>4,800,000원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3017520" y="5193792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3017520" y="519379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4206240" y="5193792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4206240" y="519379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5394960" y="5193792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5394960" y="519379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6583680" y="5193792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6583680" y="519379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7772400" y="5193792"/>
            <a:ext cx="1188720" cy="219456"/>
          </a:xfrm>
          <a:prstGeom prst="rect">
            <a:avLst/>
          </a:prstGeom>
          <a:solidFill>
            <a:srgbClr val="464646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7772400" y="519379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8961120" y="5193792"/>
            <a:ext cx="1188720" cy="219456"/>
          </a:xfrm>
          <a:prstGeom prst="rect">
            <a:avLst/>
          </a:prstGeom>
          <a:solidFill>
            <a:srgbClr val="FBFBF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8961120" y="5193792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DBDB8"/>
                </a:solidFill>
                <a:latin typeface="맑은 고딕"/>
                <a:ea typeface="맑은 고딕"/>
              </a:rPr>
              <a:t>-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10149840" y="5193792"/>
            <a:ext cx="1536192" cy="219456"/>
          </a:xfrm>
          <a:prstGeom prst="rect">
            <a:avLst/>
          </a:prstGeom>
          <a:solidFill>
            <a:srgbClr val="F2F4EC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10149840" y="5193792"/>
            <a:ext cx="153619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502920" y="5413248"/>
            <a:ext cx="11183112" cy="219456"/>
          </a:xfrm>
          <a:prstGeom prst="rect">
            <a:avLst/>
          </a:prstGeom>
          <a:solidFill>
            <a:srgbClr val="ECEFE4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576072" y="5413248"/>
            <a:ext cx="1109167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C3A2C"/>
                </a:solidFill>
                <a:latin typeface="맑은 고딕"/>
                <a:ea typeface="맑은 고딕"/>
              </a:rPr>
              <a:t>■ 솔루션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502920" y="5632704"/>
            <a:ext cx="25146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576072" y="5632704"/>
            <a:ext cx="242316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스프레이ai 솔루션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A8A86"/>
                </a:solidFill>
                <a:latin typeface="맑은 고딕"/>
                <a:ea typeface="맑은 고딕"/>
              </a:rPr>
              <a:t>23,333원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3017520" y="5632704"/>
            <a:ext cx="1188720" cy="219456"/>
          </a:xfrm>
          <a:prstGeom prst="rect">
            <a:avLst/>
          </a:prstGeom>
          <a:solidFill>
            <a:srgbClr val="6E6E6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3017520" y="5632704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</a:rPr>
              <a:t>●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4206240" y="5632704"/>
            <a:ext cx="1188720" cy="219456"/>
          </a:xfrm>
          <a:prstGeom prst="rect">
            <a:avLst/>
          </a:prstGeom>
          <a:solidFill>
            <a:srgbClr val="6E6E6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4206240" y="5632704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</a:rPr>
              <a:t>●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5394960" y="5632704"/>
            <a:ext cx="1188720" cy="219456"/>
          </a:xfrm>
          <a:prstGeom prst="rect">
            <a:avLst/>
          </a:prstGeom>
          <a:solidFill>
            <a:srgbClr val="6E6E6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5394960" y="5632704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</a:rPr>
              <a:t>●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6583680" y="5632704"/>
            <a:ext cx="1188720" cy="219456"/>
          </a:xfrm>
          <a:prstGeom prst="rect">
            <a:avLst/>
          </a:prstGeom>
          <a:solidFill>
            <a:srgbClr val="6E6E6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6583680" y="5632704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</a:rPr>
              <a:t>●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772400" y="5632704"/>
            <a:ext cx="1188720" cy="219456"/>
          </a:xfrm>
          <a:prstGeom prst="rect">
            <a:avLst/>
          </a:prstGeom>
          <a:solidFill>
            <a:srgbClr val="6E6E6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7772400" y="5632704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</a:rPr>
              <a:t>●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8961120" y="5632704"/>
            <a:ext cx="1188720" cy="219456"/>
          </a:xfrm>
          <a:prstGeom prst="rect">
            <a:avLst/>
          </a:prstGeom>
          <a:solidFill>
            <a:srgbClr val="6E6E6A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8961120" y="5632704"/>
            <a:ext cx="1188720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</a:rPr>
              <a:t>●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149840" y="5632704"/>
            <a:ext cx="1536192" cy="219456"/>
          </a:xfrm>
          <a:prstGeom prst="rect">
            <a:avLst/>
          </a:prstGeom>
          <a:solidFill>
            <a:srgbClr val="F2F4EC"/>
          </a:solidFill>
          <a:ln w="6350">
            <a:solidFill>
              <a:srgbClr val="D2D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149840" y="5632704"/>
            <a:ext cx="1536192" cy="21945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맑은 고딕"/>
                <a:ea typeface="맑은 고딕"/>
              </a:rPr>
              <a:t>6 (상시)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502920" y="5897880"/>
            <a:ext cx="2514600" cy="402336"/>
          </a:xfrm>
          <a:prstGeom prst="rect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502920" y="5897880"/>
            <a:ext cx="2423160" cy="40233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월 예산 비중 / 금액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3017520" y="5897880"/>
            <a:ext cx="1188720" cy="402336"/>
          </a:xfrm>
          <a:prstGeom prst="rect">
            <a:avLst/>
          </a:prstGeom>
          <a:solidFill>
            <a:srgbClr val="676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3017520" y="5897880"/>
            <a:ext cx="1188720" cy="40233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12%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ADAD6"/>
                </a:solidFill>
                <a:latin typeface="맑은 고딕"/>
                <a:ea typeface="맑은 고딕"/>
              </a:rPr>
              <a:t>2,894만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4206240" y="5897880"/>
            <a:ext cx="1188720" cy="402336"/>
          </a:xfrm>
          <a:prstGeom prst="rect">
            <a:avLst/>
          </a:prstGeom>
          <a:solidFill>
            <a:srgbClr val="57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4206240" y="5897880"/>
            <a:ext cx="1188720" cy="40233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23%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ADAD6"/>
                </a:solidFill>
                <a:latin typeface="맑은 고딕"/>
                <a:ea typeface="맑은 고딕"/>
              </a:rPr>
              <a:t>5,714만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5394960" y="5897880"/>
            <a:ext cx="1188720" cy="402336"/>
          </a:xfrm>
          <a:prstGeom prst="rect">
            <a:avLst/>
          </a:prstGeom>
          <a:solidFill>
            <a:srgbClr val="676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5394960" y="5897880"/>
            <a:ext cx="1188720" cy="40233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12%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ADAD6"/>
                </a:solidFill>
                <a:latin typeface="맑은 고딕"/>
                <a:ea typeface="맑은 고딕"/>
              </a:rPr>
              <a:t>3,116만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6583680" y="5897880"/>
            <a:ext cx="1188720" cy="402336"/>
          </a:xfrm>
          <a:prstGeom prst="rect">
            <a:avLst/>
          </a:prstGeom>
          <a:solidFill>
            <a:srgbClr val="676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6583680" y="5897880"/>
            <a:ext cx="1188720" cy="40233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12%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ADAD6"/>
                </a:solidFill>
                <a:latin typeface="맑은 고딕"/>
                <a:ea typeface="맑은 고딕"/>
              </a:rPr>
              <a:t>2,894만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7772400" y="5897880"/>
            <a:ext cx="1188720" cy="40233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7772400" y="5897880"/>
            <a:ext cx="1188720" cy="40233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22%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ADAD6"/>
                </a:solidFill>
                <a:latin typeface="맑은 고딕"/>
                <a:ea typeface="맑은 고딕"/>
              </a:rPr>
              <a:t>5,576만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8961120" y="5897880"/>
            <a:ext cx="1188720" cy="402336"/>
          </a:xfrm>
          <a:prstGeom prst="rect">
            <a:avLst/>
          </a:prstGeom>
          <a:solidFill>
            <a:srgbClr val="5D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8961120" y="5897880"/>
            <a:ext cx="1188720" cy="40233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19%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ADAD6"/>
                </a:solidFill>
                <a:latin typeface="맑은 고딕"/>
                <a:ea typeface="맑은 고딕"/>
              </a:rPr>
              <a:t>4,804만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10149840" y="5897880"/>
            <a:ext cx="1536192" cy="402336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10149840" y="5897880"/>
            <a:ext cx="1536192" cy="402336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100% · 2.5억</a:t>
            </a:r>
          </a:p>
        </p:txBody>
      </p:sp>
      <p:cxnSp>
        <p:nvCxnSpPr>
          <p:cNvPr id="288" name="Connector 287"/>
          <p:cNvCxnSpPr/>
          <p:nvPr/>
        </p:nvCxnSpPr>
        <p:spPr>
          <a:xfrm>
            <a:off x="6583680" y="950976"/>
            <a:ext cx="0" cy="5349240"/>
          </a:xfrm>
          <a:prstGeom prst="line">
            <a:avLst/>
          </a:prstGeom>
          <a:ln w="17780">
            <a:solidFill>
              <a:srgbClr val="B5B5B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/>
          <p:cNvSpPr txBox="1"/>
          <p:nvPr/>
        </p:nvSpPr>
        <p:spPr>
          <a:xfrm>
            <a:off x="502920" y="6391656"/>
            <a:ext cx="6400800" cy="274320"/>
          </a:xfrm>
          <a:prstGeom prst="rect">
            <a:avLst/>
          </a:prstGeom>
          <a:noFill/>
        </p:spPr>
        <p:txBody>
          <a:bodyPr wrap="none" anchor="ctr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5"/>
                </a:solidFill>
                <a:latin typeface="맑은 고딕"/>
                <a:ea typeface="맑은 고딕"/>
              </a:rPr>
              <a:t>총 견적 250,000,000원 (VAT 별도)  ·  건당 비용은 집행 단가 기준  ·  © 2026 BAT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