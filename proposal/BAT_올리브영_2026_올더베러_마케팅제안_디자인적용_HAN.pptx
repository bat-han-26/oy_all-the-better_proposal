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2"/>
  </p:notesMasterIdLst>
  <p:sldIdLst>
    <p:sldId id="298" r:id="rId5"/>
    <p:sldId id="477" r:id="rId6"/>
    <p:sldId id="278" r:id="rId7"/>
    <p:sldId id="279" r:id="rId8"/>
    <p:sldId id="339" r:id="rId9"/>
    <p:sldId id="316" r:id="rId10"/>
    <p:sldId id="317" r:id="rId11"/>
    <p:sldId id="260" r:id="rId12"/>
    <p:sldId id="320" r:id="rId13"/>
    <p:sldId id="261" r:id="rId14"/>
    <p:sldId id="269" r:id="rId15"/>
    <p:sldId id="271" r:id="rId16"/>
    <p:sldId id="323" r:id="rId17"/>
    <p:sldId id="318" r:id="rId18"/>
    <p:sldId id="264" r:id="rId19"/>
    <p:sldId id="265" r:id="rId20"/>
    <p:sldId id="285" r:id="rId21"/>
    <p:sldId id="256" r:id="rId22"/>
    <p:sldId id="257" r:id="rId23"/>
    <p:sldId id="258" r:id="rId24"/>
    <p:sldId id="259" r:id="rId25"/>
    <p:sldId id="289" r:id="rId26"/>
    <p:sldId id="492" r:id="rId27"/>
    <p:sldId id="301" r:id="rId28"/>
    <p:sldId id="325" r:id="rId29"/>
    <p:sldId id="327" r:id="rId30"/>
    <p:sldId id="328" r:id="rId31"/>
    <p:sldId id="329" r:id="rId32"/>
    <p:sldId id="330" r:id="rId33"/>
    <p:sldId id="332" r:id="rId34"/>
    <p:sldId id="333" r:id="rId35"/>
    <p:sldId id="334" r:id="rId36"/>
    <p:sldId id="335" r:id="rId37"/>
    <p:sldId id="656" r:id="rId38"/>
    <p:sldId id="308" r:id="rId39"/>
    <p:sldId id="309" r:id="rId40"/>
    <p:sldId id="310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트로" id="{CDC2933B-DC49-4A06-8EE3-121644AAF5AB}">
          <p14:sldIdLst/>
        </p14:section>
        <p14:section name="마케팅 전략" id="{9A463C78-8A43-4488-9CF2-A5394164C7BA}">
          <p14:sldIdLst>
            <p14:sldId id="298"/>
          </p14:sldIdLst>
        </p14:section>
        <p14:section name="제품/메시지" id="{4C2FBB78-55B6-4239-86F3-D1FB6D3C14D1}">
          <p14:sldIdLst/>
        </p14:section>
        <p14:section name="시딩 콘텐츠" id="{C9C34570-2290-4482-9E21-5AC925D33EA9}">
          <p14:sldIdLst>
            <p14:sldId id="477"/>
            <p14:sldId id="278"/>
            <p14:sldId id="279"/>
            <p14:sldId id="339"/>
            <p14:sldId id="316"/>
            <p14:sldId id="317"/>
            <p14:sldId id="260"/>
            <p14:sldId id="320"/>
            <p14:sldId id="261"/>
            <p14:sldId id="269"/>
            <p14:sldId id="271"/>
            <p14:sldId id="323"/>
            <p14:sldId id="318"/>
            <p14:sldId id="264"/>
            <p14:sldId id="265"/>
          </p14:sldIdLst>
        </p14:section>
        <p14:section name="제목 없는 구역" id="{47AF6C90-DAB4-489C-8EB8-52136BDD03B2}">
          <p14:sldIdLst>
            <p14:sldId id="285"/>
            <p14:sldId id="256"/>
            <p14:sldId id="257"/>
            <p14:sldId id="258"/>
            <p14:sldId id="259"/>
            <p14:sldId id="289"/>
          </p14:sldIdLst>
        </p14:section>
        <p14:section name="퍼포먼스" id="{35C3748E-EDAA-4A66-9CEA-B432456A603C}">
          <p14:sldIdLst/>
        </p14:section>
        <p14:section name="캠페인 운영" id="{42D8A704-7E9A-42E1-875C-DAE71B83BA96}">
          <p14:sldIdLst>
            <p14:sldId id="492"/>
            <p14:sldId id="301"/>
            <p14:sldId id="325"/>
            <p14:sldId id="327"/>
            <p14:sldId id="328"/>
            <p14:sldId id="329"/>
            <p14:sldId id="330"/>
            <p14:sldId id="332"/>
            <p14:sldId id="333"/>
            <p14:sldId id="334"/>
            <p14:sldId id="335"/>
            <p14:sldId id="656"/>
            <p14:sldId id="308"/>
            <p14:sldId id="309"/>
            <p14:sldId id="310"/>
          </p14:sldIdLst>
        </p14:section>
        <p14:section name="BAT" id="{16FF30FD-B2BA-4FAC-807D-A972B58A6293}">
          <p14:sldIdLst/>
        </p14:section>
        <p14:section name="참고" id="{356D1AA8-4C46-49F4-8591-6CC421A77344}">
          <p14:sldIdLst/>
        </p14:section>
        <p14:section name="프레임" id="{3C9A946F-9589-479B-B5CC-691C667C751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A1"/>
    <a:srgbClr val="181800"/>
    <a:srgbClr val="A9E5E6"/>
    <a:srgbClr val="3AB8B4"/>
    <a:srgbClr val="5FD0CE"/>
    <a:srgbClr val="3BB9B5"/>
    <a:srgbClr val="C5EDDE"/>
    <a:srgbClr val="67D3AF"/>
    <a:srgbClr val="E1F4EE"/>
    <a:srgbClr val="2BA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F91B6-634C-38FC-AF5B-6594D1E385E6}" v="185" dt="2026-06-15T01:30:59.018"/>
    <p1510:client id="{3847A32F-0FA1-4441-B505-A451A9F777DC}" v="228" dt="2026-06-15T05:41:22.912"/>
    <p1510:client id="{4DD4FB08-4975-79BC-D48B-E864451E8A59}" v="2" dt="2026-06-15T04:31:16.804"/>
    <p1510:client id="{B98B7805-3BA1-C853-0501-DF3D16257B00}" v="2" dt="2026-06-15T01:45:06.111"/>
    <p1510:client id="{BA11F741-A463-3FF7-54F6-F469425BEA4F}" v="37" dt="2026-06-15T05:46:40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6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D797E-8482-47D8-8C36-A31AEA2F947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2A84A-51BF-48EE-974E-BD62FEF88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16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2A84A-51BF-48EE-974E-BD62FEF88C7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7883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CA2C0B-1CF7-3152-677D-64E1F82DAD5A}"/>
              </a:ext>
            </a:extLst>
          </p:cNvPr>
          <p:cNvSpPr/>
          <p:nvPr userDrawn="1"/>
        </p:nvSpPr>
        <p:spPr>
          <a:xfrm>
            <a:off x="1" y="0"/>
            <a:ext cx="12192000" cy="402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59DECF83-A097-D12F-A4A0-5369E6ED9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8A67272-F957-1820-4F58-902342F7F3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90D9C8BB-B2EC-13E1-870B-E1A4B606D1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120" y="77549"/>
            <a:ext cx="3021914" cy="2472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spc="-100" baseline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lvl="0"/>
            <a:r>
              <a:rPr lang="ko-KR" altLang="en-US"/>
              <a:t>파트 대분류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4CD22-2778-0E52-0347-82EE0F1A5BBE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752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1">
    <p:bg>
      <p:bgPr>
        <a:solidFill>
          <a:schemeClr val="accent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AB20E-110B-30D8-84FB-47A3C3FCA99D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10" name="제목 11">
            <a:extLst>
              <a:ext uri="{FF2B5EF4-FFF2-40B4-BE49-F238E27FC236}">
                <a16:creationId xmlns:a16="http://schemas.microsoft.com/office/drawing/2014/main" id="{456745D3-8559-EE11-F83E-5331979444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11" name="텍스트 개체 틀 13">
            <a:extLst>
              <a:ext uri="{FF2B5EF4-FFF2-40B4-BE49-F238E27FC236}">
                <a16:creationId xmlns:a16="http://schemas.microsoft.com/office/drawing/2014/main" id="{256F6B9E-B0FB-E026-F20C-4499E18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131621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2">
    <p:bg>
      <p:bgPr>
        <a:solidFill>
          <a:srgbClr val="181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6AA7F-EEDF-CB32-AA44-8036329C1B73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11">
            <a:extLst>
              <a:ext uri="{FF2B5EF4-FFF2-40B4-BE49-F238E27FC236}">
                <a16:creationId xmlns:a16="http://schemas.microsoft.com/office/drawing/2014/main" id="{0C6A4340-8D28-CC1E-37FD-E30C730C9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5" name="텍스트 개체 틀 13">
            <a:extLst>
              <a:ext uri="{FF2B5EF4-FFF2-40B4-BE49-F238E27FC236}">
                <a16:creationId xmlns:a16="http://schemas.microsoft.com/office/drawing/2014/main" id="{A807FC09-FB26-5E13-EED7-40D29A301B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bg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397847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파트 간지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5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pPr lvl="0"/>
            <a:r>
              <a:rPr lang="en-US" altLang="ko-KR">
                <a:solidFill>
                  <a:schemeClr val="tx1"/>
                </a:solidFill>
              </a:rPr>
              <a:t>© 2026 BAT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21E609F5-977E-62B1-02D1-BEE69FB22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1" y="558546"/>
            <a:ext cx="11432418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00</a:t>
            </a:r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13294B8B-A910-ED84-E7EA-0EB3A3103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1" y="1140714"/>
            <a:ext cx="11432418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파트 간지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490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간 간지"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tx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tx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09D671FE-32E7-4C73-92CB-38A56864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0" y="558546"/>
            <a:ext cx="11520000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00-0</a:t>
            </a:r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CEAB5840-D80A-AD95-7E6F-2103827D40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140714"/>
            <a:ext cx="11520000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파트 중간 간지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852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595045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331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79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93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FF248DFB-A779-F828-0ADF-1408809F6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B63D27-D70F-CD4C-A780-7C9AFE4B4AF1}"/>
              </a:ext>
            </a:extLst>
          </p:cNvPr>
          <p:cNvSpPr/>
          <p:nvPr userDrawn="1"/>
        </p:nvSpPr>
        <p:spPr>
          <a:xfrm>
            <a:off x="-740269" y="0"/>
            <a:ext cx="606582" cy="651849"/>
          </a:xfrm>
          <a:prstGeom prst="rect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2DC411-CC4C-2984-192E-DACFBE70243D}"/>
              </a:ext>
            </a:extLst>
          </p:cNvPr>
          <p:cNvSpPr/>
          <p:nvPr userDrawn="1"/>
        </p:nvSpPr>
        <p:spPr>
          <a:xfrm>
            <a:off x="-740269" y="732451"/>
            <a:ext cx="606582" cy="651849"/>
          </a:xfrm>
          <a:prstGeom prst="rect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90334-042E-4A19-114F-7CCF3F9D7929}"/>
              </a:ext>
            </a:extLst>
          </p:cNvPr>
          <p:cNvSpPr txBox="1"/>
          <p:nvPr userDrawn="1"/>
        </p:nvSpPr>
        <p:spPr>
          <a:xfrm>
            <a:off x="-1892300" y="138152"/>
            <a:ext cx="115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메인 컬러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46ABD-148F-8CB0-A552-FE5CDE89BEBE}"/>
              </a:ext>
            </a:extLst>
          </p:cNvPr>
          <p:cNvSpPr txBox="1"/>
          <p:nvPr userDrawn="1"/>
        </p:nvSpPr>
        <p:spPr>
          <a:xfrm>
            <a:off x="-2552700" y="870603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err="1"/>
              <a:t>강조색</a:t>
            </a:r>
            <a:r>
              <a:rPr lang="ko-KR" altLang="en-US" b="1" spc="-100" baseline="0"/>
              <a:t> </a:t>
            </a:r>
            <a:r>
              <a:rPr lang="en-US" altLang="ko-KR" b="1" spc="-100" baseline="0"/>
              <a:t>1</a:t>
            </a:r>
            <a:endParaRPr lang="ko-KR" altLang="en-US" b="1" spc="-100" baseline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A52FAA-C21E-96AA-F623-4B5188D44061}"/>
              </a:ext>
            </a:extLst>
          </p:cNvPr>
          <p:cNvSpPr/>
          <p:nvPr userDrawn="1"/>
        </p:nvSpPr>
        <p:spPr>
          <a:xfrm>
            <a:off x="-740269" y="2195816"/>
            <a:ext cx="606582" cy="651849"/>
          </a:xfrm>
          <a:prstGeom prst="rect">
            <a:avLst/>
          </a:prstGeom>
          <a:solidFill>
            <a:srgbClr val="8D9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E6636-B775-30F8-A977-9DFA075A7F70}"/>
              </a:ext>
            </a:extLst>
          </p:cNvPr>
          <p:cNvSpPr txBox="1"/>
          <p:nvPr userDrawn="1"/>
        </p:nvSpPr>
        <p:spPr>
          <a:xfrm>
            <a:off x="-2552700" y="3063312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2</a:t>
            </a:r>
            <a:endParaRPr lang="ko-KR" altLang="en-US" b="1" spc="-100" baseline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DD12B2-AAA2-EAA0-46BC-05319F59DD46}"/>
              </a:ext>
            </a:extLst>
          </p:cNvPr>
          <p:cNvSpPr/>
          <p:nvPr userDrawn="1"/>
        </p:nvSpPr>
        <p:spPr>
          <a:xfrm>
            <a:off x="-740269" y="2922054"/>
            <a:ext cx="606582" cy="651849"/>
          </a:xfrm>
          <a:prstGeom prst="rect">
            <a:avLst/>
          </a:prstGeom>
          <a:solidFill>
            <a:srgbClr val="C5C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D5E3B4-3866-AD63-078B-B0CEE0108FE8}"/>
              </a:ext>
            </a:extLst>
          </p:cNvPr>
          <p:cNvSpPr/>
          <p:nvPr userDrawn="1"/>
        </p:nvSpPr>
        <p:spPr>
          <a:xfrm>
            <a:off x="-740269" y="3648292"/>
            <a:ext cx="606582" cy="651849"/>
          </a:xfrm>
          <a:prstGeom prst="rect">
            <a:avLst/>
          </a:prstGeom>
          <a:solidFill>
            <a:srgbClr val="F3C8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5E374B-C6E8-B5CF-1802-3E61CF593DC7}"/>
              </a:ext>
            </a:extLst>
          </p:cNvPr>
          <p:cNvSpPr/>
          <p:nvPr userDrawn="1"/>
        </p:nvSpPr>
        <p:spPr>
          <a:xfrm>
            <a:off x="-740269" y="1467240"/>
            <a:ext cx="606582" cy="651849"/>
          </a:xfrm>
          <a:prstGeom prst="rect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8CB44-8E9E-71E6-4416-5734346AF094}"/>
              </a:ext>
            </a:extLst>
          </p:cNvPr>
          <p:cNvSpPr txBox="1"/>
          <p:nvPr userDrawn="1"/>
        </p:nvSpPr>
        <p:spPr>
          <a:xfrm>
            <a:off x="-2552700" y="160849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err="1"/>
              <a:t>강조색</a:t>
            </a:r>
            <a:r>
              <a:rPr lang="ko-KR" altLang="en-US" b="1" spc="-100" baseline="0"/>
              <a:t> </a:t>
            </a:r>
            <a:r>
              <a:rPr lang="en-US" altLang="ko-KR" b="1" spc="-100" baseline="0"/>
              <a:t>2</a:t>
            </a:r>
            <a:endParaRPr lang="ko-KR" altLang="en-US" b="1" spc="-100" baseline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F665C-9CA0-99C9-2CE8-997778F73B04}"/>
              </a:ext>
            </a:extLst>
          </p:cNvPr>
          <p:cNvSpPr txBox="1"/>
          <p:nvPr userDrawn="1"/>
        </p:nvSpPr>
        <p:spPr>
          <a:xfrm>
            <a:off x="-2552700" y="2337074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1</a:t>
            </a:r>
            <a:endParaRPr lang="ko-KR" altLang="en-US" b="1" spc="-100" baseline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DD40A-BCF8-2983-5BD8-28EE4075CC30}"/>
              </a:ext>
            </a:extLst>
          </p:cNvPr>
          <p:cNvSpPr txBox="1"/>
          <p:nvPr userDrawn="1"/>
        </p:nvSpPr>
        <p:spPr>
          <a:xfrm>
            <a:off x="-2552700" y="379034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3</a:t>
            </a:r>
            <a:endParaRPr lang="ko-KR" altLang="en-US" b="1" spc="-100" baseline="0"/>
          </a:p>
        </p:txBody>
      </p:sp>
    </p:spTree>
    <p:extLst>
      <p:ext uri="{BB962C8B-B14F-4D97-AF65-F5344CB8AC3E}">
        <p14:creationId xmlns:p14="http://schemas.microsoft.com/office/powerpoint/2010/main" val="338632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8" r:id="rId4"/>
    <p:sldLayoutId id="2147483669" r:id="rId5"/>
    <p:sldLayoutId id="2147483662" r:id="rId6"/>
    <p:sldLayoutId id="2147483667" r:id="rId7"/>
    <p:sldLayoutId id="2147483732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3C8B7"/>
          </p15:clr>
        </p15:guide>
        <p15:guide id="2" pos="3840" userDrawn="1">
          <p15:clr>
            <a:srgbClr val="F3C8B7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6730DB-B937-49BD-223E-319D5EEED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411078-1D5D-F928-06E3-19A4618B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올리브영 </a:t>
            </a:r>
            <a:r>
              <a:rPr lang="en-US" altLang="ko-KR" dirty="0" spc="-100">
                <a:latin typeface="Pretendard"/>
                <a:cs typeface="Pretendard"/>
                <a:ea typeface="Pretendard"/>
              </a:rPr>
              <a:t>1</a:t>
            </a:r>
            <a:r>
              <a:rPr lang="ko-KR" altLang="en-US" dirty="0" spc="-100">
                <a:latin typeface="Pretendard"/>
                <a:cs typeface="Pretendard"/>
                <a:ea typeface="Pretendard"/>
              </a:rPr>
              <a:t>등 달성 케이스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FAE3E4-E33D-0144-5E74-3949CD4F8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289663"/>
            <a:ext cx="11338560" cy="2026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우리가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올리브영에서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직접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만든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성과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—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매체·데이터·크리에이티브·시딩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역량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성공 방식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모두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</a:t>
            </a:r>
            <a:r>
              <a:rPr kumimoji="0" 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캠페인 이식</a:t>
            </a:r>
            <a:endParaRPr kumimoji="0" sz="1150" b="0" i="0" u="none" strike="noStrike" kern="1200" cap="none" spc="0" normalizeH="0" baseline="0" noProof="0">
              <a:ln>
                <a:noFill/>
              </a:ln>
              <a:solidFill>
                <a:srgbClr val="78787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504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매체 · 퍼포먼스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 운영·타겟·IP 매체로 ROAS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95728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2487168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메타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CPM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위기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대응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고CPM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OFF→구매잠재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기프트카드·쿠폰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어드밴티지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재구성</a:t>
            </a:r>
            <a:endParaRPr kumimoji="0" sz="860" b="0" i="0" u="none" strike="noStrike" kern="1200" cap="none" spc="0" normalizeH="0" baseline="0" noProof="0">
              <a:ln>
                <a:noFill/>
              </a:ln>
              <a:solidFill>
                <a:srgbClr val="78787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3212592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12592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" y="3249168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CPM 210,158→12,033원 · ROAS 324→515%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79519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" y="3870959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 사전 캠페인 목표 검증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장바구니 vs 구매 목표 동시 운영·연계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96384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596384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3504" y="4632960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본행사 장바구니 ROAS 1,180% vs 구매 699%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3312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" y="5254751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IP·모델 맞춤 매체 발굴 (브링그린·컬러그램)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X 커스텀라이크+GFA / 인스티즈 신규 발굴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3504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검색 9K→140K(15배) · 인스티즈 노출 733만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47288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데이터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리뷰·VOC를 직접 수집·분석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47288" y="2487168"/>
            <a:ext cx="2432304" cy="3474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올리브영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VOC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리뷰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크롤링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리포트</a:t>
            </a:r>
            <a:endParaRPr kumimoji="0" sz="115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기존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리스닝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툴로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구매자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리뷰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맥락·진정성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파악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한계</a:t>
            </a:r>
            <a:endParaRPr kumimoji="0" sz="930" b="0" i="0" u="none" strike="noStrike" kern="1200" cap="none" spc="0" normalizeH="0" baseline="0" noProof="0">
              <a:ln>
                <a:noFill/>
              </a:ln>
              <a:solidFill>
                <a:srgbClr val="373734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파이썬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크롤러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자체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개발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+ R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빈도·키워드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분석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‘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상황·목적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’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중심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분류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→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검색·SNS·리뷰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연계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종합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리포트</a:t>
            </a:r>
            <a:endParaRPr kumimoji="0" sz="930" b="0" i="0" u="none" strike="noStrike" kern="1200" cap="none" spc="0" normalizeH="0" baseline="0" noProof="0">
              <a:ln>
                <a:noFill/>
              </a:ln>
              <a:solidFill>
                <a:srgbClr val="373734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적용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VOC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딥다이브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대시보드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히어로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3종·리뷰 1,104건)로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이미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구현</a:t>
            </a:r>
            <a:endParaRPr kumimoji="0" sz="93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00984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00984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47288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 타 브랜드 추가 리포트 요청 연쇄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91072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크리에이티브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감도 × 성과를 잇는 소재 시스템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395728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91072" y="2487168"/>
            <a:ext cx="2432304" cy="13990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‘써먹히는’ 소재 가이드 (브링그린·웨이크메이크)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감도 vs 성과 기준 모호 → 컨펌 지연·QC 혼선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목적 중심 분류(USP형/프로모션형)+비주얼 키워드화(CLEAN·COOL·DYNAMIC)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04487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44768" y="3904487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91072" y="3941063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빅&amp;스몰웨이브 실행 구조로 정착·내부 공유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471416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1072" y="4562856"/>
            <a:ext cx="2432304" cy="13990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웨이크메이크 산리오 콜라보 스프레이AI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3~40개 브랜드 동시 콜라보·색조 경쟁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맞춤 크리에이터+스프레이AI·메타 파트너십·틱톡 미러링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44768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1072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파트너십 ROAS 127→356→589% · CPC -38%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8552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34856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인플루언서 · 시딩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맞춤 크리에이터·시딩으로 바이럴·전환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8552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34856" y="2487168"/>
            <a:ext cx="2432304" cy="3474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바이오힐 보(US) 시딩 콘텐츠 기획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B&amp;A 컷 확보 불가(인플 대부분 20대)·짧은 일정 내 바이럴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‘노인 필터’ 역발상+감정 트리거 자막, 나노 인플·실시간 QC·부정댓글 모니터링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 적용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 마이크로/나노 시딩 앵글·역발상 훅 설계에 적용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8552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988552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34856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틱톡 75만 뷰 · CPV 3원(업계 1/5) · 공유 601건</a:t>
            </a:r>
          </a:p>
        </p:txBody>
      </p:sp>
    </p:spTree>
    <p:extLst>
      <p:ext uri="{BB962C8B-B14F-4D97-AF65-F5344CB8AC3E}">
        <p14:creationId xmlns:p14="http://schemas.microsoft.com/office/powerpoint/2010/main" val="116258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6668AC-A608-E9EC-D3C4-6D63BEAD4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4CFDA7-042C-D14D-D2F1-D2A3682B2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03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06F3BF-6A24-C270-6A50-8773EC9015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Seeding Content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8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02_A </a:t>
            </a:r>
            <a:r>
              <a:rPr sz="12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  <a:r>
              <a:rPr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콘텐츠 </a:t>
            </a:r>
            <a:r>
              <a:rPr sz="12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프레임워크</a:t>
            </a:r>
            <a:endParaRPr sz="1250" b="1" dirty="0">
              <a:solidFill>
                <a:srgbClr val="78787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sz="27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(Flywheel)</a:t>
            </a:r>
            <a:r>
              <a:rPr lang="en-US" sz="27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endParaRPr sz="2700" b="1" dirty="0">
              <a:solidFill>
                <a:srgbClr val="14141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질량이 크거나 더 빠르게 회전할수록 더 많은 에너지를 저장하는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처럼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올더베러의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엔진은 무겁지만 강렬하게 돌아가기 시작 합니다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50" b="1" dirty="0">
              <a:solidFill>
                <a:srgbClr val="37373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889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2468880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lang="en-US"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ko-KR" sz="1200" b="0" dirty="0" err="1" spc="-100">
                <a:latin typeface="Pretendard ExtraBold"/>
                <a:cs typeface="Pretendard ExtraBold"/>
                <a:ea typeface="Pretendard ExtraBold"/>
              </a:rPr>
              <a:t>E</a:t>
            </a:r>
            <a:r>
              <a:rPr lang="ko-KR" altLang="ko-KR" sz="1200" b="0" dirty="0" spc="-100">
                <a:latin typeface="Pretendard ExtraBold"/>
                <a:cs typeface="Pretendard ExtraBold"/>
                <a:ea typeface="Pretendard ExtraBold"/>
              </a:rPr>
              <a:t>=21​Iω2</a:t>
            </a:r>
            <a:endParaRPr sz="1200" b="1" dirty="0">
              <a:solidFill>
                <a:srgbClr val="14141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2487168" cy="276998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멈춰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있는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바퀴는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처음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돌리기가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가장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무겁습니다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그러나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한번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돌기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시작하면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관성과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가속이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붙어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점점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적은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힘으로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더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빠르게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돕니다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콘텐츠도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같은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원리입니다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가장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무거운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첫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바퀴를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이미 시장에 검증된 </a:t>
            </a:r>
            <a:r>
              <a:rPr lang="ko-KR" altLang="en-US" sz="11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콘텐츠의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힘으로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밀어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돌리면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후기·신뢰·전환·재구매가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연료가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되어</a:t>
            </a:r>
            <a:r>
              <a:rPr 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더 빠르고 강력하게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가속</a:t>
            </a:r>
            <a:r>
              <a:rPr lang="ko-KR" altLang="en-US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하는</a:t>
            </a:r>
            <a:r>
              <a:rPr lang="en-US" altLang="ko-KR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멈추지 않는 성장 동력을 얻을 수 있습니다</a:t>
            </a:r>
            <a:r>
              <a:rPr lang="en-US" altLang="ko-KR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  <a:endParaRPr sz="1100" b="0" dirty="0">
              <a:solidFill>
                <a:srgbClr val="373734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468367" y="2395728"/>
            <a:ext cx="3255264" cy="3255264"/>
          </a:xfrm>
          <a:prstGeom prst="ellipse">
            <a:avLst/>
          </a:prstGeom>
          <a:noFill/>
          <a:ln w="38100">
            <a:solidFill>
              <a:srgbClr val="B0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13500000">
            <a:off x="7100605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 rot="18900000">
            <a:off x="4798786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2700000">
            <a:off x="4798786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8100000">
            <a:off x="7100605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2767" y="3310128"/>
            <a:ext cx="1426464" cy="1426464"/>
          </a:xfrm>
          <a:prstGeom prst="ellips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82767" y="3639312"/>
            <a:ext cx="1426464" cy="2718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2767" y="4059936"/>
            <a:ext cx="1426464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FLYWHEEL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1600" y="1975104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1600" y="2103120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① </a:t>
            </a:r>
            <a:r>
              <a:rPr lang="ko-KR" altLang="en-US"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endParaRPr sz="1250" b="1" dirty="0">
              <a:solidFill>
                <a:srgbClr val="14141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81600" y="2414016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콘텐츠·후기 볼륨 (첫 바퀴)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4481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4481" y="3730752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② 신뢰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4481" y="4041648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다수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반복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노출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lang="ko-KR" altLang="en-US"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각인</a:t>
            </a:r>
            <a:endParaRPr sz="950" b="1" dirty="0">
              <a:solidFill>
                <a:srgbClr val="78787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81600" y="5230368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1600" y="5358384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③ </a:t>
            </a: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전환·랭킹</a:t>
            </a:r>
            <a:endParaRPr sz="1250" b="1" dirty="0">
              <a:solidFill>
                <a:srgbClr val="14141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81600" y="5669280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위닝</a:t>
            </a:r>
            <a:r>
              <a:rPr lang="ko-KR" altLang="en-US"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소재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·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PA·올영세일</a:t>
            </a:r>
            <a:endParaRPr sz="950" b="1" dirty="0">
              <a:solidFill>
                <a:srgbClr val="78787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58717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8717" y="3730752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④ 재구매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8717" y="4041648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후기·CRM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다음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연료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4400" y="1792224"/>
            <a:ext cx="2743200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↑ 가장 무거운 첫 바퀴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1783080"/>
            <a:ext cx="2788920" cy="4114800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68612" y="1938528"/>
            <a:ext cx="1737360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작동 원리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7803" y="2240280"/>
            <a:ext cx="2498979" cy="93268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7325" y="2331720"/>
            <a:ext cx="2498979" cy="6899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(1). </a:t>
            </a:r>
            <a:r>
              <a:rPr lang="ko-KR" alt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정지 마찰 돌파 </a:t>
            </a:r>
            <a:r>
              <a:rPr lang="en-US" altLang="ko-KR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: 7-8</a:t>
            </a:r>
            <a:r>
              <a:rPr lang="ko-KR" alt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월</a:t>
            </a:r>
            <a:endParaRPr sz="1150" b="1" dirty="0">
              <a:solidFill>
                <a:srgbClr val="FFFFFF"/>
              </a:solidFill>
            </a:endParaRPr>
          </a:p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다수 마이크로</a:t>
            </a:r>
            <a:r>
              <a:rPr lang="en-US" altLang="ko-KR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나노 </a:t>
            </a:r>
            <a:r>
              <a:rPr lang="ko-KR" altLang="en-US" sz="1000" b="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b="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시딩을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시작으로 </a:t>
            </a:r>
            <a:r>
              <a:rPr lang="en-US" altLang="ko-KR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UGC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콘텐츠 바이럴이 스프레드 되며 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‘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많이 보이는 제품으로 점화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’</a:t>
            </a:r>
            <a:endParaRPr sz="1000" b="0" dirty="0">
              <a:solidFill>
                <a:srgbClr val="E6E6DD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87803" y="3310128"/>
            <a:ext cx="2498979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7325" y="3527686"/>
            <a:ext cx="2498979" cy="49757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(2). 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관성</a:t>
            </a: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-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복리 </a:t>
            </a: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: 9-11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월</a:t>
            </a:r>
            <a:endParaRPr lang="en-US" altLang="ko-KR" sz="1100" b="1" dirty="0"/>
          </a:p>
          <a:p>
            <a:pPr algn="ctr">
              <a:spcAft>
                <a:spcPts val="200"/>
              </a:spcAft>
            </a:pP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후기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신뢰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전환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랭킹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재노출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고리가 스스로 돌고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위닝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콘텐츠를 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PA,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인앱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AD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등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재투입</a:t>
            </a:r>
            <a:endParaRPr lang="ko-KR" altLang="en-US" sz="900" dirty="0"/>
          </a:p>
        </p:txBody>
      </p:sp>
      <p:sp>
        <p:nvSpPr>
          <p:cNvPr id="37" name="Rounded Rectangle 36"/>
          <p:cNvSpPr/>
          <p:nvPr/>
        </p:nvSpPr>
        <p:spPr>
          <a:xfrm>
            <a:off x="9087803" y="4379976"/>
            <a:ext cx="2498979" cy="96012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77325" y="4480560"/>
            <a:ext cx="2498979" cy="72327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(3). </a:t>
            </a:r>
            <a:r>
              <a:rPr lang="ko-KR" altLang="en-US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자가가속 </a:t>
            </a: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: 12</a:t>
            </a:r>
            <a:r>
              <a:rPr lang="ko-KR" altLang="en-US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월</a:t>
            </a: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~</a:t>
            </a:r>
          </a:p>
          <a:p>
            <a:pPr algn="ctr">
              <a:spcAft>
                <a:spcPts val="200"/>
              </a:spcAft>
            </a:pP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후기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-CRM-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재구매가 다음 </a:t>
            </a:r>
            <a:r>
              <a:rPr lang="ko-KR" altLang="en-US" sz="100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시딩의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연료</a:t>
            </a:r>
            <a:endParaRPr lang="en-US" altLang="ko-KR" sz="1000" dirty="0">
              <a:solidFill>
                <a:srgbClr val="E6E6DD"/>
              </a:solidFill>
            </a:endParaRPr>
          </a:p>
          <a:p>
            <a:pPr algn="ctr">
              <a:spcAft>
                <a:spcPts val="200"/>
              </a:spcAft>
            </a:pP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적은 힘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(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비용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시간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)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으로 더 빠르게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내년 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1Q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를 밀고 갈 브랜드 파워 획득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301232"/>
            <a:ext cx="11274552" cy="418592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386135"/>
            <a:ext cx="11274552" cy="24878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가장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무거운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‘첫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바퀴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그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'</a:t>
            </a:r>
            <a:r>
              <a:rPr lang="ko-KR" alt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동력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’ = </a:t>
            </a:r>
            <a:r>
              <a:rPr 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BAT </a:t>
            </a:r>
            <a:r>
              <a:rPr lang="ko-KR" altLang="en-US"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lang="ko-KR" alt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캠페인</a:t>
            </a:r>
            <a:endParaRPr sz="145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02_A 플라이휠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인플루언서 시딩이 1순위인가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플라이휠의 ‘첫 바퀴’ — 가장 무겁지만, 가장 먼저 밀어야 하는 곳이 시딩입니다.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‘올더베러’의 존재를 시장에 선보여야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377440" cy="918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브랜드 검색 월 약 3,000 · 해시태그 #올더베러 +100여 건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네이버·구글 검색량 + 인스타그램 해시태그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시딩으로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미는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이유</a:t>
            </a:r>
            <a:endParaRPr sz="900" b="1" dirty="0">
              <a:solidFill>
                <a:srgbClr val="141412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다수의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진성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나노·마이크로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) UGC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전략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일자에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노출해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익숙함과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신뢰’를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먼저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쌓습니다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12848"/>
            <a:ext cx="237744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소비자는 사기 전에 검증합니다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926080"/>
            <a:ext cx="2377440" cy="10613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 검색 → 올영 이동 → 후기·리뷰 확인 후 구매(검증형) · VOC 재구매율 15.5% · 구매이유 1위 ‘가격·할인’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리스닝마인드 검색 경로 분석 + 올더베러 리뷰 1,104건 VOC 딥다이브(BAT 자체 크롤링)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73552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432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가격 외 ‘선택 근거’(후기·리뷰·해시태그·콘텐츠 볼륨)를 먼저 쌓아 잘 보이는 제품으로 전환을 견인합니다.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72784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‘어떻게 먹는지’는 인플루언서가 보여줍니다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926080"/>
            <a:ext cx="2377440" cy="10613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RFP 요구 ‘언제·왜·어떻게 먹는지 생활 맥락’에 따른 영상으로 학습하고 디토(따라 구매)하는 소비자들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올리브영 VOC 딥다이브 + 인스타 릴스 콘텐츠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89904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SNS 인플루언서가 실제 사용 상황(아침 공복·야근·취침 전)을 자기 일상으로 가져오는 소비자 CDJ 패턴에 들어섭니다.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89136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이미 올영 PB에서 고성과로 검증된 방식입니다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926080"/>
            <a:ext cx="2377440" cy="12044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우리가 운영 중인 올영 PB 시딩+PA가 고성과: 브링그린 검색 9K→140K(15배) · 산리오 파트너십 ROAS 127→356→589% · 올영세일 ROAS 324→515%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BAT 올리브영 PB 운영 캠페인 실적(레퍼런스)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906256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89136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‘시딩 → 위닝 콘텐츠 → PA 2차’ 성공 공식을 올더베러에 그대로 적용합니다. (한정 비용 내 최고 효율)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6071392"/>
            <a:ext cx="11274552" cy="2564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그래서</a:t>
            </a:r>
            <a:r>
              <a:rPr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시딩이</a:t>
            </a:r>
            <a:r>
              <a:rPr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1순위입니다 — </a:t>
            </a:r>
            <a:r>
              <a:rPr sz="15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플라이휠을</a:t>
            </a:r>
            <a:r>
              <a:rPr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lang="en-US"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5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현 시장 최 고효율 마케팅 캠페인</a:t>
            </a:r>
            <a:endParaRPr sz="15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6547104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근거: 검색량·해시태그 집계 / 리스닝마인드 경로분석 / VOC 1,104건 딥다이브 / 인스타 릴스 분석 / BAT 올영 PB 운영 실적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02_A 플라이휠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마이크로·나노 중심인가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그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무거운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첫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‘힘’ — 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다수의 힘을 합쳐 하나의 원을 돌리기 시작 합니다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50" b="1" dirty="0">
              <a:solidFill>
                <a:srgbClr val="373734"/>
              </a:solidFill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515600" cy="21031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한눈 비교 — 메가·매크로 vs 마이크로·나노 (2026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51313"/>
              </p:ext>
            </p:extLst>
          </p:nvPr>
        </p:nvGraphicFramePr>
        <p:xfrm>
          <a:off x="457200" y="1938528"/>
          <a:ext cx="1127455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지표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메가·매크로 (넓고 얕음)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마이크로·나노 (좁고 깊음) ★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인게이지먼트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(IG)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평균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약 1%대에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머뭅니다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평균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6.23%로 전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티어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중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가장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높습니다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전환율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캠페인은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상대적으로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낮습니다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나노·마이크로가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대비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2~3배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높습니다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진성도·신뢰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광고로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인식되어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신뢰가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낮습니다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전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티어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중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신뢰가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가장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lang="ko-KR" altLang="en-US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높고</a:t>
                      </a:r>
                      <a:r>
                        <a:rPr lang="en-US" altLang="ko-KR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, </a:t>
                      </a:r>
                      <a:r>
                        <a:rPr lang="ko-KR" altLang="en-US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진성 리뷰로 접근합니다</a:t>
                      </a:r>
                      <a:r>
                        <a:rPr lang="en-US" altLang="ko-KR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.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비용·ROI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고비용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단발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성에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그칩니다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73%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우선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선택하며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ROI도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더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우수합니다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진성도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광고가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아니라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‘내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주변의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후기’입니다</a:t>
            </a:r>
            <a:endParaRPr sz="1100" b="1" dirty="0">
              <a:solidFill>
                <a:srgbClr val="373734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4773168"/>
            <a:ext cx="3227832" cy="46423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대형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인플루언서의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일회성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광고보다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니치한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생활자가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루틴처럼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말하는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콘텐츠가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제품의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신뢰를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만듭니다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</a:t>
            </a:r>
            <a:r>
              <a:rPr sz="8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소비자는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작은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크리에이터를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더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신뢰합니다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나노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인스타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ER 6.23%로 전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티어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최고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71416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반복 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다수가 같은 시점·다양한 TPO로 말합니다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773168"/>
            <a:ext cx="3227832" cy="3180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다수의 마이크로/나노가 같은 시점에 다양한 TPO로 말할 때 ‘요즘 올영에서 많이 보이는 제품’ 인식이 형성됩니다.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70248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53128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</a:t>
            </a:r>
            <a:r>
              <a:rPr sz="8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73%의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브랜드가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마이크로·미드티어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크리에이터를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우선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선택합니다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(2026).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84464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자산화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저단가·다수 → 후기·검색·퍼포의 원천입니다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4773168"/>
            <a:ext cx="3227832" cy="3180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저단가·다수 콘텐츠를 통해 후기·검색·퍼포먼스 소재로 이어지는, 활용 가능한 원천 콘텐츠를 확보합니다.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83296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5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</a:t>
            </a:r>
            <a:r>
              <a:rPr sz="919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유료 광고로 쓰면 ER 2~3배·CPA 절감 (위닝 콘텐츠 PA 2차·BAT 실적).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07024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030968"/>
            <a:ext cx="11274552" cy="26417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메가는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광고’가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되고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마이크로·나노는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lang="ko-KR" altLang="en-US"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소문과 </a:t>
            </a:r>
            <a:r>
              <a:rPr lang="ko-KR" altLang="en-US"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디토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ko-KR" altLang="en-US"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가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됩니다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다수의</a:t>
            </a:r>
            <a:r>
              <a:rPr lang="en-US"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다양한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힘이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플라이휠을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굴립니다</a:t>
            </a:r>
            <a:r>
              <a:rPr sz="15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근거: 2026 인플루언서 마케팅 벤치마크(인게이지먼트·전환·신뢰·ROI) + 브랜드 선호 조사 + BAT 올영 PB 운영 실적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전략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역할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&amp;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채널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진성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-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다수의 나노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마이크로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인플루언서를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코어로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중심 축을 견고히 잡고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대세감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형성을 위한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인플루언서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+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멀티 플랫폼 전략적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400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역할별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구분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517904"/>
            <a:ext cx="53492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※ ER(</a:t>
            </a:r>
            <a:r>
              <a:rPr kumimoji="0" lang="ko-KR" altLang="en-US" sz="9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인게이지먼트율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= (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좋아요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댓글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저장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공유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÷ </a:t>
            </a:r>
            <a:r>
              <a:rPr kumimoji="0" lang="ko-KR" altLang="en-US" sz="9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팔로워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게시물당 평균 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인스타그램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038240"/>
              </p:ext>
            </p:extLst>
          </p:nvPr>
        </p:nvGraphicFramePr>
        <p:xfrm>
          <a:off x="457200" y="1810512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구분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팔로워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ER(IG)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3,4Q </a:t>
                      </a:r>
                      <a:r>
                        <a:rPr lang="ko-KR" altLang="en-US"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전체 수량 및 비율</a:t>
                      </a:r>
                      <a:endParaRPr sz="1000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1만 이하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4~6%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진성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후기·UGC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볼륨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동일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메시지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동시다발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= ‘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익숙함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225건 (44%)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1만~5만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2~4%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카테고리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전문·전환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코어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위닝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소재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발굴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→ PA 2차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150건 (47%)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5만 이상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1~2%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도달·화제성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점화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/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블프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집중</a:t>
                      </a:r>
                      <a:r>
                        <a:rPr 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대세감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15건 (9%)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3931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코어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나노</a:t>
            </a:r>
            <a:r>
              <a:rPr kumimoji="0" lang="en-US" altLang="ko-KR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 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합계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390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50208"/>
            <a:ext cx="6400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채널별 구분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인스타그램 절대 비중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92997"/>
              </p:ext>
            </p:extLst>
          </p:nvPr>
        </p:nvGraphicFramePr>
        <p:xfrm>
          <a:off x="457200" y="4279392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채널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포맷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★ 인스타그램</a:t>
                      </a: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릴스</a:t>
                      </a:r>
                      <a:endParaRPr sz="950" b="1" dirty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시딩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코어·전환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허브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→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메타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파트너십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광고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2차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활용</a:t>
                      </a:r>
                      <a:endParaRPr sz="950" b="1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확산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보조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 확산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틱톡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숏폼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바이럴·확산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피드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실시간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트렌드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+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정보성 리뷰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검색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후기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신뢰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정보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탐색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대응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21040" y="4279392"/>
            <a:ext cx="3429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0" y="4407408"/>
            <a:ext cx="31089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풀 </a:t>
            </a:r>
            <a:r>
              <a:rPr kumimoji="0" lang="en-US" altLang="ko-KR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 접점 타겟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28032"/>
            <a:ext cx="3108960" cy="16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홈트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헬스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피트니스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요가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필라테스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러닝크루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헬시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레시피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식단 기록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다이어트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바디프로필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직장인 자기관리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모닝루틴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브이로그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헬시플레저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라이프스타일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0515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리스트업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선정 기준 </a:t>
            </a:r>
            <a:r>
              <a:rPr lang="en-US" altLang="ko-KR" sz="2300" b="0" dirty="0" spc="-100">
                <a:solidFill>
                  <a:srgbClr val="111111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예시 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‘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많이’가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아닌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‘맞는’ 크리에이터 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버티컬별로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제품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앵글 매칭해 리스트업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선정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4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브랜드 적합도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타깃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(30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 직장인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+</a:t>
            </a:r>
            <a:r>
              <a:rPr lang="ko-KR" altLang="en-US" sz="95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라이프스타일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52928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852928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2926080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</a:t>
            </a:r>
            <a:r>
              <a:rPr kumimoji="0" lang="ko-KR" altLang="en-US" sz="115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진성도</a:t>
            </a:r>
            <a:endParaRPr kumimoji="0" lang="ko-KR" altLang="en-US" sz="11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팔로워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대비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ER 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지수 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77056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3950208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③ 콘텐츠 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제품을 일상에 녹이는 </a:t>
            </a: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톤앤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무드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부합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01184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4901184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4974336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④ 심의 안전성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소개 콘텐츠 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심의 가이드 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63040"/>
            <a:ext cx="731520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 버티컬별 예시 풀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매칭 가이드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43484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웰니스 버티컬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주력 채널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적합 등급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매칭 제품 · 앵글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홈트 · 피트니스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구미(루테인·올인원) — 운동 루틴 속 챙김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요가 · 필라테스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멜라나잇·콜라겐 — 자기관리 무드 리추얼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러닝크루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인스타·틱톡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스틱·캡슐 — 휴대·아침 에너지 채움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헬시 레시피 · 식단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올리브오일 — 요리·식단 속 자연 노출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다이어트 · 바디프로필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인스타·틱톡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트위터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구미·스틱 — 식단 관리 간식 대체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직장인 루틴 브이로그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캡슐·구미 — 아침/점심 루틴, 직장인 공감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헬시플레저 라이프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틱톡</a:t>
                      </a:r>
                      <a:endParaRPr lang="ko-KR" altLang="en-US"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매크로·마이크로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라인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‘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건강하게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즐기는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’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무드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점화</a:t>
                      </a:r>
                      <a:endParaRPr sz="90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57200" y="5989320"/>
            <a:ext cx="1129284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151123"/>
            <a:ext cx="10972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리스트업 프로세스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①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버티컬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등급별 롱리스트 → ② 진성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심의 스크리닝 → ③ 숏리스트 컨택 → ④ 시즌별 배분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세일엔 매크로 가중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02_B 시딩 콘텐츠 앵글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제품·단계·타겟·TPO별</a:t>
            </a:r>
            <a:r>
              <a:rPr sz="26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</a:t>
            </a:r>
            <a:r>
              <a:rPr sz="26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앵글</a:t>
            </a:r>
            <a:endParaRPr sz="26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2570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VOC가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알려준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의 언어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를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훅으로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콘텐츠 앵글을 준비 합니다</a:t>
            </a:r>
            <a:r>
              <a:rPr lang="en-US" altLang="ko-KR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성공 훅 = 명확한 타겟  ×  구체적 상황·에피소드  ×  반전 또는 팩트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1274552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ko-KR" altLang="en-US"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초 개인화 </a:t>
            </a:r>
            <a:r>
              <a:rPr lang="en-US" altLang="ko-KR"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-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특정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생활자를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겨냥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제품이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필요한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순간을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장면화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‘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보게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만드는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’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정보·공감·반전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포인트</a:t>
            </a:r>
            <a:endParaRPr sz="1050" b="1" dirty="0">
              <a:solidFill>
                <a:srgbClr val="787872"/>
              </a:solidFill>
              <a:latin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① </a:t>
            </a: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인지·발견</a:t>
            </a:r>
            <a:endParaRPr sz="13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SEED · 첫 </a:t>
            </a:r>
            <a:r>
              <a:rPr sz="950" b="0" dirty="0" err="1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바퀴</a:t>
            </a:r>
            <a:endParaRPr sz="950" b="1" dirty="0">
              <a:solidFill>
                <a:srgbClr val="B0B0A8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멜라나잇 구미 · 일반식품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밤에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쉽게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못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드는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30대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취침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803904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“불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끄기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전,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나만의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마무리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알”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웰니스 구미 (에너지) · 일반식품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야근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잦은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직장인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오후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슬럼프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" y="5340095"/>
            <a:ext cx="2432304" cy="37702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“11시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퇴근하는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30대</a:t>
            </a:r>
            <a:endParaRPr lang="en-US" sz="1100" b="1" dirty="0">
              <a:solidFill>
                <a:srgbClr val="141412"/>
              </a:solidFill>
              <a:latin typeface="Pretendard"/>
            </a:endParaRPr>
          </a:p>
          <a:p>
            <a:pPr algn="l">
              <a:spcAft>
                <a:spcPts val="100"/>
              </a:spcAft>
            </a:pP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나른한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오후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3시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슬럼프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73552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9856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② 검증·신뢰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PROVE · 관성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73552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856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캡슐 · 일반식품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9856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공복 섭취가 고민인 입문자 · 아침 공복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3803904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공복에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올리브오일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속쓰림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걱정되나요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73552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273552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캡슐 · 일반식품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가성비 따지는 30대 · 정보 탐색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5340095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생오일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병 vs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캡슐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포,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가성비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팩트체크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089904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③ 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BOOST · 가속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9904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6208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스틱 · 일반식품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맛 때문에 망설인 사람 · 재구매 고민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03904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올리오일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무슨 맛 인지 표현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해볼게요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089904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089904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히어로 라인업 · 올영세일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장바구니 담아둔 세일 대기족 · 올영세일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5340095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장바구니 보관 템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이번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올영세일에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꼭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사야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하는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이유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9904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906256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52560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④ 재구매·확장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RETAIN · 자가가속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06256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52560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구미·캡슐 · 완주 인증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작심삼일러 · 한 통 완주 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3803904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“안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먹고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쌓인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통 vs 싹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비운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통”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06256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906256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52560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스틱 · 휴대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K-웰니스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관심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외국인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K-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뷰티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트렌드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052560" y="5340095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“K-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뷰티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다음은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K-웰니스</a:t>
            </a:r>
            <a:r>
              <a:rPr 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근데 어느 브랜드가 좋아요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?”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906256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7200" y="6163056"/>
            <a:ext cx="11274552" cy="384048"/>
          </a:xfrm>
          <a:prstGeom prst="roundRect">
            <a:avLst>
              <a:gd name="adj" fmla="val 20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6265312"/>
            <a:ext cx="11274552" cy="1795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앵글은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모두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VOC</a:t>
            </a:r>
            <a:r>
              <a:rPr 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인사이트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1,104건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서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도출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식품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분류별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심의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가드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+ 풀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대본·자막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타임코드는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부록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참조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제품별 릴스 컨셉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종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한눈에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성공 훅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=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명확한 타겟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×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구체적 상황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×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반전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팩트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928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제품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분류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컨셉 / 훅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인트로 예시 문구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캡슐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생올리브오일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챌린지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→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캡슐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반전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몸에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좋다길래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생으로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먹어봤다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울었음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😵”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캡슐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‘알약 잘 못 먹는 사람용’ 목넘김 실연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알약만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먹으면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목에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걸리는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사람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…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저요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🙋”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구미·루테인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모니터 앞 직장인의 눈 챙기기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“내 눈 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하루 종일 혹사 당하는데 </a:t>
                      </a:r>
                      <a:r>
                        <a:rPr lang="ko-KR" altLang="en-US"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괜찮으려나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＂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구미·바나바잎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식후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스파이크 공감 연출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스파이크 뚜드려 맞는 당신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!”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구미·멜라나잇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자기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전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무드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리추얼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잠 들기 전 마지막으로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…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할 일이 있어요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구미·콜라겐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디저트 대신 한 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“단 거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당기는데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죄책감은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싫고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스틱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가방에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쏙,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출근길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한 포</a:t>
                      </a:r>
                      <a:r>
                        <a:rPr 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웰니스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고민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요즘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가방에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꼭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챙기는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거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하나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  <a:r>
                        <a:rPr 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저속노화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스틱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오일 맛 솔직 리뷰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오일에서는 역시 오일 맛이 </a:t>
                      </a:r>
                      <a:r>
                        <a:rPr lang="ko-KR" altLang="en-US"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나야죠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"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6D55-FC80-8372-8B4C-9CB51DE9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E185D9B-B765-2828-7AB9-EC1DB760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03C02C-6857-B8D9-DDF5-296E69C133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0EAF44-FCEC-FFBB-2F44-570D8BE33D5F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Concept A.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일반식품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UGC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제품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멜라나잇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자기 전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리추얼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효능 대신 밤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TPO·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루틴 중심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3F756C6-6A75-EC06-F7A3-A7D602E2367E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8BF9EC0-5101-FC2F-E006-6397B3914E9B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476DB2E-451C-5466-9270-9A00FC4DC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8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2CC4-6AEA-B6D7-1AD3-83CEE83C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340CA0-963A-D715-78F9-2D27C02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A55D30-283F-5E5B-C0A8-F1C9A7462F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0CD3DB-32AF-2A98-B260-A75888D7F7AF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BFFCEBF-336F-40D7-C7DE-1338ADFACB5E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DCC592-2293-87EC-88C2-5915587C26EE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Concept B. </a:t>
            </a:r>
            <a:r>
              <a:rPr lang="ko-KR" altLang="en-US" sz="1600" b="0" spc="-100" dirty="0" err="1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건기식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Half-EGC</a:t>
            </a: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제품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: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루테인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 구미</a:t>
            </a: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모니터 앞 직장인 루틴</a:t>
            </a: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인정 기능성 문구 범위 내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Half-EGC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67C87F-E88D-D00E-AAD1-F08CE934A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0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D898-3A9F-4164-06FE-15523476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C47FAA-CF33-1682-689E-0E28082A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F7E8E5-40FD-B5E4-041D-1FF7E6DFB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7019638-67B6-657C-5D4E-C0449629E047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772EBE-B715-ED98-91E2-8C3D78D02756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60E2BA-A4F3-9D95-54F4-CB1FF35C1815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Concept B. 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직원 </a:t>
            </a:r>
            <a:r>
              <a:rPr lang="ko-KR" altLang="en-US" sz="1600" b="0" spc="-100" dirty="0" err="1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피셜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EGC</a:t>
            </a: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Hook</a:t>
            </a: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“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이 스펙을 이 가격에 가져온 이유”</a:t>
            </a:r>
          </a:p>
          <a:p>
            <a:pPr lvl="0" algn="ctr">
              <a:defRPr/>
            </a:pPr>
            <a:endParaRPr lang="ko-KR" altLang="en-US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Body</a:t>
            </a: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스페인산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피쿠알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낮은 산도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폴리페놀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</a:t>
            </a: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개별 포장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가격 접근성 설명</a:t>
            </a:r>
          </a:p>
          <a:p>
            <a:pPr lvl="0" algn="ctr">
              <a:defRPr/>
            </a:pPr>
            <a:endParaRPr lang="ko-KR" altLang="en-US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CTA</a:t>
            </a: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“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파격가로 가볍게 시작하는 올리브오일 루틴”</a:t>
            </a:r>
            <a:endParaRPr lang="en-US" altLang="ko-KR" sz="1600" spc="-100" dirty="0">
              <a:solidFill>
                <a:srgbClr val="00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8F9E0F-EE6B-F3E1-727D-F82B2535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3BC9A2-E6E9-12A5-6EEC-5F273F04E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F543B-AD01-4265-1DAF-1A6421CB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오프라인 인증형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시딩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콘텐츠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C81D8B-E04D-CDE5-F618-0C8416BC10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err="1" spc="-100">
                <a:latin typeface="Pretendard"/>
                <a:cs typeface="Pretendard"/>
                <a:ea typeface="Pretendard"/>
              </a:rPr>
              <a:t>올리브베러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광화문점 위주 방문형 콘텐츠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 spc="-100">
                <a:latin typeface="Pretendard"/>
                <a:cs typeface="Pretendard"/>
                <a:ea typeface="Pretendard"/>
              </a:rPr>
              <a:t>올리브영 전국 매장에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입점되어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있는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소개</a:t>
            </a:r>
            <a:endParaRPr lang="en-US" altLang="ko-KR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194C6E-3CDF-A0CA-70ED-9F4C7047F8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15050E-8A6E-89F2-AFBD-0716233AFE2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올리브베러 오프라인 매장을 시딩 콘텐츠의 ‘현장 인증 접점’으로 활용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“올영에서 실제로 파는 제품”이라는 현장감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자연 발견형 바이럴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+@ :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내한 외국인 대상 바이럴 유도</a:t>
            </a:r>
          </a:p>
          <a:p>
            <a:pPr algn="ctr">
              <a:defRPr/>
            </a:pPr>
            <a:endParaRPr lang="ko-KR" altLang="en-US" sz="1600" spc="-100">
              <a:solidFill>
                <a:srgbClr val="000000"/>
              </a:solidFill>
              <a:latin typeface="Pretendard"/>
              <a:ea typeface="Pretendard"/>
            </a:endParaRPr>
          </a:p>
          <a:p>
            <a:pPr algn="ctr">
              <a:defRPr/>
            </a:pPr>
            <a:r>
              <a:rPr lang="ko-KR" altLang="en-US" sz="1600" spc="-10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레퍼런스 영상 위주 배치 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D6B1771-694C-9EDE-AC06-395B40278ADD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0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KOL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무가시딩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운영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전략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대상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×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방식</a:t>
            </a:r>
            <a:endParaRPr kumimoji="0" lang="ko-KR" altLang="en-US" sz="23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게시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유도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관계로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지속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발화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92840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22445"/>
            <a:ext cx="1097280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무가시딩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노출을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사는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게 아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닌</a:t>
            </a:r>
            <a:r>
              <a:rPr kumimoji="0" lang="en-US" altLang="ko-KR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,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‘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관계를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빌드업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1206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누구에게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대상</a:t>
            </a:r>
            <a:endParaRPr kumimoji="0" lang="ko-KR" alt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49240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접점이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강한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~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크리에이터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이후 브랜드 캠페인을 제안해도 좋을 대상 우선 리스트업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타깃과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라이프스타일이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겹치는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30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직장인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라이프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이미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자생적으로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헬시플레저</a:t>
            </a:r>
            <a:r>
              <a:rPr kumimoji="0" lang="en-US" altLang="ko-KR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자기관리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중인 인원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키워드와 부합하는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콘텐츠를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올리는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진성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계정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51206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어떻게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운영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5349240" cy="2962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등급별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차등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매크로급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커스텀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키트</a:t>
            </a:r>
            <a:r>
              <a:rPr kumimoji="0" lang="en-US" altLang="ko-KR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+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정기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접촉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/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나노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제품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제공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게시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의무 </a:t>
            </a:r>
            <a:r>
              <a:rPr kumimoji="0" lang="af-ZA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X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—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게시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유도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252514-B258-20E6-D9AF-39FBD6B687E0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심의 리스크는 ‘앞단’에서 차단합니다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BAT는 식품·건기식 심의 가이드를 준수하고, 송출 前 Claude AI로 1차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51206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51206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콘텐츠 송출 前, Claude AI가 먼저 읽습니다 — 사람이 놓치는 위험 표현을 앞단에서 거릅니다.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Claude AI 사전 검수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대본·자막·캡션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릴스/쇼츠 대본, 자막 타임코드, 캡션·해시태그를 검수 큐에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Claude AI 1차 스크리닝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 분류(일반식품/건기식) 자동 분기 → 효능·과장·질병 표현 자동 탐지·플래그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안전 표현 치환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54496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분류별 규칙 기반으로 위험 문구 → 안전 문구 대안 제시 (근거 조항 함께)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3688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법무·RA 최종 검토 · 송출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9992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건기식은 자율심의·법무 확인까지 완료 후 송출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심의 반려율 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82696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82696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검토 기간 단축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08192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표현 일관성 확보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33688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33688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분류별 자동 분기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7550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 분류별 심의 원칙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541264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일반식품  </a:t>
            </a: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· 멜라나잇 · 콜라겐 구미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815584"/>
            <a:ext cx="5303520" cy="5852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질병 예방·치료, 신체조직·기능 효능 표현 </a:t>
            </a:r>
            <a:r>
              <a:rPr sz="980" b="0" spc="-100">
                <a:solidFill>
                  <a:srgbClr val="B03A2E"/>
                </a:solidFill>
                <a:latin typeface="Pretendard ExtraBold"/>
                <a:cs typeface="Pretendard ExtraBold"/>
                <a:ea typeface="Pretendard ExtraBold"/>
              </a:rPr>
              <a:t>전면 금지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→ 원료·맛·편의·무드 앵글만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5541264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건강기능식품  </a:t>
            </a: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루테인 · 바나바잎 구미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15584"/>
            <a:ext cx="5303520" cy="5852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인정 기능성 문구 </a:t>
            </a:r>
            <a:r>
              <a:rPr sz="980" b="0" spc="-100">
                <a:solidFill>
                  <a:srgbClr val="2E5A3A"/>
                </a:solidFill>
                <a:latin typeface="Pretendard ExtraBold"/>
                <a:cs typeface="Pretendard ExtraBold"/>
                <a:ea typeface="Pretendard ExtraBold"/>
              </a:rPr>
              <a:t>그대로만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· 의약품 오인·과장·체험 단정 금지 · 자율심의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근거: 식품 등의 표시·광고에 관한 법률 · 한국건강기능식품협회 자율심의 · 공정위 추천·보증 심사지침(유료광고·협찬 표시)</a:t>
            </a:r>
          </a:p>
        </p:txBody>
      </p:sp>
    </p:spTree>
    <p:extLst>
      <p:ext uri="{BB962C8B-B14F-4D97-AF65-F5344CB8AC3E}">
        <p14:creationId xmlns:p14="http://schemas.microsoft.com/office/powerpoint/2010/main" val="291214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표현 치환표 &amp; 송출 전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위험 표현(❌)을 안전 표현(✅)으로 — Claude AI가 1차로, 사람이 최종으로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7455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제품 (분류)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❌ 위험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✅ 안전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올리브오일 캡슐·스틱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혈관·콜레스테롤에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엑스트라 버진 올리브오일을 한 포로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멜라나잇 구미 (일반)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숙면 젤리 / 잠 잘 오는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자기 전 리추얼 / 하루 마무리 한 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콜라겐 구미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피부·주름·탄력 콜라겐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디저트 대신 챙기는 젤리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루테인 구미 (건기식)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눈이 좋아지는 / 덜 침침해진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루테인, 눈 건강에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바나바잎 구미 (건기식)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낮추는 / 당뇨에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식후 혈당 상승 억제에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6110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송출 전 필수 체크리스트 (인스타그램 릴스 기준)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5371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4599432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599432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유료광고·협찬 표시 — 자막 + 음성 + 캡션 + 인스타 ‘유료 파트너십’ 태그 모두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7433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5020056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020056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일반식품(올리브오일·멜라나잇·콜라겐) — 질병·신체기능·건강 효능 표현 전면 배제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5440680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440680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건기식(루테인·바나바잎) — 인정 기능성 문구 그대로, 의약품 오인·과장·체험 단정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15584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5861304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861304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‘효과 미체감’ 방어 — ‘꾸준히’ 표현 OK, 효과 보장·단정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36208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6281928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6281928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건기식 컨셉은 송출 前 한국건강기능식품협회 자율심의 + 법무·RA 검토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693408"/>
            <a:ext cx="11274552" cy="38404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693408"/>
            <a:ext cx="11274552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→ Claude AI 사전 검수로 1차 필터링(반려↓·기간 단축) 후, 위 체크리스트로 사람이 최종 점검합니다.</a:t>
            </a:r>
          </a:p>
        </p:txBody>
      </p:sp>
    </p:spTree>
    <p:extLst>
      <p:ext uri="{BB962C8B-B14F-4D97-AF65-F5344CB8AC3E}">
        <p14:creationId xmlns:p14="http://schemas.microsoft.com/office/powerpoint/2010/main" val="130422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C6C9FB-FE38-0D70-A439-4E3554183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en-US" altLang="ko-KR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95938-B97A-A559-7C55-7263598809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04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81A8F-D178-F547-3388-F57094A926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Viral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36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02_C 바이럴 파트의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바이럴의 역할은 ‘입소문’이 아니라 구매 직전의 ‘확신’을 만드는 것입니다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브랜드명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검색·자발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탐색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에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약합니다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바이럴 채널은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노출과 더불어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본 뒤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검색·비교하는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순간에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충분한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추천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맥락이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보이도록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설계합니다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제품을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11296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검색·비교한다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19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‘선택해도 된다’ 확신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7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7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구매·전환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비교 시 ‘선택 근거’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후기·장바구니·랭킹 맥락을 만들어 “선택해도 되는 제품”이라는 확신을 형성합니다.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224528"/>
            <a:ext cx="3209544" cy="3272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소비자 구매 </a:t>
            </a:r>
            <a:r>
              <a:rPr lang="ko-KR" altLang="en-US"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퍼널에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따라 올리브영 외부에서도 소비자들이 </a:t>
            </a:r>
            <a:r>
              <a:rPr lang="ko-KR" altLang="en-US"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올더베러를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비교 </a:t>
            </a:r>
            <a:r>
              <a:rPr lang="en-US" altLang="ko-KR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&amp; 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선택 할 수 있는 근거를 채웁니다</a:t>
            </a:r>
            <a:r>
              <a:rPr lang="en-US" altLang="ko-KR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  <a:endParaRPr sz="98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</a:t>
            </a:r>
            <a:r>
              <a:rPr sz="10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커뮤니티·파워페이지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79392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80560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구매 ‘전환’으로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챌린저스·어필리에이트·쇼핑 큐레이터로 실제 구매와 리뷰·랭킹 견인까지 연결합니다.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224528"/>
            <a:ext cx="3209544" cy="3272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단순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노출이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아니라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구매·리뷰·랭킹이라는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행동’으로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전환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위닝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콘텐츠는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PA 2차로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재투입합니다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9392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</a:t>
            </a:r>
            <a:r>
              <a:rPr sz="10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챌린저스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01584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02752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 시 ‘비어 있지 않게’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제품명·카테고리·상황 키워드 검색 시 정보성 콘텐츠가 노출되도록 자산화합니다.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224528"/>
            <a:ext cx="3209544" cy="10058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근거  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검색·AI 답변 결과에 올더베러가 ‘근거 있는 추천’으로 등장하도록 GEO/AEO 자산을 축적합니다.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01584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02752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</a:t>
            </a:r>
            <a:r>
              <a:rPr 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네이버 </a:t>
            </a:r>
            <a:r>
              <a:rPr lang="en-US" altLang="ko-KR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+ </a:t>
            </a: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언론보도 초안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GEO·AEO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03504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166679"/>
            <a:ext cx="11274552" cy="24878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바이럴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=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노출</a:t>
            </a:r>
            <a:r>
              <a:rPr 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+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직전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확신’의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밀도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: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검증·신뢰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단계를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채웁니다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02_C </a:t>
            </a:r>
            <a:r>
              <a:rPr sz="12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바이럴</a:t>
            </a:r>
            <a:r>
              <a:rPr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① </a:t>
            </a:r>
            <a:r>
              <a:rPr lang="ko-KR" altLang="en-US" sz="12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신뢰</a:t>
            </a:r>
            <a:endParaRPr sz="1250" b="1" dirty="0">
              <a:solidFill>
                <a:srgbClr val="787872"/>
              </a:solidFill>
              <a:latin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3949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챌린저스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‘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올리브영 랭킹 </a:t>
            </a:r>
            <a:r>
              <a:rPr lang="en-US" altLang="ko-KR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견인’을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위한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리뷰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챌린지</a:t>
            </a:r>
            <a:endParaRPr sz="24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실제 올리브영 액티브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유저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의 제품 구매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리뷰 미션 수행하는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'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인증 기반 챌린지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endParaRPr sz="12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작동 메커니즘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챌린지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참여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모집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505456"/>
            <a:ext cx="2404872" cy="10424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목표·습관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앱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챌린저스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내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미션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개설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(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실구매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의사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유저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타겟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2696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069665"/>
            <a:ext cx="2039112" cy="19492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액티브 유저 </a:t>
            </a:r>
            <a:r>
              <a:rPr lang="ko-KR" altLang="en-US"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실구매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82696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505456"/>
            <a:ext cx="2404872" cy="3334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 올리브영을 활발히 사용하는 액티브 유저들의 제품 구매 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6440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8424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사용·리뷰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인증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미션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08192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4496" y="2505456"/>
            <a:ext cx="2404872" cy="3334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구매·사용·올영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리뷰업로드를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인증’으로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수행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31936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3688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1704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2069665"/>
            <a:ext cx="2039112" cy="19492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랭킹 </a:t>
            </a:r>
            <a:r>
              <a:rPr lang="en-US" altLang="ko-KR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위 달성 목표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33688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9992" y="2505456"/>
            <a:ext cx="2404872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</a:t>
            </a:r>
            <a:r>
              <a:rPr 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1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 달성을 위한 전략적 활용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3968496"/>
            <a:ext cx="100584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목표</a:t>
            </a: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ko-KR" altLang="en-US"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올더베러의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올리브영 랭킹 </a:t>
            </a:r>
            <a:r>
              <a:rPr lang="en-US" altLang="ko-KR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 달성</a:t>
            </a:r>
            <a:endParaRPr sz="12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48640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407408"/>
            <a:ext cx="5120640" cy="2026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랭킹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견인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공략법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know</a:t>
            </a:r>
            <a:r>
              <a:rPr lang="ko-KR" alt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how</a:t>
            </a:r>
            <a:r>
              <a:rPr lang="ko-KR" alt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를 통한 전략적 운영 배치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10시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72768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72768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12시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1136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5456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05456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14시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38144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38144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16시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70832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18시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85232"/>
            <a:ext cx="5120640" cy="35907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구매·리뷰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인증을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시간대별로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분산</a:t>
            </a:r>
            <a:r>
              <a:rPr 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/ </a:t>
            </a:r>
            <a:r>
              <a:rPr lang="ko-KR" altLang="en-US" sz="10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매니징</a:t>
            </a:r>
            <a:endParaRPr lang="en-US" sz="1000" b="0" dirty="0">
              <a:solidFill>
                <a:srgbClr val="373734"/>
              </a:solidFill>
              <a:latin typeface="Pretendard"/>
            </a:endParaRPr>
          </a:p>
          <a:p>
            <a:pPr>
              <a:spcAft>
                <a:spcPts val="200"/>
              </a:spcAft>
            </a:pP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→ 최저 비용 최대 효율 획득 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089904" y="4297680"/>
            <a:ext cx="5641848" cy="1517904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54496" y="4407408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효과적인가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4718304"/>
            <a:ext cx="5349240" cy="71814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올리브영이 만든 </a:t>
            </a:r>
            <a:r>
              <a:rPr lang="ko-KR" altLang="en-US" sz="10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PB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로 올리브영 랭킹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1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 달성</a:t>
            </a:r>
            <a:endParaRPr lang="en-US" altLang="ko-KR" sz="1000" dirty="0">
              <a:solidFill>
                <a:srgbClr val="373734"/>
              </a:solidFill>
              <a:latin typeface="Pretendard"/>
            </a:endParaRPr>
          </a:p>
          <a:p>
            <a:pPr>
              <a:spcAft>
                <a:spcPts val="200"/>
              </a:spcAft>
            </a:pP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 달성 이후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‘1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키워드 플레이로 신뢰성 획득</a:t>
            </a:r>
            <a:endParaRPr lang="en-US" sz="100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구매자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자발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—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올리브영 플랫폼 사용자의 구매</a:t>
            </a:r>
            <a:r>
              <a:rPr lang="en-US" altLang="ko-KR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+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후기로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신뢰</a:t>
            </a:r>
            <a:r>
              <a:rPr 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자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산 확보</a:t>
            </a:r>
            <a:endParaRPr sz="100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동시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게시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=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랭킹·후기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볼륨의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동시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점화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02_C 바이럴 ②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커뮤니티·파워페이지 — ‘추천템’ 맥락에 올더베러를 진입시키는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소비자는 세일 전후로 “무엇을 살지” 검색·비교합니다. 이때 올더베러가 추천 리스트와 장바구니 맥락 안에 자연스럽게 들어가야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420624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828800"/>
            <a:ext cx="4626864" cy="3657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뷰티 정보 플랫폼 · 대형 커뮤니티 체험단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157984"/>
            <a:ext cx="4626864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카테고리 관여가 높은 타겟에게 ‘검증된 후기’를 시딩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697479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633472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화해 등 뷰티앱·대형 커뮤니티의 카테고리 관여 高 사용자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3685032"/>
            <a:ext cx="914400" cy="25603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621024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체험단·어워드·랭킹 참여로 ‘검증된 후기’ 볼륨 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4710832"/>
            <a:ext cx="914400" cy="179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분석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00784" y="4608576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화장품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시 64.2%가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화해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어워드·랭킹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참고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4단계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어뷰징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필터로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신뢰도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높음</a:t>
            </a:r>
            <a:r>
              <a:rPr 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/ But </a:t>
            </a:r>
            <a:r>
              <a:rPr lang="ko-KR" altLang="en-US"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올더베러에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100%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핏 한지는 고민 필요 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/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비용 대비 효율 최적화는 아님</a:t>
            </a:r>
            <a:endParaRPr sz="10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0488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0488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91655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5" y="1883664"/>
            <a:ext cx="420624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1828800"/>
            <a:ext cx="4626864" cy="22570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파워페이지</a:t>
            </a: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SNS </a:t>
            </a: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정보성</a:t>
            </a:r>
            <a:r>
              <a:rPr 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채널</a:t>
            </a: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2157984"/>
            <a:ext cx="4626864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SNS</a:t>
            </a:r>
            <a:r>
              <a:rPr lang="ko-KR" alt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내 잠재고객</a:t>
            </a:r>
            <a:r>
              <a:rPr lang="en-US" altLang="ko-KR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구매 고의도 사용자 대상 콘텐츠 바이럴</a:t>
            </a:r>
            <a:endParaRPr sz="1050" b="1" dirty="0">
              <a:solidFill>
                <a:srgbClr val="B0B0A8"/>
              </a:solidFill>
              <a:latin typeface="Pretendar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9944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2697479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타겟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2633472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SNS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알고리즘 기반 잠재 고객 및 구매 고의도 사용자 대상 콘텐츠 노출 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및 ‘올리브오일 효능’</a:t>
            </a:r>
            <a:r>
              <a:rPr lang="en-US" altLang="ko-KR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·‘</a:t>
            </a:r>
            <a:r>
              <a:rPr lang="ko-KR" altLang="en-US" sz="105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구미 추천’ 등 </a:t>
            </a:r>
            <a:r>
              <a:rPr lang="ko-KR" altLang="en-US" sz="105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정보성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검색 사용자</a:t>
            </a:r>
            <a:endParaRPr lang="ko-KR" altLang="en-US"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9944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3685032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3621024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정보성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파워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블로그·전문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채널로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상위·추천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리스트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점유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9944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9944" y="4710832"/>
            <a:ext cx="914400" cy="179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분석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34071" y="4608576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제품과 브랜드를 모르는 대상에게 인지와 </a:t>
            </a:r>
            <a:br>
              <a:rPr lang="en-US" altLang="ko-KR" sz="1050" b="1" dirty="0">
                <a:solidFill>
                  <a:srgbClr val="373734"/>
                </a:solidFill>
                <a:latin typeface="Pretendard"/>
              </a:rPr>
            </a:b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 구매 의도가 있는 고의도 대상에게 각인을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br>
              <a:rPr lang="en-US" altLang="ko-KR" sz="1050" b="1" dirty="0">
                <a:solidFill>
                  <a:srgbClr val="373734"/>
                </a:solidFill>
                <a:latin typeface="Pretendard"/>
              </a:rPr>
            </a:b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구매 고려 대상에게는 전환 트리거를 제공</a:t>
            </a:r>
            <a:endParaRPr sz="10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11274552" cy="493776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11274552" cy="49377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추천템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’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검색·비교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맥락을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선점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세일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전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탐색이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곧장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장바구니로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이어지게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만듭니다</a:t>
            </a:r>
            <a:r>
              <a:rPr sz="14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02_C 바이럴 ③ 검색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GEO/AEO — ‘검색 답변 시대’의 Pull 자산으로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제로 클릭의 시대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AI가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정보를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골라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답하는가’의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싸움입니다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언론보도·정보성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콘텐츠를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AI가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인용하기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좋은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구조로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발행해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검색·AI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답변을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선점합니다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  </a:t>
            </a: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생성형 엔진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ChatGPT·Perplexity·Gemini가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답변을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만들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때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우리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콘텐츠를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근거·출처’로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고르게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설계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0488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73736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AEO  </a:t>
            </a: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답변 엔진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521208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Overview·검색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요약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답변에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정확한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출처’로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반영되도록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최적화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운영 플로우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키워드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설계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6875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1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발행</a:t>
            </a:r>
            <a:endParaRPr sz="1150" b="1" dirty="0">
              <a:solidFill>
                <a:srgbClr val="141412"/>
              </a:solidFill>
              <a:latin typeface="Pretendard"/>
            </a:endParaRPr>
          </a:p>
          <a:p>
            <a:pPr algn="ctr">
              <a:spcAft>
                <a:spcPts val="200"/>
              </a:spcAft>
            </a:pPr>
            <a:r>
              <a:rPr sz="9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sz="9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언론보도·정보성</a:t>
            </a:r>
            <a:r>
              <a:rPr sz="9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868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3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3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검색·AI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답변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점유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0859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23175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5" y="3327690"/>
            <a:ext cx="2103120" cy="2026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탐색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대응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02852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7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45167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자연</a:t>
            </a:r>
            <a:r>
              <a:rPr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유입</a:t>
            </a:r>
            <a:r>
              <a:rPr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증가</a:t>
            </a:r>
            <a:endParaRPr sz="11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‘AI가 읽기 좋은’ 콘텐츠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35424"/>
            <a:ext cx="5257800" cy="74892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 의도에 </a:t>
            </a:r>
            <a:r>
              <a:rPr lang="ko-KR" altLang="en-US"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직답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될 수 있는 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최적화 구조 설계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출처·수치·정의를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명시해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가능’하게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언론보도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초안부터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형식으로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설계·발행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발행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전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AI가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어떻게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읽는지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구성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후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작성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190488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420624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지금인가 (2026)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535424"/>
            <a:ext cx="5257800" cy="124358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일상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속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생성형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사용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급증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Overviews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확산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추천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기반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쇼핑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기능까지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확대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· ‘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결과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1위’보다 ‘AI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답변에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인용’이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새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경쟁력</a:t>
            </a:r>
            <a:endParaRPr sz="1050" b="1" dirty="0">
              <a:solidFill>
                <a:srgbClr val="141412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Push(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광고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)가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닿지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않는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탐색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순간을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Pull로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선점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GEO=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생성형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답변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출처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선택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최적화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/ AEO=AI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요약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답변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출처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반영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최적화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(</a:t>
            </a:r>
            <a:r>
              <a:rPr lang="en-US"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BAT </a:t>
            </a:r>
            <a:r>
              <a:rPr lang="ko-KR" altLang="en-US"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내부 프로토콜 및 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2026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검색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트렌드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자료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기반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C851EC-89DE-0783-C3A0-6882F8EDB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402F11-630F-2498-78F2-4E712889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어필리에이트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추천 콘텐츠를 실제 구매 링크와 연결하는 전환형 바이럴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C798A-45C3-F832-F3E9-B2C91D3E60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올리브영 쇼핑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큐레이터를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코어로 활용하면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</a:t>
            </a:r>
          </a:p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추천 콘텐츠가 앱 내 발견과 구매로 바로 이어져 랭킹 견인에 더 직접적으로 기여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966EBD-5C6A-0479-A4D3-9491167FB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88A65F5-E0E3-33BB-6D65-3D2E6CA5DE5D}"/>
              </a:ext>
            </a:extLst>
          </p:cNvPr>
          <p:cNvGraphicFramePr>
            <a:graphicFrameLocks noGrp="1"/>
          </p:cNvGraphicFramePr>
          <p:nvPr/>
        </p:nvGraphicFramePr>
        <p:xfrm>
          <a:off x="336000" y="2682240"/>
          <a:ext cx="11520000" cy="2865119"/>
        </p:xfrm>
        <a:graphic>
          <a:graphicData uri="http://schemas.openxmlformats.org/drawingml/2006/table">
            <a:tbl>
              <a:tblPr/>
              <a:tblGrid>
                <a:gridCol w="1706160">
                  <a:extLst>
                    <a:ext uri="{9D8B030D-6E8A-4147-A177-3AD203B41FA5}">
                      <a16:colId xmlns:a16="http://schemas.microsoft.com/office/drawing/2014/main" val="2349527170"/>
                    </a:ext>
                  </a:extLst>
                </a:gridCol>
                <a:gridCol w="4906920">
                  <a:extLst>
                    <a:ext uri="{9D8B030D-6E8A-4147-A177-3AD203B41FA5}">
                      <a16:colId xmlns:a16="http://schemas.microsoft.com/office/drawing/2014/main" val="930109712"/>
                    </a:ext>
                  </a:extLst>
                </a:gridCol>
                <a:gridCol w="4906920">
                  <a:extLst>
                    <a:ext uri="{9D8B030D-6E8A-4147-A177-3AD203B41FA5}">
                      <a16:colId xmlns:a16="http://schemas.microsoft.com/office/drawing/2014/main" val="3752454222"/>
                    </a:ext>
                  </a:extLst>
                </a:gridCol>
              </a:tblGrid>
              <a:tr h="60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구분</a:t>
                      </a: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올리브영 쇼핑 큐레이터</a:t>
                      </a: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 err="1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쿠팡</a:t>
                      </a: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sz="1400" spc="-100" baseline="0" err="1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파트너스</a:t>
                      </a:r>
                      <a:endParaRPr lang="ko-KR" sz="1400" spc="-100" baseline="0">
                        <a:solidFill>
                          <a:srgbClr val="123C2B"/>
                        </a:solidFill>
                        <a:effectLst/>
                      </a:endParaRP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2899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고객 참여형 </a:t>
                      </a: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어필리에이트로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앱 내 전환 직결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외부 구매 링크로 연결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85538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운영 방식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개인 URL, 셔터, 인스타·블로그·틱톡·유튜브 추천 콘텐츠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고유 추적 링크 기반 외부 트래픽 확보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957152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콘텐츠 주제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올영세일 장바구니, 올영 웰니스 추천템, 구미 입문템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가격 비교, 제품 후기, 카테고리 추천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37087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기대 효과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앱 내 </a:t>
                      </a: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발견→구매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연결, 세일 기간 랭킹/매출 견인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외부 유입 보강, 접점에서 전환 링크 확보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06675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85FD8872-2405-6AF7-7AC6-C079F294C2D3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47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698A81-7D16-4AC6-DEA1-2862AC98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23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8C0BE4-2D5E-7CFB-F874-E8F84C13E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05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33262-1EEA-A619-58C0-36BCA3208D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Operation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577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3AF200-8F01-0D2D-9FF6-6B59777E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9B4AEB-A062-447F-3D85-0ABAEABC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캠페인 구조 전체 한판 요약 정리</a:t>
            </a:r>
            <a:br>
              <a:rPr lang="en-US" altLang="ko-KR"/>
            </a:br>
            <a:r>
              <a:rPr lang="en-US" altLang="ko-KR" spc="-100">
                <a:latin typeface="Pretendard"/>
                <a:cs typeface="Pretendard"/>
                <a:ea typeface="Pretendard"/>
              </a:rPr>
              <a:t>6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개월 운영 로드맵 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: 7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시작하고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9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증폭하고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12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대표성으로 착지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86975-BA3A-B0C1-7698-C9389EA56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A3DA0E-7454-98DD-BA05-B9AEE6400277}"/>
              </a:ext>
            </a:extLst>
          </p:cNvPr>
          <p:cNvSpPr/>
          <p:nvPr/>
        </p:nvSpPr>
        <p:spPr>
          <a:xfrm>
            <a:off x="336000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First Shot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 테스트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초기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랭킹 도화선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BE8D1-9FA1-19A4-0D5C-4DD608BE691B}"/>
              </a:ext>
            </a:extLst>
          </p:cNvPr>
          <p:cNvSpPr/>
          <p:nvPr/>
        </p:nvSpPr>
        <p:spPr>
          <a:xfrm>
            <a:off x="2281156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8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Proof Take-off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랭킹 증거 확산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51BE81-9CB1-345D-8DD6-BE7A9E971541}"/>
              </a:ext>
            </a:extLst>
          </p:cNvPr>
          <p:cNvSpPr/>
          <p:nvPr/>
        </p:nvSpPr>
        <p:spPr>
          <a:xfrm>
            <a:off x="4226311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Acceleration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전환 피크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CE3F7E-84F3-30FB-B877-E449B1ADA6C4}"/>
              </a:ext>
            </a:extLst>
          </p:cNvPr>
          <p:cNvSpPr/>
          <p:nvPr/>
        </p:nvSpPr>
        <p:spPr>
          <a:xfrm>
            <a:off x="6171467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Orbit Expansion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제품군 확장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A2EDE0-0837-0227-FED7-6162E98E5384}"/>
              </a:ext>
            </a:extLst>
          </p:cNvPr>
          <p:cNvSpPr/>
          <p:nvPr/>
        </p:nvSpPr>
        <p:spPr>
          <a:xfrm>
            <a:off x="8116623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Boost-up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관심 증폭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5EF9FF-09BC-5D04-DDEB-9DCC7977DF31}"/>
              </a:ext>
            </a:extLst>
          </p:cNvPr>
          <p:cNvSpPr/>
          <p:nvPr/>
        </p:nvSpPr>
        <p:spPr>
          <a:xfrm>
            <a:off x="10061778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Category Landing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세일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 착지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2C45812-6CAE-3A95-09B3-ACFDB6869817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724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월별 실행 타임라인 </a:t>
            </a:r>
            <a:r>
              <a:rPr kumimoji="0" lang="en-US" altLang="ko-KR" sz="22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액션플랜 </a:t>
            </a:r>
            <a:r>
              <a:rPr kumimoji="0" lang="en-US" altLang="ko-KR" sz="22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– 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견적 포함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72441" y="960120"/>
          <a:ext cx="11247118" cy="559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2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14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PHASE 1 · 빠른 반응 확보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PHASE 2 · 대표성 확장</a:t>
                      </a:r>
                    </a:p>
                  </a:txBody>
                  <a:tcPr marL="50800" marR="50800" marT="12700" marB="12700" anchor="ctr">
                    <a:solidFill>
                      <a:srgbClr val="70707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 (건당 비용)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8월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9월세일 사전부스팅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블프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58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45</a:t>
                      </a:r>
                    </a:p>
                  </a:txBody>
                  <a:tcPr marL="50800" marR="50800" marT="12700" marB="12700" anchor="ctr"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KOL 무가시딩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X(트위터) 시딩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파워페이지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커뮤니티 체험단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네이버 블로그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EGC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</a:t>
                      </a:r>
                      <a:endParaRPr sz="950" b="1">
                        <a:solidFill>
                          <a:srgbClr val="111111"/>
                        </a:solidFill>
                        <a:latin typeface="Pretendard"/>
                      </a:endParaRP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1,500,000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제작</a:t>
                      </a:r>
                      <a:endParaRPr sz="950" b="1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KV·디자인·영상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상시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어필리에이트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 쇼핑 큐레이터·누적 (명)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누적60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65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465건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95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예산 비중 / 금액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18%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5,500만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2.5억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705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견적서 </a:t>
            </a: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af-ZA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Quotation)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 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PB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 브랜드 빌딩 캠페인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단위 원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VAT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별도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880" y="960120"/>
          <a:ext cx="11064240" cy="537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세부 항목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수량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단가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금액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제작비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KV·디자인·영상·콘텐츠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제작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(EGC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제외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1식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67,300,000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 (인스타·유튜브)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400,000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56,250,000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 (트위터) 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 콘텐츠 바이럴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7,200,000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 (탑 3건)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3,750,000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 (올영 쇼핑 큐레이터)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누적 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공급가액 소계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부가가치세</a:t>
                      </a:r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(10%)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합계 금액 (VAT 포함)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275,000,000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940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07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3·4</a:t>
            </a:r>
            <a:r>
              <a:rPr kumimoji="0" lang="ko-KR" altLang="en-US" sz="30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분기 월별 액션플랜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착수 →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8·9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웨이브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→ 10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유지 →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11·12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웨이브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783080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7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41448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34256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9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7064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10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유지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-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확산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9872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11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12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97280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Phase 1 (7~9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빠른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반응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확보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일반식품</a:t>
            </a:r>
            <a:r>
              <a:rPr kumimoji="0" lang="en-US" altLang="ko-KR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심의불필요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선행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+ 8·9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웨이브로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전환</a:t>
            </a:r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af-ZA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Phase 2 (10~12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확장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11·12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웨이브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로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브랜드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착지</a:t>
            </a:r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14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7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First Shot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착수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“위닝 메시지 발굴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시딩 도화선 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이미지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소재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LMF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테스트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→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위닝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선별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일반식품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즉시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라이브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파이프라인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가이드→섭외→콘티→접수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챌린저스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가동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블로그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키워드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선점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프로세스 확립 및 구동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위닝 메시지 확정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후기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콘텐츠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(10%)</a:t>
            </a:r>
          </a:p>
        </p:txBody>
      </p:sp>
    </p:spTree>
    <p:extLst>
      <p:ext uri="{BB962C8B-B14F-4D97-AF65-F5344CB8AC3E}">
        <p14:creationId xmlns:p14="http://schemas.microsoft.com/office/powerpoint/2010/main" val="2247041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Proof Take-off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사전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“세일 전 인지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각인 확산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+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선택 증거 확보”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릴리즈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 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집중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합류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파워페이지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커뮤니티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체험단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탑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네이버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블로그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바이럴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완료분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업로드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‘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위’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키워드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플레이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가동 및 수량 누적 증대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af-ZA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EGC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구매 전환 최적화 콘텐츠 소재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웨이브로 사전 부스팅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검색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후기 증거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8월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50,000,000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(20%)</a:t>
            </a:r>
          </a:p>
        </p:txBody>
      </p:sp>
    </p:spTree>
    <p:extLst>
      <p:ext uri="{BB962C8B-B14F-4D97-AF65-F5344CB8AC3E}">
        <p14:creationId xmlns:p14="http://schemas.microsoft.com/office/powerpoint/2010/main" val="94346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9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Acceleration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구매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“확보한 증거로 올영세일 구매 전환 폭발”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올영세일 집중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 콘텐츠 동시 투입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퍼포먼스 매체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별첨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 가동 전환 유도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건기식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업로드 세일 직전 라이브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랭킹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혜택 결합 소재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매출 피크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카테고리 랭킹 상위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/1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65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50,000,000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(20%)</a:t>
            </a:r>
          </a:p>
        </p:txBody>
      </p:sp>
    </p:spTree>
    <p:extLst>
      <p:ext uri="{BB962C8B-B14F-4D97-AF65-F5344CB8AC3E}">
        <p14:creationId xmlns:p14="http://schemas.microsoft.com/office/powerpoint/2010/main" val="2348352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10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Orbit Expansion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유지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포트폴리오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유지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낙수효과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“구매 증거 기반 건기식 라인업 확장”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건기식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6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종 본격 콘텐츠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확장 메시지 테스트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위닝 소재 낙수 운영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유지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크로스셀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CRM 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 자산 확산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매출 유지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건기식 라인 인지 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(10%)</a:t>
            </a:r>
          </a:p>
        </p:txBody>
      </p:sp>
    </p:spTree>
    <p:extLst>
      <p:ext uri="{BB962C8B-B14F-4D97-AF65-F5344CB8AC3E}">
        <p14:creationId xmlns:p14="http://schemas.microsoft.com/office/powerpoint/2010/main" val="731226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11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Boost-up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재점화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“많이 보이고 많이 찾는 브랜드로 재점화”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재확대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체험단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탑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파워페이지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재가동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프로모션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연계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퍼포먼스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RTB+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혜택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결합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챌린저스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신뢰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자산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보강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시작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탐색량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관심층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45,000,000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(18%)</a:t>
            </a:r>
          </a:p>
        </p:txBody>
      </p:sp>
    </p:spTree>
    <p:extLst>
      <p:ext uri="{BB962C8B-B14F-4D97-AF65-F5344CB8AC3E}">
        <p14:creationId xmlns:p14="http://schemas.microsoft.com/office/powerpoint/2010/main" val="4004888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12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Category Landing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 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카테고리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대표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브랜드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착지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집중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라인업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 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릴리즈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바이럴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쟁임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재구매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CRM 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퍼포먼스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피크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매출 피크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대표성 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(22%)</a:t>
            </a:r>
          </a:p>
        </p:txBody>
      </p:sp>
    </p:spTree>
    <p:extLst>
      <p:ext uri="{BB962C8B-B14F-4D97-AF65-F5344CB8AC3E}">
        <p14:creationId xmlns:p14="http://schemas.microsoft.com/office/powerpoint/2010/main" val="33931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04 성과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주요 KPI — 플라이휠 단계별 성과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단순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노출’이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아닌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도는지를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봅니다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단계별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선행지표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최종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랭킹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1위’로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연결합니다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34645"/>
              </p:ext>
            </p:extLst>
          </p:nvPr>
        </p:nvGraphicFramePr>
        <p:xfrm>
          <a:off x="457200" y="1682496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플라이휠</a:t>
                      </a:r>
                      <a:r>
                        <a:rPr sz="1100" b="0" dirty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1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단계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핵심 KPI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목표 (6개월)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측정·근거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① 인지·시딩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UGC·시딩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대량 릴리즈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–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인지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각인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전환</a:t>
                      </a:r>
                      <a:br>
                        <a:rPr lang="en-US" sz="980" b="0" dirty="0">
                          <a:solidFill>
                            <a:srgbClr val="373734"/>
                          </a:solidFill>
                          <a:latin typeface="Pretendard"/>
                        </a:rPr>
                      </a:b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해시태그 개발 및 자산 축적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: #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오늘도배러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시딩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·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해시태그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 →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대폭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확대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해시태그·콘텐츠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집계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② 검증·신뢰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브랜드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버즈량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증대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(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 플랫폼 조회수 및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언급량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증대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)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검색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3,000 → 10,000 · </a:t>
                      </a:r>
                      <a:r>
                        <a:rPr lang="ko-KR" altLang="en-US"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버즈량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↑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네이버·구글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검색량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SNS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언급량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③ 전환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카테고리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랭킹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ROAS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EGC + Half EGC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 중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카테고리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1위 ·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구매 전환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ROAS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개선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랭킹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월간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리포트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지표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④ 재구매·확장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재구매율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CRM(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플친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)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유입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신규 고객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증대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/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신규 고객 유치 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/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재구매율 개선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VOC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딥다이브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CRM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종합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800" b="0" dirty="0" spc="-100">
                          <a:solidFill>
                            <a:srgbClr val="373734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 콘텐츠 멀티 채널 노출로 인한 구매 전환 극대화</a:t>
                      </a:r>
                      <a:endParaRPr sz="1800" b="1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71BBB2-1FB0-3D98-AB8E-8040BE8579E8}"/>
              </a:ext>
            </a:extLst>
          </p:cNvPr>
          <p:cNvSpPr txBox="1"/>
          <p:nvPr/>
        </p:nvSpPr>
        <p:spPr>
          <a:xfrm>
            <a:off x="457200" y="4814621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3,4Q : KPI</a:t>
            </a:r>
            <a:endParaRPr sz="12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01090-DC89-52D4-B6EE-968C62443EE2}"/>
              </a:ext>
            </a:extLst>
          </p:cNvPr>
          <p:cNvSpPr txBox="1"/>
          <p:nvPr/>
        </p:nvSpPr>
        <p:spPr>
          <a:xfrm>
            <a:off x="457200" y="5203546"/>
            <a:ext cx="8839200" cy="152605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크리에이터 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465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전체 조회수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1,000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만회 이상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lang="en-US" altLang="ko-KR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ugc+egc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파워페이지 등 항목 모두 포함 기준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브랜드 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버즈량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26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년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6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월 네이버 기준 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3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천 건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-&gt; 27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년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월 기준 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만 건 이상으로 증대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해시태그 개발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(#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오늘도배러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) 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누적 해시태그 수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450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 이상 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올리브영 제품 리뷰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합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1,000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 이상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어필리에이트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50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명 이상 구동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87295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90F8C5-8640-1C93-A185-2C39ABCB7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2C4061-4202-1282-2D2E-BD6E9BED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성과 리포팅 솔루션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639105-29AD-78BD-F426-5C54631C7A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420E84-8A41-DAD4-0030-E59F6E0B2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930B84-DC39-F66E-0E98-157F96240D45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UGC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현황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일간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주간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월간 리포팅 솔루션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57E2B8-0FAD-82E5-AB24-AECEF8EB9369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346BF58-0D49-84AC-B059-D5BC45FAF607}"/>
              </a:ext>
            </a:extLst>
          </p:cNvPr>
          <p:cNvSpPr/>
          <p:nvPr/>
        </p:nvSpPr>
        <p:spPr>
          <a:xfrm>
            <a:off x="1973323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489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547C94-3836-D76C-DC7C-BBAE6192B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01A7E25-F0EC-63D5-343E-D943D73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올영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PB TF 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인력 구성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1F892-3DD4-9041-7CB1-2EE2FF9978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E19130-C9A6-A2C7-ADAB-5182B6EF01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26DAB8-A044-3C34-1BB0-8E491850D8C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총괄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PM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급 시니어 마케터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 외 실무 리소스 필수 편성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A488242-D03B-E565-AD86-245AB03DA51B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71C04ED-AA45-61A2-FD86-A19A9D3D5883}"/>
              </a:ext>
            </a:extLst>
          </p:cNvPr>
          <p:cNvSpPr/>
          <p:nvPr/>
        </p:nvSpPr>
        <p:spPr>
          <a:xfrm>
            <a:off x="2031938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833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CADD9E-3028-443E-B2FA-D2F153A62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CAA8604-9F0B-6F76-E0AD-B9E32478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위기 대응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바이럴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/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캠페인 관리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DD086-53F3-4DC7-6CCC-24A38154F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07DBE4-BD6F-C3CB-52B8-B711B08644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79F2F68-9117-67F5-8367-EDD4CA4EC4B5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83C0C3-56FD-0B4B-96A4-3F7303E2D942}"/>
              </a:ext>
            </a:extLst>
          </p:cNvPr>
          <p:cNvSpPr/>
          <p:nvPr/>
        </p:nvSpPr>
        <p:spPr>
          <a:xfrm>
            <a:off x="1865862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636231"/>
      </p:ext>
    </p:extLst>
  </p:cSld>
  <p:clrMapOvr>
    <a:masterClrMapping/>
  </p:clrMapOvr>
</p:sld>
</file>

<file path=ppt/theme/theme1.xml><?xml version="1.0" encoding="utf-8"?>
<a:theme xmlns:a="http://schemas.openxmlformats.org/drawingml/2006/main" name="템플릿">
  <a:themeElements>
    <a:clrScheme name="브링그린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EFFA1"/>
      </a:accent1>
      <a:accent2>
        <a:srgbClr val="473417"/>
      </a:accent2>
      <a:accent3>
        <a:srgbClr val="09582F"/>
      </a:accent3>
      <a:accent4>
        <a:srgbClr val="8D9407"/>
      </a:accent4>
      <a:accent5>
        <a:srgbClr val="C5C22D"/>
      </a:accent5>
      <a:accent6>
        <a:srgbClr val="F3C8B7"/>
      </a:accent6>
      <a:hlink>
        <a:srgbClr val="002060"/>
      </a:hlink>
      <a:folHlink>
        <a:srgbClr val="7030A0"/>
      </a:folHlink>
    </a:clrScheme>
    <a:fontScheme name="Pretendar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spc="-1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8D940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B0402D-7E88-4D5C-A9A8-2F0EA6818A09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e9cfb9a7-9d4e-4dce-a84f-d929924d3fa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188254A4831924E9E526FF0216D0FCE" ma:contentTypeVersion="11" ma:contentTypeDescription="새 문서를 만듭니다." ma:contentTypeScope="" ma:versionID="1bb02867c5a856038820aef20790464f">
  <xsd:schema xmlns:xsd="http://www.w3.org/2001/XMLSchema" xmlns:xs="http://www.w3.org/2001/XMLSchema" xmlns:p="http://schemas.microsoft.com/office/2006/metadata/properties" xmlns:ns3="78bc5f6b-badd-460d-ba8a-1201f8f6e675" targetNamespace="http://schemas.microsoft.com/office/2006/metadata/properties" ma:root="true" ma:fieldsID="51f7113e8d95a19d7ec5283d7deef0b5" ns3:_="">
    <xsd:import namespace="78bc5f6b-badd-460d-ba8a-1201f8f6e6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c5f6b-badd-460d-ba8a-1201f8f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486CFE-C019-4074-91B6-53325BAF8ACE}">
  <ds:schemaRefs>
    <ds:schemaRef ds:uri="78bc5f6b-badd-460d-ba8a-1201f8f6e6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6D0546-D0F5-4AE2-AA49-2BA08653BF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4BEA04-9967-4FF0-AA38-3532F391796D}">
  <ds:schemaRefs>
    <ds:schemaRef ds:uri="78bc5f6b-badd-460d-ba8a-1201f8f6e6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5750</Words>
  <Application>Microsoft Office PowerPoint</Application>
  <PresentationFormat>와이드스크린</PresentationFormat>
  <Paragraphs>1139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Pretendard</vt:lpstr>
      <vt:lpstr>Pretendard ExtraBold</vt:lpstr>
      <vt:lpstr>Pretendard SemiBold</vt:lpstr>
      <vt:lpstr>Pretendard Thin</vt:lpstr>
      <vt:lpstr>맑은 고딕</vt:lpstr>
      <vt:lpstr>Arial</vt:lpstr>
      <vt:lpstr>템플릿</vt:lpstr>
      <vt:lpstr>올리브영 1등 달성 케이스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영상 콘텐츠 유형별 소개</vt:lpstr>
      <vt:lpstr>영상 콘텐츠 유형별 소개</vt:lpstr>
      <vt:lpstr>영상 콘텐츠 유형별 소개</vt:lpstr>
      <vt:lpstr>오프라인 인증형 시딩 콘텐츠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어필리에이트 - 추천 콘텐츠를 실제 구매 링크와 연결하는 전환형 바이럴</vt:lpstr>
      <vt:lpstr>PowerPoint 프레젠테이션</vt:lpstr>
      <vt:lpstr>올더베러 캠페인 구조 전체 한판 요약 정리 6개월 운영 로드맵 : 7월에 시작하고, 9월에 증폭하고, 12월에 대표성으로 착지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성과 리포팅 솔루션</vt:lpstr>
      <vt:lpstr>올영PB TF 인력 구성</vt:lpstr>
      <vt:lpstr>위기 대응, 바이럴/인플루언서 캠페인 관리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창현</dc:creator>
  <cp:lastModifiedBy>정 한솔</cp:lastModifiedBy>
  <cp:revision>27</cp:revision>
  <dcterms:created xsi:type="dcterms:W3CDTF">2024-02-22T09:08:38Z</dcterms:created>
  <dcterms:modified xsi:type="dcterms:W3CDTF">2026-06-17T03:05:24Z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0x010100F188254A4831924E9E526FF0216D0FCE</vt:lpwstr>
  </property>
</Properties>
</file>