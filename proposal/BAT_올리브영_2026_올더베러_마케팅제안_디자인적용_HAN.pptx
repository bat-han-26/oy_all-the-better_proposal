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42"/>
  </p:notesMasterIdLst>
  <p:sldIdLst>
    <p:sldId id="298" r:id="rId5"/>
    <p:sldId id="477" r:id="rId6"/>
    <p:sldId id="278" r:id="rId7"/>
    <p:sldId id="279" r:id="rId8"/>
    <p:sldId id="339" r:id="rId9"/>
    <p:sldId id="316" r:id="rId10"/>
    <p:sldId id="317" r:id="rId11"/>
    <p:sldId id="260" r:id="rId12"/>
    <p:sldId id="320" r:id="rId13"/>
    <p:sldId id="261" r:id="rId14"/>
    <p:sldId id="269" r:id="rId15"/>
    <p:sldId id="271" r:id="rId16"/>
    <p:sldId id="323" r:id="rId17"/>
    <p:sldId id="318" r:id="rId18"/>
    <p:sldId id="264" r:id="rId19"/>
    <p:sldId id="265" r:id="rId20"/>
    <p:sldId id="285" r:id="rId21"/>
    <p:sldId id="256" r:id="rId22"/>
    <p:sldId id="257" r:id="rId23"/>
    <p:sldId id="258" r:id="rId24"/>
    <p:sldId id="259" r:id="rId25"/>
    <p:sldId id="289" r:id="rId26"/>
    <p:sldId id="492" r:id="rId27"/>
    <p:sldId id="301" r:id="rId28"/>
    <p:sldId id="325" r:id="rId29"/>
    <p:sldId id="327" r:id="rId30"/>
    <p:sldId id="328" r:id="rId31"/>
    <p:sldId id="329" r:id="rId32"/>
    <p:sldId id="330" r:id="rId33"/>
    <p:sldId id="332" r:id="rId34"/>
    <p:sldId id="333" r:id="rId35"/>
    <p:sldId id="334" r:id="rId36"/>
    <p:sldId id="335" r:id="rId37"/>
    <p:sldId id="656" r:id="rId38"/>
    <p:sldId id="308" r:id="rId39"/>
    <p:sldId id="309" r:id="rId40"/>
    <p:sldId id="310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/>
        </p14:section>
        <p14:section name="마케팅 전략" id="{9A463C78-8A43-4488-9CF2-A5394164C7BA}">
          <p14:sldIdLst>
            <p14:sldId id="298"/>
          </p14:sldIdLst>
        </p14:section>
        <p14:section name="제품/메시지" id="{4C2FBB78-55B6-4239-86F3-D1FB6D3C14D1}">
          <p14:sldIdLst/>
        </p14:section>
        <p14:section name="시딩 콘텐츠" id="{C9C34570-2290-4482-9E21-5AC925D33EA9}">
          <p14:sldIdLst>
            <p14:sldId id="477"/>
            <p14:sldId id="278"/>
            <p14:sldId id="279"/>
            <p14:sldId id="339"/>
            <p14:sldId id="316"/>
            <p14:sldId id="317"/>
            <p14:sldId id="260"/>
            <p14:sldId id="320"/>
            <p14:sldId id="261"/>
            <p14:sldId id="269"/>
            <p14:sldId id="271"/>
            <p14:sldId id="323"/>
            <p14:sldId id="318"/>
            <p14:sldId id="264"/>
            <p14:sldId id="265"/>
          </p14:sldIdLst>
        </p14:section>
        <p14:section name="제목 없는 구역" id="{47AF6C90-DAB4-489C-8EB8-52136BDD03B2}">
          <p14:sldIdLst>
            <p14:sldId id="285"/>
            <p14:sldId id="256"/>
            <p14:sldId id="257"/>
            <p14:sldId id="258"/>
            <p14:sldId id="259"/>
            <p14:sldId id="289"/>
          </p14:sldIdLst>
        </p14:section>
        <p14:section name="퍼포먼스" id="{35C3748E-EDAA-4A66-9CEA-B432456A603C}">
          <p14:sldIdLst/>
        </p14:section>
        <p14:section name="캠페인 운영" id="{42D8A704-7E9A-42E1-875C-DAE71B83BA96}">
          <p14:sldIdLst>
            <p14:sldId id="492"/>
            <p14:sldId id="301"/>
            <p14:sldId id="325"/>
            <p14:sldId id="327"/>
            <p14:sldId id="328"/>
            <p14:sldId id="329"/>
            <p14:sldId id="330"/>
            <p14:sldId id="332"/>
            <p14:sldId id="333"/>
            <p14:sldId id="334"/>
            <p14:sldId id="335"/>
            <p14:sldId id="656"/>
            <p14:sldId id="308"/>
            <p14:sldId id="309"/>
            <p14:sldId id="310"/>
          </p14:sldIdLst>
        </p14:section>
        <p14:section name="BAT" id="{16FF30FD-B2BA-4FAC-807D-A972B58A6293}">
          <p14:sldIdLst/>
        </p14:section>
        <p14:section name="참고" id="{356D1AA8-4C46-49F4-8591-6CC421A77344}">
          <p14:sldIdLst/>
        </p14:section>
        <p14:section name="프레임" id="{3C9A946F-9589-479B-B5CC-691C667C751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FA1"/>
    <a:srgbClr val="181800"/>
    <a:srgbClr val="A9E5E6"/>
    <a:srgbClr val="3AB8B4"/>
    <a:srgbClr val="5FD0CE"/>
    <a:srgbClr val="3BB9B5"/>
    <a:srgbClr val="C5EDDE"/>
    <a:srgbClr val="67D3AF"/>
    <a:srgbClr val="E1F4EE"/>
    <a:srgbClr val="2BA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CF91B6-634C-38FC-AF5B-6594D1E385E6}" v="185" dt="2026-06-15T01:30:59.018"/>
    <p1510:client id="{3847A32F-0FA1-4441-B505-A451A9F777DC}" v="228" dt="2026-06-15T05:41:22.912"/>
    <p1510:client id="{4DD4FB08-4975-79BC-D48B-E864451E8A59}" v="2" dt="2026-06-15T04:31:16.804"/>
    <p1510:client id="{B98B7805-3BA1-C853-0501-DF3D16257B00}" v="2" dt="2026-06-15T01:45:06.111"/>
    <p1510:client id="{BA11F741-A463-3FF7-54F6-F469425BEA4F}" v="37" dt="2026-06-15T05:46:40.4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6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32A84A-51BF-48EE-974E-BD62FEF88C7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7883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/>
              <a:t>타이틀</a:t>
            </a:r>
            <a:br>
              <a:rPr lang="en-US" altLang="ko-KR"/>
            </a:br>
            <a:r>
              <a:rPr lang="ko-KR" altLang="en-US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/>
              <a:t>설명</a:t>
            </a:r>
            <a:endParaRPr lang="en-US" altLang="ko-KR"/>
          </a:p>
          <a:p>
            <a:pPr lvl="0"/>
            <a:r>
              <a:rPr lang="ko-KR" altLang="en-US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/>
              <a:t>타이틀</a:t>
            </a:r>
            <a:br>
              <a:rPr lang="en-US" altLang="ko-KR"/>
            </a:br>
            <a:r>
              <a:rPr lang="ko-KR" altLang="en-US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/>
              <a:t>설명</a:t>
            </a:r>
            <a:endParaRPr lang="en-US" altLang="ko-KR"/>
          </a:p>
          <a:p>
            <a:pPr lvl="0"/>
            <a:r>
              <a:rPr lang="ko-KR" altLang="en-US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/>
              <a:t>타이틀</a:t>
            </a:r>
            <a:br>
              <a:rPr lang="en-US" altLang="ko-KR"/>
            </a:br>
            <a:r>
              <a:rPr lang="ko-KR" altLang="en-US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/>
              <a:t>설명</a:t>
            </a:r>
            <a:endParaRPr lang="en-US" altLang="ko-KR"/>
          </a:p>
          <a:p>
            <a:pPr lvl="0"/>
            <a:r>
              <a:rPr lang="ko-KR" altLang="en-US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>
                <a:solidFill>
                  <a:schemeClr val="tx1"/>
                </a:solidFill>
              </a:rPr>
              <a:t>© 2026 BAT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파트 간지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파트 중간 간지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938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err="1"/>
              <a:t>강조색</a:t>
            </a:r>
            <a:r>
              <a:rPr lang="ko-KR" altLang="en-US" b="1" spc="-100" baseline="0"/>
              <a:t> </a:t>
            </a:r>
            <a:r>
              <a:rPr lang="en-US" altLang="ko-KR" b="1" spc="-100" baseline="0"/>
              <a:t>1</a:t>
            </a:r>
            <a:endParaRPr lang="ko-KR" altLang="en-US" b="1" spc="-100" baseline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/>
              <a:t>서브 컬러 </a:t>
            </a:r>
            <a:r>
              <a:rPr lang="en-US" altLang="ko-KR" b="1" spc="-100" baseline="0"/>
              <a:t>2</a:t>
            </a:r>
            <a:endParaRPr lang="ko-KR" altLang="en-US" b="1" spc="-100" baseline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err="1"/>
              <a:t>강조색</a:t>
            </a:r>
            <a:r>
              <a:rPr lang="ko-KR" altLang="en-US" b="1" spc="-100" baseline="0"/>
              <a:t> </a:t>
            </a:r>
            <a:r>
              <a:rPr lang="en-US" altLang="ko-KR" b="1" spc="-100" baseline="0"/>
              <a:t>2</a:t>
            </a:r>
            <a:endParaRPr lang="ko-KR" altLang="en-US" b="1" spc="-100" baseline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/>
              <a:t>서브 컬러 </a:t>
            </a:r>
            <a:r>
              <a:rPr lang="en-US" altLang="ko-KR" b="1" spc="-100" baseline="0"/>
              <a:t>1</a:t>
            </a:r>
            <a:endParaRPr lang="ko-KR" altLang="en-US" b="1" spc="-100" baseline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/>
              <a:t>서브 컬러 </a:t>
            </a:r>
            <a:r>
              <a:rPr lang="en-US" altLang="ko-KR" b="1" spc="-100" baseline="0"/>
              <a:t>3</a:t>
            </a:r>
            <a:endParaRPr lang="ko-KR" altLang="en-US" b="1" spc="-100" baseline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  <p:sldLayoutId id="2147483732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pc="-100">
                <a:latin typeface="Pretendard"/>
                <a:cs typeface="Pretendard"/>
                <a:ea typeface="Pretendard"/>
              </a:rPr>
              <a:t>올리브영 </a:t>
            </a:r>
            <a:r>
              <a:rPr lang="en-US" altLang="ko-KR" dirty="0" spc="-100">
                <a:latin typeface="Pretendard"/>
                <a:cs typeface="Pretendard"/>
                <a:ea typeface="Pretendard"/>
              </a:rPr>
              <a:t>1</a:t>
            </a:r>
            <a:r>
              <a:rPr lang="ko-KR" altLang="en-US" dirty="0" spc="-100">
                <a:latin typeface="Pretendard"/>
                <a:cs typeface="Pretendard"/>
                <a:ea typeface="Pretendard"/>
              </a:rPr>
              <a:t>등 달성 케이스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289663"/>
            <a:ext cx="11338560" cy="2026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우리가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올리브영에서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직접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만든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성과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—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매체·데이터·크리에이티브·시딩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역량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성공 방식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모두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올더베러</a:t>
            </a:r>
            <a:r>
              <a:rPr kumimoji="0" lang="en-US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1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캠페인 이식</a:t>
            </a:r>
            <a:endParaRPr kumimoji="0" sz="1150" b="0" i="0" u="none" strike="noStrike" kern="1200" cap="none" spc="0" normalizeH="0" baseline="0" noProof="0">
              <a:ln>
                <a:noFill/>
              </a:ln>
              <a:solidFill>
                <a:srgbClr val="787872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1764792"/>
            <a:ext cx="2450592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매체 · 퍼포먼스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B2B2AA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올영세일 운영·타겟·IP 매체로 ROAS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95728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3504" y="2487168"/>
            <a:ext cx="2432304" cy="7254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올영세일</a:t>
            </a:r>
            <a:r>
              <a:rPr kumimoji="0" sz="110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110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메타</a:t>
            </a:r>
            <a:r>
              <a:rPr kumimoji="0" sz="110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CPM </a:t>
            </a:r>
            <a:r>
              <a:rPr kumimoji="0" sz="110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위기</a:t>
            </a:r>
            <a:r>
              <a:rPr kumimoji="0" sz="110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110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대응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141412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6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고CPM</a:t>
            </a:r>
            <a:r>
              <a:rPr kumimoji="0" sz="86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86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OFF→구매잠재</a:t>
            </a:r>
            <a:r>
              <a:rPr kumimoji="0" sz="86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sz="86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기프트카드·쿠폰</a:t>
            </a:r>
            <a:r>
              <a:rPr kumimoji="0" sz="86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)·</a:t>
            </a:r>
            <a:r>
              <a:rPr kumimoji="0" sz="86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어드밴티지</a:t>
            </a:r>
            <a:r>
              <a:rPr kumimoji="0" sz="86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86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재구성</a:t>
            </a:r>
            <a:endParaRPr kumimoji="0" sz="860" b="0" i="0" u="none" strike="noStrike" kern="1200" cap="none" spc="0" normalizeH="0" baseline="0" noProof="0">
              <a:ln>
                <a:noFill/>
              </a:ln>
              <a:solidFill>
                <a:srgbClr val="787872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3212592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3212592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3504" y="3249168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CPM 210,158→12,033원 · ROAS 324→515%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79519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3504" y="3870959"/>
            <a:ext cx="2432304" cy="7254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올영세일 사전 캠페인 목표 검증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6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장바구니 vs 구매 목표 동시 운영·연계 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96384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4596384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03504" y="4632960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본행사 장바구니 ROAS 1,180% vs 구매 699%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3312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3504" y="5254751"/>
            <a:ext cx="2432304" cy="7254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IP·모델 맞춤 매체 발굴 (브링그린·컬러그램)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6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X 커스텀라이크+GFA / 인스티즈 신규 발굴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0176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03504" y="6016752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검색 9K→140K(15배) · 인스티즈 노출 733만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0984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447288" y="1764792"/>
            <a:ext cx="2450592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데이터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B2B2AA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리뷰·VOC를 직접 수집·분석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47288" y="2487168"/>
            <a:ext cx="2432304" cy="3474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올리브영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VOC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리뷰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크롤링</a:t>
            </a: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115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리포트</a:t>
            </a:r>
            <a:endParaRPr kumimoji="0" sz="1150" b="1" i="0" u="none" strike="noStrike" kern="1200" cap="none" spc="0" normalizeH="0" baseline="0" noProof="0">
              <a:ln>
                <a:noFill/>
              </a:ln>
              <a:solidFill>
                <a:srgbClr val="141412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문제</a:t>
            </a: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기존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리스닝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툴로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구매자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리뷰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맥락·진정성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파악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한계</a:t>
            </a:r>
            <a:endParaRPr kumimoji="0" sz="930" b="0" i="0" u="none" strike="noStrike" kern="1200" cap="none" spc="0" normalizeH="0" baseline="0" noProof="0">
              <a:ln>
                <a:noFill/>
              </a:ln>
              <a:solidFill>
                <a:srgbClr val="373734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실행</a:t>
            </a: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파이썬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크롤러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자체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개발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+ R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빈도·키워드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분석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, ‘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상황·목적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’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중심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분류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→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검색·SNS·리뷰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연계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종합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리포트</a:t>
            </a:r>
            <a:endParaRPr kumimoji="0" sz="930" b="0" i="0" u="none" strike="noStrike" kern="1200" cap="none" spc="0" normalizeH="0" baseline="0" noProof="0">
              <a:ln>
                <a:noFill/>
              </a:ln>
              <a:solidFill>
                <a:srgbClr val="373734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올더베러</a:t>
            </a: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850" b="0" i="0" u="none" strike="noStrike" kern="1200" cap="none" spc="-100" normalizeH="0" baseline="0" noProof="0" err="1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적용</a:t>
            </a: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올더베러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VOC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딥다이브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대시보드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히어로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3종·리뷰 1,104건)로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이미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sz="930" b="0" i="0" u="none" strike="noStrike" kern="1200" cap="none" spc="-100" normalizeH="0" baseline="0" noProof="0" err="1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구현</a:t>
            </a:r>
            <a:endParaRPr kumimoji="0" sz="930" b="1" i="0" u="none" strike="noStrike" kern="1200" cap="none" spc="0" normalizeH="0" baseline="0" noProof="0">
              <a:ln>
                <a:noFill/>
              </a:ln>
              <a:solidFill>
                <a:srgbClr val="141412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300984" y="5980176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300984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447288" y="6016752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올영 타 브랜드 추가 리포트 요청 연쇄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291072" y="1764792"/>
            <a:ext cx="2450592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크리에이티브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B2B2AA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감도 × 성과를 잇는 소재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2395728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291072" y="2487168"/>
            <a:ext cx="2432304" cy="13990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‘써먹히는’ 소재 가이드 (브링그린·웨이크메이크)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문제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감도 vs 성과 기준 모호 → 컨펌 지연·QC 혼선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실행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목적 중심 분류(USP형/프로모션형)+비주얼 키워드화(CLEAN·COOL·DYNAMIC)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4768" y="3904487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144768" y="3904487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291072" y="3941063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빅&amp;스몰웨이브 실행 구조로 정착·내부 공유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471416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291072" y="4562856"/>
            <a:ext cx="2432304" cy="13990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웨이크메이크 산리오 콜라보 스프레이AI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문제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3~40개 브랜드 동시 콜라보·색조 경쟁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실행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맞춤 크리에이터+스프레이AI·메타 파트너십·틱톡 미러링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5980176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144768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291072" y="6016752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파트너십 ROAS 127→356→589% · CPC -38%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88552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134856" y="1764792"/>
            <a:ext cx="2450592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인플루언서 · 시딩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B2B2AA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맞춤 크리에이터·시딩으로 바이럴·전환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88552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34856" y="2487168"/>
            <a:ext cx="2432304" cy="3474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바이오힐 보(US) 시딩 콘텐츠 기획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문제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B&amp;A 컷 확보 불가(인플 대부분 20대)·짧은 일정 내 바이럴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실행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373734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‘노인 필터’ 역발상+감정 트리거 자막, 나노 인플·실시간 QC·부정댓글 모니터링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올더베러 적용  </a:t>
            </a:r>
            <a:r>
              <a:rPr kumimoji="0" sz="93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올더베러 마이크로/나노 시딩 앵글·역발상 훅 설계에 적용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8552" y="5980176"/>
            <a:ext cx="2724912" cy="457200"/>
          </a:xfrm>
          <a:prstGeom prst="rect">
            <a:avLst/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8988552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134856" y="6016752"/>
            <a:ext cx="2450592" cy="4023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-100" normalizeH="0" baseline="0" noProof="0">
                <a:ln>
                  <a:noFill/>
                </a:ln>
                <a:solidFill>
                  <a:srgbClr val="78787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 </a:t>
            </a:r>
            <a:r>
              <a:rPr kumimoji="0" sz="980" b="0" i="0" u="none" strike="noStrike" kern="1200" cap="none" spc="-100" normalizeH="0" baseline="0" noProof="0">
                <a:ln>
                  <a:noFill/>
                </a:ln>
                <a:solidFill>
                  <a:srgbClr val="141412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틱톡 75만 뷰 · CPV 3원(업계 1/5) · 공유 601건</a:t>
            </a:r>
          </a:p>
        </p:txBody>
      </p:sp>
    </p:spTree>
    <p:extLst>
      <p:ext uri="{BB962C8B-B14F-4D97-AF65-F5344CB8AC3E}">
        <p14:creationId xmlns:p14="http://schemas.microsoft.com/office/powerpoint/2010/main" val="1162586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spc="-100">
                <a:latin typeface="Pretendard"/>
                <a:cs typeface="Pretendard"/>
                <a:ea typeface="Pretendard"/>
              </a:rPr>
              <a:t>03</a:t>
            </a:r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pc="-100">
                <a:latin typeface="Pretendard"/>
                <a:cs typeface="Pretendard"/>
                <a:ea typeface="Pretendard"/>
              </a:rPr>
              <a:t>Seeding Content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dirty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02_A </a:t>
            </a:r>
            <a:r>
              <a:rPr sz="1250" b="0" dirty="0" err="1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올더베러</a:t>
            </a:r>
            <a:r>
              <a:rPr sz="1250" b="0" dirty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250" b="0" dirty="0" err="1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시딩</a:t>
            </a:r>
            <a:r>
              <a:rPr lang="ko-KR" altLang="en-US" sz="1250" b="0" dirty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 콘텐츠 </a:t>
            </a:r>
            <a:r>
              <a:rPr sz="1250" b="0" dirty="0" err="1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프레임워크</a:t>
            </a:r>
            <a:endParaRPr sz="1250" b="1" dirty="0">
              <a:solidFill>
                <a:srgbClr val="787872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972800" cy="44114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플라이휠</a:t>
            </a:r>
            <a:r>
              <a:rPr sz="27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(Flywheel)</a:t>
            </a:r>
            <a:r>
              <a:rPr lang="en-US" sz="27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endParaRPr sz="2700" b="1" dirty="0">
              <a:solidFill>
                <a:srgbClr val="14141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3339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질량이 크거나 더 빠르게 회전할수록 더 많은 에너지를 저장하는 </a:t>
            </a:r>
            <a:r>
              <a:rPr lang="ko-KR" altLang="en-US" sz="13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플라이휠</a:t>
            </a:r>
            <a:r>
              <a:rPr lang="ko-KR" altLang="en-US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3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처럼</a:t>
            </a:r>
            <a:r>
              <a:rPr lang="en-US" altLang="ko-KR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,</a:t>
            </a:r>
            <a:r>
              <a:rPr lang="ko-KR" altLang="en-US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3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올더베러의</a:t>
            </a:r>
            <a:r>
              <a:rPr lang="ko-KR" altLang="en-US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엔진은 무겁지만 강렬하게 돌아가기 시작 합니다</a:t>
            </a:r>
            <a:r>
              <a:rPr lang="en-US" altLang="ko-KR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  <a:endParaRPr sz="1350" b="1" dirty="0">
              <a:solidFill>
                <a:srgbClr val="373734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278892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194560"/>
            <a:ext cx="2468880" cy="2564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200"/>
              </a:spcAft>
            </a:pPr>
            <a:r>
              <a:rPr sz="15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플라이휠</a:t>
            </a:r>
            <a:r>
              <a:rPr lang="en-US" sz="15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ko-KR" sz="1200" b="0" dirty="0" err="1" spc="-100">
                <a:latin typeface="Pretendard ExtraBold"/>
                <a:cs typeface="Pretendard ExtraBold"/>
                <a:ea typeface="Pretendard ExtraBold"/>
              </a:rPr>
              <a:t>E</a:t>
            </a:r>
            <a:r>
              <a:rPr lang="ko-KR" altLang="ko-KR" sz="1200" b="0" dirty="0" spc="-100">
                <a:latin typeface="Pretendard ExtraBold"/>
                <a:cs typeface="Pretendard ExtraBold"/>
                <a:ea typeface="Pretendard ExtraBold"/>
              </a:rPr>
              <a:t>=21​Iω2</a:t>
            </a:r>
            <a:endParaRPr sz="1200" b="1" dirty="0">
              <a:solidFill>
                <a:srgbClr val="141412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58368" y="2596896"/>
            <a:ext cx="2487168" cy="276998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멈춰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있는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바퀴는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처음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’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돌리기가</a:t>
            </a:r>
            <a:endParaRPr sz="1100" b="0" dirty="0">
              <a:solidFill>
                <a:srgbClr val="373734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가장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무겁습니다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</a:t>
            </a:r>
          </a:p>
          <a:p>
            <a:pPr algn="l">
              <a:spcAft>
                <a:spcPts val="200"/>
              </a:spcAft>
            </a:pPr>
            <a:endParaRPr sz="1100" b="0" dirty="0">
              <a:solidFill>
                <a:srgbClr val="373734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그러나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한번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돌기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시작하면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관성과</a:t>
            </a:r>
            <a:endParaRPr sz="1100" b="0" dirty="0">
              <a:solidFill>
                <a:srgbClr val="373734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가속이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붙어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점점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적은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힘으로</a:t>
            </a:r>
            <a:endParaRPr sz="1100" b="0" dirty="0">
              <a:solidFill>
                <a:srgbClr val="373734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더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빠르게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돕니다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</a:t>
            </a:r>
          </a:p>
          <a:p>
            <a:pPr algn="l">
              <a:spcAft>
                <a:spcPts val="200"/>
              </a:spcAft>
            </a:pPr>
            <a:endParaRPr sz="1100" b="0" dirty="0">
              <a:solidFill>
                <a:srgbClr val="373734"/>
              </a:solidFill>
            </a:endParaRPr>
          </a:p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올더베러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시딩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콘텐츠도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같은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원리입니다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가장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무거운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첫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바퀴를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ko-KR" altLang="en-US" sz="11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이미 시장에 검증된 </a:t>
            </a:r>
            <a:r>
              <a:rPr lang="ko-KR" altLang="en-US" sz="110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인플루언서</a:t>
            </a:r>
            <a:r>
              <a:rPr lang="ko-KR" altLang="en-US" sz="11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콘텐츠의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힘으로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밀어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돌리면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후기·신뢰·전환·재구매가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연료가</a:t>
            </a:r>
            <a:r>
              <a:rPr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되어</a:t>
            </a:r>
            <a:r>
              <a:rPr lang="en-US" sz="11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ko-KR" altLang="en-US" sz="11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더 빠르고 강력하게 </a:t>
            </a:r>
            <a:r>
              <a:rPr sz="11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가속</a:t>
            </a:r>
            <a:r>
              <a:rPr lang="ko-KR" altLang="en-US"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하는</a:t>
            </a:r>
            <a:r>
              <a:rPr lang="en-US" altLang="ko-KR"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멈추지 않는 성장 동력을 얻을 수 있습니다</a:t>
            </a:r>
            <a:r>
              <a:rPr lang="en-US" altLang="ko-KR" sz="11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</a:t>
            </a:r>
            <a:endParaRPr sz="1100" b="0" dirty="0">
              <a:solidFill>
                <a:srgbClr val="373734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4468367" y="2395728"/>
            <a:ext cx="3255264" cy="3255264"/>
          </a:xfrm>
          <a:prstGeom prst="ellipse">
            <a:avLst/>
          </a:prstGeom>
          <a:noFill/>
          <a:ln w="38100">
            <a:solidFill>
              <a:srgbClr val="B0B0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13500000">
            <a:off x="7100605" y="5018821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Isosceles Triangle 11"/>
          <p:cNvSpPr/>
          <p:nvPr/>
        </p:nvSpPr>
        <p:spPr>
          <a:xfrm rot="18900000">
            <a:off x="4798786" y="5018821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Isosceles Triangle 12"/>
          <p:cNvSpPr/>
          <p:nvPr/>
        </p:nvSpPr>
        <p:spPr>
          <a:xfrm rot="2700000">
            <a:off x="4798786" y="2717002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Isosceles Triangle 13"/>
          <p:cNvSpPr/>
          <p:nvPr/>
        </p:nvSpPr>
        <p:spPr>
          <a:xfrm rot="8100000">
            <a:off x="7100605" y="2717002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2767" y="3310128"/>
            <a:ext cx="1426464" cy="1426464"/>
          </a:xfrm>
          <a:prstGeom prst="ellips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82767" y="3639312"/>
            <a:ext cx="1426464" cy="2718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올더베러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2767" y="4059936"/>
            <a:ext cx="1426464" cy="187231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FLYWHEEL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1600" y="1975104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81600" y="2103120"/>
            <a:ext cx="18288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① </a:t>
            </a:r>
            <a:r>
              <a:rPr lang="ko-KR" altLang="en-US" sz="12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인플루언서</a:t>
            </a:r>
            <a:r>
              <a:rPr lang="ko-KR" altLang="en-US"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시딩</a:t>
            </a:r>
            <a:endParaRPr sz="1250" b="1" dirty="0">
              <a:solidFill>
                <a:srgbClr val="14141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181600" y="2414016"/>
            <a:ext cx="1828800" cy="17184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콘텐츠·후기 볼륨 (첫 바퀴)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4481" y="3602736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04481" y="3730752"/>
            <a:ext cx="18288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② 신뢰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4481" y="4041648"/>
            <a:ext cx="1828800" cy="17184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다수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반복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노출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→ </a:t>
            </a:r>
            <a:r>
              <a:rPr lang="ko-KR" altLang="en-US"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각인</a:t>
            </a:r>
            <a:endParaRPr sz="950" b="1" dirty="0">
              <a:solidFill>
                <a:srgbClr val="78787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181600" y="5230368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81600" y="5358384"/>
            <a:ext cx="18288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③ </a:t>
            </a:r>
            <a:r>
              <a:rPr sz="12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전환·랭킹</a:t>
            </a:r>
            <a:endParaRPr sz="1250" b="1" dirty="0">
              <a:solidFill>
                <a:srgbClr val="141412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81600" y="5669280"/>
            <a:ext cx="1828800" cy="17184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위닝</a:t>
            </a:r>
            <a:r>
              <a:rPr lang="ko-KR" altLang="en-US"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소재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·</a:t>
            </a: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PA·올영세일</a:t>
            </a:r>
            <a:endParaRPr sz="950" b="1" dirty="0">
              <a:solidFill>
                <a:srgbClr val="78787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458717" y="3602736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58717" y="3730752"/>
            <a:ext cx="18288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④ 재구매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8717" y="4041648"/>
            <a:ext cx="1828800" cy="17184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후기·CRM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(</a:t>
            </a: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다음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연료</a:t>
            </a:r>
            <a:r>
              <a:rPr sz="9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4400" y="1792224"/>
            <a:ext cx="2743200" cy="187231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↑ 가장 무거운 첫 바퀴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42832" y="1783080"/>
            <a:ext cx="2788920" cy="4114800"/>
          </a:xfrm>
          <a:prstGeom prst="roundRect">
            <a:avLst>
              <a:gd name="adj" fmla="val 6000"/>
            </a:avLst>
          </a:prstGeom>
          <a:solidFill>
            <a:srgbClr val="FBF6CE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68612" y="1938528"/>
            <a:ext cx="1737360" cy="19492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작동 원리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7803" y="2240280"/>
            <a:ext cx="2498979" cy="932688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77325" y="2331720"/>
            <a:ext cx="2498979" cy="6899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1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(1). </a:t>
            </a:r>
            <a:r>
              <a:rPr lang="ko-KR" altLang="en-US" sz="11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정지 마찰 돌파 </a:t>
            </a:r>
            <a:r>
              <a:rPr lang="en-US" altLang="ko-KR" sz="11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: 7-8</a:t>
            </a:r>
            <a:r>
              <a:rPr lang="ko-KR" altLang="en-US" sz="11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월</a:t>
            </a:r>
            <a:endParaRPr sz="1150" b="1" dirty="0">
              <a:solidFill>
                <a:srgbClr val="FFFFFF"/>
              </a:solidFill>
            </a:endParaRPr>
          </a:p>
          <a:p>
            <a:pPr algn="ctr"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다수 마이크로</a:t>
            </a:r>
            <a:r>
              <a:rPr lang="en-US" altLang="ko-KR" sz="1000" b="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-</a:t>
            </a:r>
            <a:r>
              <a:rPr lang="ko-KR" altLang="en-US" sz="1000" b="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나노 </a:t>
            </a:r>
            <a:r>
              <a:rPr lang="ko-KR" altLang="en-US" sz="1000" b="0" dirty="0" err="1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인플루언서</a:t>
            </a:r>
            <a:r>
              <a:rPr lang="ko-KR" altLang="en-US" sz="1000" b="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ko-KR" altLang="en-US" sz="1000" b="0" dirty="0" err="1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시딩을</a:t>
            </a:r>
            <a:r>
              <a:rPr lang="ko-KR" altLang="en-US" sz="1000" b="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 시작으로 </a:t>
            </a:r>
            <a:r>
              <a:rPr lang="en-US" altLang="ko-KR" sz="1000" b="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UGC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 콘텐츠 바이럴이 스프레드 되며 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‘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많이 보이는 제품으로 점화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’</a:t>
            </a:r>
            <a:endParaRPr sz="1000" b="0" dirty="0">
              <a:solidFill>
                <a:srgbClr val="E6E6DD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9087803" y="3310128"/>
            <a:ext cx="249897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77325" y="3527686"/>
            <a:ext cx="2498979" cy="49757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altLang="ko-KR" sz="1100" b="0" dirty="0" spc="-100">
                <a:latin typeface="Pretendard ExtraBold"/>
                <a:cs typeface="Pretendard ExtraBold"/>
                <a:ea typeface="Pretendard ExtraBold"/>
              </a:rPr>
              <a:t>(2). </a:t>
            </a:r>
            <a:r>
              <a:rPr lang="ko-KR" altLang="en-US" sz="1100" b="0" dirty="0" spc="-100">
                <a:latin typeface="Pretendard ExtraBold"/>
                <a:cs typeface="Pretendard ExtraBold"/>
                <a:ea typeface="Pretendard ExtraBold"/>
              </a:rPr>
              <a:t>관성</a:t>
            </a:r>
            <a:r>
              <a:rPr lang="en-US" altLang="ko-KR" sz="1100" b="0" dirty="0" spc="-100">
                <a:latin typeface="Pretendard ExtraBold"/>
                <a:cs typeface="Pretendard ExtraBold"/>
                <a:ea typeface="Pretendard ExtraBold"/>
              </a:rPr>
              <a:t>-</a:t>
            </a:r>
            <a:r>
              <a:rPr lang="ko-KR" altLang="en-US" sz="1100" b="0" dirty="0" spc="-100">
                <a:latin typeface="Pretendard ExtraBold"/>
                <a:cs typeface="Pretendard ExtraBold"/>
                <a:ea typeface="Pretendard ExtraBold"/>
              </a:rPr>
              <a:t>복리 </a:t>
            </a:r>
            <a:r>
              <a:rPr lang="en-US" altLang="ko-KR" sz="1100" b="0" dirty="0" spc="-100">
                <a:latin typeface="Pretendard ExtraBold"/>
                <a:cs typeface="Pretendard ExtraBold"/>
                <a:ea typeface="Pretendard ExtraBold"/>
              </a:rPr>
              <a:t>: 9-11</a:t>
            </a:r>
            <a:r>
              <a:rPr lang="ko-KR" altLang="en-US" sz="1100" b="0" dirty="0" spc="-100">
                <a:latin typeface="Pretendard ExtraBold"/>
                <a:cs typeface="Pretendard ExtraBold"/>
                <a:ea typeface="Pretendard ExtraBold"/>
              </a:rPr>
              <a:t>월</a:t>
            </a:r>
            <a:endParaRPr lang="en-US" altLang="ko-KR" sz="1100" b="1" dirty="0"/>
          </a:p>
          <a:p>
            <a:pPr algn="ctr">
              <a:spcAft>
                <a:spcPts val="200"/>
              </a:spcAft>
            </a:pP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후기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-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신뢰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-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전환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-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랭킹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-</a:t>
            </a:r>
            <a:r>
              <a:rPr lang="ko-KR" altLang="en-US" sz="900" dirty="0" err="1" spc="-100">
                <a:latin typeface="Pretendard"/>
                <a:cs typeface="Pretendard"/>
                <a:ea typeface="Pretendard"/>
              </a:rPr>
              <a:t>재노출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 고리가 스스로 돌고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z="900" dirty="0" err="1" spc="-100">
                <a:latin typeface="Pretendard"/>
                <a:cs typeface="Pretendard"/>
                <a:ea typeface="Pretendard"/>
              </a:rPr>
              <a:t>위닝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 콘텐츠를 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PA, </a:t>
            </a:r>
            <a:r>
              <a:rPr lang="ko-KR" altLang="en-US" sz="900" dirty="0" err="1" spc="-100">
                <a:latin typeface="Pretendard"/>
                <a:cs typeface="Pretendard"/>
                <a:ea typeface="Pretendard"/>
              </a:rPr>
              <a:t>인앱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 </a:t>
            </a:r>
            <a:r>
              <a:rPr lang="en-US" altLang="ko-KR" sz="900" dirty="0" spc="-100">
                <a:latin typeface="Pretendard"/>
                <a:cs typeface="Pretendard"/>
                <a:ea typeface="Pretendard"/>
              </a:rPr>
              <a:t>AD</a:t>
            </a:r>
            <a:r>
              <a:rPr lang="ko-KR" altLang="en-US" sz="900" dirty="0" spc="-100">
                <a:latin typeface="Pretendard"/>
                <a:cs typeface="Pretendard"/>
                <a:ea typeface="Pretendard"/>
              </a:rPr>
              <a:t> 등 </a:t>
            </a:r>
            <a:r>
              <a:rPr lang="ko-KR" altLang="en-US" sz="900" dirty="0" err="1" spc="-100">
                <a:latin typeface="Pretendard"/>
                <a:cs typeface="Pretendard"/>
                <a:ea typeface="Pretendard"/>
              </a:rPr>
              <a:t>재투입</a:t>
            </a:r>
            <a:endParaRPr lang="ko-KR" altLang="en-US" sz="900" dirty="0"/>
          </a:p>
        </p:txBody>
      </p:sp>
      <p:sp>
        <p:nvSpPr>
          <p:cNvPr id="37" name="Rounded Rectangle 36"/>
          <p:cNvSpPr/>
          <p:nvPr/>
        </p:nvSpPr>
        <p:spPr>
          <a:xfrm>
            <a:off x="9087803" y="4379976"/>
            <a:ext cx="2498979" cy="960120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77325" y="4480560"/>
            <a:ext cx="2498979" cy="72327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altLang="ko-KR" sz="12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(3). </a:t>
            </a:r>
            <a:r>
              <a:rPr lang="ko-KR" altLang="en-US" sz="12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자가가속 </a:t>
            </a:r>
            <a:r>
              <a:rPr lang="en-US" altLang="ko-KR" sz="12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: 12</a:t>
            </a:r>
            <a:r>
              <a:rPr lang="ko-KR" altLang="en-US" sz="12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월</a:t>
            </a:r>
            <a:r>
              <a:rPr lang="en-US" altLang="ko-KR" sz="12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~</a:t>
            </a:r>
          </a:p>
          <a:p>
            <a:pPr algn="ctr">
              <a:spcAft>
                <a:spcPts val="200"/>
              </a:spcAft>
            </a:pP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후기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-CRM-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재구매가 다음 </a:t>
            </a:r>
            <a:r>
              <a:rPr lang="ko-KR" altLang="en-US" sz="1000" dirty="0" err="1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시딩의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 연료</a:t>
            </a:r>
            <a:endParaRPr lang="en-US" altLang="ko-KR" sz="1000" dirty="0">
              <a:solidFill>
                <a:srgbClr val="E6E6DD"/>
              </a:solidFill>
            </a:endParaRPr>
          </a:p>
          <a:p>
            <a:pPr algn="ctr">
              <a:spcAft>
                <a:spcPts val="200"/>
              </a:spcAft>
            </a:pP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적은 힘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(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비용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시간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)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으로 더 빠르게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내년 </a:t>
            </a:r>
            <a:r>
              <a:rPr lang="en-US" altLang="ko-KR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1Q</a:t>
            </a:r>
            <a:r>
              <a:rPr lang="ko-KR" altLang="en-US" sz="1000" dirty="0" spc="-100">
                <a:solidFill>
                  <a:srgbClr val="E6E6DD"/>
                </a:solidFill>
                <a:latin typeface="Pretendard"/>
                <a:cs typeface="Pretendard"/>
                <a:ea typeface="Pretendard"/>
              </a:rPr>
              <a:t>를 밀고 갈 브랜드 파워 획득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301232"/>
            <a:ext cx="11274552" cy="418592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386135"/>
            <a:ext cx="11274552" cy="24878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가장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무거운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‘첫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바퀴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’</a:t>
            </a:r>
            <a:r>
              <a:rPr 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,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그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바퀴를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돌리는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'</a:t>
            </a:r>
            <a:r>
              <a:rPr lang="ko-KR" alt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동력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’ = </a:t>
            </a:r>
            <a:r>
              <a:rPr 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BAT </a:t>
            </a:r>
            <a:r>
              <a:rPr lang="ko-KR" altLang="en-US"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인플루언서</a:t>
            </a:r>
            <a:r>
              <a:rPr lang="ko-KR" alt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캠페인</a:t>
            </a:r>
            <a:endParaRPr sz="145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02_A 플라이휠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972800" cy="44114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왜 인플루언서 시딩이 1순위인가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3339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플라이휠의 ‘첫 바퀴’ — 가장 무겁지만, 가장 먼저 밀어야 하는 곳이 시딩입니다.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865376"/>
            <a:ext cx="2377440" cy="30264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2377440" cy="4103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‘올더베러’의 존재를 시장에 선보여야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377440" cy="918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브랜드 검색 월 약 3,000 · 해시태그 #올더베러 +100여 건</a:t>
            </a:r>
          </a:p>
          <a:p>
            <a:pPr algn="l">
              <a:spcAft>
                <a:spcPts val="200"/>
              </a:spcAft>
            </a:pPr>
            <a:endParaRPr sz="930" b="0">
              <a:solidFill>
                <a:srgbClr val="373734"/>
              </a:solidFill>
              <a:latin typeface="+mn-ea"/>
            </a:endParaRPr>
          </a:p>
          <a:p>
            <a:pPr algn="l">
              <a:spcAft>
                <a:spcPts val="200"/>
              </a:spcAft>
            </a:pPr>
            <a:r>
              <a:rPr sz="8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출처 </a:t>
            </a:r>
            <a:r>
              <a:rPr sz="83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네이버·구글 검색량 + 인스타그램 해시태그 집계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25696"/>
            <a:ext cx="2706624" cy="12801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498848"/>
            <a:ext cx="2377440" cy="64222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 첫 </a:t>
            </a:r>
            <a:r>
              <a:rPr sz="9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바퀴를</a:t>
            </a:r>
            <a:r>
              <a:rPr sz="9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시딩으로</a:t>
            </a:r>
            <a:r>
              <a:rPr sz="9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미는</a:t>
            </a:r>
            <a:r>
              <a:rPr sz="9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이유</a:t>
            </a:r>
            <a:endParaRPr sz="900" b="1" dirty="0">
              <a:solidFill>
                <a:srgbClr val="141412"/>
              </a:solidFill>
              <a:latin typeface="+mn-ea"/>
            </a:endParaRPr>
          </a:p>
          <a:p>
            <a:pPr algn="l">
              <a:spcAft>
                <a:spcPts val="200"/>
              </a:spcAft>
            </a:pP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다수의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진성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(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나노·마이크로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) UGC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콘텐츠를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전략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일자에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노출해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‘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익숙함과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신뢰’를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먼저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8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쌓습니다</a:t>
            </a:r>
            <a:r>
              <a:rPr sz="98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56432" y="1865376"/>
            <a:ext cx="2377440" cy="30264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12848"/>
            <a:ext cx="237744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소비자는 사기 전에 검증합니다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926080"/>
            <a:ext cx="2377440" cy="106131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제품 검색 → 올영 이동 → 후기·리뷰 확인 후 구매(검증형) · VOC 재구매율 15.5% · 구매이유 1위 ‘가격·할인’</a:t>
            </a:r>
          </a:p>
          <a:p>
            <a:pPr algn="l">
              <a:spcAft>
                <a:spcPts val="200"/>
              </a:spcAft>
            </a:pPr>
            <a:endParaRPr sz="930" b="0">
              <a:solidFill>
                <a:srgbClr val="373734"/>
              </a:solidFill>
              <a:latin typeface="+mn-ea"/>
            </a:endParaRPr>
          </a:p>
          <a:p>
            <a:pPr algn="l">
              <a:spcAft>
                <a:spcPts val="200"/>
              </a:spcAft>
            </a:pPr>
            <a:r>
              <a:rPr sz="8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출처 </a:t>
            </a:r>
            <a:r>
              <a:rPr sz="83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리스닝마인드 검색 경로 분석 + 올더베러 리뷰 1,104건 VOC 딥다이브(BAT 자체 크롤링)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4425696"/>
            <a:ext cx="2706624" cy="12801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273552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56432" y="4498848"/>
            <a:ext cx="2377440" cy="64222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가격 외 ‘선택 근거’(후기·리뷰·해시태그·콘텐츠 볼륨)를 먼저 쌓아 잘 보이는 제품으로 전환을 견인합니다.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72784" y="1865376"/>
            <a:ext cx="2377440" cy="30264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2212848"/>
            <a:ext cx="2377440" cy="4103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‘어떻게 먹는지’는 인플루언서가 보여줍니다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926080"/>
            <a:ext cx="2377440" cy="106131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RFP 요구 ‘언제·왜·어떻게 먹는지 생활 맥락’에 따른 영상으로 학습하고 디토(따라 구매)하는 소비자들</a:t>
            </a:r>
          </a:p>
          <a:p>
            <a:pPr algn="l">
              <a:spcAft>
                <a:spcPts val="200"/>
              </a:spcAft>
            </a:pPr>
            <a:endParaRPr sz="930" b="0">
              <a:solidFill>
                <a:srgbClr val="373734"/>
              </a:solidFill>
              <a:latin typeface="+mn-ea"/>
            </a:endParaRPr>
          </a:p>
          <a:p>
            <a:pPr algn="l">
              <a:spcAft>
                <a:spcPts val="200"/>
              </a:spcAft>
            </a:pPr>
            <a:r>
              <a:rPr sz="8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출처 </a:t>
            </a:r>
            <a:r>
              <a:rPr sz="83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올리브영 VOC 딥다이브 + 인스타 릴스 콘텐츠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9904" y="4425696"/>
            <a:ext cx="2706624" cy="12801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089904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72784" y="4498848"/>
            <a:ext cx="2377440" cy="64222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SNS 인플루언서가 실제 사용 상황(아침 공복·야근·취침 전)을 자기 일상으로 가져오는 소비자 CDJ 패턴에 들어섭니다.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06256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089136" y="1865376"/>
            <a:ext cx="2377440" cy="30264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9136" y="2212848"/>
            <a:ext cx="2377440" cy="4103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이미 올영 PB에서 고성과로 검증된 방식입니다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926080"/>
            <a:ext cx="2377440" cy="12044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우리가 운영 중인 올영 PB 시딩+PA가 고성과: 브링그린 검색 9K→140K(15배) · 산리오 파트너십 ROAS 127→356→589% · 올영세일 ROAS 324→515%</a:t>
            </a:r>
          </a:p>
          <a:p>
            <a:pPr algn="l">
              <a:spcAft>
                <a:spcPts val="200"/>
              </a:spcAft>
            </a:pPr>
            <a:endParaRPr sz="930" b="0">
              <a:solidFill>
                <a:srgbClr val="373734"/>
              </a:solidFill>
              <a:latin typeface="+mn-ea"/>
            </a:endParaRPr>
          </a:p>
          <a:p>
            <a:pPr algn="l">
              <a:spcAft>
                <a:spcPts val="200"/>
              </a:spcAft>
            </a:pPr>
            <a:r>
              <a:rPr sz="8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출처 </a:t>
            </a:r>
            <a:r>
              <a:rPr sz="83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BAT 올리브영 PB 운영 캠페인 실적(레퍼런스)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06256" y="4425696"/>
            <a:ext cx="2706624" cy="12801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906256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089136" y="4498848"/>
            <a:ext cx="2377440" cy="64222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‘시딩 → 위닝 콘텐츠 → PA 2차’ 성공 공식을 올더베러에 그대로 적용합니다. (한정 비용 내 최고 효율)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43600"/>
            <a:ext cx="11274552" cy="512064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57200" y="6071392"/>
            <a:ext cx="11274552" cy="25648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그래서</a:t>
            </a:r>
            <a:r>
              <a:rPr sz="15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인플루언서</a:t>
            </a:r>
            <a:r>
              <a:rPr sz="15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시딩이</a:t>
            </a:r>
            <a:r>
              <a:rPr sz="15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1순위입니다 — </a:t>
            </a:r>
            <a:r>
              <a:rPr sz="15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플라이휠을</a:t>
            </a:r>
            <a:r>
              <a:rPr sz="15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돌리는</a:t>
            </a:r>
            <a:r>
              <a:rPr lang="en-US" sz="15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5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현 시장 최 고효율 마케팅 캠페인</a:t>
            </a:r>
            <a:endParaRPr sz="1500" b="1" dirty="0">
              <a:solidFill>
                <a:srgbClr val="FFFFFF"/>
              </a:solidFill>
              <a:latin typeface="+mn-ea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57200" y="6547104"/>
            <a:ext cx="11247120" cy="16414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※ 근거: 검색량·해시태그 집계 / 리스닝마인드 경로분석 / VOC 1,104건 딥다이브 / 인스타 릴스 분석 / BAT 올영 PB 운영 실적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02_A 플라이휠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972800" cy="44114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왜 마이크로·나노 중심인가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33397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그 </a:t>
            </a:r>
            <a:r>
              <a:rPr sz="13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무거운</a:t>
            </a:r>
            <a:r>
              <a:rPr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첫 </a:t>
            </a:r>
            <a:r>
              <a:rPr sz="13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바퀴를</a:t>
            </a:r>
            <a:r>
              <a:rPr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3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돌리는</a:t>
            </a:r>
            <a:r>
              <a:rPr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‘힘’ — </a:t>
            </a:r>
            <a:r>
              <a:rPr lang="ko-KR" altLang="en-US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다수의 힘을 합쳐 하나의 원을 돌리기 시작 합니다</a:t>
            </a:r>
            <a:r>
              <a:rPr lang="en-US" altLang="ko-KR" sz="13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  <a:endParaRPr sz="1350" b="1" dirty="0">
              <a:solidFill>
                <a:srgbClr val="373734"/>
              </a:solidFill>
              <a:latin typeface="+mn-e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10515600" cy="21031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한눈 비교 — 메가·매크로 vs 마이크로·나노 (2026 기준)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651313"/>
              </p:ext>
            </p:extLst>
          </p:nvPr>
        </p:nvGraphicFramePr>
        <p:xfrm>
          <a:off x="457200" y="1938528"/>
          <a:ext cx="11274552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3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지표</a:t>
                      </a:r>
                    </a:p>
                  </a:txBody>
                  <a:tcPr marL="63500" marR="50800" marT="12700" marB="127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메가·매크로 (넓고 얕음)</a:t>
                      </a:r>
                    </a:p>
                  </a:txBody>
                  <a:tcPr marL="63500" marR="50800" marT="12700" marB="127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마이크로·나노 (좁고 깊음) ★</a:t>
                      </a:r>
                    </a:p>
                  </a:txBody>
                  <a:tcPr marL="63500" marR="50800" marT="12700" marB="12700" anchor="ctr">
                    <a:solidFill>
                      <a:srgbClr val="141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인게이지먼트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(IG)</a:t>
                      </a: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평균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약 1%대에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머뭅니다</a:t>
                      </a:r>
                      <a:endParaRPr sz="1000" b="0" dirty="0">
                        <a:solidFill>
                          <a:srgbClr val="78787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나노가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평균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6.23%로 전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티어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중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가장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높습니다</a:t>
                      </a:r>
                      <a:endParaRPr sz="100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전환율</a:t>
                      </a:r>
                      <a:endParaRPr sz="100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캠페인은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상대적으로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낮습니다</a:t>
                      </a:r>
                      <a:endParaRPr sz="1000" b="0" dirty="0">
                        <a:solidFill>
                          <a:srgbClr val="78787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나노·마이크로가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매크로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대비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2~3배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높습니다</a:t>
                      </a:r>
                      <a:endParaRPr sz="100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진성도·신뢰</a:t>
                      </a: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광고로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인식되어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신뢰가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낮습니다</a:t>
                      </a:r>
                      <a:endParaRPr sz="1000" b="0" dirty="0">
                        <a:solidFill>
                          <a:srgbClr val="78787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나노가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전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티어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중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신뢰가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가장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lang="ko-KR" altLang="en-US"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높고</a:t>
                      </a:r>
                      <a:r>
                        <a:rPr lang="en-US" altLang="ko-KR"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, </a:t>
                      </a:r>
                      <a:r>
                        <a:rPr lang="ko-KR" altLang="en-US"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진성 리뷰로 접근합니다</a:t>
                      </a:r>
                      <a:r>
                        <a:rPr lang="en-US" altLang="ko-KR"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.</a:t>
                      </a:r>
                      <a:endParaRPr sz="100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비용·ROI</a:t>
                      </a: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고비용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  <a:r>
                        <a:rPr lang="ko-KR" altLang="en-US"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단발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성에</a:t>
                      </a:r>
                      <a:r>
                        <a:rPr sz="1000" b="0" dirty="0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787872"/>
                          </a:solidFill>
                          <a:latin typeface="Pretendard"/>
                          <a:cs typeface="Pretendard"/>
                          <a:ea typeface="Pretendard"/>
                        </a:rPr>
                        <a:t>그칩니다</a:t>
                      </a:r>
                      <a:endParaRPr sz="1000" b="0" dirty="0">
                        <a:solidFill>
                          <a:srgbClr val="78787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73%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브랜드가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우선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선택하며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ROI도</a:t>
                      </a:r>
                      <a:r>
                        <a:rPr sz="100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더 </a:t>
                      </a:r>
                      <a:r>
                        <a:rPr sz="100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우수합니다</a:t>
                      </a:r>
                      <a:endParaRPr sz="100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63500" marR="50800" marT="12700" marB="1270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393192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58368" y="4050791"/>
            <a:ext cx="3227832" cy="2564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진성도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61688"/>
            <a:ext cx="3227832" cy="19492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광고가</a:t>
            </a:r>
            <a:r>
              <a:rPr sz="11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아니라</a:t>
            </a:r>
            <a:r>
              <a:rPr sz="11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‘내 </a:t>
            </a:r>
            <a:r>
              <a:rPr sz="11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주변의</a:t>
            </a:r>
            <a:r>
              <a:rPr sz="11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후기’입니다</a:t>
            </a:r>
            <a:endParaRPr sz="1100" b="1" dirty="0">
              <a:solidFill>
                <a:srgbClr val="373734"/>
              </a:solidFill>
              <a:latin typeface="+mn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" y="4773168"/>
            <a:ext cx="3227832" cy="46423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대형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인플루언서의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일회성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광고보다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니치한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생활자가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실제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루틴처럼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말하는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콘텐츠가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웰니스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제품의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신뢰를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만듭니다</a:t>
            </a:r>
            <a:r>
              <a:rPr sz="9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57800"/>
            <a:ext cx="3630168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5257800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5294376"/>
            <a:ext cx="3319272" cy="30854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</a:t>
            </a:r>
            <a:r>
              <a:rPr sz="80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소비자는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작은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크리에이터를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더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신뢰합니다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(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나노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인스타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ER 6.23%로 전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티어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최고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393192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71416" y="4050791"/>
            <a:ext cx="3227832" cy="2564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반복 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4361688"/>
            <a:ext cx="3227832" cy="19492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다수가 같은 시점·다양한 TPO로 말합니다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773168"/>
            <a:ext cx="3227832" cy="31803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다수의 마이크로/나노가 같은 시점에 다양한 TPO로 말할 때 ‘요즘 올영에서 많이 보이는 제품’ 인식이 형성됩니다.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5257800"/>
            <a:ext cx="3630168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270248" y="5257800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453128" y="5294376"/>
            <a:ext cx="3319272" cy="30854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</a:t>
            </a:r>
            <a:r>
              <a:rPr sz="80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73%의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브랜드가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마이크로·미드티어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크리에이터를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우선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919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선택합니다</a:t>
            </a:r>
            <a:r>
              <a:rPr sz="919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(2026).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393192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84464" y="4050791"/>
            <a:ext cx="3227832" cy="2564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자산화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361688"/>
            <a:ext cx="3227832" cy="19492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저단가·다수 → 후기·검색·퍼포의 원천입니다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4773168"/>
            <a:ext cx="3227832" cy="31803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저단가·다수 콘텐츠를 통해 후기·검색·퍼포먼스 소재로 이어지는, 활용 가능한 원천 콘텐츠를 확보합니다.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5257800"/>
            <a:ext cx="3630168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083296" y="5257800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66175" y="5294376"/>
            <a:ext cx="3319272" cy="30854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데이터 </a:t>
            </a:r>
            <a:r>
              <a:rPr sz="919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유료 광고로 쓰면 ER 2~3배·CPA 절감 (위닝 콘텐츠 PA 2차·BAT 실적).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907024"/>
            <a:ext cx="11274552" cy="512064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57200" y="6030968"/>
            <a:ext cx="11274552" cy="264175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메가는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‘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광고’가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되고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,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마이크로·나노는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‘</a:t>
            </a:r>
            <a:r>
              <a:rPr lang="ko-KR" altLang="en-US"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소문과 </a:t>
            </a:r>
            <a:r>
              <a:rPr lang="ko-KR" altLang="en-US"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디토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’</a:t>
            </a:r>
            <a:r>
              <a:rPr lang="ko-KR" altLang="en-US"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가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됩니다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—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다수의</a:t>
            </a:r>
            <a:r>
              <a:rPr lang="en-US"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, </a:t>
            </a:r>
            <a:r>
              <a:rPr lang="ko-KR" altLang="en-US"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다양한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힘이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플라이휠을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5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굴립니다</a:t>
            </a:r>
            <a:r>
              <a:rPr sz="15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247120" cy="16414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※ 근거: 2026 인플루언서 마케팅 벤치마크(인게이지먼트·전환·신뢰·ROI) + 브랜드 선호 조사 + BAT 올영 PB 운영 실적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크리에이터 전략 </a:t>
            </a:r>
            <a:r>
              <a:rPr kumimoji="0" lang="en-US" altLang="ko-KR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역할 </a:t>
            </a:r>
            <a:r>
              <a:rPr kumimoji="0" lang="en-US" altLang="ko-KR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&amp;</a:t>
            </a:r>
            <a:r>
              <a:rPr kumimoji="0" lang="ko-KR" altLang="en-US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채널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진성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-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다수의 나노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마이크로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인플루언서를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코어로</a:t>
            </a:r>
            <a:r>
              <a:rPr lang="en-US" altLang="ko-KR" sz="120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ko-KR" altLang="en-US" sz="120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중심 축을 견고히 잡고</a:t>
            </a:r>
            <a:r>
              <a:rPr lang="en-US" altLang="ko-KR" sz="120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b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+mn-ea"/>
                <a:cs typeface="+mn-cs"/>
              </a:rPr>
            </a:b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대세감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20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형성을 위한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매크로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인플루언서</a:t>
            </a:r>
            <a:r>
              <a:rPr lang="ko-KR" altLang="en-US" sz="120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en-US" altLang="ko-KR" sz="120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+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멀티 플랫폼 전략적 활용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400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① </a:t>
            </a:r>
            <a:r>
              <a:rPr kumimoji="0" lang="ko-KR" altLang="en-US" sz="14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역할별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4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구분</a:t>
            </a:r>
            <a:endParaRPr kumimoji="0" lang="ko-KR" altLang="en-US" sz="14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0" y="1517904"/>
            <a:ext cx="534924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af-ZA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※ ER(</a:t>
            </a:r>
            <a:r>
              <a:rPr kumimoji="0" lang="ko-KR" altLang="en-US" sz="9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인게이지먼트율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= (</a:t>
            </a:r>
            <a:r>
              <a:rPr kumimoji="0" lang="ko-KR" altLang="en-US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좋아요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+</a:t>
            </a:r>
            <a:r>
              <a:rPr kumimoji="0" lang="ko-KR" altLang="en-US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댓글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+</a:t>
            </a:r>
            <a:r>
              <a:rPr kumimoji="0" lang="ko-KR" altLang="en-US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저장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+</a:t>
            </a:r>
            <a:r>
              <a:rPr kumimoji="0" lang="ko-KR" altLang="en-US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공유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÷ </a:t>
            </a:r>
            <a:r>
              <a:rPr kumimoji="0" lang="ko-KR" altLang="en-US" sz="9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팔로워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, </a:t>
            </a:r>
            <a:r>
              <a:rPr kumimoji="0" lang="ko-KR" altLang="en-US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게시물당 평균 </a:t>
            </a:r>
            <a:r>
              <a:rPr kumimoji="0" lang="en-US" altLang="ko-KR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9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인스타그램 기준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038240"/>
              </p:ext>
            </p:extLst>
          </p:nvPr>
        </p:nvGraphicFramePr>
        <p:xfrm>
          <a:off x="457200" y="1810512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구분</a:t>
                      </a:r>
                      <a:endParaRPr sz="1000" b="1" dirty="0">
                        <a:solidFill>
                          <a:srgbClr val="FFFFFF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팔로워</a:t>
                      </a:r>
                      <a:endParaRPr sz="1000" b="1" dirty="0">
                        <a:solidFill>
                          <a:srgbClr val="FFFFFF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ER(IG)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역할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3,4Q </a:t>
                      </a:r>
                      <a:r>
                        <a:rPr lang="ko-KR" altLang="en-US"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전체 수량 및 비율</a:t>
                      </a:r>
                      <a:endParaRPr sz="1000" b="1">
                        <a:solidFill>
                          <a:srgbClr val="FFFFFF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1만 이하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4~6%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진성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후기·UGC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볼륨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—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동일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메시지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동시다발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= ‘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익숙함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225건 (44%)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1만~5만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2~4%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카테고리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전문·전환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코어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—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위닝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소재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발굴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→ PA 2차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150건 (47%)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5만 이상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1~2%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도달·화제성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점화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— </a:t>
                      </a:r>
                      <a:r>
                        <a:rPr lang="ko-KR" altLang="en-US"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올영</a:t>
                      </a:r>
                      <a:r>
                        <a:rPr lang="ko-KR" altLang="en-US"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세일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/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블프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집중</a:t>
                      </a:r>
                      <a:r>
                        <a:rPr lang="en-US"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 </a:t>
                      </a:r>
                      <a:r>
                        <a:rPr lang="ko-KR" altLang="en-US"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대세감</a:t>
                      </a:r>
                      <a:endParaRPr sz="950" b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15건 (9%)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3931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크리에이터</a:t>
            </a: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코어</a:t>
            </a: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나노</a:t>
            </a:r>
            <a:r>
              <a:rPr kumimoji="0" lang="en-US" altLang="ko-KR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마이크로</a:t>
            </a:r>
            <a:r>
              <a:rPr kumimoji="0" lang="en-US" altLang="ko-KR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매크로</a:t>
            </a: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 </a:t>
            </a:r>
            <a:r>
              <a:rPr kumimoji="0" lang="ko-KR" altLang="en-US" sz="10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합계</a:t>
            </a: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= 390</a:t>
            </a: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50208"/>
            <a:ext cx="64008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② 채널별 구분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인스타그램 절대 비중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492997"/>
              </p:ext>
            </p:extLst>
          </p:nvPr>
        </p:nvGraphicFramePr>
        <p:xfrm>
          <a:off x="457200" y="4279392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채널</a:t>
                      </a:r>
                      <a:endParaRPr sz="1000" b="1" dirty="0">
                        <a:solidFill>
                          <a:srgbClr val="FFFFFF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포맷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역할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★ 인스타그램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333333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릴스</a:t>
                      </a:r>
                      <a:endParaRPr sz="950" b="1" dirty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시딩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코어·전환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허브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→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메타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파트너십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광고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2차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활용</a:t>
                      </a:r>
                      <a:endParaRPr sz="950" b="1" dirty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쇼츠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확산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보조</a:t>
                      </a:r>
                      <a:r>
                        <a:rPr lang="en-US"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 </a:t>
                      </a:r>
                      <a:r>
                        <a:rPr lang="ko-KR" altLang="en-US"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바이럴 확산</a:t>
                      </a:r>
                      <a:endParaRPr sz="950" b="0" dirty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쇼츠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숏폼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바이럴·확산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피드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실시간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트렌드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+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바이럴</a:t>
                      </a:r>
                      <a:endParaRPr sz="950" b="0" dirty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정보성 리뷰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검색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후기</a:t>
                      </a:r>
                      <a:r>
                        <a:rPr lang="en-US"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신뢰</a:t>
                      </a:r>
                      <a:r>
                        <a:rPr lang="en-US"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정보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탐색</a:t>
                      </a:r>
                      <a:r>
                        <a:rPr sz="950" b="0" dirty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dirty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대응</a:t>
                      </a:r>
                      <a:endParaRPr sz="950" b="0" dirty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4279392"/>
            <a:ext cx="3429000" cy="21945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03920" y="4407408"/>
            <a:ext cx="310896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크리에이터 풀 </a:t>
            </a:r>
            <a:r>
              <a:rPr kumimoji="0" lang="en-US" altLang="ko-KR" sz="11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= </a:t>
            </a:r>
            <a:r>
              <a:rPr kumimoji="0" lang="ko-KR" altLang="en-US" sz="11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웰니스 접점 타겟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828032"/>
            <a:ext cx="3108960" cy="1639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홈트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헬스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피트니스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요가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필라테스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러닝크루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헬시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레시피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식단 기록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다이어트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바디프로필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직장인 자기관리 </a:t>
            </a: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모닝루틴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브이로그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00" b="0" i="0" u="none" strike="noStrike" kern="1200" cap="none" spc="-10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헬시플레저</a:t>
            </a:r>
            <a:r>
              <a:rPr kumimoji="0" lang="ko-KR" altLang="en-US" sz="1000" b="0" i="0" u="none" strike="noStrike" kern="1200" cap="none" spc="-10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라이프스타일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05156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크리에이터 리스트업 </a:t>
            </a:r>
            <a:r>
              <a:rPr kumimoji="0" lang="en-US" altLang="ko-KR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선정 기준 </a:t>
            </a:r>
            <a:r>
              <a:rPr lang="en-US" altLang="ko-KR" sz="2300" b="0" dirty="0" spc="-100">
                <a:solidFill>
                  <a:srgbClr val="111111"/>
                </a:solidFill>
                <a:latin typeface="Pretendard ExtraBold"/>
                <a:cs typeface="Pretendard ExtraBold"/>
                <a:ea typeface="Pretendard ExtraBold"/>
              </a:rPr>
              <a:t>+</a:t>
            </a:r>
            <a:r>
              <a:rPr kumimoji="0" lang="en-US" altLang="ko-KR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230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예시 풀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‘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많이’가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아닌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,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‘맞는’ 크리에이터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웰니스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버티컬별로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제품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앵글 매칭해 리스트업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선정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4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9326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3383280" cy="453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① 브랜드 적합도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올더베러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타깃</a:t>
            </a:r>
            <a:r>
              <a:rPr kumimoji="0" lang="en-US" altLang="ko-KR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(30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 직장인</a:t>
            </a:r>
            <a:r>
              <a:rPr kumimoji="0" lang="en-US" altLang="ko-KR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95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웰니스</a:t>
            </a:r>
            <a:r>
              <a:rPr kumimoji="0" lang="en-US" altLang="ko-KR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+</a:t>
            </a:r>
            <a:r>
              <a:rPr lang="ko-KR" altLang="en-US" sz="950" dirty="0" spc="-100">
                <a:solidFill>
                  <a:srgbClr val="707070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라이프스타일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52928"/>
            <a:ext cx="3657600" cy="9326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852928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" y="2926080"/>
            <a:ext cx="3383280" cy="453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② </a:t>
            </a:r>
            <a:r>
              <a:rPr kumimoji="0" lang="ko-KR" altLang="en-US" sz="115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진성도</a:t>
            </a:r>
            <a:endParaRPr kumimoji="0" lang="ko-KR" altLang="en-US" sz="115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팔로워</a:t>
            </a:r>
            <a:r>
              <a:rPr kumimoji="0" lang="ko-KR" altLang="en-US" sz="9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9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대비</a:t>
            </a:r>
            <a:r>
              <a:rPr kumimoji="0" lang="ko-KR" altLang="en-US" sz="9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af-ZA" sz="9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ER </a:t>
            </a:r>
            <a:r>
              <a:rPr kumimoji="0" lang="ko-KR" altLang="en-US" sz="9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지수 체크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77056"/>
            <a:ext cx="3657600" cy="9326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3383280" cy="453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③ 콘텐츠 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제품을 일상에 녹이는 </a:t>
            </a:r>
            <a:r>
              <a:rPr kumimoji="0" lang="ko-KR" altLang="en-US" sz="95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톤앤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무드</a:t>
            </a:r>
            <a:r>
              <a:rPr kumimoji="0" lang="en-US" altLang="ko-KR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부합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01184"/>
            <a:ext cx="3657600" cy="93268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57200" y="4901184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" y="4974336"/>
            <a:ext cx="3383280" cy="453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-10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④ 심의 안전성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0" i="0" u="none" strike="noStrike" kern="1200" cap="none" spc="-100" normalizeH="0" baseline="0" noProof="0" dirty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소개 콘텐츠 </a:t>
            </a:r>
            <a:r>
              <a:rPr kumimoji="0" lang="en-US" altLang="ko-KR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:</a:t>
            </a:r>
            <a:r>
              <a:rPr kumimoji="0" lang="ko-KR" altLang="en-US" sz="950" b="0" i="0" u="none" strike="noStrike" kern="1200" cap="none" spc="-10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심의 가이드 준수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63040"/>
            <a:ext cx="731520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웰니스 버티컬별 예시 풀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매칭 가이드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43484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웰니스 버티컬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주력 채널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적합 등급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매칭 제품 · 앵글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홈트 · 피트니스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인스타·유튜브</a:t>
                      </a:r>
                      <a:endParaRPr sz="90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구미(루테인·올인원) — 운동 루틴 속 챙김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요가 · 필라테스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</a:t>
                      </a:r>
                      <a:r>
                        <a:rPr lang="en-US" altLang="ko-KR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  <a:r>
                        <a:rPr lang="ko-KR" altLang="en-US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멜라나잇·콜라겐 — 자기관리 무드 리추얼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러닝크루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인스타·틱톡</a:t>
                      </a:r>
                      <a:endParaRPr sz="90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스틱·캡슐 — 휴대·아침 에너지 채움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헬시 레시피 · 식단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인스타·유튜브</a:t>
                      </a:r>
                      <a:endParaRPr sz="90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올리브오일 — 요리·식단 속 자연 노출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다이어트 · 바디프로필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인스타·틱톡</a:t>
                      </a:r>
                      <a:r>
                        <a:rPr lang="en-US" altLang="ko-KR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  <a:r>
                        <a:rPr lang="ko-KR" altLang="en-US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트위터</a:t>
                      </a:r>
                      <a:endParaRPr sz="90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구미·스틱 — 식단 관리 간식 대체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직장인 루틴 브이로그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캡슐·구미 — 아침/점심 루틴, 직장인 공감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헬시플레저 라이프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</a:t>
                      </a:r>
                      <a:r>
                        <a:rPr lang="en-US" altLang="ko-KR"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  <a:r>
                        <a:rPr lang="ko-KR" altLang="en-US" sz="90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틱톡</a:t>
                      </a:r>
                      <a:endParaRPr lang="ko-KR" altLang="en-US" sz="90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매크로·마이크로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전 </a:t>
                      </a:r>
                      <a:r>
                        <a:rPr sz="90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라인</a:t>
                      </a:r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— ‘</a:t>
                      </a:r>
                      <a:r>
                        <a:rPr sz="90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건강하게</a:t>
                      </a:r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0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즐기는</a:t>
                      </a:r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’ </a:t>
                      </a:r>
                      <a:r>
                        <a:rPr sz="90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무드</a:t>
                      </a:r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0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점화</a:t>
                      </a:r>
                      <a:endParaRPr sz="900" b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457200" y="5989320"/>
            <a:ext cx="1129284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151123"/>
            <a:ext cx="10972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리스트업 프로세스 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① 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버티컬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등급별 롱리스트 → ② 진성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심의 스크리닝 → ③ 숏리스트 컨택 → ④ 시즌별 배분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세일엔 매크로 가중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02_B 시딩 콘텐츠 앵글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제품·단계·타겟·TPO별</a:t>
            </a:r>
            <a:r>
              <a:rPr sz="26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26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콘텐츠</a:t>
            </a:r>
            <a:r>
              <a:rPr sz="26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26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앵글</a:t>
            </a:r>
            <a:endParaRPr sz="26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25703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VOC가</a:t>
            </a:r>
            <a:r>
              <a:rPr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3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알려준</a:t>
            </a:r>
            <a:r>
              <a:rPr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‘</a:t>
            </a:r>
            <a:r>
              <a:rPr sz="13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소비자</a:t>
            </a:r>
            <a:r>
              <a:rPr lang="ko-KR" altLang="en-US"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의 언어</a:t>
            </a:r>
            <a:r>
              <a:rPr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’</a:t>
            </a:r>
            <a:r>
              <a:rPr lang="ko-KR" altLang="en-US"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를</a:t>
            </a:r>
            <a:r>
              <a:rPr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3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훅으로</a:t>
            </a:r>
            <a:r>
              <a:rPr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— </a:t>
            </a:r>
            <a:r>
              <a:rPr lang="ko-KR" altLang="en-US"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콘텐츠 앵글을 준비 합니다</a:t>
            </a:r>
            <a:r>
              <a:rPr lang="en-US" altLang="ko-KR" sz="13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  <a:endParaRPr sz="130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27632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11274552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성공 훅 = 명확한 타겟  ×  구체적 상황·에피소드  ×  반전 또는 팩트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21408"/>
            <a:ext cx="11274552" cy="187231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lang="ko-KR" altLang="en-US"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초 개인화 </a:t>
            </a:r>
            <a:r>
              <a:rPr lang="en-US" altLang="ko-KR"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-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특정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생활자를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겨냥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→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제품이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필요한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순간을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장면화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→ ‘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보게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만드는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’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정보·공감·반전</a:t>
            </a:r>
            <a:r>
              <a:rPr sz="105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포인트</a:t>
            </a:r>
            <a:endParaRPr sz="1050" b="1" dirty="0">
              <a:solidFill>
                <a:srgbClr val="787872"/>
              </a:solidFill>
              <a:latin typeface="Pretendard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2432304"/>
            <a:ext cx="2706624" cy="566928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2496312"/>
            <a:ext cx="2432304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① </a:t>
            </a:r>
            <a:r>
              <a:rPr sz="13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인지·발견</a:t>
            </a:r>
            <a:endParaRPr sz="130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3504" y="275234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dirty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SEED · 첫 </a:t>
            </a:r>
            <a:r>
              <a:rPr sz="950" b="0" dirty="0" err="1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바퀴</a:t>
            </a:r>
            <a:endParaRPr sz="950" b="1" dirty="0">
              <a:solidFill>
                <a:srgbClr val="B0B0A8"/>
              </a:solidFill>
              <a:latin typeface="Pretendard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3072384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" y="316382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멜라나잇 구미 · 일반식품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383279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밤에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쉽게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못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드는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30대 ·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취침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803904"/>
            <a:ext cx="2432304" cy="56692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“불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끄기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전,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나만의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마무리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한 알”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4608575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504" y="4700015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웰니스 구미 (에너지) · 일반식품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4919471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야근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잦은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직장인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·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오후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슬럼프</a:t>
            </a:r>
            <a:endParaRPr sz="100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3504" y="5340095"/>
            <a:ext cx="2432304" cy="37702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“11시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퇴근하는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30대</a:t>
            </a:r>
            <a:endParaRPr lang="en-US" sz="1100" b="1" dirty="0">
              <a:solidFill>
                <a:srgbClr val="141412"/>
              </a:solidFill>
              <a:latin typeface="Pretendard"/>
            </a:endParaRPr>
          </a:p>
          <a:p>
            <a:pPr algn="l">
              <a:spcAft>
                <a:spcPts val="100"/>
              </a:spcAft>
            </a:pP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나른한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오후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3시 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슬럼프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68111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273552" y="2432304"/>
            <a:ext cx="2706624" cy="566928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19856" y="2496312"/>
            <a:ext cx="2432304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② 검증·신뢰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275234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PROVE · 관성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73552" y="3072384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19856" y="316382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올리브오일 캡슐 · 일반식품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9856" y="3383279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공복 섭취가 고민인 입문자 · 아침 공복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9856" y="3803904"/>
            <a:ext cx="2432304" cy="36420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공복에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올리브오일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? </a:t>
            </a:r>
            <a:r>
              <a:rPr lang="ko-KR" altLang="en-US"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속쓰림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걱정되나요</a:t>
            </a:r>
            <a:r>
              <a:rPr lang="en-US" altLang="ko-KR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?</a:t>
            </a:r>
            <a:endParaRPr sz="11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273552" y="3931920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273552" y="4608575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4700015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올리브오일 캡슐 · 일반식품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9856" y="4919471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가성비 따지는 30대 · 정보 탐색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19856" y="5340095"/>
            <a:ext cx="2432304" cy="56692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생오일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한 병 vs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캡슐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한 포,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가성비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팩트체크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73552" y="5468111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089904" y="2432304"/>
            <a:ext cx="2706624" cy="566928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36208" y="2496312"/>
            <a:ext cx="2432304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③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5234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BOOST · 가속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89904" y="3072384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36208" y="316382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올리브오일 스틱 · 일반식품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3383279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맛 때문에 망설인 사람 · 재구매 고민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3803904"/>
            <a:ext cx="2432304" cy="36420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</a:t>
            </a:r>
            <a:r>
              <a:rPr lang="ko-KR" altLang="en-US"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올리오일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무슨 맛 인지 표현 </a:t>
            </a:r>
            <a:r>
              <a:rPr lang="ko-KR" altLang="en-US"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해볼게요</a:t>
            </a:r>
            <a:r>
              <a:rPr lang="en-US" altLang="ko-KR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”</a:t>
            </a:r>
            <a:endParaRPr sz="11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089904" y="3931920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6089904" y="4608575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36208" y="4700015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히어로 라인업 · 올영세일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36208" y="4919471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장바구니 담아둔 세일 대기족 · 올영세일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5340095"/>
            <a:ext cx="2432304" cy="36420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장바구니 보관 템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,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이번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올영세일에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꼭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사야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하는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이유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9904" y="5468111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8906256" y="2432304"/>
            <a:ext cx="2706624" cy="566928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052560" y="2496312"/>
            <a:ext cx="2432304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④ 재구매·확장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275234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RETAIN · 자가가속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06256" y="3072384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052560" y="3163824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구미·캡슐 · 완주 인증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52560" y="3383279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작심삼일러 · 한 통 완주 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3803904"/>
            <a:ext cx="2432304" cy="56692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“안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먹고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쌓인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통 vs 싹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비운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통”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06256" y="3931920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8906256" y="4608575"/>
            <a:ext cx="2706624" cy="1426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052560" y="4700015"/>
            <a:ext cx="2432304" cy="21945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8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올리브오일 스틱 · 휴대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52560" y="4919471"/>
            <a:ext cx="2432304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K-웰니스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관심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외국인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· K-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뷰티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트렌드</a:t>
            </a:r>
            <a:endParaRPr sz="100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052560" y="5340095"/>
            <a:ext cx="2432304" cy="36420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“K-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뷰티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다음은</a:t>
            </a:r>
            <a:r>
              <a:rPr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K-웰니스</a:t>
            </a:r>
            <a:r>
              <a:rPr 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근데 어느 브랜드가 좋아요</a:t>
            </a:r>
            <a:r>
              <a:rPr lang="en-US" altLang="ko-KR" sz="11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?”</a:t>
            </a:r>
            <a:endParaRPr sz="11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8906256" y="5468111"/>
            <a:ext cx="54864" cy="566928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7200" y="6163056"/>
            <a:ext cx="11274552" cy="384048"/>
          </a:xfrm>
          <a:prstGeom prst="roundRect">
            <a:avLst>
              <a:gd name="adj" fmla="val 20000"/>
            </a:avLst>
          </a:prstGeom>
          <a:solidFill>
            <a:schemeClr val="bg1">
              <a:lumMod val="85000"/>
            </a:schemeClr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57200" y="6265312"/>
            <a:ext cx="11274552" cy="17953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앵글은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모두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VOC</a:t>
            </a:r>
            <a:r>
              <a:rPr lang="en-US"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인사이트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1,104건</a:t>
            </a:r>
            <a:r>
              <a:rPr lang="ko-KR" altLang="en-US"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에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서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도출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·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식품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분류별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심의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가드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+ 풀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대본·자막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타임코드는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부록</a:t>
            </a:r>
            <a:r>
              <a:rPr sz="100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참조</a:t>
            </a:r>
            <a:endParaRPr sz="1000" b="1" dirty="0">
              <a:solidFill>
                <a:srgbClr val="373734"/>
              </a:solidFill>
              <a:latin typeface="Pretendar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제품별 릴스 컨셉 </a:t>
            </a:r>
            <a:r>
              <a:rPr kumimoji="0" lang="en-US" altLang="ko-KR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8</a:t>
            </a: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종 </a:t>
            </a:r>
            <a:r>
              <a:rPr kumimoji="0" lang="en-US" altLang="ko-KR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한눈에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성공 훅 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= 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명확한 타겟 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× 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구체적 상황 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× 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반전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팩트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92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분류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컨셉 / 훅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인트로 예시 문구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캡슐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생올리브오일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챌린지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→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캡슐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반전</a:t>
                      </a:r>
                      <a:endParaRPr sz="950" b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몸에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좋다길래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생으로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먹어봤다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울었음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😵”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캡슐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‘알약 잘 못 먹는 사람용’ 목넘김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알약만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먹으면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목에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걸리는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사람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…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저요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🙋”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구미·루테인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모니터 앞 직장인의 눈 챙기기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“내 눈 </a:t>
                      </a:r>
                      <a:r>
                        <a:rPr lang="ko-KR" alt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하루 종일 혹사 당하는데 </a:t>
                      </a:r>
                      <a:r>
                        <a:rPr lang="ko-KR" altLang="en-US"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괜찮으려나</a:t>
                      </a:r>
                      <a:r>
                        <a:rPr lang="en-US" altLang="ko-KR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＂</a:t>
                      </a:r>
                      <a:endParaRPr sz="95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구미·바나바잎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식후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lang="ko-KR" altLang="en-US"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혈당 스파이크 공감 연출</a:t>
                      </a:r>
                      <a:endParaRPr sz="950" b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</a:t>
                      </a:r>
                      <a:r>
                        <a:rPr lang="ko-KR" alt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혈당 스파이크 뚜드려 맞는 당신</a:t>
                      </a:r>
                      <a:r>
                        <a:rPr lang="en-US" altLang="ko-KR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!”</a:t>
                      </a:r>
                      <a:endParaRPr sz="95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구미·멜라나잇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자기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전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무드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리추얼</a:t>
                      </a:r>
                      <a:endParaRPr sz="950" b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</a:t>
                      </a:r>
                      <a:r>
                        <a:rPr lang="ko-KR" alt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잠 들기 전 마지막으로</a:t>
                      </a:r>
                      <a:r>
                        <a:rPr lang="en-US" altLang="ko-KR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…</a:t>
                      </a:r>
                      <a:r>
                        <a:rPr lang="ko-KR" alt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할 일이 있어요</a:t>
                      </a:r>
                      <a:r>
                        <a:rPr lang="en-US" altLang="ko-KR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”</a:t>
                      </a:r>
                      <a:endParaRPr sz="95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구미·콜라겐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디저트 대신 한 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“단 거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당기는데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죄책감은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싫고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스틱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가방에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쏙,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출근길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한 포</a:t>
                      </a:r>
                      <a:r>
                        <a:rPr lang="en-US"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 </a:t>
                      </a:r>
                      <a:r>
                        <a:rPr lang="ko-KR" altLang="en-US"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웰니스</a:t>
                      </a:r>
                      <a:r>
                        <a:rPr lang="ko-KR" altLang="en-US"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고민</a:t>
                      </a:r>
                      <a:endParaRPr sz="950" b="0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요즘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가방에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꼭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챙기는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거 </a:t>
                      </a:r>
                      <a:r>
                        <a:rPr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하나</a:t>
                      </a:r>
                      <a:r>
                        <a:rPr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”</a:t>
                      </a:r>
                      <a:r>
                        <a:rPr 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 </a:t>
                      </a:r>
                      <a:r>
                        <a:rPr lang="ko-KR" alt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저속노화</a:t>
                      </a:r>
                      <a:endParaRPr sz="95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스틱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오일 맛 솔직 리뷰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“</a:t>
                      </a:r>
                      <a:r>
                        <a:rPr lang="ko-KR" altLang="en-US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오일에서는 역시 오일 맛이 </a:t>
                      </a:r>
                      <a:r>
                        <a:rPr lang="ko-KR" altLang="en-US" sz="950" b="0" err="1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나야죠</a:t>
                      </a:r>
                      <a:r>
                        <a:rPr lang="en-US" altLang="ko-KR" sz="95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"</a:t>
                      </a:r>
                      <a:endParaRPr sz="950" b="0">
                        <a:solidFill>
                          <a:srgbClr val="333333"/>
                        </a:solidFill>
                        <a:latin typeface="Pretendard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76D55-FC80-8372-8B4C-9CB51DE9B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8E185D9B-B765-2828-7AB9-EC1DB760E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pc="-100">
                <a:latin typeface="Pretendard"/>
                <a:cs typeface="Pretendard"/>
                <a:ea typeface="Pretendard"/>
              </a:rPr>
              <a:t>영상 콘텐츠 유형별 소개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003C02C-6857-B8D9-DDF5-296E69C133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0EAF44-FCEC-FFBB-2F44-570D8BE33D5F}"/>
              </a:ext>
            </a:extLst>
          </p:cNvPr>
          <p:cNvSpPr/>
          <p:nvPr/>
        </p:nvSpPr>
        <p:spPr>
          <a:xfrm>
            <a:off x="6825763" y="1986280"/>
            <a:ext cx="3747474" cy="3891280"/>
          </a:xfrm>
          <a:prstGeom prst="rect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Concept A.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일반식품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UGC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제품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: 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멜라나잇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자기 전 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리추얼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효능 대신 밤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TPO·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루틴 중심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3F756C6-6A75-EC06-F7A3-A7D602E2367E}"/>
              </a:ext>
            </a:extLst>
          </p:cNvPr>
          <p:cNvSpPr/>
          <p:nvPr/>
        </p:nvSpPr>
        <p:spPr>
          <a:xfrm>
            <a:off x="544493" y="394412"/>
            <a:ext cx="1110538" cy="1110538"/>
          </a:xfrm>
          <a:prstGeom prst="ellipse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한솔님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68BF9EC0-5101-FC2F-E006-6397B3914E9B}"/>
              </a:ext>
            </a:extLst>
          </p:cNvPr>
          <p:cNvSpPr/>
          <p:nvPr/>
        </p:nvSpPr>
        <p:spPr>
          <a:xfrm>
            <a:off x="1917570" y="394412"/>
            <a:ext cx="1110538" cy="1110538"/>
          </a:xfrm>
          <a:prstGeom prst="ellipse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영상</a:t>
            </a:r>
            <a:endParaRPr kumimoji="0" lang="en-US" altLang="ko-KR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지혜님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476DB2E-451C-5466-9270-9A00FC4DC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" y="201168"/>
            <a:ext cx="6520180" cy="978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684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B2CC4-6AEA-B6D7-1AD3-83CEE83CC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C3340CA0-963A-D715-78F9-2D27C02CA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pc="-100">
                <a:latin typeface="Pretendard"/>
                <a:cs typeface="Pretendard"/>
                <a:ea typeface="Pretendard"/>
              </a:rPr>
              <a:t>영상 콘텐츠 유형별 소개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A55D30-283F-5E5B-C0A8-F1C9A7462F9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ED0CD3DB-32AF-2A98-B260-A75888D7F7AF}"/>
              </a:ext>
            </a:extLst>
          </p:cNvPr>
          <p:cNvSpPr/>
          <p:nvPr/>
        </p:nvSpPr>
        <p:spPr>
          <a:xfrm>
            <a:off x="544493" y="394412"/>
            <a:ext cx="1110538" cy="1110538"/>
          </a:xfrm>
          <a:prstGeom prst="ellipse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한솔님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BFFCEBF-336F-40D7-C7DE-1338ADFACB5E}"/>
              </a:ext>
            </a:extLst>
          </p:cNvPr>
          <p:cNvSpPr/>
          <p:nvPr/>
        </p:nvSpPr>
        <p:spPr>
          <a:xfrm>
            <a:off x="1917570" y="394412"/>
            <a:ext cx="1110538" cy="1110538"/>
          </a:xfrm>
          <a:prstGeom prst="ellipse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영상</a:t>
            </a:r>
            <a:endParaRPr kumimoji="0" lang="en-US" altLang="ko-KR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지혜님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7DCC592-2293-87EC-88C2-5915587C26EE}"/>
              </a:ext>
            </a:extLst>
          </p:cNvPr>
          <p:cNvSpPr/>
          <p:nvPr/>
        </p:nvSpPr>
        <p:spPr>
          <a:xfrm>
            <a:off x="6825763" y="1986280"/>
            <a:ext cx="3747474" cy="3891280"/>
          </a:xfrm>
          <a:prstGeom prst="rect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Concept B. </a:t>
            </a:r>
            <a:r>
              <a:rPr lang="ko-KR" altLang="en-US" sz="1600" b="0" spc="-100" dirty="0" err="1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건기식</a:t>
            </a:r>
            <a:r>
              <a:rPr lang="ko-KR" altLang="en-US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Half-EGC</a:t>
            </a:r>
          </a:p>
          <a:p>
            <a:pPr lvl="0" algn="ctr">
              <a:defRPr/>
            </a:pPr>
            <a:endParaRPr lang="en-US" altLang="ko-KR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제품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: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루테인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 구미</a:t>
            </a:r>
            <a:endParaRPr lang="en-US" altLang="ko-KR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endParaRPr lang="en-US" altLang="ko-KR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모니터 앞 직장인 루틴</a:t>
            </a:r>
            <a:endParaRPr lang="en-US" altLang="ko-KR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endParaRPr lang="en-US" altLang="ko-KR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인정 기능성 문구 범위 내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Half-EGC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B67C87F-E88D-D00E-AAD1-F08CE934A1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" y="201168"/>
            <a:ext cx="6520180" cy="978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80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9D898-3A9F-4164-06FE-15523476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83C47FAA-CF33-1682-689E-0E28082A6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pc="-100">
                <a:latin typeface="Pretendard"/>
                <a:cs typeface="Pretendard"/>
                <a:ea typeface="Pretendard"/>
              </a:rPr>
              <a:t>영상 콘텐츠 유형별 소개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AF7E8E5-40FD-B5E4-041D-1FF7E6DFB6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7019638-67B6-657C-5D4E-C0449629E047}"/>
              </a:ext>
            </a:extLst>
          </p:cNvPr>
          <p:cNvSpPr/>
          <p:nvPr/>
        </p:nvSpPr>
        <p:spPr>
          <a:xfrm>
            <a:off x="544493" y="394412"/>
            <a:ext cx="1110538" cy="1110538"/>
          </a:xfrm>
          <a:prstGeom prst="ellipse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한솔님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20772EBE-B715-ED98-91E2-8C3D78D02756}"/>
              </a:ext>
            </a:extLst>
          </p:cNvPr>
          <p:cNvSpPr/>
          <p:nvPr/>
        </p:nvSpPr>
        <p:spPr>
          <a:xfrm>
            <a:off x="1917570" y="394412"/>
            <a:ext cx="1110538" cy="1110538"/>
          </a:xfrm>
          <a:prstGeom prst="ellipse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영상</a:t>
            </a:r>
            <a:endParaRPr kumimoji="0" lang="en-US" altLang="ko-KR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지혜님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460E2BA-A4F3-9D95-54F4-CB1FF35C1815}"/>
              </a:ext>
            </a:extLst>
          </p:cNvPr>
          <p:cNvSpPr/>
          <p:nvPr/>
        </p:nvSpPr>
        <p:spPr>
          <a:xfrm>
            <a:off x="6825763" y="1986280"/>
            <a:ext cx="3747474" cy="3891280"/>
          </a:xfrm>
          <a:prstGeom prst="rect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Concept B. </a:t>
            </a:r>
            <a:r>
              <a:rPr lang="ko-KR" altLang="en-US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직원 </a:t>
            </a:r>
            <a:r>
              <a:rPr lang="ko-KR" altLang="en-US" sz="1600" b="0" spc="-100" dirty="0" err="1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피셜</a:t>
            </a:r>
            <a:r>
              <a:rPr lang="ko-KR" altLang="en-US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600" b="0" spc="-100" dirty="0">
                <a:solidFill>
                  <a:srgbClr val="000000"/>
                </a:solidFill>
                <a:latin typeface="Pretendard ExtraBold"/>
                <a:cs typeface="Pretendard ExtraBold"/>
                <a:ea typeface="Pretendard ExtraBold"/>
              </a:rPr>
              <a:t>EGC</a:t>
            </a:r>
          </a:p>
          <a:p>
            <a:pPr lvl="0" algn="ctr">
              <a:defRPr/>
            </a:pPr>
            <a:endParaRPr lang="en-US" altLang="ko-KR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Hook</a:t>
            </a:r>
          </a:p>
          <a:p>
            <a:pPr lvl="0" algn="ctr"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“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이 스펙을 이 가격에 가져온 이유”</a:t>
            </a:r>
          </a:p>
          <a:p>
            <a:pPr lvl="0" algn="ctr">
              <a:defRPr/>
            </a:pPr>
            <a:endParaRPr lang="ko-KR" altLang="en-US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Body</a:t>
            </a:r>
          </a:p>
          <a:p>
            <a:pPr lvl="0" algn="ctr"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스페인산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피쿠알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낮은 산도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폴리페놀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,</a:t>
            </a:r>
          </a:p>
          <a:p>
            <a:pPr lvl="0" algn="ctr"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개별 포장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가격 접근성 설명</a:t>
            </a:r>
          </a:p>
          <a:p>
            <a:pPr lvl="0" algn="ctr">
              <a:defRPr/>
            </a:pPr>
            <a:endParaRPr lang="ko-KR" altLang="en-US" sz="1600" spc="-100" dirty="0">
              <a:solidFill>
                <a:srgbClr val="000000"/>
              </a:solidFill>
            </a:endParaRPr>
          </a:p>
          <a:p>
            <a:pPr lvl="0" algn="ctr"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CTA</a:t>
            </a:r>
          </a:p>
          <a:p>
            <a:pPr lvl="0" algn="ctr"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“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파격가로 가볍게 시작하는 올리브오일 루틴”</a:t>
            </a:r>
            <a:endParaRPr lang="en-US" altLang="ko-KR" sz="1600" spc="-100" dirty="0">
              <a:solidFill>
                <a:srgbClr val="000000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38F9E0F-EE6B-F3E1-727D-F82B2535F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" y="201168"/>
            <a:ext cx="6520180" cy="978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626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pc="-100">
                <a:latin typeface="Pretendard"/>
                <a:cs typeface="Pretendard"/>
                <a:ea typeface="Pretendard"/>
              </a:rPr>
              <a:t>오프라인 인증형 </a:t>
            </a:r>
            <a:r>
              <a:rPr lang="ko-KR" altLang="en-US" err="1" spc="-100">
                <a:latin typeface="Pretendard"/>
                <a:cs typeface="Pretendard"/>
                <a:ea typeface="Pretendard"/>
              </a:rPr>
              <a:t>시딩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ko-KR" altLang="en-US" err="1" spc="-100">
                <a:latin typeface="Pretendard"/>
                <a:cs typeface="Pretendard"/>
                <a:ea typeface="Pretendard"/>
              </a:rPr>
              <a:t>올리브베러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광화문점 위주 방문형 콘텐츠</a:t>
            </a:r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 spc="-100">
                <a:latin typeface="Pretendard"/>
                <a:cs typeface="Pretendard"/>
                <a:ea typeface="Pretendard"/>
              </a:rPr>
              <a:t>올리브영 전국 매장에 </a:t>
            </a:r>
            <a:r>
              <a:rPr lang="ko-KR" altLang="en-US" err="1" spc="-100">
                <a:latin typeface="Pretendard"/>
                <a:cs typeface="Pretendard"/>
                <a:ea typeface="Pretendard"/>
              </a:rPr>
              <a:t>입점되어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있는 </a:t>
            </a:r>
            <a:r>
              <a:rPr lang="ko-KR" altLang="en-US" err="1" spc="-100">
                <a:latin typeface="Pretendard"/>
                <a:cs typeface="Pretendard"/>
                <a:ea typeface="Pretendard"/>
              </a:rPr>
              <a:t>올더베러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소개</a:t>
            </a:r>
            <a:endParaRPr lang="en-US" altLang="ko-KR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올리브영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올리브베러 오프라인 매장을 시딩 콘텐츠의 ‘현장 인증 접점’으로 활용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“올영에서 실제로 파는 제품”이라는 현장감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자연 발견형 바이럴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+@ :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내한 외국인 대상 바이럴 유도</a:t>
            </a:r>
          </a:p>
          <a:p>
            <a:pPr algn="ctr">
              <a:defRPr/>
            </a:pPr>
            <a:endParaRPr lang="ko-KR" altLang="en-US" sz="1600" spc="-100">
              <a:solidFill>
                <a:srgbClr val="000000"/>
              </a:solidFill>
              <a:latin typeface="Pretendard"/>
              <a:ea typeface="Pretendard"/>
            </a:endParaRPr>
          </a:p>
          <a:p>
            <a:pPr algn="ctr">
              <a:defRPr/>
            </a:pPr>
            <a:r>
              <a:rPr lang="ko-KR" altLang="en-US" sz="1600" spc="-100">
                <a:solidFill>
                  <a:srgbClr val="000000"/>
                </a:solidFill>
                <a:latin typeface="Pretendard"/>
                <a:cs typeface="Pretendard"/>
                <a:ea typeface="Pretendard"/>
              </a:rPr>
              <a:t>레퍼런스 영상 위주 배치 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D6B1771-694C-9EDE-AC06-395B40278ADD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한솔님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70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f-ZA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KOL </a:t>
            </a:r>
            <a:r>
              <a:rPr kumimoji="0" lang="ko-KR" altLang="en-US" sz="23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무가시딩</a:t>
            </a: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23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운영</a:t>
            </a: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23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전략</a:t>
            </a: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23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대상</a:t>
            </a:r>
            <a:r>
              <a:rPr kumimoji="0" lang="ko-KR" altLang="en-US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2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× </a:t>
            </a:r>
            <a:r>
              <a:rPr kumimoji="0" lang="ko-KR" altLang="en-US" sz="23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방식</a:t>
            </a:r>
            <a:endParaRPr kumimoji="0" lang="ko-KR" altLang="en-US" sz="23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자발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게시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유도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관계로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지속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발화</a:t>
            </a: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622445"/>
            <a:ext cx="1097280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무가시딩</a:t>
            </a:r>
            <a:r>
              <a:rPr kumimoji="0" lang="ko-KR" altLang="en-US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= </a:t>
            </a:r>
            <a:r>
              <a:rPr kumimoji="0" lang="ko-KR" altLang="en-US" sz="12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노출을</a:t>
            </a:r>
            <a:r>
              <a:rPr kumimoji="0" lang="ko-KR" altLang="en-US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사는</a:t>
            </a:r>
            <a:r>
              <a:rPr kumimoji="0" lang="ko-KR" altLang="en-US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게 아</a:t>
            </a:r>
            <a:r>
              <a:rPr kumimoji="0" lang="ko-KR" altLang="en-US" sz="12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닌</a:t>
            </a:r>
            <a:r>
              <a:rPr kumimoji="0" lang="en-US" altLang="ko-KR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,</a:t>
            </a:r>
            <a:r>
              <a:rPr kumimoji="0" lang="ko-KR" altLang="en-US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‘</a:t>
            </a:r>
            <a:r>
              <a:rPr kumimoji="0" lang="ko-KR" altLang="en-US" sz="12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관계를</a:t>
            </a:r>
            <a:r>
              <a:rPr kumimoji="0" lang="ko-KR" altLang="en-US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빌드업</a:t>
            </a:r>
            <a:r>
              <a:rPr kumimoji="0" lang="ko-KR" altLang="en-US" sz="12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5486400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12064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①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누구에게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대상</a:t>
            </a:r>
            <a:endParaRPr kumimoji="0" lang="ko-KR" altLang="en-US" sz="13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349240" cy="21236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웰니스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접점이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강한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~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매크로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크리에이터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이후 브랜드 캠페인을 제안해도 좋을 대상 우선 리스트업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올더베러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타깃과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라이프스타일이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겹치는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30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직장인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웰니스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라이프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이미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자생적으로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헬시플레저</a:t>
            </a:r>
            <a:r>
              <a:rPr kumimoji="0" lang="en-US" altLang="ko-KR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자기관리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중인 인원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웰니스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키워드와 부합하는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콘텐츠를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올리는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진성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050" b="0" i="0" u="none" strike="noStrike" kern="1200" cap="none" spc="-100" normalizeH="0" baseline="0" noProof="0" err="1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계정</a:t>
            </a:r>
            <a:r>
              <a:rPr kumimoji="0" lang="ko-KR" altLang="en-US" sz="105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46520" y="2304288"/>
            <a:ext cx="512064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② 어떻게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운영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834640"/>
            <a:ext cx="5349240" cy="29623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등급별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차등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—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매크로급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=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커스텀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키트</a:t>
            </a:r>
            <a:r>
              <a:rPr kumimoji="0" lang="en-US" altLang="ko-KR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+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정기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접촉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/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마이크로</a:t>
            </a:r>
            <a:r>
              <a:rPr kumimoji="0" lang="en-US" altLang="ko-KR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나노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=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제품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제공</a:t>
            </a:r>
            <a:endParaRPr kumimoji="0" lang="ko-KR" altLang="en-US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게시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의무 </a:t>
            </a:r>
            <a:r>
              <a:rPr kumimoji="0" lang="af-ZA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X</a:t>
            </a:r>
            <a:r>
              <a:rPr kumimoji="0" lang="af-ZA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—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자발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게시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100" b="0" i="0" u="none" strike="noStrike" kern="1200" cap="none" spc="-100" normalizeH="0" baseline="0" noProof="0" err="1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유도</a:t>
            </a:r>
            <a:endParaRPr kumimoji="0" lang="ko-KR" altLang="en-US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.</a:t>
            </a:r>
            <a:endParaRPr kumimoji="0" lang="ko-KR" altLang="en-US" sz="11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F252514-B258-20E6-D9AF-39FBD6B687E0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lang="en-US" altLang="ko-KR" sz="1400" b="0" spc="-100" err="1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ㅌㅐ욱</a:t>
            </a:r>
            <a:r>
              <a:rPr lang="ko-KR" altLang="en-US" sz="1400" b="0" spc="-100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03 심의·표시광고 준수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심의 리스크는 ‘앞단’에서 차단합니다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1089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BAT는 식품·건기식 심의 가이드를 준수하고, 송출 前 Claude AI로 1차 검수합니다.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27632"/>
            <a:ext cx="11274552" cy="512064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11274552" cy="51206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콘텐츠 송출 前, Claude AI가 먼저 읽습니다 — 사람이 놓치는 위험 표현을 앞단에서 거릅니다.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40864"/>
            <a:ext cx="1005840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Claude AI 사전 검수 워크플로우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7004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271576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15768"/>
            <a:ext cx="2039112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대본·자막·캡션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27248"/>
            <a:ext cx="267919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" y="3236976"/>
            <a:ext cx="2404872" cy="111556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릴스/쇼츠 대본, 자막 타임코드, 캡션·해시태그를 검수 큐에 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353872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82696" y="267004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0712" y="271576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9624" y="2715768"/>
            <a:ext cx="2039112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Claude AI 1차 스크리닝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82696" y="3127248"/>
            <a:ext cx="267919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9000" y="3236976"/>
            <a:ext cx="2404872" cy="111556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제품 분류(일반식품/건기식) 자동 분기 → 효능·과장·질병 표현 자동 탐지·플래그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53872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267004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36208" y="271576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15768"/>
            <a:ext cx="2039112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안전 표현 치환 제안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08192" y="3127248"/>
            <a:ext cx="267919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54496" y="3236976"/>
            <a:ext cx="2404872" cy="111556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분류별 규칙 기반으로 위험 문구 → 안전 문구 대안 제시 (근거 조항 함께)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353872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33688" y="267004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61704" y="271576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0616" y="2715768"/>
            <a:ext cx="2039112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법무·RA 최종 검토 · 송출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33688" y="3127248"/>
            <a:ext cx="267919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79992" y="3236976"/>
            <a:ext cx="2404872" cy="111556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건기식은 자율심의·법무 확인까지 완료 후 송출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08576"/>
            <a:ext cx="2679192" cy="384048"/>
          </a:xfrm>
          <a:prstGeom prst="roundRect">
            <a:avLst>
              <a:gd name="adj" fmla="val 50000"/>
            </a:avLst>
          </a:prstGeom>
          <a:solidFill>
            <a:srgbClr val="FBF6CE"/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4654296"/>
            <a:ext cx="2679192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✓  심의 반려율 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82696" y="4608576"/>
            <a:ext cx="2679192" cy="384048"/>
          </a:xfrm>
          <a:prstGeom prst="roundRect">
            <a:avLst>
              <a:gd name="adj" fmla="val 50000"/>
            </a:avLst>
          </a:prstGeom>
          <a:solidFill>
            <a:srgbClr val="FBF6CE"/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82696" y="4654296"/>
            <a:ext cx="2679192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✓  검토 기간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08192" y="4608576"/>
            <a:ext cx="2679192" cy="384048"/>
          </a:xfrm>
          <a:prstGeom prst="roundRect">
            <a:avLst>
              <a:gd name="adj" fmla="val 50000"/>
            </a:avLst>
          </a:prstGeom>
          <a:solidFill>
            <a:srgbClr val="FBF6CE"/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08192" y="4654296"/>
            <a:ext cx="2679192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✓  표현 일관성 확보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33688" y="4608576"/>
            <a:ext cx="2679192" cy="384048"/>
          </a:xfrm>
          <a:prstGeom prst="roundRect">
            <a:avLst>
              <a:gd name="adj" fmla="val 50000"/>
            </a:avLst>
          </a:prstGeom>
          <a:solidFill>
            <a:srgbClr val="FBF6CE"/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933688" y="4654296"/>
            <a:ext cx="2679192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✓  분류별 자동 분기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175504"/>
            <a:ext cx="1005840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제품 분류별 심의 원칙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468112"/>
            <a:ext cx="5541264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5541264"/>
            <a:ext cx="530352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일반식품  </a:t>
            </a:r>
            <a:r>
              <a:rPr sz="9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올리브오일 · 멜라나잇 · 콜라겐 구미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5815584"/>
            <a:ext cx="5303520" cy="58521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질병 예방·치료, 신체조직·기능 효능 표현 </a:t>
            </a:r>
            <a:r>
              <a:rPr sz="980" b="0" spc="-100">
                <a:solidFill>
                  <a:srgbClr val="B03A2E"/>
                </a:solidFill>
                <a:latin typeface="Pretendard ExtraBold"/>
                <a:cs typeface="Pretendard ExtraBold"/>
                <a:ea typeface="Pretendard ExtraBold"/>
              </a:rPr>
              <a:t>전면 금지</a:t>
            </a:r>
            <a:r>
              <a:rPr sz="98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→ 원료·맛·편의·무드 앵글만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5468112"/>
            <a:ext cx="5541264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55080" y="5541264"/>
            <a:ext cx="530352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건강기능식품  </a:t>
            </a:r>
            <a:r>
              <a:rPr sz="95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루테인 · 바나바잎 구미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815584"/>
            <a:ext cx="5303520" cy="58521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인정 기능성 문구 </a:t>
            </a:r>
            <a:r>
              <a:rPr sz="980" b="0" spc="-100">
                <a:solidFill>
                  <a:srgbClr val="2E5A3A"/>
                </a:solidFill>
                <a:latin typeface="Pretendard ExtraBold"/>
                <a:cs typeface="Pretendard ExtraBold"/>
                <a:ea typeface="Pretendard ExtraBold"/>
              </a:rPr>
              <a:t>그대로만</a:t>
            </a:r>
            <a:r>
              <a:rPr sz="98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· 의약품 오인·과장·체험 단정 금지 · 자율심의 대상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근거: 식품 등의 표시·광고에 관한 법률 · 한국건강기능식품협회 자율심의 · 공정위 추천·보증 심사지침(유료광고·협찬 표시)</a:t>
            </a:r>
          </a:p>
        </p:txBody>
      </p:sp>
    </p:spTree>
    <p:extLst>
      <p:ext uri="{BB962C8B-B14F-4D97-AF65-F5344CB8AC3E}">
        <p14:creationId xmlns:p14="http://schemas.microsoft.com/office/powerpoint/2010/main" val="2912141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03 심의·표시광고 준수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표현 치환표 &amp; 송출 전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1089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위험 표현(❌)을 안전 표현(✅)으로 — Claude AI가 1차로, 사람이 최종으로 검수합니다.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1127455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제품 (분류)</a:t>
                      </a: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❌ 위험 표현</a:t>
                      </a: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✅ 안전 표현</a:t>
                      </a: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올리브오일 캡슐·스틱 (일반)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B03A2E"/>
                          </a:solidFill>
                          <a:latin typeface="Pretendard"/>
                          <a:cs typeface="Pretendard"/>
                          <a:ea typeface="Pretendard"/>
                        </a:rPr>
                        <a:t>혈관·콜레스테롤에 좋은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2E5A3A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엑스트라 버진 올리브오일을 한 포로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멜라나잇 구미 (일반)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B03A2E"/>
                          </a:solidFill>
                          <a:latin typeface="Pretendard"/>
                          <a:cs typeface="Pretendard"/>
                          <a:ea typeface="Pretendard"/>
                        </a:rPr>
                        <a:t>숙면 젤리 / 잠 잘 오는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2E5A3A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자기 전 리추얼 / 하루 마무리 한 알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콜라겐 구미 (일반)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B03A2E"/>
                          </a:solidFill>
                          <a:latin typeface="Pretendard"/>
                          <a:cs typeface="Pretendard"/>
                          <a:ea typeface="Pretendard"/>
                        </a:rPr>
                        <a:t>피부·주름·탄력 콜라겐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2E5A3A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디저트 대신 챙기는 젤리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루테인 구미 (건기식)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B03A2E"/>
                          </a:solidFill>
                          <a:latin typeface="Pretendard"/>
                          <a:cs typeface="Pretendard"/>
                          <a:ea typeface="Pretendard"/>
                        </a:rPr>
                        <a:t>눈이 좋아지는 / 덜 침침해진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2E5A3A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루테인, 눈 건강에 도움을 줄 수 있음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바나바잎 구미 (건기식)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B03A2E"/>
                          </a:solidFill>
                          <a:latin typeface="Pretendard"/>
                          <a:cs typeface="Pretendard"/>
                          <a:ea typeface="Pretendard"/>
                        </a:rPr>
                        <a:t>혈당 낮추는 / 당뇨에 좋은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2E5A3A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식후 혈당 상승 억제에 도움을 줄 수 있음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61104"/>
            <a:ext cx="1005840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송출 전 필수 체크리스트 (인스타그램 릴스 기준)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5371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" y="4599432"/>
            <a:ext cx="36576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4599432"/>
            <a:ext cx="10607040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유료광고·협찬 표시 — 자막 + 음성 + 캡션 + 인스타 ‘유료 파트너십’ 태그 모두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7433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6CE"/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5020056"/>
            <a:ext cx="36576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5020056"/>
            <a:ext cx="10607040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일반식품(올리브오일·멜라나잇·콜라겐) — 질병·신체기능·건강 효능 표현 전면 배제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" y="5440680"/>
            <a:ext cx="36576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5440680"/>
            <a:ext cx="10607040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건기식(루테인·바나바잎) — 인정 기능성 문구 그대로, 의약품 오인·과장·체험 단정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15584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6CE"/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3504" y="5861304"/>
            <a:ext cx="36576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5861304"/>
            <a:ext cx="10607040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‘효과 미체감’ 방어 — ‘꾸준히’ 표현 OK, 효과 보장·단정 금지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6236208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3504" y="6281928"/>
            <a:ext cx="36576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6281928"/>
            <a:ext cx="10607040" cy="29260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건기식 컨셉은 송출 前 한국건강기능식품협회 자율심의 + 법무·RA 검토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693408"/>
            <a:ext cx="11274552" cy="384048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693408"/>
            <a:ext cx="11274552" cy="384048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→ Claude AI 사전 검수로 1차 필터링(반려↓·기간 단축) 후, 위 체크리스트로 사람이 최종 점검합니다.</a:t>
            </a:r>
          </a:p>
        </p:txBody>
      </p:sp>
    </p:spTree>
    <p:extLst>
      <p:ext uri="{BB962C8B-B14F-4D97-AF65-F5344CB8AC3E}">
        <p14:creationId xmlns:p14="http://schemas.microsoft.com/office/powerpoint/2010/main" val="1304227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en-US" altLang="ko-KR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spc="-100">
                <a:latin typeface="Pretendard"/>
                <a:cs typeface="Pretendard"/>
                <a:ea typeface="Pretendard"/>
              </a:rPr>
              <a:t>04</a:t>
            </a:r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pc="-100">
                <a:latin typeface="Pretendard"/>
                <a:cs typeface="Pretendard"/>
                <a:ea typeface="Pretendard"/>
              </a:rPr>
              <a:t>Viral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367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02_C 바이럴 파트의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43000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바이럴의 역할은 ‘입소문’이 아니라 구매 직전의 ‘확신’을 만드는 것입니다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11338560" cy="4103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올더베러는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아직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브랜드명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검색·자발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적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탐색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에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약합니다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바이럴 채널은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노출과 더불어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소비자가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제품을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본 뒤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검색·비교하는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순간에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충분한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후기와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추천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맥락이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보이도록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설계합니다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17904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00784"/>
            <a:ext cx="2542032" cy="4572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46504"/>
            <a:ext cx="2542032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제품을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8103" y="1746504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1700784"/>
            <a:ext cx="2542032" cy="4572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11296" y="1746504"/>
            <a:ext cx="2542032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검색·비교한다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19" y="1746504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700784"/>
            <a:ext cx="2542032" cy="4572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 w="1651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1746504"/>
            <a:ext cx="2542032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‘선택해도 된다’ 확신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0536" y="1746504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53727" y="1700784"/>
            <a:ext cx="2542032" cy="457200"/>
          </a:xfrm>
          <a:prstGeom prst="roundRect">
            <a:avLst>
              <a:gd name="adj" fmla="val 5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53727" y="1746504"/>
            <a:ext cx="2542032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구매·전환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95728"/>
            <a:ext cx="3630168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8368" y="2596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2596896"/>
            <a:ext cx="457200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5" y="2615184"/>
            <a:ext cx="2715768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비교 시 ‘선택 근거’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236976"/>
            <a:ext cx="3209544" cy="914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후기·장바구니·랭킹 맥락을 만들어 “선택해도 되는 제품”이라는 확신을 형성합니다.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224528"/>
            <a:ext cx="3209544" cy="3272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소비자 구매 </a:t>
            </a:r>
            <a:r>
              <a:rPr lang="ko-KR" altLang="en-US"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퍼널에</a:t>
            </a:r>
            <a:r>
              <a:rPr lang="ko-KR" altLang="en-US"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따라 올리브영 외부에서도 소비자들이 </a:t>
            </a:r>
            <a:r>
              <a:rPr lang="ko-KR" altLang="en-US"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올더베러를</a:t>
            </a:r>
            <a:r>
              <a:rPr lang="ko-KR" altLang="en-US"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비교 </a:t>
            </a:r>
            <a:r>
              <a:rPr lang="en-US" altLang="ko-KR"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&amp; </a:t>
            </a:r>
            <a:r>
              <a:rPr lang="ko-KR" altLang="en-US"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선택 할 수 있는 근거를 채웁니다</a:t>
            </a:r>
            <a:r>
              <a:rPr lang="en-US" altLang="ko-KR"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</a:t>
            </a:r>
            <a:endParaRPr sz="98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7200" y="5321808"/>
            <a:ext cx="3630168" cy="4572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5385816"/>
            <a:ext cx="3264408" cy="17953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액션 </a:t>
            </a:r>
            <a:r>
              <a:rPr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 </a:t>
            </a:r>
            <a:r>
              <a:rPr sz="10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커뮤니티·파워페이지</a:t>
            </a:r>
            <a:endParaRPr sz="10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279392" y="2395728"/>
            <a:ext cx="3630168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2596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0" y="2596896"/>
            <a:ext cx="457200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2615184"/>
            <a:ext cx="2715768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구매 ‘전환’으로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3236976"/>
            <a:ext cx="3209544" cy="914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챌린저스·어필리에이트·쇼핑 큐레이터로 실제 구매와 리뷰·랭킹 견인까지 연결합니다.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4224528"/>
            <a:ext cx="3209544" cy="32726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단순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노출이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아니라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진성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구매·리뷰·랭킹이라는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행동’으로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전환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위닝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콘텐츠는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PA 2차로 </a:t>
            </a:r>
            <a:r>
              <a:rPr sz="98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재투입합니다</a:t>
            </a:r>
            <a:r>
              <a:rPr sz="98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9392" y="5321808"/>
            <a:ext cx="3630168" cy="4572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79392" y="5321808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80560" y="5385816"/>
            <a:ext cx="3264408" cy="17953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액션 </a:t>
            </a:r>
            <a:r>
              <a:rPr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 </a:t>
            </a:r>
            <a:r>
              <a:rPr sz="10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챌린저스</a:t>
            </a:r>
            <a:endParaRPr sz="10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101584" y="2395728"/>
            <a:ext cx="3630168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302752" y="2596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02752" y="2596896"/>
            <a:ext cx="457200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615184"/>
            <a:ext cx="2715768" cy="4572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검색 시 ‘비어 있지 않게’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236976"/>
            <a:ext cx="3209544" cy="914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제품명·카테고리·상황 키워드 검색 시 정보성 콘텐츠가 노출되도록 자산화합니다.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224528"/>
            <a:ext cx="3209544" cy="10058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근거  </a:t>
            </a:r>
            <a:r>
              <a:rPr sz="98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검색·AI 답변 결과에 올더베러가 ‘근거 있는 추천’으로 등장하도록 GEO/AEO 자산을 축적합니다.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01584" y="5321808"/>
            <a:ext cx="3630168" cy="4572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01584" y="5321808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02752" y="5385816"/>
            <a:ext cx="3264408" cy="17953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액션 </a:t>
            </a:r>
            <a:r>
              <a:rPr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→</a:t>
            </a:r>
            <a:r>
              <a:rPr 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네이버 </a:t>
            </a:r>
            <a:r>
              <a:rPr lang="en-US" altLang="ko-KR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+ </a:t>
            </a: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언론보도 초안 </a:t>
            </a:r>
            <a:r>
              <a:rPr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GEO·AEO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6035040"/>
            <a:ext cx="11274552" cy="512064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6166679"/>
            <a:ext cx="11274552" cy="24878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바이럴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=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노출</a:t>
            </a:r>
            <a:r>
              <a:rPr 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+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구매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직전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‘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확신’의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밀도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: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검증·신뢰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단계를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채웁니다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dirty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02_C </a:t>
            </a:r>
            <a:r>
              <a:rPr sz="1250" b="0" dirty="0" err="1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바이럴</a:t>
            </a:r>
            <a:r>
              <a:rPr sz="1250" b="0" dirty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 ① </a:t>
            </a:r>
            <a:r>
              <a:rPr lang="ko-KR" altLang="en-US" sz="1250" b="0" dirty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신뢰</a:t>
            </a:r>
            <a:endParaRPr sz="1250" b="1" dirty="0">
              <a:solidFill>
                <a:srgbClr val="787872"/>
              </a:solidFill>
              <a:latin typeface="Pretendar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430000" cy="3949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챌린저스</a:t>
            </a:r>
            <a:r>
              <a:rPr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— ‘</a:t>
            </a:r>
            <a:r>
              <a:rPr lang="ko-KR" altLang="en-US"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올리브영 랭킹 </a:t>
            </a:r>
            <a:r>
              <a:rPr lang="en-US" altLang="ko-KR"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</a:t>
            </a:r>
            <a:r>
              <a:rPr lang="ko-KR" altLang="en-US"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위</a:t>
            </a:r>
            <a:r>
              <a:rPr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24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견인’을</a:t>
            </a:r>
            <a:r>
              <a:rPr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24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위한</a:t>
            </a:r>
            <a:r>
              <a:rPr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240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구매</a:t>
            </a:r>
            <a:r>
              <a:rPr lang="en-US"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+</a:t>
            </a:r>
            <a:r>
              <a:rPr lang="ko-KR" altLang="en-US"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리뷰</a:t>
            </a:r>
            <a:r>
              <a:rPr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24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챌린지</a:t>
            </a:r>
            <a:endParaRPr sz="24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1133856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실제 올리브영 액티브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유저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의 제품 구매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,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리뷰 미션 수행하는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'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인증 기반 챌린지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’</a:t>
            </a:r>
            <a:endParaRPr sz="125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517904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1005840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작동 메커니즘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3852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5216" y="198424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984248"/>
            <a:ext cx="2039112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챌린지</a:t>
            </a:r>
            <a:r>
              <a:rPr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참여</a:t>
            </a:r>
            <a:r>
              <a:rPr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모집</a:t>
            </a:r>
            <a:endParaRPr sz="110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" y="2395728"/>
            <a:ext cx="2679192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2505456"/>
            <a:ext cx="2404872" cy="104241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목표·습관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앱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챌린저스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내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미션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개설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(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실구매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의사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유저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타겟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7614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2696" y="193852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9624" y="2069665"/>
            <a:ext cx="2039112" cy="194925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액티브 유저 </a:t>
            </a:r>
            <a:r>
              <a:rPr lang="ko-KR" altLang="en-US"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실구매</a:t>
            </a:r>
            <a:endParaRPr sz="110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282696" y="2395728"/>
            <a:ext cx="2679192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9000" y="2505456"/>
            <a:ext cx="2404872" cy="33342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실제 올리브영을 활발히 사용하는 액티브 유저들의 제품 구매 </a:t>
            </a:r>
            <a:endParaRPr sz="100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806440" y="27614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8192" y="193852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36208" y="198424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984248"/>
            <a:ext cx="2039112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사용·리뷰</a:t>
            </a:r>
            <a:r>
              <a:rPr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인증</a:t>
            </a:r>
            <a:r>
              <a:rPr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미션</a:t>
            </a:r>
            <a:endParaRPr sz="110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108192" y="2395728"/>
            <a:ext cx="2679192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54496" y="2505456"/>
            <a:ext cx="2404872" cy="33342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구매·사용·올영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리뷰업로드를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인증’으로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수행</a:t>
            </a:r>
            <a:endParaRPr sz="100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31936" y="27614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33688" y="1938528"/>
            <a:ext cx="2679192" cy="457200"/>
          </a:xfrm>
          <a:prstGeom prst="roundRect">
            <a:avLst>
              <a:gd name="adj" fmla="val 14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61704" y="198424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0616" y="2069665"/>
            <a:ext cx="2039112" cy="194925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랭킹 </a:t>
            </a:r>
            <a:r>
              <a:rPr lang="en-US" altLang="ko-KR"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1</a:t>
            </a:r>
            <a:r>
              <a:rPr lang="ko-KR" altLang="en-US" sz="11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위 달성 목표</a:t>
            </a:r>
            <a:endParaRPr sz="110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933688" y="2395728"/>
            <a:ext cx="2679192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79992" y="2505456"/>
            <a:ext cx="2404872" cy="17953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랭킹</a:t>
            </a:r>
            <a:r>
              <a:rPr lang="en-US"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1</a:t>
            </a:r>
            <a:r>
              <a:rPr lang="ko-KR" altLang="en-US"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위 달성을 위한 전략적 활용</a:t>
            </a:r>
            <a:endParaRPr sz="100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57200" y="3968496"/>
            <a:ext cx="1005840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목표</a:t>
            </a:r>
            <a:r>
              <a:rPr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— </a:t>
            </a:r>
            <a:r>
              <a:rPr lang="ko-KR" altLang="en-US" sz="12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올더베러의</a:t>
            </a:r>
            <a:r>
              <a:rPr lang="ko-KR" altLang="en-US"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올리브영 랭킹 </a:t>
            </a:r>
            <a:r>
              <a:rPr lang="en-US" altLang="ko-KR"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</a:t>
            </a:r>
            <a:r>
              <a:rPr lang="ko-KR" altLang="en-US" sz="12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위 달성</a:t>
            </a:r>
            <a:endParaRPr sz="125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57200" y="4297680"/>
            <a:ext cx="5486400" cy="15179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4407408"/>
            <a:ext cx="5120640" cy="2026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랭킹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견인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공략법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— </a:t>
            </a:r>
            <a:r>
              <a:rPr lang="en-US"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know</a:t>
            </a:r>
            <a:r>
              <a:rPr lang="ko-KR" altLang="en-US"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how</a:t>
            </a:r>
            <a:r>
              <a:rPr lang="ko-KR" altLang="en-US"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를 통한 전략적 운영 배치</a:t>
            </a:r>
            <a:endParaRPr sz="115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40080" y="4754880"/>
            <a:ext cx="786384" cy="420624"/>
          </a:xfrm>
          <a:prstGeom prst="roundRect">
            <a:avLst>
              <a:gd name="adj" fmla="val 12000"/>
            </a:avLst>
          </a:prstGeom>
          <a:solidFill>
            <a:schemeClr val="bg1">
              <a:lumMod val="85000"/>
            </a:schemeClr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786384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10시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4782312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72768" y="4754880"/>
            <a:ext cx="786384" cy="420624"/>
          </a:xfrm>
          <a:prstGeom prst="roundRect">
            <a:avLst>
              <a:gd name="adj" fmla="val 12000"/>
            </a:avLst>
          </a:prstGeom>
          <a:solidFill>
            <a:schemeClr val="bg1">
              <a:lumMod val="85000"/>
            </a:schemeClr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572768" y="4800600"/>
            <a:ext cx="786384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12시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1136" y="4782312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05456" y="4754880"/>
            <a:ext cx="786384" cy="420624"/>
          </a:xfrm>
          <a:prstGeom prst="roundRect">
            <a:avLst>
              <a:gd name="adj" fmla="val 12000"/>
            </a:avLst>
          </a:prstGeom>
          <a:solidFill>
            <a:schemeClr val="bg1">
              <a:lumMod val="85000"/>
            </a:schemeClr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505456" y="4800600"/>
            <a:ext cx="786384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14시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63824" y="4782312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38144" y="4754880"/>
            <a:ext cx="786384" cy="420624"/>
          </a:xfrm>
          <a:prstGeom prst="roundRect">
            <a:avLst>
              <a:gd name="adj" fmla="val 12000"/>
            </a:avLst>
          </a:prstGeom>
          <a:solidFill>
            <a:schemeClr val="bg1">
              <a:lumMod val="85000"/>
            </a:schemeClr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438144" y="4800600"/>
            <a:ext cx="786384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16시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96512" y="4782312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70832" y="4754880"/>
            <a:ext cx="786384" cy="420624"/>
          </a:xfrm>
          <a:prstGeom prst="roundRect">
            <a:avLst>
              <a:gd name="adj" fmla="val 12000"/>
            </a:avLst>
          </a:prstGeom>
          <a:solidFill>
            <a:schemeClr val="bg1">
              <a:lumMod val="85000"/>
            </a:schemeClr>
          </a:solidFill>
          <a:ln w="1524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370832" y="4800600"/>
            <a:ext cx="786384" cy="32918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18시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285232"/>
            <a:ext cx="5120640" cy="359073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진성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구매·리뷰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인증을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시간대별로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분산</a:t>
            </a:r>
            <a:r>
              <a:rPr 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/ </a:t>
            </a:r>
            <a:r>
              <a:rPr lang="ko-KR" altLang="en-US" sz="100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매니징</a:t>
            </a:r>
            <a:endParaRPr lang="en-US" sz="1000" b="0" dirty="0">
              <a:solidFill>
                <a:srgbClr val="373734"/>
              </a:solidFill>
              <a:latin typeface="Pretendard"/>
            </a:endParaRPr>
          </a:p>
          <a:p>
            <a:pPr>
              <a:spcAft>
                <a:spcPts val="200"/>
              </a:spcAft>
            </a:pP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→ 최저 비용 최대 효율 획득 </a:t>
            </a:r>
            <a:endParaRPr sz="100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089904" y="4297680"/>
            <a:ext cx="5641848" cy="1517904"/>
          </a:xfrm>
          <a:prstGeom prst="roundRect">
            <a:avLst>
              <a:gd name="adj" fmla="val 6000"/>
            </a:avLst>
          </a:prstGeom>
          <a:solidFill>
            <a:schemeClr val="bg1">
              <a:lumMod val="85000"/>
            </a:schemeClr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54496" y="4407408"/>
            <a:ext cx="530352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왜 효과적인가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54496" y="4718304"/>
            <a:ext cx="5349240" cy="71814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올리브영이 만든 </a:t>
            </a:r>
            <a:r>
              <a:rPr lang="ko-KR" altLang="en-US" sz="100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웰니스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en-US" altLang="ko-KR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PB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로 올리브영 랭킹 </a:t>
            </a:r>
            <a:r>
              <a:rPr lang="en-US" altLang="ko-KR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1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위 달성</a:t>
            </a:r>
            <a:endParaRPr lang="en-US" altLang="ko-KR" sz="1000" dirty="0">
              <a:solidFill>
                <a:srgbClr val="373734"/>
              </a:solidFill>
              <a:latin typeface="Pretendard"/>
            </a:endParaRPr>
          </a:p>
          <a:p>
            <a:pPr>
              <a:spcAft>
                <a:spcPts val="200"/>
              </a:spcAft>
            </a:pPr>
            <a:r>
              <a:rPr lang="en-US" altLang="ko-KR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랭킹 달성 이후 </a:t>
            </a:r>
            <a:r>
              <a:rPr lang="en-US" altLang="ko-KR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‘1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위</a:t>
            </a:r>
            <a:r>
              <a:rPr lang="en-US" altLang="ko-KR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’ </a:t>
            </a:r>
            <a:r>
              <a:rPr lang="ko-KR" alt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키워드 플레이로 신뢰성 획득</a:t>
            </a:r>
            <a:endParaRPr lang="en-US" sz="100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진성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구매자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자발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리뷰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—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실제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lang="ko-KR" altLang="en-US"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올리브영 플랫폼 사용자의 구매</a:t>
            </a:r>
            <a:r>
              <a:rPr lang="en-US" altLang="ko-KR"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+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후기로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신뢰</a:t>
            </a:r>
            <a:r>
              <a:rPr lang="en-US" sz="100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자</a:t>
            </a:r>
            <a:r>
              <a:rPr lang="ko-KR" altLang="en-US"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산 확보</a:t>
            </a:r>
            <a:endParaRPr sz="100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동시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게시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=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랭킹·후기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볼륨의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동시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점화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’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02_C 바이럴 ②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43000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커뮤니티·파워페이지 — ‘추천템’ 맥락에 올더베러를 진입시키는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11338560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소비자는 세일 전후로 “무엇을 살지” 검색·비교합니다. 이때 올더베러가 추천 리스트와 장바구니 맥락 안에 자연스럽게 들어가야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17904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700784"/>
            <a:ext cx="5541264" cy="42245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457200" y="1700784"/>
            <a:ext cx="5541264" cy="786384"/>
          </a:xfrm>
          <a:prstGeom prst="roundRect">
            <a:avLst>
              <a:gd name="adj" fmla="val 5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188366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883664"/>
            <a:ext cx="420624" cy="42062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828800"/>
            <a:ext cx="4626864" cy="36576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뷰티 정보 플랫폼 · 대형 커뮤니티 체험단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157984"/>
            <a:ext cx="4626864" cy="2926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카테고리 관여가 높은 타겟에게 ‘검증된 후기’를 시딩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2670048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697479"/>
            <a:ext cx="914400" cy="2560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타겟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633472"/>
            <a:ext cx="4078223" cy="82296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화해 등 뷰티앱·대형 커뮤니티의 카테고리 관여 高 사용자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3657600"/>
            <a:ext cx="914400" cy="310896"/>
          </a:xfrm>
          <a:prstGeom prst="roundRect">
            <a:avLst>
              <a:gd name="adj" fmla="val 2000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" y="3685032"/>
            <a:ext cx="914400" cy="256032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21024"/>
            <a:ext cx="4078223" cy="82296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체험단·어워드·랭킹 참여로 ‘검증된 후기’ 볼륨 확보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4645152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4710832"/>
            <a:ext cx="914400" cy="179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분석</a:t>
            </a:r>
            <a:endParaRPr sz="10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700784" y="4608576"/>
            <a:ext cx="4078223" cy="51039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화장품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구매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시 64.2%가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화해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어워드·랭킹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참고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· 4단계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어뷰징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필터로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신뢰도</a:t>
            </a:r>
            <a:r>
              <a:rPr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높음</a:t>
            </a:r>
            <a:r>
              <a:rPr 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/ But </a:t>
            </a:r>
            <a:r>
              <a:rPr lang="ko-KR" altLang="en-US" sz="10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올더베러에</a:t>
            </a:r>
            <a:r>
              <a:rPr lang="ko-KR" alt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100% </a:t>
            </a:r>
            <a:r>
              <a:rPr lang="ko-KR" alt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핏 한지는 고민 필요 </a:t>
            </a:r>
            <a:r>
              <a:rPr lang="en-US" altLang="ko-KR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/ </a:t>
            </a:r>
            <a:r>
              <a:rPr lang="ko-KR" alt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비용 대비 효율 최적화는 아님</a:t>
            </a:r>
            <a:endParaRPr sz="105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190488" y="1700784"/>
            <a:ext cx="5541264" cy="42245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90488" y="1700784"/>
            <a:ext cx="5541264" cy="786384"/>
          </a:xfrm>
          <a:prstGeom prst="roundRect">
            <a:avLst>
              <a:gd name="adj" fmla="val 5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91655" y="1883664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91655" y="1883664"/>
            <a:ext cx="420624" cy="420624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0296" y="1828800"/>
            <a:ext cx="4626864" cy="225703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파워페이지</a:t>
            </a:r>
            <a:r>
              <a:rPr sz="13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(</a:t>
            </a:r>
            <a:r>
              <a:rPr lang="en-US" sz="13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SNS </a:t>
            </a:r>
            <a:r>
              <a:rPr sz="130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정보성</a:t>
            </a:r>
            <a:r>
              <a:rPr lang="en-US" sz="13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3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채널</a:t>
            </a:r>
            <a:r>
              <a:rPr sz="130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2157984"/>
            <a:ext cx="4626864" cy="187231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050" b="0" dirty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SNS</a:t>
            </a:r>
            <a:r>
              <a:rPr lang="ko-KR" altLang="en-US" sz="1050" b="0" dirty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내 잠재고객</a:t>
            </a:r>
            <a:r>
              <a:rPr lang="en-US" altLang="ko-KR" sz="1050" b="0" dirty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, </a:t>
            </a:r>
            <a:r>
              <a:rPr lang="ko-KR" altLang="en-US" sz="1050" b="0" dirty="0" spc="-100">
                <a:solidFill>
                  <a:srgbClr val="B0B0A8"/>
                </a:solidFill>
                <a:latin typeface="Pretendard ExtraBold"/>
                <a:cs typeface="Pretendard ExtraBold"/>
                <a:ea typeface="Pretendard ExtraBold"/>
              </a:rPr>
              <a:t>구매 고의도 사용자 대상 콘텐츠 바이럴</a:t>
            </a:r>
            <a:endParaRPr sz="1050" b="1" dirty="0">
              <a:solidFill>
                <a:srgbClr val="B0B0A8"/>
              </a:solidFill>
              <a:latin typeface="Pretendard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409944" y="2670048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9944" y="2697479"/>
            <a:ext cx="914400" cy="2560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타겟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1" y="2633472"/>
            <a:ext cx="4078223" cy="51039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SNS </a:t>
            </a:r>
            <a:r>
              <a:rPr lang="ko-KR" altLang="en-US"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알고리즘 기반 잠재 고객 및 구매 고의도 사용자 대상 콘텐츠 노출 </a:t>
            </a:r>
            <a:r>
              <a:rPr lang="ko-KR" altLang="en-US" sz="105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및 ‘올리브오일 효능’</a:t>
            </a:r>
            <a:r>
              <a:rPr lang="en-US" altLang="ko-KR" sz="105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·‘</a:t>
            </a:r>
            <a:r>
              <a:rPr lang="ko-KR" altLang="en-US" sz="105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웰니스</a:t>
            </a:r>
            <a:r>
              <a:rPr lang="ko-KR" altLang="en-US" sz="105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구미 추천’ 등 </a:t>
            </a:r>
            <a:r>
              <a:rPr lang="ko-KR" altLang="en-US" sz="105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정보성</a:t>
            </a:r>
            <a:r>
              <a:rPr lang="ko-KR" altLang="en-US" sz="105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검색 사용자</a:t>
            </a:r>
            <a:endParaRPr lang="ko-KR" altLang="en-US" sz="105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409944" y="3657600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9944" y="3685032"/>
            <a:ext cx="914400" cy="2560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1" y="3621024"/>
            <a:ext cx="4078223" cy="82296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정보성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파워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블로그·전문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채널로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검색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상위·추천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리스트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점유</a:t>
            </a:r>
            <a:endParaRPr sz="105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409944" y="4645152"/>
            <a:ext cx="914400" cy="310896"/>
          </a:xfrm>
          <a:prstGeom prst="roundRect">
            <a:avLst>
              <a:gd name="adj" fmla="val 20000"/>
            </a:avLst>
          </a:prstGeom>
          <a:solidFill>
            <a:srgbClr val="FBF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9944" y="4710832"/>
            <a:ext cx="914400" cy="179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00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분석</a:t>
            </a:r>
            <a:endParaRPr sz="100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434071" y="4608576"/>
            <a:ext cx="4078223" cy="510396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제품과 브랜드를 모르는 대상에게 인지와 </a:t>
            </a:r>
            <a:br>
              <a:rPr lang="en-US" altLang="ko-KR" sz="1050" b="1" dirty="0">
                <a:solidFill>
                  <a:srgbClr val="373734"/>
                </a:solidFill>
                <a:latin typeface="Pretendard"/>
              </a:rPr>
            </a:br>
            <a:r>
              <a:rPr lang="ko-KR" alt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제품 구매 의도가 있는 고의도 대상에게 각인을</a:t>
            </a:r>
            <a:r>
              <a:rPr lang="en-US" altLang="ko-KR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,</a:t>
            </a:r>
            <a:br>
              <a:rPr lang="en-US" altLang="ko-KR" sz="1050" b="1" dirty="0">
                <a:solidFill>
                  <a:srgbClr val="373734"/>
                </a:solidFill>
                <a:latin typeface="Pretendard"/>
              </a:rPr>
            </a:br>
            <a:r>
              <a:rPr lang="ko-KR" altLang="en-US" sz="10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구매 고려 대상에게는 전환 트리거를 제공</a:t>
            </a:r>
            <a:endParaRPr sz="105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11274552" cy="493776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053328"/>
            <a:ext cx="11274552" cy="49377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‘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추천템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’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검색·비교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맥락을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선점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—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세일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전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탐색이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곧장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장바구니로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이어지게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4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만듭니다</a:t>
            </a:r>
            <a:r>
              <a:rPr sz="14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02_C 바이럴 ③ 검색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43000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GEO/AEO — ‘검색 답변 시대’의 Pull 자산으로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1133856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제로 클릭의 시대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‘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AI가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어떤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정보를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골라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답하는가’의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싸움입니다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언론보도·정보성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콘텐츠를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AI가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인용하기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좋은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구조로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발행해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검색·AI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답변을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선점합니다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17904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64208"/>
            <a:ext cx="5541264" cy="841248"/>
          </a:xfrm>
          <a:prstGeom prst="roundRect">
            <a:avLst>
              <a:gd name="adj" fmla="val 6000"/>
            </a:avLst>
          </a:prstGeom>
          <a:solidFill>
            <a:srgbClr val="FBF6CE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GEO  </a:t>
            </a:r>
            <a:r>
              <a:rPr sz="11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생성형 엔진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212080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ChatGPT·Perplexity·Gemini가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답변을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만들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때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우리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콘텐츠를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근거·출처’로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고르게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설계</a:t>
            </a:r>
            <a:endParaRPr sz="100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90488" y="1664208"/>
            <a:ext cx="5541264" cy="841248"/>
          </a:xfrm>
          <a:prstGeom prst="roundRect">
            <a:avLst>
              <a:gd name="adj" fmla="val 6000"/>
            </a:avLst>
          </a:prstGeom>
          <a:solidFill>
            <a:srgbClr val="FBF6CE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3368" y="1737360"/>
            <a:ext cx="521208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AEO  </a:t>
            </a:r>
            <a:r>
              <a:rPr sz="11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답변 엔진 최적화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011680"/>
            <a:ext cx="5212080" cy="4572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구글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AI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Overview·검색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요약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답변에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정확한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출처’로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반영되도록</a:t>
            </a:r>
            <a:r>
              <a:rPr sz="100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0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최적화</a:t>
            </a:r>
            <a:endParaRPr sz="100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2688336"/>
            <a:ext cx="1005840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운영 플로우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108960"/>
            <a:ext cx="2103120" cy="64008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키워드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설계</a:t>
            </a:r>
            <a:endParaRPr sz="115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36875" y="32186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79191" y="301752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1" y="3108960"/>
            <a:ext cx="2103120" cy="64008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콘텐츠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발행</a:t>
            </a:r>
            <a:endParaRPr sz="1150" b="1" dirty="0">
              <a:solidFill>
                <a:srgbClr val="141412"/>
              </a:solidFill>
              <a:latin typeface="Pretendard"/>
            </a:endParaRPr>
          </a:p>
          <a:p>
            <a:pPr algn="ctr">
              <a:spcAft>
                <a:spcPts val="200"/>
              </a:spcAft>
            </a:pPr>
            <a:r>
              <a:rPr sz="90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(</a:t>
            </a:r>
            <a:r>
              <a:rPr sz="900" b="0" dirty="0" err="1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언론보도·정보성</a:t>
            </a:r>
            <a:r>
              <a:rPr sz="900" b="0" dirty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8868" y="32186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1183" y="301752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1183" y="3108960"/>
            <a:ext cx="2103120" cy="64008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검색·AI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답변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점유</a:t>
            </a:r>
            <a:endParaRPr sz="115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80859" y="32186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23175" y="301752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23175" y="3327690"/>
            <a:ext cx="2103120" cy="20262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탐색</a:t>
            </a:r>
            <a:r>
              <a:rPr sz="11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대응</a:t>
            </a:r>
            <a:endParaRPr sz="1150" b="1" dirty="0">
              <a:solidFill>
                <a:srgbClr val="141412"/>
              </a:solidFill>
              <a:latin typeface="Pretendar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02852" y="3218688"/>
            <a:ext cx="457200" cy="36576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spc="-100">
                <a:solidFill>
                  <a:srgbClr val="787872"/>
                </a:solidFill>
                <a:latin typeface="Pretendard ExtraBold"/>
                <a:cs typeface="Pretendard ExtraBold"/>
                <a:ea typeface="Pretendard ExtraBold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45167" y="301752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45167" y="3108960"/>
            <a:ext cx="2103120" cy="64008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자연</a:t>
            </a:r>
            <a:r>
              <a:rPr sz="11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유입</a:t>
            </a:r>
            <a:r>
              <a:rPr sz="1150" b="0" dirty="0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150" b="0" dirty="0" err="1" spc="-100">
                <a:solidFill>
                  <a:srgbClr val="FFFFFF"/>
                </a:solidFill>
                <a:latin typeface="Pretendard ExtraBold"/>
                <a:cs typeface="Pretendard ExtraBold"/>
                <a:ea typeface="Pretendard ExtraBold"/>
              </a:rPr>
              <a:t>증가</a:t>
            </a:r>
            <a:endParaRPr sz="115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57200" y="4114800"/>
            <a:ext cx="554126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4206240"/>
            <a:ext cx="521208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‘AI가 읽기 좋은’ 콘텐츠 원칙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535424"/>
            <a:ext cx="5257800" cy="748923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lang="ko-KR" altLang="en-US"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검색 의도에 </a:t>
            </a:r>
            <a:r>
              <a:rPr lang="ko-KR" altLang="en-US"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직답</a:t>
            </a:r>
            <a:r>
              <a:rPr lang="ko-KR" altLang="en-US"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될 수 있는 </a:t>
            </a:r>
            <a:r>
              <a:rPr lang="ko-KR" altLang="en-US" sz="105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최적화 구조 설계</a:t>
            </a:r>
            <a:endParaRPr sz="105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출처·수치·정의를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명시해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‘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인용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가능’하게</a:t>
            </a:r>
            <a:endParaRPr sz="105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언론보도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초안부터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AI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인용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형식으로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설계·발행</a:t>
            </a:r>
            <a:endParaRPr sz="105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발행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전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AI가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실제로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어떻게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읽는지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구성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점검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후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작성</a:t>
            </a:r>
            <a:endParaRPr sz="105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190488" y="4114800"/>
            <a:ext cx="5541264" cy="1700784"/>
          </a:xfrm>
          <a:prstGeom prst="roundRect">
            <a:avLst>
              <a:gd name="adj" fmla="val 6000"/>
            </a:avLst>
          </a:prstGeom>
          <a:solidFill>
            <a:srgbClr val="FBF6CE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4206240"/>
            <a:ext cx="5212080" cy="27432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왜 지금인가 (2026)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4535424"/>
            <a:ext cx="5257800" cy="12435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일상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속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생성형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AI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사용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급증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·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구글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AI Overviews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확산</a:t>
            </a:r>
            <a:endParaRPr sz="105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AI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추천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기반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쇼핑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기능까지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확대</a:t>
            </a:r>
            <a:endParaRPr sz="1050" b="0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· ‘</a:t>
            </a:r>
            <a:r>
              <a:rPr sz="10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검색</a:t>
            </a:r>
            <a:r>
              <a:rPr sz="10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결과</a:t>
            </a:r>
            <a:r>
              <a:rPr sz="10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1위’보다 ‘AI </a:t>
            </a:r>
            <a:r>
              <a:rPr sz="10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답변에</a:t>
            </a:r>
            <a:r>
              <a:rPr sz="10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0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인용’이</a:t>
            </a:r>
            <a:r>
              <a:rPr sz="1050" b="0" dirty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 새 </a:t>
            </a:r>
            <a:r>
              <a:rPr sz="1050" b="0" dirty="0" err="1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경쟁력</a:t>
            </a:r>
            <a:endParaRPr sz="1050" b="1" dirty="0">
              <a:solidFill>
                <a:srgbClr val="141412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· Push(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광고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)가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닿지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않는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탐색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순간을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Pull로</a:t>
            </a:r>
            <a:r>
              <a:rPr sz="1050" b="0" dirty="0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1050" b="0" dirty="0" err="1" spc="-100">
                <a:solidFill>
                  <a:srgbClr val="373734"/>
                </a:solidFill>
                <a:latin typeface="Pretendard"/>
                <a:cs typeface="Pretendard"/>
                <a:ea typeface="Pretendard"/>
              </a:rPr>
              <a:t>선점</a:t>
            </a:r>
            <a:endParaRPr sz="1050" b="0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943600"/>
            <a:ext cx="11247120" cy="16414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※ GEO=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생성형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AI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답변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출처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선택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최적화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/ AEO=AI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요약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답변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출처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반영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최적화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(</a:t>
            </a:r>
            <a:r>
              <a:rPr lang="en-US"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BAT </a:t>
            </a:r>
            <a:r>
              <a:rPr lang="ko-KR" altLang="en-US"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내부 프로토콜 및 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2026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검색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트렌드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자료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 </a:t>
            </a:r>
            <a:r>
              <a:rPr sz="900" b="0" dirty="0" err="1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기반</a:t>
            </a:r>
            <a:r>
              <a:rPr sz="900" b="0" dirty="0" spc="-100">
                <a:solidFill>
                  <a:srgbClr val="787872"/>
                </a:solidFill>
                <a:latin typeface="Pretendard"/>
                <a:cs typeface="Pretendard"/>
                <a:ea typeface="Pretendard"/>
              </a:rPr>
              <a:t>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EC851EC-89DE-0783-C3A0-6882F8EDB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E402F11-630F-2498-78F2-4E712889E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err="1" spc="-100">
                <a:latin typeface="Pretendard"/>
                <a:cs typeface="Pretendard"/>
                <a:ea typeface="Pretendard"/>
              </a:rPr>
              <a:t>어필리에이트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-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추천 콘텐츠를 실제 구매 링크와 연결하는 전환형 바이럴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FFC798A-45C3-F832-F3E9-B2C91D3E60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pc="-100">
                <a:latin typeface="Pretendard"/>
                <a:cs typeface="Pretendard"/>
                <a:ea typeface="Pretendard"/>
              </a:rPr>
              <a:t>올리브영 쇼핑 </a:t>
            </a:r>
            <a:r>
              <a:rPr lang="ko-KR" altLang="en-US" err="1" spc="-100">
                <a:latin typeface="Pretendard"/>
                <a:cs typeface="Pretendard"/>
                <a:ea typeface="Pretendard"/>
              </a:rPr>
              <a:t>큐레이터를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코어로 활용하면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,</a:t>
            </a:r>
          </a:p>
          <a:p>
            <a:r>
              <a:rPr lang="ko-KR" altLang="en-US" err="1" spc="-100">
                <a:latin typeface="Pretendard"/>
                <a:cs typeface="Pretendard"/>
                <a:ea typeface="Pretendard"/>
              </a:rPr>
              <a:t>올더베러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추천 콘텐츠가 앱 내 발견과 구매로 바로 이어져 랭킹 견인에 더 직접적으로 기여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8966EBD-5C6A-0479-A4D3-9491167FB4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88A65F5-E0E3-33BB-6D65-3D2E6CA5DE5D}"/>
              </a:ext>
            </a:extLst>
          </p:cNvPr>
          <p:cNvGraphicFramePr>
            <a:graphicFrameLocks noGrp="1"/>
          </p:cNvGraphicFramePr>
          <p:nvPr/>
        </p:nvGraphicFramePr>
        <p:xfrm>
          <a:off x="336000" y="2682240"/>
          <a:ext cx="11520000" cy="2865119"/>
        </p:xfrm>
        <a:graphic>
          <a:graphicData uri="http://schemas.openxmlformats.org/drawingml/2006/table">
            <a:tbl>
              <a:tblPr/>
              <a:tblGrid>
                <a:gridCol w="1706160">
                  <a:extLst>
                    <a:ext uri="{9D8B030D-6E8A-4147-A177-3AD203B41FA5}">
                      <a16:colId xmlns:a16="http://schemas.microsoft.com/office/drawing/2014/main" val="2349527170"/>
                    </a:ext>
                  </a:extLst>
                </a:gridCol>
                <a:gridCol w="4906920">
                  <a:extLst>
                    <a:ext uri="{9D8B030D-6E8A-4147-A177-3AD203B41FA5}">
                      <a16:colId xmlns:a16="http://schemas.microsoft.com/office/drawing/2014/main" val="930109712"/>
                    </a:ext>
                  </a:extLst>
                </a:gridCol>
                <a:gridCol w="4906920">
                  <a:extLst>
                    <a:ext uri="{9D8B030D-6E8A-4147-A177-3AD203B41FA5}">
                      <a16:colId xmlns:a16="http://schemas.microsoft.com/office/drawing/2014/main" val="3752454222"/>
                    </a:ext>
                  </a:extLst>
                </a:gridCol>
              </a:tblGrid>
              <a:tr h="6053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spc="-100" baseline="0">
                          <a:solidFill>
                            <a:srgbClr val="123C2B"/>
                          </a:solidFill>
                          <a:effectLst/>
                          <a:latin typeface="Pretendard"/>
                          <a:cs typeface="Pretendard"/>
                          <a:ea typeface="Pretendard"/>
                        </a:rPr>
                        <a:t>구분</a:t>
                      </a:r>
                    </a:p>
                  </a:txBody>
                  <a:tcPr marL="137160" marR="137160" marT="121920" marB="12192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spc="-100" baseline="0">
                          <a:solidFill>
                            <a:srgbClr val="123C2B"/>
                          </a:solidFill>
                          <a:effectLst/>
                          <a:latin typeface="Pretendard"/>
                          <a:cs typeface="Pretendard"/>
                          <a:ea typeface="Pretendard"/>
                        </a:rPr>
                        <a:t>올리브영 쇼핑 큐레이터</a:t>
                      </a:r>
                    </a:p>
                  </a:txBody>
                  <a:tcPr marL="137160" marR="137160" marT="121920" marB="12192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spc="-100" baseline="0" err="1">
                          <a:solidFill>
                            <a:srgbClr val="123C2B"/>
                          </a:solidFill>
                          <a:effectLst/>
                          <a:latin typeface="Pretendard"/>
                          <a:cs typeface="Pretendard"/>
                          <a:ea typeface="Pretendard"/>
                        </a:rPr>
                        <a:t>쿠팡</a:t>
                      </a:r>
                      <a:r>
                        <a:rPr lang="ko-KR" sz="1400" spc="-100" baseline="0">
                          <a:solidFill>
                            <a:srgbClr val="123C2B"/>
                          </a:solidFill>
                          <a:effectLst/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lang="ko-KR" sz="1400" spc="-100" baseline="0" err="1">
                          <a:solidFill>
                            <a:srgbClr val="123C2B"/>
                          </a:solidFill>
                          <a:effectLst/>
                          <a:latin typeface="Pretendard"/>
                          <a:cs typeface="Pretendard"/>
                          <a:ea typeface="Pretendard"/>
                        </a:rPr>
                        <a:t>파트너스</a:t>
                      </a:r>
                      <a:endParaRPr lang="ko-KR" sz="1400" spc="-100" baseline="0">
                        <a:solidFill>
                          <a:srgbClr val="123C2B"/>
                        </a:solidFill>
                        <a:effectLst/>
                      </a:endParaRPr>
                    </a:p>
                  </a:txBody>
                  <a:tcPr marL="137160" marR="137160" marT="121920" marB="12192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522899"/>
                  </a:ext>
                </a:extLst>
              </a:tr>
              <a:tr h="56495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b="0" spc="-100" baseline="0">
                          <a:solidFill>
                            <a:srgbClr val="123C2B"/>
                          </a:solidFill>
                          <a:effectLst/>
                          <a:latin typeface="Pretendard ExtraBold"/>
                          <a:cs typeface="Pretendard ExtraBold"/>
                          <a:ea typeface="Pretendard ExtraBold"/>
                        </a:rPr>
                        <a:t>역할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 err="1">
                          <a:effectLst/>
                          <a:latin typeface="Pretendard"/>
                          <a:cs typeface="Pretendard"/>
                          <a:ea typeface="Pretendard"/>
                        </a:rPr>
                        <a:t>올영</a:t>
                      </a: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 고객 참여형 </a:t>
                      </a:r>
                      <a:r>
                        <a:rPr lang="ko-KR" sz="1400" spc="-100" baseline="0" err="1">
                          <a:effectLst/>
                          <a:latin typeface="Pretendard"/>
                          <a:cs typeface="Pretendard"/>
                          <a:ea typeface="Pretendard"/>
                        </a:rPr>
                        <a:t>어필리에이트로</a:t>
                      </a: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 앱 내 전환 직결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외부 구매 링크로 연결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985538"/>
                  </a:ext>
                </a:extLst>
              </a:tr>
              <a:tr h="56495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b="0" spc="-100" baseline="0">
                          <a:solidFill>
                            <a:srgbClr val="123C2B"/>
                          </a:solidFill>
                          <a:effectLst/>
                          <a:latin typeface="Pretendard ExtraBold"/>
                          <a:cs typeface="Pretendard ExtraBold"/>
                          <a:ea typeface="Pretendard ExtraBold"/>
                        </a:rPr>
                        <a:t>운영 방식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개인 URL, 셔터, 인스타·블로그·틱톡·유튜브 추천 콘텐츠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고유 추적 링크 기반 외부 트래픽 확보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957152"/>
                  </a:ext>
                </a:extLst>
              </a:tr>
              <a:tr h="56495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b="0" spc="-100" baseline="0">
                          <a:solidFill>
                            <a:srgbClr val="123C2B"/>
                          </a:solidFill>
                          <a:effectLst/>
                          <a:latin typeface="Pretendard ExtraBold"/>
                          <a:cs typeface="Pretendard ExtraBold"/>
                          <a:ea typeface="Pretendard ExtraBold"/>
                        </a:rPr>
                        <a:t>콘텐츠 주제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올영세일 장바구니, 올영 웰니스 추천템, 구미 입문템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가격 비교, 제품 후기, 카테고리 추천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37087"/>
                  </a:ext>
                </a:extLst>
              </a:tr>
              <a:tr h="56495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b="0" spc="-100" baseline="0">
                          <a:solidFill>
                            <a:srgbClr val="123C2B"/>
                          </a:solidFill>
                          <a:effectLst/>
                          <a:latin typeface="Pretendard ExtraBold"/>
                          <a:cs typeface="Pretendard ExtraBold"/>
                          <a:ea typeface="Pretendard ExtraBold"/>
                        </a:rPr>
                        <a:t>기대 효과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 err="1">
                          <a:effectLst/>
                          <a:latin typeface="Pretendard"/>
                          <a:cs typeface="Pretendard"/>
                          <a:ea typeface="Pretendard"/>
                        </a:rPr>
                        <a:t>올영</a:t>
                      </a: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 앱 내 </a:t>
                      </a:r>
                      <a:r>
                        <a:rPr lang="ko-KR" sz="1400" spc="-100" baseline="0" err="1">
                          <a:effectLst/>
                          <a:latin typeface="Pretendard"/>
                          <a:cs typeface="Pretendard"/>
                          <a:ea typeface="Pretendard"/>
                        </a:rPr>
                        <a:t>발견→구매</a:t>
                      </a: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 연결, 세일 기간 랭킹/매출 견인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sz="1400" spc="-100" baseline="0">
                          <a:effectLst/>
                          <a:latin typeface="Pretendard"/>
                          <a:cs typeface="Pretendard"/>
                          <a:ea typeface="Pretendard"/>
                        </a:rPr>
                        <a:t>외부 유입 보강, 접점에서 전환 링크 확보</a:t>
                      </a:r>
                    </a:p>
                  </a:txBody>
                  <a:tcPr marL="137160" marR="137160" marT="106680" marB="106680" anchor="ctr">
                    <a:lnL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9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2606675"/>
                  </a:ext>
                </a:extLst>
              </a:tr>
            </a:tbl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85FD8872-2405-6AF7-7AC6-C079F294C2D3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lang="en-US" altLang="ko-KR" sz="1400" b="0" spc="-100" err="1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ㅌㅐ욱</a:t>
            </a:r>
            <a:r>
              <a:rPr lang="ko-KR" altLang="en-US" sz="1400" b="0" spc="-100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84763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23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spc="-100">
                <a:latin typeface="Pretendard"/>
                <a:cs typeface="Pretendard"/>
                <a:ea typeface="Pretendard"/>
              </a:rPr>
              <a:t>05</a:t>
            </a:r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pc="-100">
                <a:latin typeface="Pretendard"/>
                <a:cs typeface="Pretendard"/>
                <a:ea typeface="Pretendard"/>
              </a:rPr>
              <a:t>Operation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err="1" spc="-100">
                <a:latin typeface="Pretendard"/>
                <a:cs typeface="Pretendard"/>
                <a:ea typeface="Pretendard"/>
              </a:rPr>
              <a:t>올더베러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캠페인 구조 전체 한판 요약 정리</a:t>
            </a:r>
            <a:br>
              <a:rPr lang="en-US" altLang="ko-KR"/>
            </a:br>
            <a:r>
              <a:rPr lang="en-US" altLang="ko-KR" spc="-100">
                <a:latin typeface="Pretendard"/>
                <a:cs typeface="Pretendard"/>
                <a:ea typeface="Pretendard"/>
              </a:rPr>
              <a:t>6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개월 운영 로드맵 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: 7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월에 시작하고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, 9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월에 증폭하고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, 12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월에 대표성으로 착지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AA3DA0E-7454-98DD-BA05-B9AEE6400277}"/>
              </a:ext>
            </a:extLst>
          </p:cNvPr>
          <p:cNvSpPr/>
          <p:nvPr/>
        </p:nvSpPr>
        <p:spPr>
          <a:xfrm>
            <a:off x="336000" y="2560320"/>
            <a:ext cx="1794222" cy="3545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7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First Shot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메시지 테스트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초기 </a:t>
            </a: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랭킹 도화선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6BE8D1-9FA1-19A4-0D5C-4DD608BE691B}"/>
              </a:ext>
            </a:extLst>
          </p:cNvPr>
          <p:cNvSpPr/>
          <p:nvPr/>
        </p:nvSpPr>
        <p:spPr>
          <a:xfrm>
            <a:off x="2281156" y="2560320"/>
            <a:ext cx="1794222" cy="3545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8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Proof Take-off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검색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랭킹 증거 확산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51BE81-9CB1-345D-8DD6-BE7A9E971541}"/>
              </a:ext>
            </a:extLst>
          </p:cNvPr>
          <p:cNvSpPr/>
          <p:nvPr/>
        </p:nvSpPr>
        <p:spPr>
          <a:xfrm>
            <a:off x="4226311" y="2560320"/>
            <a:ext cx="1794222" cy="3545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9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Acceleration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 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전환 피크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CE3F7E-84F3-30FB-B877-E449B1ADA6C4}"/>
              </a:ext>
            </a:extLst>
          </p:cNvPr>
          <p:cNvSpPr/>
          <p:nvPr/>
        </p:nvSpPr>
        <p:spPr>
          <a:xfrm>
            <a:off x="6171467" y="2560320"/>
            <a:ext cx="1794222" cy="3545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10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Orbit Expansion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제품군 확장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5A2EDE0-0837-0227-FED7-6162E98E5384}"/>
              </a:ext>
            </a:extLst>
          </p:cNvPr>
          <p:cNvSpPr/>
          <p:nvPr/>
        </p:nvSpPr>
        <p:spPr>
          <a:xfrm>
            <a:off x="8116623" y="2560320"/>
            <a:ext cx="1794222" cy="3545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11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Boost-up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블프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검색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관심 증폭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35EF9FF-09BC-5D04-DDEB-9DCC7977DF31}"/>
              </a:ext>
            </a:extLst>
          </p:cNvPr>
          <p:cNvSpPr/>
          <p:nvPr/>
        </p:nvSpPr>
        <p:spPr>
          <a:xfrm>
            <a:off x="10061778" y="2560320"/>
            <a:ext cx="1794222" cy="3545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12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Category Landing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12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세일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대표성 착지</a:t>
            </a:r>
            <a:endParaRPr kumimoji="0" lang="en-US" altLang="ko-KR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2C45812-6CAE-3A95-09B3-ACFDB6869817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AP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창현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5724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월별 실행 타임라인 </a:t>
            </a:r>
            <a:r>
              <a:rPr kumimoji="0" lang="en-US" altLang="ko-KR" sz="22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22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액션플랜 </a:t>
            </a:r>
            <a:r>
              <a:rPr kumimoji="0" lang="en-US" altLang="ko-KR" sz="22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– </a:t>
            </a:r>
            <a:r>
              <a:rPr kumimoji="0" lang="ko-KR" altLang="en-US" sz="22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견적 포함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72441" y="960120"/>
          <a:ext cx="11247118" cy="559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728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14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8월</a:t>
                      </a:r>
                    </a:p>
                    <a:p>
                      <a:pPr algn="ctr"/>
                      <a:r>
                        <a:rPr sz="7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9월</a:t>
                      </a:r>
                    </a:p>
                    <a:p>
                      <a:pPr algn="ctr"/>
                      <a:r>
                        <a:rPr sz="7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11월</a:t>
                      </a:r>
                    </a:p>
                    <a:p>
                      <a:pPr algn="ctr"/>
                      <a:r>
                        <a:rPr sz="7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12월</a:t>
                      </a:r>
                    </a:p>
                    <a:p>
                      <a:pPr algn="ctr"/>
                      <a:r>
                        <a:rPr sz="7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매크로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마이크로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나노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KOL 무가시딩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파워페이지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EGC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콘텐츠</a:t>
                      </a:r>
                      <a:endParaRPr sz="950" b="1">
                        <a:solidFill>
                          <a:srgbClr val="111111"/>
                        </a:solidFill>
                        <a:latin typeface="Pretendard"/>
                      </a:endParaRP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제작</a:t>
                      </a:r>
                      <a:endParaRPr sz="950" b="1">
                        <a:solidFill>
                          <a:srgbClr val="111111"/>
                        </a:solidFill>
                        <a:latin typeface="Pretendard"/>
                      </a:endParaRP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095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20%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20%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18%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22%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100%</a:t>
                      </a:r>
                    </a:p>
                    <a:p>
                      <a:pPr algn="ctr"/>
                      <a:r>
                        <a:rPr sz="800" spc="-100">
                          <a:solidFill>
                            <a:srgbClr val="DDDDDD"/>
                          </a:solidFill>
                          <a:latin typeface="Pretendard"/>
                          <a:cs typeface="Pretendard"/>
                          <a:ea typeface="Pretendard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7705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112471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견적서 </a:t>
            </a: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af-ZA" sz="22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Quotation)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올리브영 </a:t>
            </a:r>
            <a:r>
              <a:rPr kumimoji="0" lang="af-ZA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PB 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올더베러 브랜드 빌딩 캠페인 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단위 원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af-ZA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VAT </a:t>
            </a:r>
            <a:r>
              <a:rPr kumimoji="0" lang="ko-KR" altLang="en-US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별도</a:t>
            </a:r>
            <a:r>
              <a:rPr kumimoji="0" lang="en-US" altLang="ko-KR" sz="11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3880" y="960120"/>
          <a:ext cx="11064240" cy="5377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9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KV·디자인·영상·콘텐츠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제작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 (EGC </a:t>
                      </a:r>
                      <a:r>
                        <a:rPr sz="950" b="0" err="1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제외</a:t>
                      </a:r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spc="-100">
                          <a:solidFill>
                            <a:srgbClr val="333333"/>
                          </a:solidFill>
                          <a:latin typeface="Pretendard"/>
                          <a:cs typeface="Pretendard"/>
                          <a:ea typeface="Pretendard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707070"/>
                          </a:solidFill>
                          <a:latin typeface="Pretendard"/>
                          <a:cs typeface="Pretendard"/>
                          <a:ea typeface="Pretendard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0" err="1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부가가치세</a:t>
                      </a:r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9400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8079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3·4</a:t>
            </a:r>
            <a:r>
              <a:rPr kumimoji="0" lang="ko-KR" altLang="en-US" sz="30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분기 월별 액션플랜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7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착수 →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8·9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웨이브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→ 10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유지 →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11·12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웨이브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블프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7</a:t>
            </a: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8</a:t>
            </a: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9</a:t>
            </a: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10</a:t>
            </a: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유지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-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확산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11</a:t>
            </a: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12</a:t>
            </a:r>
            <a:r>
              <a:rPr kumimoji="0" lang="ko-KR" altLang="en-US" sz="2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</a:t>
            </a:r>
            <a:r>
              <a:rPr kumimoji="0" lang="en-US" altLang="ko-KR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</a:t>
            </a:r>
            <a:r>
              <a:rPr kumimoji="0" lang="ko-KR" altLang="en-US" sz="12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5309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af-ZA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Phase 1 (7~9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—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빠른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반응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확보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: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일반식품</a:t>
            </a:r>
            <a:r>
              <a:rPr kumimoji="0" lang="en-US" altLang="ko-KR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심의불필요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선행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+ 8·9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웨이브로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전환</a:t>
            </a:r>
            <a:endParaRPr kumimoji="0" lang="ko-KR" altLang="en-US" sz="13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af-ZA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Phase 2 (10~12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—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대표성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확장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: 11·12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웨이브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블프</a:t>
            </a:r>
            <a:r>
              <a:rPr kumimoji="0" lang="en-US" altLang="ko-KR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로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대표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브랜드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착지</a:t>
            </a:r>
            <a:endParaRPr kumimoji="0" lang="ko-KR" altLang="en-US" sz="13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143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730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7</a:t>
            </a:r>
            <a:r>
              <a:rPr kumimoji="0" lang="ko-KR" altLang="en-US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  </a:t>
            </a: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 </a:t>
            </a:r>
            <a:r>
              <a:rPr kumimoji="0" lang="af-ZA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First Shot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착수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콘텐츠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“위닝 메시지 발굴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콘텐츠</a:t>
            </a:r>
            <a:r>
              <a:rPr kumimoji="0" lang="en-US" altLang="ko-KR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이미지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소재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af-ZA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LMF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테스트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→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위닝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메시지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선별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일반식품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시딩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즉시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라이브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심의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파이프라인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착수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가이드→섭외→콘티→접수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챌린저스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가동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블로그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검색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키워드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선점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어필리에이트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프로세스 확립 및 구동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목표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위닝 메시지 확정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후기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콘텐츠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진행 물량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 예산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25,000,000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원  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(10%)</a:t>
            </a:r>
          </a:p>
        </p:txBody>
      </p:sp>
    </p:spTree>
    <p:extLst>
      <p:ext uri="{BB962C8B-B14F-4D97-AF65-F5344CB8AC3E}">
        <p14:creationId xmlns:p14="http://schemas.microsoft.com/office/powerpoint/2010/main" val="22470411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730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8</a:t>
            </a:r>
            <a:r>
              <a:rPr kumimoji="0" lang="ko-KR" altLang="en-US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  </a:t>
            </a: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 </a:t>
            </a:r>
            <a:r>
              <a:rPr kumimoji="0" lang="af-ZA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Proof Take-off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“세일 전 인지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각인 확산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+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시딩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대량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릴리즈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110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—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세일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주 전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집중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매크로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합류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파워페이지</a:t>
            </a:r>
            <a:r>
              <a:rPr kumimoji="0" lang="en-US" altLang="ko-KR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커뮤니티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체험단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탑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)·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네이버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블로그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바이럴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심의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완료분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업로드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‘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위’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키워드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플레이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어필리에이트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가동 및 수량 누적 증대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af-ZA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EGC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콘텐츠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: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구매 전환 최적화 콘텐츠 소재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목표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웨이브로 사전 부스팅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검색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진행 물량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 예산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50,000,000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원  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(20%)</a:t>
            </a:r>
          </a:p>
        </p:txBody>
      </p:sp>
    </p:spTree>
    <p:extLst>
      <p:ext uri="{BB962C8B-B14F-4D97-AF65-F5344CB8AC3E}">
        <p14:creationId xmlns:p14="http://schemas.microsoft.com/office/powerpoint/2010/main" val="943463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730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9</a:t>
            </a:r>
            <a:r>
              <a:rPr kumimoji="0" lang="ko-KR" altLang="en-US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  </a:t>
            </a: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 </a:t>
            </a:r>
            <a:r>
              <a:rPr kumimoji="0" lang="af-ZA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Acceleration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올영세일 집중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—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일반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+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 콘텐츠 동시 투입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퍼포먼스 매체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별첨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)·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어필리에이트 가동 전환 유도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건기식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업로드 세일 직전 라이브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랭킹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후기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목표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매출 피크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카테고리 랭킹 상위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/1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진행 물량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 예산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50,000,000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원  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(20%)</a:t>
            </a:r>
          </a:p>
        </p:txBody>
      </p:sp>
    </p:spTree>
    <p:extLst>
      <p:ext uri="{BB962C8B-B14F-4D97-AF65-F5344CB8AC3E}">
        <p14:creationId xmlns:p14="http://schemas.microsoft.com/office/powerpoint/2010/main" val="2348352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730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10</a:t>
            </a:r>
            <a:r>
              <a:rPr kumimoji="0" lang="ko-KR" altLang="en-US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  </a:t>
            </a: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 </a:t>
            </a:r>
            <a:r>
              <a:rPr kumimoji="0" lang="af-ZA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Orbit Expansion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유지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유지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낙수효과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건기식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6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종 본격 콘텐츠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확장 메시지 테스트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9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위닝 소재 낙수 운영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유지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크로스셀 </a:t>
            </a:r>
            <a:r>
              <a:rPr kumimoji="0" lang="af-ZA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CRM ·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목표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매출 유지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진행 물량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B0B0B0"/>
                          </a:solidFill>
                          <a:latin typeface="Pretendard"/>
                          <a:cs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 예산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25,000,000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원  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(10%)</a:t>
            </a:r>
          </a:p>
        </p:txBody>
      </p:sp>
    </p:spTree>
    <p:extLst>
      <p:ext uri="{BB962C8B-B14F-4D97-AF65-F5344CB8AC3E}">
        <p14:creationId xmlns:p14="http://schemas.microsoft.com/office/powerpoint/2010/main" val="7312268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730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11</a:t>
            </a:r>
            <a:r>
              <a:rPr kumimoji="0" lang="ko-KR" altLang="en-US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  </a:t>
            </a: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 </a:t>
            </a:r>
            <a:r>
              <a:rPr kumimoji="0" lang="af-ZA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Boost-up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블프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시딩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재확대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90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 ·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매크로</a:t>
            </a:r>
            <a:r>
              <a:rPr kumimoji="0" lang="en-US" altLang="ko-KR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체험단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탑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)·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파워페이지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재가동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블프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프로모션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연계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퍼포먼스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건기식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af-ZA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RTB+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혜택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결합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챌린저스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신뢰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자산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보강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목표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시작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탐색량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진행 물량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 예산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45,000,000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원  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(18%)</a:t>
            </a:r>
          </a:p>
        </p:txBody>
      </p:sp>
    </p:spTree>
    <p:extLst>
      <p:ext uri="{BB962C8B-B14F-4D97-AF65-F5344CB8AC3E}">
        <p14:creationId xmlns:p14="http://schemas.microsoft.com/office/powerpoint/2010/main" val="4004888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730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12</a:t>
            </a:r>
            <a:r>
              <a:rPr kumimoji="0" lang="ko-KR" altLang="en-US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월  </a:t>
            </a:r>
            <a:r>
              <a:rPr kumimoji="0" lang="en-US" altLang="ko-KR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 </a:t>
            </a:r>
            <a:r>
              <a:rPr kumimoji="0" lang="af-ZA" sz="2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Category Landing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★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“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웰니스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카테고리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대표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브랜드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 </a:t>
            </a: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착지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12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올영세일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집중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— 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전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라인업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대표성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콘텐츠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세일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주 전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시딩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대량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릴리즈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(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100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건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)·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바이럴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■ 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쟁임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/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재구매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af-ZA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CRM ·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퍼포먼스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 </a:t>
            </a:r>
            <a:r>
              <a:rPr kumimoji="0" lang="en-US" altLang="ko-KR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2</a:t>
            </a:r>
            <a:r>
              <a:rPr kumimoji="0" lang="ko-KR" altLang="en-US" sz="1350" b="0" i="0" u="none" strike="noStrike" kern="1200" cap="none" spc="-10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차 </a:t>
            </a:r>
            <a:r>
              <a:rPr kumimoji="0" lang="ko-KR" altLang="en-US" sz="1350" b="0" i="0" u="none" strike="noStrike" kern="1200" cap="none" spc="-100" normalizeH="0" baseline="0" noProof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피크</a:t>
            </a: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성과 목표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2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차 웨이브 매출 피크 </a:t>
            </a:r>
            <a:r>
              <a:rPr kumimoji="0" lang="en-US" altLang="ko-KR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· </a:t>
            </a:r>
            <a:r>
              <a:rPr kumimoji="0" lang="ko-KR" altLang="en-US" sz="13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달의 진행 물량 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건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 spc="-100">
                          <a:solidFill>
                            <a:srgbClr val="111111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spc="-100">
                          <a:solidFill>
                            <a:srgbClr val="111111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100" normalizeH="0" baseline="0" noProof="0">
                <a:ln>
                  <a:noFill/>
                </a:ln>
                <a:solidFill>
                  <a:srgbClr val="B0B0B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이 달 예산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55,000,000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원  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(22%)</a:t>
            </a:r>
          </a:p>
        </p:txBody>
      </p:sp>
    </p:spTree>
    <p:extLst>
      <p:ext uri="{BB962C8B-B14F-4D97-AF65-F5344CB8AC3E}">
        <p14:creationId xmlns:p14="http://schemas.microsoft.com/office/powerpoint/2010/main" val="339319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FEF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spc="-100">
                <a:solidFill>
                  <a:srgbClr val="473417"/>
                </a:solidFill>
                <a:latin typeface="Pretendard ExtraBold"/>
                <a:cs typeface="Pretendard ExtraBold"/>
                <a:ea typeface="Pretendard ExtraBold"/>
              </a:rPr>
              <a:t>04 성과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43000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 spc="-100">
                <a:solidFill>
                  <a:srgbClr val="141412"/>
                </a:solidFill>
                <a:latin typeface="Pretendard ExtraBold"/>
                <a:cs typeface="Pretendard ExtraBold"/>
                <a:ea typeface="Pretendard ExtraBold"/>
              </a:rPr>
              <a:t>주요 KPI — 플라이휠 단계별 성과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78992"/>
            <a:ext cx="1133856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‘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단순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노출’이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아닌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,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플라이휠이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도는지를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봅니다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단계별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선행지표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→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최종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‘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올영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랭킹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1위’로 </a:t>
            </a:r>
            <a:r>
              <a:rPr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연결합니다</a:t>
            </a:r>
            <a:r>
              <a:rPr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17904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034645"/>
              </p:ext>
            </p:extLst>
          </p:nvPr>
        </p:nvGraphicFramePr>
        <p:xfrm>
          <a:off x="457200" y="1682496"/>
          <a:ext cx="112745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dirty="0" err="1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플라이휠</a:t>
                      </a:r>
                      <a:r>
                        <a:rPr sz="1100" b="0" dirty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1100" b="0" dirty="0" err="1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단계</a:t>
                      </a:r>
                      <a:endParaRPr sz="1100" b="1" dirty="0">
                        <a:solidFill>
                          <a:srgbClr val="FFFFFF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핵심 KPI</a:t>
                      </a: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목표 (6개월)</a:t>
                      </a: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spc="-100">
                          <a:solidFill>
                            <a:srgbClr val="FFFFFF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측정·근거</a:t>
                      </a:r>
                    </a:p>
                  </a:txBody>
                  <a:tcPr marL="76200" marR="63500" marT="25400" marB="25400" anchor="ctr">
                    <a:solidFill>
                      <a:srgbClr val="141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8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① 인지·시딩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UGC·시딩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대량 릴리즈 </a:t>
                      </a:r>
                      <a:r>
                        <a:rPr lang="en-US" altLang="ko-KR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– 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인지</a:t>
                      </a:r>
                      <a:r>
                        <a:rPr lang="en-US" altLang="ko-KR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-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각인</a:t>
                      </a:r>
                      <a:r>
                        <a:rPr lang="en-US" altLang="ko-KR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-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전환</a:t>
                      </a:r>
                      <a:br>
                        <a:rPr lang="en-US" sz="980" b="0" dirty="0">
                          <a:solidFill>
                            <a:srgbClr val="373734"/>
                          </a:solidFill>
                          <a:latin typeface="Pretendard"/>
                        </a:rPr>
                      </a:b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해시태그 개발 및 자산 축적 </a:t>
                      </a:r>
                      <a:r>
                        <a:rPr lang="en-US" altLang="ko-KR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: #</a:t>
                      </a:r>
                      <a:r>
                        <a:rPr lang="ko-KR" altLang="en-US"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오늘도배러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월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대량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시딩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·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해시태그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 →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대폭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확대</a:t>
                      </a:r>
                      <a:endParaRPr sz="98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인스타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해시태그·콘텐츠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집계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8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② 검증·신뢰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브랜드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lang="ko-KR" altLang="en-US"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버즈량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증대 </a:t>
                      </a:r>
                      <a:r>
                        <a:rPr lang="en-US" altLang="ko-KR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(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전 플랫폼 조회수 및 </a:t>
                      </a:r>
                      <a:r>
                        <a:rPr lang="ko-KR" altLang="en-US"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언급량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증대</a:t>
                      </a:r>
                      <a:r>
                        <a:rPr lang="en-US" altLang="ko-KR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)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브랜드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검색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3,000 → 10,000 · </a:t>
                      </a:r>
                      <a:r>
                        <a:rPr lang="ko-KR" altLang="en-US"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버즈량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↑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네이버·구글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검색량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· </a:t>
                      </a:r>
                      <a:r>
                        <a:rPr 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SNS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lang="ko-KR" altLang="en-US"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언급량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8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③ 전환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올영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카테고리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랭킹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· ROAS</a:t>
                      </a:r>
                      <a:r>
                        <a:rPr 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/ EGC + Half EGC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7월 중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카테고리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1위 · </a:t>
                      </a:r>
                      <a:r>
                        <a:rPr lang="ko-KR" altLang="en-US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구매 전환</a:t>
                      </a:r>
                      <a:r>
                        <a:rPr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ROAS </a:t>
                      </a:r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개선</a:t>
                      </a:r>
                      <a:endParaRPr sz="98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올영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랭킹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· 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월간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리포트</a:t>
                      </a:r>
                      <a:r>
                        <a:rPr 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</a:t>
                      </a:r>
                      <a:r>
                        <a:rPr lang="ko-KR" altLang="en-US"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지표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80" b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④ 재구매·확장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재구매율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· CRM(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플친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)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유입</a:t>
                      </a:r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신규 고객</a:t>
                      </a:r>
                      <a:r>
                        <a:rPr lang="en-US" altLang="ko-KR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</a:t>
                      </a:r>
                      <a:r>
                        <a:rPr lang="ko-KR" altLang="en-US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증대</a:t>
                      </a:r>
                      <a:r>
                        <a:rPr lang="en-US" altLang="ko-KR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 / </a:t>
                      </a:r>
                      <a:r>
                        <a:rPr lang="ko-KR" altLang="en-US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신규 고객 유치 </a:t>
                      </a:r>
                      <a:r>
                        <a:rPr lang="en-US" altLang="ko-KR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/ </a:t>
                      </a:r>
                      <a:r>
                        <a:rPr lang="ko-KR" altLang="en-US" sz="980" b="0" dirty="0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재구매율 개선</a:t>
                      </a:r>
                      <a:endParaRPr sz="98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VOC </a:t>
                      </a:r>
                      <a:r>
                        <a:rPr sz="980" b="0" dirty="0" err="1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딥다이브</a:t>
                      </a:r>
                      <a:r>
                        <a:rPr sz="980" b="0" dirty="0" spc="-100">
                          <a:solidFill>
                            <a:srgbClr val="373734"/>
                          </a:solidFill>
                          <a:latin typeface="Pretendard"/>
                          <a:cs typeface="Pretendard"/>
                          <a:ea typeface="Pretendard"/>
                        </a:rPr>
                        <a:t> · CRM</a:t>
                      </a:r>
                    </a:p>
                  </a:txBody>
                  <a:tcPr marL="76200" marR="63500" marT="25400" marB="25400" anchor="ctr">
                    <a:solidFill>
                      <a:srgbClr val="F6F5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80" b="0" dirty="0" err="1" spc="-100">
                          <a:solidFill>
                            <a:srgbClr val="141412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종합</a:t>
                      </a:r>
                      <a:endParaRPr sz="98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ko-KR" altLang="en-US" sz="1800" b="0" dirty="0" spc="-100">
                          <a:solidFill>
                            <a:srgbClr val="373734"/>
                          </a:solidFill>
                          <a:latin typeface="Pretendard ExtraBold"/>
                          <a:cs typeface="Pretendard ExtraBold"/>
                          <a:ea typeface="Pretendard ExtraBold"/>
                        </a:rPr>
                        <a:t>브랜드 콘텐츠 멀티 채널 노출로 인한 구매 전환 극대화</a:t>
                      </a:r>
                      <a:endParaRPr sz="1800" b="1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sz="980" b="1" dirty="0">
                        <a:solidFill>
                          <a:srgbClr val="141412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sz="980" b="0" dirty="0">
                        <a:solidFill>
                          <a:srgbClr val="373734"/>
                        </a:solidFill>
                        <a:latin typeface="Pretendard"/>
                      </a:endParaRP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F71BBB2-1FB0-3D98-AB8E-8040BE8579E8}"/>
              </a:ext>
            </a:extLst>
          </p:cNvPr>
          <p:cNvSpPr txBox="1"/>
          <p:nvPr/>
        </p:nvSpPr>
        <p:spPr>
          <a:xfrm>
            <a:off x="457200" y="4814621"/>
            <a:ext cx="11338560" cy="21800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3,4Q : KPI</a:t>
            </a:r>
            <a:endParaRPr sz="1250" b="1" dirty="0">
              <a:solidFill>
                <a:srgbClr val="373734"/>
              </a:solidFill>
              <a:latin typeface="Pretendar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01090-DC89-52D4-B6EE-968C62443EE2}"/>
              </a:ext>
            </a:extLst>
          </p:cNvPr>
          <p:cNvSpPr txBox="1"/>
          <p:nvPr/>
        </p:nvSpPr>
        <p:spPr>
          <a:xfrm>
            <a:off x="457200" y="5203546"/>
            <a:ext cx="8839200" cy="1526059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크리에이터 </a:t>
            </a:r>
            <a:r>
              <a:rPr lang="ko-KR" altLang="en-US"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시딩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총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465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건</a:t>
            </a:r>
            <a:endParaRPr lang="en-US" altLang="ko-KR" sz="1250" b="1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lang="ko-KR" altLang="en-US"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시딩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전체 조회수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약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1,000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만회 이상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(</a:t>
            </a:r>
            <a:r>
              <a:rPr lang="en-US" altLang="ko-KR"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ugc+egc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+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파워페이지 등 항목 모두 포함 기준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브랜드 </a:t>
            </a:r>
            <a:r>
              <a:rPr lang="ko-KR" altLang="en-US"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버즈량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26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년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6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월 네이버 기준 약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3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천 건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-&gt; 27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년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1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월 기준 약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1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만 건 이상으로 증대</a:t>
            </a:r>
            <a:endParaRPr lang="en-US" altLang="ko-KR" sz="1250" b="1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해시태그 개발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(#</a:t>
            </a:r>
            <a:r>
              <a:rPr lang="ko-KR" altLang="en-US"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오늘도배러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) :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누적 해시태그 수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450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건 이상 </a:t>
            </a:r>
            <a:endParaRPr lang="en-US" altLang="ko-KR" sz="1250" b="1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올리브영 제품 리뷰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총 합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1,000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건 이상</a:t>
            </a:r>
            <a:endParaRPr lang="en-US" altLang="ko-KR" sz="1250" b="1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r>
              <a:rPr lang="ko-KR" altLang="en-US" sz="1250" b="0" dirty="0" err="1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어필리에이트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: 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총 </a:t>
            </a:r>
            <a:r>
              <a:rPr lang="en-US" altLang="ko-KR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50</a:t>
            </a:r>
            <a:r>
              <a:rPr lang="ko-KR" altLang="en-US" sz="1250" b="0" dirty="0" spc="-100">
                <a:solidFill>
                  <a:srgbClr val="373734"/>
                </a:solidFill>
                <a:latin typeface="Pretendard ExtraBold"/>
                <a:cs typeface="Pretendard ExtraBold"/>
                <a:ea typeface="Pretendard ExtraBold"/>
              </a:rPr>
              <a:t>명 이상 구동</a:t>
            </a:r>
            <a:endParaRPr lang="en-US" altLang="ko-KR" sz="1250" b="1" dirty="0">
              <a:solidFill>
                <a:srgbClr val="373734"/>
              </a:solidFill>
              <a:latin typeface="Pretendard"/>
            </a:endParaRPr>
          </a:p>
          <a:p>
            <a:pPr algn="l">
              <a:spcAft>
                <a:spcPts val="200"/>
              </a:spcAft>
            </a:pPr>
            <a:endParaRPr lang="en-US" altLang="ko-KR" sz="1250" b="1" dirty="0">
              <a:solidFill>
                <a:srgbClr val="373734"/>
              </a:solidFill>
              <a:latin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4872959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pc="-100">
                <a:latin typeface="Pretendard"/>
                <a:cs typeface="Pretendard"/>
                <a:ea typeface="Pretendard"/>
              </a:rPr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930B84-DC39-F66E-0E98-157F96240D4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시딩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, UGC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현황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일간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,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주간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, 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월간 리포팅 솔루션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6757E2B8-0FAD-82E5-AB24-AECEF8EB9369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AP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창현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346BF58-0D49-84AC-B059-D5BC45FAF607}"/>
              </a:ext>
            </a:extLst>
          </p:cNvPr>
          <p:cNvSpPr/>
          <p:nvPr/>
        </p:nvSpPr>
        <p:spPr>
          <a:xfrm>
            <a:off x="1973323" y="318781"/>
            <a:ext cx="1527524" cy="152752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lang="en-US" altLang="ko-KR" sz="1400" b="0" spc="-100" err="1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ㅌㅐ욱</a:t>
            </a:r>
            <a:r>
              <a:rPr lang="ko-KR" altLang="en-US" sz="1400" b="0" spc="-100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44891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err="1" spc="-100">
                <a:latin typeface="Pretendard"/>
                <a:cs typeface="Pretendard"/>
                <a:ea typeface="Pretendard"/>
              </a:rPr>
              <a:t>올영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PB TF 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총괄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PM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급 시니어 마케터 </a:t>
            </a:r>
            <a:r>
              <a:rPr kumimoji="0" lang="en-US" altLang="ko-KR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1</a:t>
            </a:r>
            <a:r>
              <a:rPr kumimoji="0" lang="ko-KR" altLang="en-US" sz="16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Pretendard"/>
              </a:rPr>
              <a:t>인 외 실무 리소스 필수 편성</a:t>
            </a:r>
            <a:endParaRPr kumimoji="0" lang="en-US" altLang="ko-KR" sz="16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488242-D03B-E565-AD86-245AB03DA51B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AP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창현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1C04ED-AA45-61A2-FD86-A19A9D3D5883}"/>
              </a:ext>
            </a:extLst>
          </p:cNvPr>
          <p:cNvSpPr/>
          <p:nvPr/>
        </p:nvSpPr>
        <p:spPr>
          <a:xfrm>
            <a:off x="2031938" y="318781"/>
            <a:ext cx="1527524" cy="152752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lang="en-US" altLang="ko-KR" sz="1400" b="0" spc="-100" err="1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ㅌㅐ욱</a:t>
            </a:r>
            <a:r>
              <a:rPr lang="ko-KR" altLang="en-US" sz="1400" b="0" spc="-100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58334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ADD9E-3028-443E-B2FA-D2F153A62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CAA8604-9F0B-6F76-E0AD-B9E32478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pc="-100">
                <a:latin typeface="Pretendard"/>
                <a:cs typeface="Pretendard"/>
                <a:ea typeface="Pretendard"/>
              </a:rPr>
              <a:t>위기 대응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, 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바이럴</a:t>
            </a:r>
            <a:r>
              <a:rPr lang="en-US" altLang="ko-KR" spc="-100">
                <a:latin typeface="Pretendard"/>
                <a:cs typeface="Pretendard"/>
                <a:ea typeface="Pretendard"/>
              </a:rPr>
              <a:t>/</a:t>
            </a:r>
            <a:r>
              <a:rPr lang="ko-KR" altLang="en-US" err="1" spc="-100">
                <a:latin typeface="Pretendard"/>
                <a:cs typeface="Pretendard"/>
                <a:ea typeface="Pretendard"/>
              </a:rPr>
              <a:t>인플루언서</a:t>
            </a:r>
            <a:r>
              <a:rPr lang="ko-KR" altLang="en-US" spc="-100">
                <a:latin typeface="Pretendard"/>
                <a:cs typeface="Pretendard"/>
                <a:ea typeface="Pretendard"/>
              </a:rPr>
              <a:t> 캠페인 관리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8DD086-53F3-4DC7-6CCC-24A38154F3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507DBE4-BD6F-C3CB-52B8-B711B08644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79F2F68-9117-67F5-8367-EDD4CA4EC4B5}"/>
              </a:ext>
            </a:extLst>
          </p:cNvPr>
          <p:cNvSpPr/>
          <p:nvPr/>
        </p:nvSpPr>
        <p:spPr>
          <a:xfrm>
            <a:off x="336000" y="185919"/>
            <a:ext cx="1527524" cy="1527524"/>
          </a:xfrm>
          <a:prstGeom prst="ellipse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AP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창현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883C0C3-56FD-0B4B-96A4-3F7303E2D942}"/>
              </a:ext>
            </a:extLst>
          </p:cNvPr>
          <p:cNvSpPr/>
          <p:nvPr/>
        </p:nvSpPr>
        <p:spPr>
          <a:xfrm>
            <a:off x="1865862" y="318781"/>
            <a:ext cx="1527524" cy="152752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마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IMC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(</a:t>
            </a:r>
            <a:r>
              <a:rPr lang="en-US" altLang="ko-KR" sz="1400" b="0" spc="-100" err="1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ㅌㅐ욱</a:t>
            </a:r>
            <a:r>
              <a:rPr lang="ko-KR" altLang="en-US" sz="1400" b="0" spc="-100">
                <a:solidFill>
                  <a:prstClr val="white"/>
                </a:solidFill>
                <a:latin typeface="Pretendard ExtraBold"/>
                <a:cs typeface="Pretendard ExtraBold"/>
                <a:ea typeface="Pretendard ExtraBold"/>
              </a:rPr>
              <a:t>님</a:t>
            </a:r>
            <a:r>
              <a:rPr kumimoji="0" lang="en-US" altLang="ko-KR" sz="1400" b="0" i="0" u="none" strike="noStrike" kern="1200" cap="none" spc="-1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/>
                <a:ea typeface="Pretendard ExtraBold"/>
                <a:cs typeface="Pretendard ExtraBold"/>
              </a:rPr>
              <a:t>)</a:t>
            </a:r>
            <a:endParaRPr kumimoji="0" lang="ko-KR" altLang="en-US" sz="1400" b="1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5636231"/>
      </p:ext>
    </p:extLst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0F050202020403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6486CFE-C019-4074-91B6-53325BAF8ACE}">
  <ds:schemaRefs>
    <ds:schemaRef ds:uri="78bc5f6b-badd-460d-ba8a-1201f8f6e6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24BEA04-9967-4FF0-AA38-3532F391796D}">
  <ds:schemaRefs>
    <ds:schemaRef ds:uri="78bc5f6b-badd-460d-ba8a-1201f8f6e67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741</TotalTime>
  <Words>5750</Words>
  <Application>Microsoft Office PowerPoint</Application>
  <PresentationFormat>와이드스크린</PresentationFormat>
  <Paragraphs>1139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Pretendard</vt:lpstr>
      <vt:lpstr>Pretendard ExtraBold</vt:lpstr>
      <vt:lpstr>Pretendard SemiBold</vt:lpstr>
      <vt:lpstr>Pretendard Thin</vt:lpstr>
      <vt:lpstr>맑은 고딕</vt:lpstr>
      <vt:lpstr>Arial</vt:lpstr>
      <vt:lpstr>템플릿</vt:lpstr>
      <vt:lpstr>올리브영 1등 달성 케이스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영상 콘텐츠 유형별 소개</vt:lpstr>
      <vt:lpstr>영상 콘텐츠 유형별 소개</vt:lpstr>
      <vt:lpstr>영상 콘텐츠 유형별 소개</vt:lpstr>
      <vt:lpstr>오프라인 인증형 시딩 콘텐츠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어필리에이트 - 추천 콘텐츠를 실제 구매 링크와 연결하는 전환형 바이럴</vt:lpstr>
      <vt:lpstr>PowerPoint 프레젠테이션</vt:lpstr>
      <vt:lpstr>올더베러 캠페인 구조 전체 한판 요약 정리 6개월 운영 로드맵 : 7월에 시작하고, 9월에 증폭하고, 12월에 대표성으로 착지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성과 리포팅 솔루션</vt:lpstr>
      <vt:lpstr>올영PB TF 인력 구성</vt:lpstr>
      <vt:lpstr>위기 대응, 바이럴/인플루언서 캠페인 관리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정 한솔</cp:lastModifiedBy>
  <cp:revision>27</cp:revision>
  <dcterms:created xsi:type="dcterms:W3CDTF">2024-02-22T09:08:38Z</dcterms:created>
  <dcterms:modified xsi:type="dcterms:W3CDTF">2026-06-17T03:05:24Z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