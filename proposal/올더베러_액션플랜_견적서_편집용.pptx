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월별 실행 캘린더 · 액션플랜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8·11·12월 집중 · 항목별 진행 건수(건당 비용) · 잔여 예산은 마이크로/나노 시딩 재배분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0360152" cy="5907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89611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1 · 빠른 반응 확보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PHASE 2 · 대표성 확장</a:t>
                      </a:r>
                    </a:p>
                  </a:txBody>
                  <a:tcPr marL="50800" marR="50800" marT="12700" marB="12700" anchor="ctr">
                    <a:solidFill>
                      <a:srgbClr val="70707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항목 (건당 비용)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9월세일 사전부스팅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11월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블프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12월</a:t>
                      </a:r>
                    </a:p>
                    <a:p>
                      <a:pPr algn="ctr"/>
                      <a:r>
                        <a:rPr sz="700">
                          <a:solidFill>
                            <a:srgbClr val="DDDDDD"/>
                          </a:solidFill>
                          <a:latin typeface="맑은 고딕"/>
                        </a:rPr>
                        <a:t>세일 ★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매크로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800,000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400,000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18</a:t>
                      </a:r>
                    </a:p>
                  </a:txBody>
                  <a:tcPr marL="50800" marR="50800" marT="12700" marB="12700" anchor="ctr">
                    <a:solidFill>
                      <a:srgbClr val="A9A9A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9F9F9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17</a:t>
                      </a:r>
                    </a:p>
                  </a:txBody>
                  <a:tcPr marL="50800" marR="50800" marT="12700" marB="12700" anchor="ctr">
                    <a:solidFill>
                      <a:srgbClr val="AEAEA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28</a:t>
                      </a:r>
                    </a:p>
                  </a:txBody>
                  <a:tcPr marL="50800" marR="50800" marT="12700" marB="12700" anchor="ctr">
                    <a:solidFill>
                      <a:srgbClr val="7979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 marL="50800" marR="50800" marT="12700" marB="12700" anchor="ctr">
                    <a:solidFill>
                      <a:srgbClr val="6666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22</a:t>
                      </a:r>
                    </a:p>
                  </a:txBody>
                  <a:tcPr marL="50800" marR="50800" marT="12700" marB="12700" anchor="ctr">
                    <a:solidFill>
                      <a:srgbClr val="A7A7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25</a:t>
                      </a:r>
                    </a:p>
                  </a:txBody>
                  <a:tcPr marL="50800" marR="50800" marT="12700" marB="12700" anchor="ctr">
                    <a:solidFill>
                      <a:srgbClr val="9B9B9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AFAF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8787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36</a:t>
                      </a:r>
                    </a:p>
                  </a:txBody>
                  <a:tcPr marL="50800" marR="50800" marT="12700" marB="12700" anchor="ctr">
                    <a:solidFill>
                      <a:srgbClr val="6F6F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KOL 무가시딩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X(트위터) 시딩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파워페이지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600,000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5,000,000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250,000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B0B0B0"/>
                          </a:solidFill>
                          <a:latin typeface="맑은 고딕"/>
                        </a:rPr>
                        <a:t>·</a:t>
                      </a:r>
                    </a:p>
                  </a:txBody>
                  <a:tcPr marL="50800" marR="50800" marT="12700" marB="12700" anchor="ctr">
                    <a:solidFill>
                      <a:srgbClr val="FB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1,500,000 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</a:rPr>
                        <a:t>●</a:t>
                      </a:r>
                    </a:p>
                  </a:txBody>
                  <a:tcPr marL="50800" marR="50800" marT="12700" marB="1270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상시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 gridSpan="8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</a:t>
                      </a:r>
                    </a:p>
                    <a:p>
                      <a:pPr algn="l"/>
                      <a:r>
                        <a:rPr sz="750">
                          <a:solidFill>
                            <a:srgbClr val="707070"/>
                          </a:solidFill>
                          <a:latin typeface="맑은 고딕"/>
                        </a:rPr>
                        <a:t>올영 쇼핑 큐레이터·누적 (명)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E3E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marL="50800" marR="50800" marT="12700" marB="12700" anchor="ctr">
                    <a:solidFill>
                      <a:srgbClr val="C7C7C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ABABA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11111"/>
                          </a:solidFill>
                          <a:latin typeface="맑은 고딕"/>
                        </a:rPr>
                        <a:t>40</a:t>
                      </a:r>
                    </a:p>
                  </a:txBody>
                  <a:tcPr marL="50800" marR="50800" marT="12700" marB="12700" anchor="ctr">
                    <a:solidFill>
                      <a:srgbClr val="8F8F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73737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5757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누적60</a:t>
                      </a:r>
                    </a:p>
                  </a:txBody>
                  <a:tcPr marL="50800" marR="50800" marT="12700" marB="12700" anchor="ctr">
                    <a:solidFill>
                      <a:srgbClr val="ECECE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월 시딩 총건수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97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55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47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78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415건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월 예산 비중 / 금액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5,000만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2,500만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111"/>
                          </a:solidFill>
                          <a:latin typeface="맑은 고딕"/>
                        </a:rPr>
                        <a:t>18%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707070"/>
                          </a:solidFill>
                          <a:latin typeface="맑은 고딕"/>
                        </a:rPr>
                        <a:t>4,500만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22%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5,500만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100%</a:t>
                      </a:r>
                    </a:p>
                    <a:p>
                      <a:pPr algn="ctr"/>
                      <a:r>
                        <a:rPr sz="800">
                          <a:solidFill>
                            <a:srgbClr val="DDDDDD"/>
                          </a:solidFill>
                          <a:latin typeface="맑은 고딕"/>
                        </a:rPr>
                        <a:t>2.5억</a:t>
                      </a:r>
                    </a:p>
                  </a:txBody>
                  <a:tcPr marL="50800" marR="50800" marT="12700" marB="12700" anchor="ctr">
                    <a:solidFill>
                      <a:srgbClr val="33333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656832"/>
            <a:ext cx="11247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※ 셀 음영이 진할수록 물량 多 · KOL 무가시딩·어필리에이트는 올영 부담/무가로 자체 비용 0 · 퍼포먼스 매체는 별도(별첨)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111"/>
                </a:solidFill>
                <a:latin typeface="맑은 고딕"/>
              </a:rPr>
              <a:t>견적서 (Quotation)</a:t>
            </a:r>
          </a:p>
          <a:p>
            <a:r>
              <a:rPr sz="1100">
                <a:solidFill>
                  <a:srgbClr val="707070"/>
                </a:solidFill>
                <a:latin typeface="맑은 고딕"/>
              </a:rPr>
              <a:t>올리브영 PB 올더베러 브랜드 빌딩 캠페인 · 작성일 2026.06.14 · 단위 원(VAT 별도)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60120"/>
          <a:ext cx="10881360" cy="5184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6480"/>
                <a:gridCol w="1371600"/>
                <a:gridCol w="1554480"/>
                <a:gridCol w="18288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항목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수량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단가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금액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프로젝트 대행료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기획·운영비 (수수료 · 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제작비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KV·디자인·영상·콘텐츠 제작 (EGC 제외)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1식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68,600,000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EGC 콘텐츠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크리에이터 시딩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매크로 (인스타·유튜브)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800,000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12,000,000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마이크로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60,000,000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나노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175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43,750,000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KOL 무가시딩  *자체 비용 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무가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X (트위터) 시딩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7,500,000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콘텐츠 · 바이럴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파워페이지 콘텐츠 바이럴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600,000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5,400,000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커뮤니티 체험단 (탑1·로2)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500/200만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9,000,000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네이버 블로그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250,000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3,750,000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4"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11111"/>
                          </a:solidFill>
                          <a:latin typeface="맑은 고딕"/>
                        </a:rPr>
                        <a:t>기타</a:t>
                      </a:r>
                    </a:p>
                  </a:txBody>
                  <a:tcPr marL="50800" marR="50800" marT="12700" marB="12700" anchor="ctr"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</a:rPr>
                        <a:t>어필리에이트 (올영 쇼핑 큐레이터)  *올영 부담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누적 60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70707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공급가액 소계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250,000,000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</a:rPr>
                        <a:t>부가가치세 (10%)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</a:rPr>
                        <a:t>25,000,000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246888">
                <a:tc gridSpan="3"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합계 금액 (VAT 포함)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275,000,000</a:t>
                      </a:r>
                    </a:p>
                  </a:txBody>
                  <a:tcPr marL="50800" marR="50800" marT="12700" marB="12700" anchor="ctr"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355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707070"/>
                </a:solidFill>
                <a:latin typeface="맑은 고딕"/>
              </a:rPr>
              <a:t>· 프로젝트 대행료 10%(2,500만), 차액은 제작비에 반영 · EGC 콘텐츠는 건당 1,500,000원 별도 산정 · 공급가액 2.5억(VAT 별도)</a:t>
            </a:r>
          </a:p>
          <a:p>
            <a:r>
              <a:rPr sz="850">
                <a:solidFill>
                  <a:srgbClr val="707070"/>
                </a:solidFill>
                <a:latin typeface="맑은 고딕"/>
              </a:rPr>
              <a:t>· 퍼포먼스 매체 운영(PA·올영 인앱)은 별도 산정(별첨) · KOL 무가시딩·어필리에이트는 올영 부담/무가로 0원 · 단가는 인스타·유튜브 기준, X 별도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