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02_B 시딩 콘텐츠 앵글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>
                <a:solidFill>
                  <a:srgbClr val="141412"/>
                </a:solidFill>
                <a:latin typeface="맑은 고딕"/>
              </a:rPr>
              <a:t>제품·단계·타겟·TPO별 콘텐츠 앵글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373734"/>
                </a:solidFill>
                <a:latin typeface="맑은 고딕"/>
              </a:rPr>
              <a:t>VOC가 알려준 ‘소비자가 이미 하는 말’을 훅으로 — 플라이휠 4단계로 굴립니다.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274552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성공 훅 = 명확한 타겟  ×  구체적 상황·에피소드  ×  반전 또는 팩트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11274552" cy="23774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787872"/>
                </a:solidFill>
                <a:latin typeface="맑은 고딕"/>
              </a:rPr>
              <a:t>특정 생활자를 겨냥 → 제품이 필요한 순간을 장면화 → ‘보게 만드는’ 정보·공감·반전 포인트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496312"/>
            <a:ext cx="2432304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① 인지·발견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752344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B0B0A8"/>
                </a:solidFill>
                <a:latin typeface="맑은 고딕"/>
              </a:rPr>
              <a:t>SEED · 첫 바퀴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3163824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787872"/>
                </a:solidFill>
                <a:latin typeface="맑은 고딕"/>
              </a:rPr>
              <a:t>멜라나잇 구미 · 일반식품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383279"/>
            <a:ext cx="2432304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밤에 쉽게 못 드는 30대 · 취침 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803904"/>
            <a:ext cx="2432304" cy="56692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“불 끄기 전, 나만의 마무리 한 알”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2706624" cy="566928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977639"/>
            <a:ext cx="2450591" cy="49377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1">
                <a:solidFill>
                  <a:srgbClr val="373734"/>
                </a:solidFill>
                <a:latin typeface="맑은 고딕"/>
              </a:rPr>
              <a:t>반전 — 수면제 아닌 ‘무드 리추얼’ · 심의: 수면·숙면 표현 금지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4700015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787872"/>
                </a:solidFill>
                <a:latin typeface="맑은 고딕"/>
              </a:rPr>
              <a:t>웰니스 구미 (에너지) · 일반식품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4919471"/>
            <a:ext cx="2432304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야근 잦은 직장인 · 오후 슬럼프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5340095"/>
            <a:ext cx="2432304" cy="56692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“11시 퇴근하는 30대, 오후 3시 버티는 법”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68111"/>
            <a:ext cx="2706624" cy="566928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5513831"/>
            <a:ext cx="2450591" cy="49377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1">
                <a:solidFill>
                  <a:srgbClr val="373734"/>
                </a:solidFill>
                <a:latin typeface="맑은 고딕"/>
              </a:rPr>
              <a:t>공감 — 직장인 하루 루틴 안착 · TPO: 야근·오후 3시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73552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2496312"/>
            <a:ext cx="2432304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② 검증·신뢰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2752344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B0B0A8"/>
                </a:solidFill>
                <a:latin typeface="맑은 고딕"/>
              </a:rPr>
              <a:t>PROVE · 관성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73552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9856" y="3163824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787872"/>
                </a:solidFill>
                <a:latin typeface="맑은 고딕"/>
              </a:rPr>
              <a:t>올리브오일 캡슐 · 일반식품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9856" y="3383279"/>
            <a:ext cx="2432304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공복 섭취가 고민인 입문자 · 아침 공복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9856" y="3803904"/>
            <a:ext cx="2432304" cy="56692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“공복에 올리브오일? 괜찮을까 — 한 포로 끝”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73552" y="3931920"/>
            <a:ext cx="2706624" cy="566928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73552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9856" y="3977639"/>
            <a:ext cx="2450591" cy="49377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1">
                <a:solidFill>
                  <a:srgbClr val="373734"/>
                </a:solidFill>
                <a:latin typeface="맑은 고딕"/>
              </a:rPr>
              <a:t>답변형 — VOC ‘섭취 타이밍’ 질문에 답 · 편의 55%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73552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9856" y="4700015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787872"/>
                </a:solidFill>
                <a:latin typeface="맑은 고딕"/>
              </a:rPr>
              <a:t>올리브오일 캡슐 · 일반식품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9856" y="4919471"/>
            <a:ext cx="2432304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가성비 따지는 30대 · 정보 탐색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9856" y="5340095"/>
            <a:ext cx="2432304" cy="56692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“생오일 한 병 vs 캡슐 한 포, 가성비 팩트체크”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73552" y="5468111"/>
            <a:ext cx="2706624" cy="566928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73552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9856" y="5513831"/>
            <a:ext cx="2450591" cy="49377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1">
                <a:solidFill>
                  <a:srgbClr val="373734"/>
                </a:solidFill>
                <a:latin typeface="맑은 고딕"/>
              </a:rPr>
              <a:t>팩트 — VOC 캡슐 가성비·충성(재구매 24.1%)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9904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2496312"/>
            <a:ext cx="2432304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③ 전환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752344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B0B0A8"/>
                </a:solidFill>
                <a:latin typeface="맑은 고딕"/>
              </a:rPr>
              <a:t>BOOST · 가속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9904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3163824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787872"/>
                </a:solidFill>
                <a:latin typeface="맑은 고딕"/>
              </a:rPr>
              <a:t>올리브오일 스틱 · 일반식품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383279"/>
            <a:ext cx="2432304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맛 때문에 망설인 사람 · 재구매 고민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803904"/>
            <a:ext cx="2432304" cy="56692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“솔직히 오일 맛 나요. 근데 왜 또 살까?”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9904" y="3931920"/>
            <a:ext cx="2706624" cy="566928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89904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3977639"/>
            <a:ext cx="2450591" cy="49377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1">
                <a:solidFill>
                  <a:srgbClr val="373734"/>
                </a:solidFill>
                <a:latin typeface="맑은 고딕"/>
              </a:rPr>
              <a:t>역설 — VOC 맛 불호 69.8% 선제 인정 → 신뢰 전환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89904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8" y="4700015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787872"/>
                </a:solidFill>
                <a:latin typeface="맑은 고딕"/>
              </a:rPr>
              <a:t>히어로 라인업 · 올영세일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919471"/>
            <a:ext cx="2432304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장바구니 담아둔 세일 대기족 · 올영세일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5340095"/>
            <a:ext cx="2432304" cy="56692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“담아둔 거, 이번 올영세일에 사야 하는 이유”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9904" y="5468111"/>
            <a:ext cx="2706624" cy="566928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89904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8" y="5513831"/>
            <a:ext cx="2450591" cy="49377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1">
                <a:solidFill>
                  <a:srgbClr val="373734"/>
                </a:solidFill>
                <a:latin typeface="맑은 고딕"/>
              </a:rPr>
              <a:t>세일 집중 — 위닝 콘텐츠 PA 2차 연계 집행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06256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2496312"/>
            <a:ext cx="2432304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④ 재구매·확장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2752344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B0B0A8"/>
                </a:solidFill>
                <a:latin typeface="맑은 고딕"/>
              </a:rPr>
              <a:t>RETAIN · 자가가속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06256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60" y="3163824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787872"/>
                </a:solidFill>
                <a:latin typeface="맑은 고딕"/>
              </a:rPr>
              <a:t>구미·캡슐 · 완주 인증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3383279"/>
            <a:ext cx="2432304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작심삼일러 · 한 통 완주 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3803904"/>
            <a:ext cx="2432304" cy="56692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“안 먹고 쌓인 통 vs 싹 비운 통”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06256" y="3931920"/>
            <a:ext cx="2706624" cy="566928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906256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3977639"/>
            <a:ext cx="2450591" cy="49377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1">
                <a:solidFill>
                  <a:srgbClr val="373734"/>
                </a:solidFill>
                <a:latin typeface="맑은 고딕"/>
              </a:rPr>
              <a:t>비교·완주 인증 — VOC ‘효과 미체감’을 꾸준함으로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06256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52560" y="4700015"/>
            <a:ext cx="2432304" cy="21945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787872"/>
                </a:solidFill>
                <a:latin typeface="맑은 고딕"/>
              </a:rPr>
              <a:t>올리브오일 스틱 · 휴대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0" y="4919471"/>
            <a:ext cx="2432304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K-웰니스 관심 외국인 · K-뷰티 트렌드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0" y="5340095"/>
            <a:ext cx="2432304" cy="56692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“K-뷰티 다음은 K-웰니스 — 가방 속 한 포”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06256" y="5468111"/>
            <a:ext cx="2706624" cy="566928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06256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52560" y="5513831"/>
            <a:ext cx="2450591" cy="49377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1">
                <a:solidFill>
                  <a:srgbClr val="373734"/>
                </a:solidFill>
                <a:latin typeface="맑은 고딕"/>
              </a:rPr>
              <a:t>확장 — K-뷰티 언박싱 포맷 차용 · 휴대 앵글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6163056"/>
            <a:ext cx="11274552" cy="384048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6163056"/>
            <a:ext cx="11274552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앵글은 모두 VOC 1,104건 딥다이브에서 도출 · 식품 분류별 심의 가드 + 풀 대본·자막 타임코드는 부록 참조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