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787872"/>
                </a:solidFill>
                <a:latin typeface="맑은 고딕"/>
              </a:rPr>
              <a:t>02_A 올더베러 캠페인 프레임워크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97280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1412"/>
                </a:solidFill>
                <a:latin typeface="맑은 고딕"/>
              </a:rPr>
              <a:t>플라이휠 (Flywheel)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31089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373734"/>
                </a:solidFill>
                <a:latin typeface="맑은 고딕"/>
              </a:rPr>
              <a:t>처음엔 무겁지만, 한번 돌면 팍팍 돌아갑니다 — 올더베러를 ‘플라이휠’로 굴립니다.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81328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27889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38528"/>
            <a:ext cx="246888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87872"/>
                </a:solidFill>
                <a:latin typeface="맑은 고딕"/>
              </a:rPr>
              <a:t>개념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94560"/>
            <a:ext cx="2468880" cy="31089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2"/>
                </a:solidFill>
                <a:latin typeface="맑은 고딕"/>
              </a:rPr>
              <a:t>플라이휠이란?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96896"/>
            <a:ext cx="2487168" cy="3200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73734"/>
                </a:solidFill>
                <a:latin typeface="맑은 고딕"/>
              </a:rPr>
              <a:t>멈춰 있는 바퀴는 ‘처음’ 돌리기가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73734"/>
                </a:solidFill>
                <a:latin typeface="맑은 고딕"/>
              </a:rPr>
              <a:t>가장 무겁습니다.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37373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73734"/>
                </a:solidFill>
                <a:latin typeface="맑은 고딕"/>
              </a:rPr>
              <a:t>그러나 한번 돌기 시작하면 관성과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73734"/>
                </a:solidFill>
                <a:latin typeface="맑은 고딕"/>
              </a:rPr>
              <a:t>가속이 붙어, 점점 적은 힘으로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73734"/>
                </a:solidFill>
                <a:latin typeface="맑은 고딕"/>
              </a:rPr>
              <a:t>더 빠르게 돕니다.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37373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올더베러 마케팅도 같은 원리입니다.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73734"/>
                </a:solidFill>
                <a:latin typeface="맑은 고딕"/>
              </a:rPr>
              <a:t>가장 무거운 첫 바퀴를 다수의 힘으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73734"/>
                </a:solidFill>
                <a:latin typeface="맑은 고딕"/>
              </a:rPr>
              <a:t>로 밀어 돌리면, 후기·신뢰·전환·재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73734"/>
                </a:solidFill>
                <a:latin typeface="맑은 고딕"/>
              </a:rPr>
              <a:t>구매가 연료가 되어 스스로 가속합니다.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5093207" y="2395728"/>
            <a:ext cx="3255264" cy="3255264"/>
          </a:xfrm>
          <a:prstGeom prst="ellipse">
            <a:avLst/>
          </a:prstGeom>
          <a:noFill/>
          <a:ln w="38100">
            <a:solidFill>
              <a:srgbClr val="B0B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13500000">
            <a:off x="7725445" y="5018821"/>
            <a:ext cx="292608" cy="310896"/>
          </a:xfrm>
          <a:prstGeom prst="triangle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18900000">
            <a:off x="5423626" y="5018821"/>
            <a:ext cx="292608" cy="310896"/>
          </a:xfrm>
          <a:prstGeom prst="triangle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2700000">
            <a:off x="5423626" y="2717002"/>
            <a:ext cx="292608" cy="310896"/>
          </a:xfrm>
          <a:prstGeom prst="triangle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8100000">
            <a:off x="7725445" y="2717002"/>
            <a:ext cx="292608" cy="310896"/>
          </a:xfrm>
          <a:prstGeom prst="triangle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007607" y="3310128"/>
            <a:ext cx="1426464" cy="1426464"/>
          </a:xfrm>
          <a:prstGeom prst="ellipse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07607" y="3639312"/>
            <a:ext cx="1426464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올더베러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7607" y="4059936"/>
            <a:ext cx="1426464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B0B0A8"/>
                </a:solidFill>
                <a:latin typeface="맑은 고딕"/>
              </a:rPr>
              <a:t>FLYWHEEL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1975104"/>
            <a:ext cx="18288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2103120"/>
            <a:ext cx="1828800" cy="31089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141412"/>
                </a:solidFill>
                <a:latin typeface="맑은 고딕"/>
              </a:rPr>
              <a:t>① 시딩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414016"/>
            <a:ext cx="18288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787872"/>
                </a:solidFill>
                <a:latin typeface="맑은 고딕"/>
              </a:rPr>
              <a:t>콘텐츠·후기 볼륨 (첫 바퀴)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34071" y="3602736"/>
            <a:ext cx="18288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34071" y="3730752"/>
            <a:ext cx="1828800" cy="31089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141412"/>
                </a:solidFill>
                <a:latin typeface="맑은 고딕"/>
              </a:rPr>
              <a:t>② 신뢰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4071" y="4041648"/>
            <a:ext cx="18288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787872"/>
                </a:solidFill>
                <a:latin typeface="맑은 고딕"/>
              </a:rPr>
              <a:t>다수 반복 노출 → 익숙함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5230368"/>
            <a:ext cx="18288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5358384"/>
            <a:ext cx="1828800" cy="31089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141412"/>
                </a:solidFill>
                <a:latin typeface="맑은 고딕"/>
              </a:rPr>
              <a:t>③ 전환·랭킹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5669280"/>
            <a:ext cx="18288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787872"/>
                </a:solidFill>
                <a:latin typeface="맑은 고딕"/>
              </a:rPr>
              <a:t>위닝·PA·올영세일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78807" y="3602736"/>
            <a:ext cx="18288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78807" y="3730752"/>
            <a:ext cx="1828800" cy="31089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141412"/>
                </a:solidFill>
                <a:latin typeface="맑은 고딕"/>
              </a:rPr>
              <a:t>④ 재구매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8807" y="4041648"/>
            <a:ext cx="18288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787872"/>
                </a:solidFill>
                <a:latin typeface="맑은 고딕"/>
              </a:rPr>
              <a:t>후기·CRM (다음 연료)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1792224"/>
            <a:ext cx="27432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73734"/>
                </a:solidFill>
                <a:latin typeface="맑은 고딕"/>
              </a:rPr>
              <a:t>↑ 가장 무거운 첫 바퀴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38360" y="1783080"/>
            <a:ext cx="1993392" cy="4114800"/>
          </a:xfrm>
          <a:prstGeom prst="roundRect">
            <a:avLst>
              <a:gd name="adj" fmla="val 6000"/>
            </a:avLst>
          </a:prstGeom>
          <a:solidFill>
            <a:srgbClr val="F1F0E5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93808" y="1938528"/>
            <a:ext cx="173736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87872"/>
                </a:solidFill>
                <a:latin typeface="맑은 고딕"/>
              </a:rPr>
              <a:t>작동 원리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93808" y="2240280"/>
            <a:ext cx="1682496" cy="932688"/>
          </a:xfrm>
          <a:prstGeom prst="roundRect">
            <a:avLst>
              <a:gd name="adj" fmla="val 10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93808" y="2331720"/>
            <a:ext cx="1682496" cy="8229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첫 바퀴 (7월)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E6E6DD"/>
                </a:solidFill>
                <a:latin typeface="맑은 고딕"/>
              </a:rPr>
              <a:t>가장 무겁게,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E6E6DD"/>
                </a:solidFill>
                <a:latin typeface="맑은 고딕"/>
              </a:rPr>
              <a:t>강하게 민다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93808" y="3310128"/>
            <a:ext cx="1682496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93808" y="3401568"/>
            <a:ext cx="1682496" cy="8229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141412"/>
                </a:solidFill>
                <a:latin typeface="맑은 고딕"/>
              </a:rPr>
              <a:t>가속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373734"/>
                </a:solidFill>
                <a:latin typeface="맑은 고딕"/>
              </a:rPr>
              <a:t>관성이 붙어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373734"/>
                </a:solidFill>
                <a:latin typeface="맑은 고딕"/>
              </a:rPr>
              <a:t>점점 빨리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93808" y="4379976"/>
            <a:ext cx="1682496" cy="960120"/>
          </a:xfrm>
          <a:prstGeom prst="roundRect">
            <a:avLst>
              <a:gd name="adj" fmla="val 10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93808" y="4480560"/>
            <a:ext cx="1682496" cy="84124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정상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E6E6DD"/>
                </a:solidFill>
                <a:latin typeface="맑은 고딕"/>
              </a:rPr>
              <a:t>올영세일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E6E6DD"/>
                </a:solidFill>
                <a:latin typeface="맑은 고딕"/>
              </a:rPr>
              <a:t>랭킹 1위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053328"/>
            <a:ext cx="11274552" cy="5486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</a:rPr>
              <a:t>가장 무거운 ‘첫 바퀴’ = 시딩  ·  그 바퀴를 돌리는 ‘힘’ = 다수의 마이크로·나노  —  다음 두 장에서 증명합니다.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787872"/>
                </a:solidFill>
                <a:latin typeface="맑은 고딕"/>
              </a:rPr>
              <a:t>02_A 플라이휠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97280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1412"/>
                </a:solidFill>
                <a:latin typeface="맑은 고딕"/>
              </a:rPr>
              <a:t>왜 인플루언서 시딩이 1순위인가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31089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373734"/>
                </a:solidFill>
                <a:latin typeface="맑은 고딕"/>
              </a:rPr>
              <a:t>플라이휠의 ‘첫 바퀴’ — 가장 무겁지만, 가장 먼저 밀어야 하는 곳이 시딩입니다.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81328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755648"/>
            <a:ext cx="2706624" cy="3950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65376"/>
            <a:ext cx="237744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B0B0A8"/>
                </a:solidFill>
                <a:latin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2377440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412"/>
                </a:solidFill>
                <a:latin typeface="맑은 고딕"/>
              </a:rPr>
              <a:t>‘올더베러’의 존재를 시장에 선보여야 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377440" cy="18288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데이터 근거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373734"/>
                </a:solidFill>
                <a:latin typeface="맑은 고딕"/>
              </a:rPr>
              <a:t>브랜드 검색 월 약 3,000 · 해시태그 #올더베러 +100여 건</a:t>
            </a:r>
          </a:p>
          <a:p>
            <a:pPr algn="l">
              <a:spcAft>
                <a:spcPts val="200"/>
              </a:spcAft>
            </a:pPr>
            <a:r>
              <a:rPr sz="400" b="0">
                <a:solidFill>
                  <a:srgbClr val="787872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00" b="1">
                <a:solidFill>
                  <a:srgbClr val="787872"/>
                </a:solidFill>
                <a:latin typeface="맑은 고딕"/>
              </a:rPr>
              <a:t>출처 </a:t>
            </a:r>
            <a:r>
              <a:rPr sz="830" b="0">
                <a:solidFill>
                  <a:srgbClr val="787872"/>
                </a:solidFill>
                <a:latin typeface="맑은 고딕"/>
              </a:rPr>
              <a:t>네이버·구글 검색량 + 인스타그램 해시태그 집계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25696"/>
            <a:ext cx="2706624" cy="1280160"/>
          </a:xfrm>
          <a:prstGeom prst="rect">
            <a:avLst/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425696"/>
            <a:ext cx="64008" cy="128016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98848"/>
            <a:ext cx="2377440" cy="1152143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41412"/>
                </a:solidFill>
                <a:latin typeface="맑은 고딕"/>
              </a:rPr>
              <a:t>→ 첫 바퀴를 시딩으로 미는 이유</a:t>
            </a:r>
          </a:p>
          <a:p>
            <a:pPr algn="l">
              <a:spcAft>
                <a:spcPts val="200"/>
              </a:spcAft>
            </a:pPr>
            <a:r>
              <a:rPr sz="980" b="1">
                <a:solidFill>
                  <a:srgbClr val="141412"/>
                </a:solidFill>
                <a:latin typeface="맑은 고딕"/>
              </a:rPr>
              <a:t>다수의 진성(나노·마이크로) UGC 콘텐츠를 전략 일자에 노출해 ‘익숙함과 신뢰’를 먼저 쌓습니다.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2706624" cy="3950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1865376"/>
            <a:ext cx="237744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B0B0A8"/>
                </a:solidFill>
                <a:latin typeface="맑은 고딕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212848"/>
            <a:ext cx="2377440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412"/>
                </a:solidFill>
                <a:latin typeface="맑은 고딕"/>
              </a:rPr>
              <a:t>소비자는 사기 전에 검증합니다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926080"/>
            <a:ext cx="2377440" cy="18288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데이터 근거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373734"/>
                </a:solidFill>
                <a:latin typeface="맑은 고딕"/>
              </a:rPr>
              <a:t>제품 검색 → 올영 이동 → 후기·리뷰 확인 후 구매(검증형) · VOC 재구매율 15.5% · 구매이유 1위 ‘가격·할인’</a:t>
            </a:r>
          </a:p>
          <a:p>
            <a:pPr algn="l">
              <a:spcAft>
                <a:spcPts val="200"/>
              </a:spcAft>
            </a:pPr>
            <a:r>
              <a:rPr sz="400" b="0">
                <a:solidFill>
                  <a:srgbClr val="787872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00" b="1">
                <a:solidFill>
                  <a:srgbClr val="787872"/>
                </a:solidFill>
                <a:latin typeface="맑은 고딕"/>
              </a:rPr>
              <a:t>출처 </a:t>
            </a:r>
            <a:r>
              <a:rPr sz="830" b="0">
                <a:solidFill>
                  <a:srgbClr val="787872"/>
                </a:solidFill>
                <a:latin typeface="맑은 고딕"/>
              </a:rPr>
              <a:t>리스닝마인드 검색 경로 분석 + 올더베러 리뷰 1,104건 VOC 딥다이브(BAT 자체 크롤링)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73552" y="4425696"/>
            <a:ext cx="2706624" cy="1280160"/>
          </a:xfrm>
          <a:prstGeom prst="rect">
            <a:avLst/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3552" y="4425696"/>
            <a:ext cx="64008" cy="128016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6432" y="4498848"/>
            <a:ext cx="2377440" cy="1152143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41412"/>
                </a:solidFill>
                <a:latin typeface="맑은 고딕"/>
              </a:rPr>
              <a:t>→ 첫 바퀴를 시딩으로 미는 이유</a:t>
            </a:r>
          </a:p>
          <a:p>
            <a:pPr algn="l">
              <a:spcAft>
                <a:spcPts val="200"/>
              </a:spcAft>
            </a:pPr>
            <a:r>
              <a:rPr sz="980" b="1">
                <a:solidFill>
                  <a:srgbClr val="141412"/>
                </a:solidFill>
                <a:latin typeface="맑은 고딕"/>
              </a:rPr>
              <a:t>가격 외 ‘선택 근거’(후기·리뷰·해시태그·콘텐츠 볼륨)를 먼저 쌓아 잘 보이는 제품으로 전환을 견인합니다.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9904" y="1755648"/>
            <a:ext cx="2706624" cy="3950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4" y="1865376"/>
            <a:ext cx="237744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B0B0A8"/>
                </a:solidFill>
                <a:latin typeface="맑은 고딕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4" y="2212848"/>
            <a:ext cx="2377440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412"/>
                </a:solidFill>
                <a:latin typeface="맑은 고딕"/>
              </a:rPr>
              <a:t>‘어떻게 먹는지’는 인플루언서가 보여줍니다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2926080"/>
            <a:ext cx="2377440" cy="18288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데이터 근거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373734"/>
                </a:solidFill>
                <a:latin typeface="맑은 고딕"/>
              </a:rPr>
              <a:t>RFP 요구 ‘언제·왜·어떻게 먹는지 생활 맥락’에 따른 영상으로 학습하고 디토(따라 구매)하는 소비자들</a:t>
            </a:r>
          </a:p>
          <a:p>
            <a:pPr algn="l">
              <a:spcAft>
                <a:spcPts val="200"/>
              </a:spcAft>
            </a:pPr>
            <a:r>
              <a:rPr sz="400" b="0">
                <a:solidFill>
                  <a:srgbClr val="787872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00" b="1">
                <a:solidFill>
                  <a:srgbClr val="787872"/>
                </a:solidFill>
                <a:latin typeface="맑은 고딕"/>
              </a:rPr>
              <a:t>출처 </a:t>
            </a:r>
            <a:r>
              <a:rPr sz="830" b="0">
                <a:solidFill>
                  <a:srgbClr val="787872"/>
                </a:solidFill>
                <a:latin typeface="맑은 고딕"/>
              </a:rPr>
              <a:t>올리브영 VOC 딥다이브 + 인스타 릴스 콘텐츠 분석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9904" y="4425696"/>
            <a:ext cx="2706624" cy="1280160"/>
          </a:xfrm>
          <a:prstGeom prst="rect">
            <a:avLst/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9904" y="4425696"/>
            <a:ext cx="64008" cy="128016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2784" y="4498848"/>
            <a:ext cx="2377440" cy="1152143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41412"/>
                </a:solidFill>
                <a:latin typeface="맑은 고딕"/>
              </a:rPr>
              <a:t>→ 첫 바퀴를 시딩으로 미는 이유</a:t>
            </a:r>
          </a:p>
          <a:p>
            <a:pPr algn="l">
              <a:spcAft>
                <a:spcPts val="200"/>
              </a:spcAft>
            </a:pPr>
            <a:r>
              <a:rPr sz="980" b="1">
                <a:solidFill>
                  <a:srgbClr val="141412"/>
                </a:solidFill>
                <a:latin typeface="맑은 고딕"/>
              </a:rPr>
              <a:t>SNS 인플루언서가 실제 사용 상황(아침 공복·야근·취침 전)을 자기 일상으로 가져오는 소비자 CDJ 패턴에 들어섭니다.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06256" y="1755648"/>
            <a:ext cx="2706624" cy="3950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9136" y="1865376"/>
            <a:ext cx="237744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B0B0A8"/>
                </a:solidFill>
                <a:latin typeface="맑은 고딕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89136" y="2212848"/>
            <a:ext cx="2377440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412"/>
                </a:solidFill>
                <a:latin typeface="맑은 고딕"/>
              </a:rPr>
              <a:t>이미 올영 PB에서 고성과로 검증된 방식입니다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9136" y="2926080"/>
            <a:ext cx="2377440" cy="18288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데이터 근거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373734"/>
                </a:solidFill>
                <a:latin typeface="맑은 고딕"/>
              </a:rPr>
              <a:t>우리가 운영 중인 올영 PB 시딩+PA가 고성과: 브링그린 검색 9K→140K(15배) · 산리오 파트너십 ROAS 127→356→589% · 올영세일 ROAS 324→515%</a:t>
            </a:r>
          </a:p>
          <a:p>
            <a:pPr algn="l">
              <a:spcAft>
                <a:spcPts val="200"/>
              </a:spcAft>
            </a:pPr>
            <a:r>
              <a:rPr sz="400" b="0">
                <a:solidFill>
                  <a:srgbClr val="787872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00" b="1">
                <a:solidFill>
                  <a:srgbClr val="787872"/>
                </a:solidFill>
                <a:latin typeface="맑은 고딕"/>
              </a:rPr>
              <a:t>출처 </a:t>
            </a:r>
            <a:r>
              <a:rPr sz="830" b="0">
                <a:solidFill>
                  <a:srgbClr val="787872"/>
                </a:solidFill>
                <a:latin typeface="맑은 고딕"/>
              </a:rPr>
              <a:t>BAT 올리브영 PB 운영 캠페인 실적(레퍼런스)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06256" y="4425696"/>
            <a:ext cx="2706624" cy="1280160"/>
          </a:xfrm>
          <a:prstGeom prst="rect">
            <a:avLst/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06256" y="4425696"/>
            <a:ext cx="64008" cy="128016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89136" y="4498848"/>
            <a:ext cx="2377440" cy="1152143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41412"/>
                </a:solidFill>
                <a:latin typeface="맑은 고딕"/>
              </a:rPr>
              <a:t>→ 첫 바퀴를 시딩으로 미는 이유</a:t>
            </a:r>
          </a:p>
          <a:p>
            <a:pPr algn="l">
              <a:spcAft>
                <a:spcPts val="200"/>
              </a:spcAft>
            </a:pPr>
            <a:r>
              <a:rPr sz="980" b="1">
                <a:solidFill>
                  <a:srgbClr val="141412"/>
                </a:solidFill>
                <a:latin typeface="맑은 고딕"/>
              </a:rPr>
              <a:t>‘시딩 → 위닝 콘텐츠 → PA 2차’ 성공 공식을 올더베러에 그대로 적용합니다. (한정 비용 내 최고 효율)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943600"/>
            <a:ext cx="11274552" cy="512064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943600"/>
            <a:ext cx="11274552" cy="51206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그래서 인플루언서 시딩이 1순위입니다 — 플라이휠을 돌리는, 가장 무겁고 가장 먼저인 ‘첫 바퀴’.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47104"/>
            <a:ext cx="1124712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87872"/>
                </a:solidFill>
                <a:latin typeface="맑은 고딕"/>
              </a:rPr>
              <a:t>※ 근거: 검색량·해시태그 집계 / 리스닝마인드 경로분석 / VOC 1,104건 딥다이브 / 인스타 릴스 분석 / BAT 올영 PB 운영 실적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787872"/>
                </a:solidFill>
                <a:latin typeface="맑은 고딕"/>
              </a:rPr>
              <a:t>02_A 플라이휠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97280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1412"/>
                </a:solidFill>
                <a:latin typeface="맑은 고딕"/>
              </a:rPr>
              <a:t>왜 마이크로·나노 중심인가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31089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373734"/>
                </a:solidFill>
                <a:latin typeface="맑은 고딕"/>
              </a:rPr>
              <a:t>그 무거운 첫 바퀴를 돌리는 ‘힘’ — 한 명의 큰 힘이 아니라, 다수의 마이크로·나노입니다.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81328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05156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2"/>
                </a:solidFill>
                <a:latin typeface="맑은 고딕"/>
              </a:rPr>
              <a:t>한눈 비교 — 메가·매크로 vs 마이크로·나노 (2026 기준)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938528"/>
          <a:ext cx="11274552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434840"/>
                <a:gridCol w="4553712"/>
              </a:tblGrid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marL="63500" marR="50800" marT="12700" marB="12700" anchor="ctr"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메가·매크로 (넓고 얕음)</a:t>
                      </a:r>
                    </a:p>
                  </a:txBody>
                  <a:tcPr marL="63500" marR="50800" marT="12700" marB="12700" anchor="ctr"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마이크로·나노 (좁고 깊음) ★</a:t>
                      </a:r>
                    </a:p>
                  </a:txBody>
                  <a:tcPr marL="63500" marR="50800" marT="12700" marB="12700" anchor="ctr">
                    <a:solidFill>
                      <a:srgbClr val="141412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1412"/>
                          </a:solidFill>
                          <a:latin typeface="맑은 고딕"/>
                        </a:rPr>
                        <a:t>인게이지먼트(IG)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87872"/>
                          </a:solidFill>
                          <a:latin typeface="맑은 고딕"/>
                        </a:rPr>
                        <a:t>평균 약 1%대에 머뭅니다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1412"/>
                          </a:solidFill>
                          <a:latin typeface="맑은 고딕"/>
                        </a:rPr>
                        <a:t>나노가 평균 6.23%로 전 티어 중 가장 높습니다</a:t>
                      </a:r>
                    </a:p>
                  </a:txBody>
                  <a:tcPr marL="63500" marR="50800" marT="12700" marB="12700" anchor="ctr">
                    <a:solidFill>
                      <a:srgbClr val="E9E8D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1412"/>
                          </a:solidFill>
                          <a:latin typeface="맑은 고딕"/>
                        </a:rPr>
                        <a:t>전환율</a:t>
                      </a:r>
                    </a:p>
                  </a:txBody>
                  <a:tcPr marL="63500" marR="50800" marT="12700" marB="127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87872"/>
                          </a:solidFill>
                          <a:latin typeface="맑은 고딕"/>
                        </a:rPr>
                        <a:t>매크로 캠페인은 상대적으로 낮습니다</a:t>
                      </a:r>
                    </a:p>
                  </a:txBody>
                  <a:tcPr marL="63500" marR="50800" marT="12700" marB="127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1412"/>
                          </a:solidFill>
                          <a:latin typeface="맑은 고딕"/>
                        </a:rPr>
                        <a:t>나노·마이크로가 매크로 대비 2~3배 높습니다</a:t>
                      </a:r>
                    </a:p>
                  </a:txBody>
                  <a:tcPr marL="63500" marR="50800" marT="12700" marB="12700" anchor="ctr">
                    <a:solidFill>
                      <a:srgbClr val="E9E8D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1412"/>
                          </a:solidFill>
                          <a:latin typeface="맑은 고딕"/>
                        </a:rPr>
                        <a:t>진성도·신뢰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87872"/>
                          </a:solidFill>
                          <a:latin typeface="맑은 고딕"/>
                        </a:rPr>
                        <a:t>광고로 인식되어 신뢰가 낮습니다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1412"/>
                          </a:solidFill>
                          <a:latin typeface="맑은 고딕"/>
                        </a:rPr>
                        <a:t>나노가 전 티어 중 신뢰가 가장 높습니다</a:t>
                      </a:r>
                    </a:p>
                  </a:txBody>
                  <a:tcPr marL="63500" marR="50800" marT="12700" marB="12700" anchor="ctr">
                    <a:solidFill>
                      <a:srgbClr val="E9E8D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1412"/>
                          </a:solidFill>
                          <a:latin typeface="맑은 고딕"/>
                        </a:rPr>
                        <a:t>비용·ROI</a:t>
                      </a:r>
                    </a:p>
                  </a:txBody>
                  <a:tcPr marL="63500" marR="50800" marT="12700" marB="127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87872"/>
                          </a:solidFill>
                          <a:latin typeface="맑은 고딕"/>
                        </a:rPr>
                        <a:t>고비용·일회성에 그칩니다</a:t>
                      </a:r>
                    </a:p>
                  </a:txBody>
                  <a:tcPr marL="63500" marR="50800" marT="12700" marB="127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1412"/>
                          </a:solidFill>
                          <a:latin typeface="맑은 고딕"/>
                        </a:rPr>
                        <a:t>73% 브랜드가 우선 선택하며 ROI도 더 우수합니다</a:t>
                      </a:r>
                    </a:p>
                  </a:txBody>
                  <a:tcPr marL="63500" marR="50800" marT="12700" marB="12700" anchor="ctr">
                    <a:solidFill>
                      <a:srgbClr val="E9E8D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3931920"/>
            <a:ext cx="363016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050791"/>
            <a:ext cx="3227832" cy="31089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2"/>
                </a:solidFill>
                <a:latin typeface="맑은 고딕"/>
              </a:rPr>
              <a:t>진성도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361688"/>
            <a:ext cx="3227832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73734"/>
                </a:solidFill>
                <a:latin typeface="맑은 고딕"/>
              </a:rPr>
              <a:t>광고가 아니라 ‘내 주변의 후기’입니다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773168"/>
            <a:ext cx="3227832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73734"/>
                </a:solidFill>
                <a:latin typeface="맑은 고딕"/>
              </a:rPr>
              <a:t>대형 인플루언서의 일회성 광고보다, 니치한 생활자가 실제 루틴처럼 말하는 콘텐츠가 웰니스 제품의 신뢰를 만듭니다.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257800"/>
            <a:ext cx="3630168" cy="457200"/>
          </a:xfrm>
          <a:prstGeom prst="rect">
            <a:avLst/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257800"/>
            <a:ext cx="54864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294376"/>
            <a:ext cx="3319272" cy="40233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787872"/>
                </a:solidFill>
                <a:latin typeface="맑은 고딕"/>
              </a:rPr>
              <a:t>데이터 </a:t>
            </a:r>
            <a:r>
              <a:rPr sz="919" b="1">
                <a:solidFill>
                  <a:srgbClr val="141412"/>
                </a:solidFill>
                <a:latin typeface="맑은 고딕"/>
              </a:rPr>
              <a:t>소비자는 작은 크리에이터를 더 신뢰합니다 (나노 인스타 ER 6.23%로 전 티어 최고).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0248" y="3931920"/>
            <a:ext cx="363016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4050791"/>
            <a:ext cx="3227832" cy="31089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2"/>
                </a:solidFill>
                <a:latin typeface="맑은 고딕"/>
              </a:rPr>
              <a:t>반복 노출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4361688"/>
            <a:ext cx="3227832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73734"/>
                </a:solidFill>
                <a:latin typeface="맑은 고딕"/>
              </a:rPr>
              <a:t>다수가 같은 시점·다양한 TPO로 말합니다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4773168"/>
            <a:ext cx="3227832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73734"/>
                </a:solidFill>
                <a:latin typeface="맑은 고딕"/>
              </a:rPr>
              <a:t>다수의 마이크로/나노가 같은 시점에 다양한 TPO로 말할 때 ‘요즘 올영에서 많이 보이는 제품’ 인식이 형성됩니다.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0248" y="5257800"/>
            <a:ext cx="3630168" cy="457200"/>
          </a:xfrm>
          <a:prstGeom prst="rect">
            <a:avLst/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0248" y="5257800"/>
            <a:ext cx="54864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5294376"/>
            <a:ext cx="3319272" cy="40233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787872"/>
                </a:solidFill>
                <a:latin typeface="맑은 고딕"/>
              </a:rPr>
              <a:t>데이터 </a:t>
            </a:r>
            <a:r>
              <a:rPr sz="919" b="1">
                <a:solidFill>
                  <a:srgbClr val="141412"/>
                </a:solidFill>
                <a:latin typeface="맑은 고딕"/>
              </a:rPr>
              <a:t>73%의 브랜드가 마이크로·미드티어 크리에이터를 우선 선택합니다(2026).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3296" y="3931920"/>
            <a:ext cx="363016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4050791"/>
            <a:ext cx="3227832" cy="31089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2"/>
                </a:solidFill>
                <a:latin typeface="맑은 고딕"/>
              </a:rPr>
              <a:t>자산화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4361688"/>
            <a:ext cx="3227832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73734"/>
                </a:solidFill>
                <a:latin typeface="맑은 고딕"/>
              </a:rPr>
              <a:t>저단가·다수 → 후기·검색·퍼포의 원천입니다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4773168"/>
            <a:ext cx="3227832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73734"/>
                </a:solidFill>
                <a:latin typeface="맑은 고딕"/>
              </a:rPr>
              <a:t>저단가·다수 콘텐츠를 통해 후기·검색·퍼포먼스 소재로 이어지는, 활용 가능한 원천 콘텐츠를 확보합니다.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3296" y="5257800"/>
            <a:ext cx="3630168" cy="457200"/>
          </a:xfrm>
          <a:prstGeom prst="rect">
            <a:avLst/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83296" y="5257800"/>
            <a:ext cx="54864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5" y="5294376"/>
            <a:ext cx="3319272" cy="40233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787872"/>
                </a:solidFill>
                <a:latin typeface="맑은 고딕"/>
              </a:rPr>
              <a:t>데이터 </a:t>
            </a:r>
            <a:r>
              <a:rPr sz="919" b="1">
                <a:solidFill>
                  <a:srgbClr val="141412"/>
                </a:solidFill>
                <a:latin typeface="맑은 고딕"/>
              </a:rPr>
              <a:t>유료 광고로 쓰면 ER 2~3배·CPA 절감 (위닝 콘텐츠 PA 2차·BAT 실적).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907024"/>
            <a:ext cx="11274552" cy="512064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907024"/>
            <a:ext cx="11274552" cy="51206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메가는 ‘광고’가 되고, 마이크로·나노는 ‘후기’가 됩니다 — 다수의 작은 힘이 플라이휠을 굴립니다.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47104"/>
            <a:ext cx="1124712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87872"/>
                </a:solidFill>
                <a:latin typeface="맑은 고딕"/>
              </a:rPr>
              <a:t>※ 근거: 2026 인플루언서 마케팅 벤치마크(인게이지먼트·전환·신뢰·ROI) + 브랜드 선호 조사 + BAT 올영 PB 운영 실적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