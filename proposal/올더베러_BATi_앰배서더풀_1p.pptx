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48kcal" TargetMode="External"/><Relationship Id="rId3" Type="http://schemas.openxmlformats.org/officeDocument/2006/relationships/hyperlink" Target="https://www.instagram.com/dewybin" TargetMode="External"/><Relationship Id="rId4" Type="http://schemas.openxmlformats.org/officeDocument/2006/relationships/hyperlink" Target="https://www.instagram.com/positive.se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10896"/>
            <a:ext cx="12188952" cy="310896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/>
            <a:r>
              <a:rPr sz="1500" b="1" spc="150">
                <a:solidFill>
                  <a:srgbClr val="3D2B1B"/>
                </a:solidFill>
                <a:latin typeface="Pretendard"/>
                <a:ea typeface="Pretendard"/>
              </a:rPr>
              <a:t>BATi </a:t>
            </a:r>
            <a:r>
              <a:rPr sz="1500" b="1" spc="150">
                <a:solidFill>
                  <a:srgbClr val="141412"/>
                </a:solidFill>
                <a:latin typeface="Pretendard"/>
                <a:ea typeface="Pretendard"/>
              </a:rPr>
              <a:t>AMBASSADOR POOL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801868" y="676656"/>
            <a:ext cx="585215" cy="0"/>
          </a:xfrm>
          <a:prstGeom prst="bentConnector3">
            <a:avLst/>
          </a:prstGeom>
          <a:ln w="27940">
            <a:solidFill>
              <a:srgbClr val="3D2B1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987552"/>
            <a:ext cx="1054303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spc="-100">
                <a:solidFill>
                  <a:srgbClr val="141412"/>
                </a:solidFill>
                <a:latin typeface="Pretendard"/>
                <a:ea typeface="Pretendard"/>
              </a:rPr>
              <a:t>이런 마이크로 앰배서더들과 함께 콘텐츠를 만들어 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82496"/>
            <a:ext cx="9628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-100">
                <a:solidFill>
                  <a:srgbClr val="868680"/>
                </a:solidFill>
                <a:latin typeface="Pretendard"/>
                <a:ea typeface="Pretendard"/>
              </a:rPr>
              <a:t>BAT 실(實)리드 풀에서 올더베러 브랜드 결에 맞춰 큐레이션한 마이크로 앰배서더 예시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12848"/>
            <a:ext cx="3392424" cy="109728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6252" y="2505456"/>
            <a:ext cx="1005840" cy="1005840"/>
          </a:xfrm>
          <a:prstGeom prst="ellipse">
            <a:avLst/>
          </a:prstGeom>
          <a:solidFill>
            <a:srgbClr val="0E5A3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6252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2"/>
              </a:rPr>
              <a:t>@48kcal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80160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헬시 이팅 · 저칼로리 식단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웰니스 구미·올리브오일을 ‘가볍게 챙기는 한 끼’ 루틴으로 — 칼로리 부담 없는 데일리 웰니스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#헬시이팅   #식단관리   #웰니스루틴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2212848"/>
            <a:ext cx="3392424" cy="109728"/>
          </a:xfrm>
          <a:prstGeom prst="rect">
            <a:avLst/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91555" y="2505456"/>
            <a:ext cx="1005840" cy="1005840"/>
          </a:xfrm>
          <a:prstGeom prst="ellipse">
            <a:avLst/>
          </a:prstGeom>
          <a:solidFill>
            <a:srgbClr val="3D2B1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1555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3"/>
              </a:rPr>
              <a:t>@dewybin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55464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81144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3D2B1B"/>
                </a:solidFill>
                <a:latin typeface="Pretendard"/>
                <a:ea typeface="Pretendard"/>
              </a:rPr>
              <a:t>뷰티 · 스킨케어 데일리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멜라나잇 ‘자기 전 이너뷰티’ 루틴 — 속건강이 피부로 드러나는 뷰티 내러티브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#이너뷰티   #나이트루틴   #글로우업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212848"/>
            <a:ext cx="3392424" cy="3310128"/>
          </a:xfrm>
          <a:prstGeom prst="roundRect">
            <a:avLst>
              <a:gd name="adj" fmla="val 8000"/>
            </a:avLst>
          </a:prstGeom>
          <a:solidFill>
            <a:srgbClr val="F3F2E7"/>
          </a:solidFill>
          <a:ln w="12700">
            <a:solidFill>
              <a:srgbClr val="C9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2212848"/>
            <a:ext cx="3392424" cy="109728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66860" y="2505456"/>
            <a:ext cx="1005840" cy="1005840"/>
          </a:xfrm>
          <a:prstGeom prst="ellipse">
            <a:avLst/>
          </a:prstGeom>
          <a:solidFill>
            <a:srgbClr val="0E5A3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6860" y="2505456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spc="-100">
                <a:solidFill>
                  <a:srgbClr val="FFFFFF"/>
                </a:solidFill>
                <a:latin typeface="Pretendard"/>
                <a:ea typeface="Pretendard"/>
              </a:rPr>
              <a:t>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584448"/>
            <a:ext cx="3026664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 spc="-100">
                <a:solidFill>
                  <a:srgbClr val="141412"/>
                </a:solidFill>
                <a:latin typeface="Pretendard"/>
                <a:ea typeface="Pretendard"/>
                <a:hlinkClick r:id="rId4"/>
              </a:rPr>
              <a:t>@positive.seo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3950208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-100">
                <a:solidFill>
                  <a:srgbClr val="868680"/>
                </a:solidFill>
                <a:latin typeface="Pretendard"/>
                <a:ea typeface="Pretendard"/>
              </a:rPr>
              <a:t>Instagram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30768" y="4261104"/>
            <a:ext cx="2478024" cy="0"/>
          </a:xfrm>
          <a:prstGeom prst="line">
            <a:avLst/>
          </a:prstGeom>
          <a:ln w="12700">
            <a:solidFill>
              <a:srgbClr val="C9C4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56448" y="4315968"/>
            <a:ext cx="30266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0E5A30"/>
                </a:solidFill>
                <a:latin typeface="Pretendard"/>
                <a:ea typeface="Pretendard"/>
              </a:rPr>
              <a:t>긍정 라이프스타일 · 자기관리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645152"/>
            <a:ext cx="282549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69" b="0" spc="-100">
                <a:solidFill>
                  <a:srgbClr val="3A3A36"/>
                </a:solidFill>
                <a:latin typeface="Pretendard"/>
                <a:ea typeface="Pretendard"/>
              </a:rPr>
              <a:t>‘오늘도 베러’ 데일리 습관 — 작은 자기관리가 쌓이는 긍정 웰니스 마인드셋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5212079"/>
            <a:ext cx="30266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spc="-100">
                <a:solidFill>
                  <a:srgbClr val="0E5A30"/>
                </a:solidFill>
                <a:latin typeface="Pretendard"/>
                <a:ea typeface="Pretendard"/>
              </a:rPr>
              <a:t>#데일리웰니스   #자기관리   #오늘도베러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8000"/>
            </a:avLst>
          </a:prstGeom>
          <a:solidFill>
            <a:srgbClr val="3D2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742432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spc="-100">
                <a:solidFill>
                  <a:srgbClr val="C7CE3E"/>
                </a:solidFill>
                <a:latin typeface="Pretendard"/>
                <a:ea typeface="Pretendard"/>
              </a:rPr>
              <a:t>BAT 실리드 풀 큐레이션     </a:t>
            </a:r>
          </a:p>
          <a:p>
            <a:pPr algn="ctr"/>
            <a:r>
              <a:rPr sz="1150" b="1" spc="-100">
                <a:solidFill>
                  <a:srgbClr val="FFFFFF"/>
                </a:solidFill>
                <a:latin typeface="Pretendard"/>
                <a:ea typeface="Pretendard"/>
              </a:rPr>
              <a:t>브랜드 결에 맞는 마이크로 앰배서더와 6개월 다회차로 콘텐츠 자산을 누적합니다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64224"/>
            <a:ext cx="10543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spc="-100">
                <a:solidFill>
                  <a:srgbClr val="868680"/>
                </a:solidFill>
                <a:latin typeface="Pretendard"/>
                <a:ea typeface="Pretendard"/>
              </a:rPr>
              <a:t>※ 상기 크리에이터는 카테고리·결 예시이며, 실제 섭외 명단은 협의 후 확정됩니다.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