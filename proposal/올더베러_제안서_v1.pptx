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011680" cy="82296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올리브영 플랫폼 PB 마케팅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2ECE3"/>
                </a:solidFill>
                <a:latin typeface="맑은 고딕"/>
              </a:rPr>
              <a:t>올더베러(All the Better) 브랜드 빌딩 캠페인</a:t>
            </a:r>
          </a:p>
          <a:p>
            <a:r>
              <a:rPr sz="1700" b="1">
                <a:solidFill>
                  <a:srgbClr val="F2ECE3"/>
                </a:solidFill>
                <a:latin typeface="맑은 고딕"/>
              </a:rPr>
              <a:t>“팔리는 브랜드를, 빅 프로모션의 주인공으로”</a:t>
            </a:r>
          </a:p>
          <a:p>
            <a:r>
              <a:rPr sz="1300" b="0">
                <a:solidFill>
                  <a:srgbClr val="F2ECE3"/>
                </a:solidFill>
                <a:latin typeface="맑은 고딕"/>
              </a:rPr>
              <a:t>캠페인 예산 2.5억 원 · 기간 2026.07.01 ~ 12.31 (6개월)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87A3C"/>
                </a:solidFill>
                <a:latin typeface="맑은 고딕"/>
              </a:rPr>
              <a:t>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목차 (INDEX) — RFP / Campaign Brief 재해석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00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00. 우리가 이해한 과제 (재해석)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01. Strategy — 올영세일 1등 브랜드로 만드는 전략 구조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02. Product &amp; Message — 제품 우선순위 · 유형별 메시지 · 타겟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03. Seeding Content — 시딩 1순위 · 크리에이터 · 콘텐츠 앵글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04. Performance Boost — 콘텐츠+퍼포 결합 · LMF · 올영 인앱 · CRM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05. Operation — 로드맵 · KPI&amp;예산 · 심의 · 리포팅 · TF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PART 06. Why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올더베러는 안 팔리는 브랜드가 아닙니다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00 재해석 ①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이미 올리브영이라는 강력한 홈그라운드 안에서 판매 가능성을 증명 (웰니스 매출 상위 · 구매 후 평균 3~4개 추가 구매)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문제는 소비자가 올더베러를 ‘이름으로’ 선택하지 않는다는 점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매대에서 제품을 집어들 수는 있지만, ‘올더베러를 선택했다’는 기억으로 저장되지 않음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아직 독립 브랜드로 각인되어 있다고 보기 어렵다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2.5억으로 가장 빠르게 브랜드 자산을 만드는 법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00 재해석 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이번 캠페인의 목표는 단순히 올더베러를 ‘많이 노출’하는 것이 아니다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제한된 2.5억 안에서 가장 빠른 길 = 올영세일에서 상위 랭킹/1위라는 ‘선택 근거’를 먼저 만드는 것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그 성과를 콘텐츠 · 후기 · 검색 · CRM 자산으로 반복 전환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브랜드 자산이 약한 올더베러에게 ‘랭킹’은 가장 빠른 인지 자산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시딩-콘텐츠-퍼포먼스 연결로 비즈니스 임팩트를 만든다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00 재해석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단순 시딩 콘텐츠 ‘생산’이 아니라, 시딩 → 콘텐츠 → 퍼포먼스 연결 구조로 설계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UGC + 퍼포 결합 레퍼런스 제시 (→ PART 04 / 대표 레퍼런스)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‘브랜드를 알리는 캠페인’이 아니라 ‘올영세일에서 선택받는 구조를 만드는 캠페인’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463040" cy="73152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7A3C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Strategy</a:t>
            </a:r>
          </a:p>
          <a:p>
            <a:r>
              <a:rPr sz="1800" b="0">
                <a:solidFill>
                  <a:srgbClr val="F2ECE3"/>
                </a:solidFill>
                <a:latin typeface="맑은 고딕"/>
              </a:rPr>
              <a:t>올영세일 1등 브랜드로 만드는 전략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웰니스 시장: 폭발 직전, 그러나 갇혀 있다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01-1 시장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건기식 시장 ’23 6.1조 → ’24 5.95조 → ’25 6.4조(+5.2%) → ’28 7.5조 전망 (재성장 국면)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온라인 구매 비중 54%→59% — 디지털 콘텐츠가 구매를 만든다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진짜 경쟁자는 전통 건기식(종근당·고려은단·KGC)이 아니라 낫띵베럴 같은 라이프스타일 웰니스 브랜드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소비자 머릿속에 각인된 ‘일상형 웰니스 브랜드’는 아직 부재 → 선점 기회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올리브영 / 올리브베러는 올더베러의 홈그라운드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01-2 홈그라운드 어드밴티지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주 무대 = 올리브영·올리브베러 생태계. 소비자는 이미 매대·앱에서 탐색하고 구매를 결정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올리브영 앱 · 매장 · 기획전 · 리뷰 · 랭킹을 하나의 ‘미디어’로 본다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외부에서 인지를 처음부터 만들기보다, 올영세일 시점에 소비자의 선택을 집중시키는 방식이 효율적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2.5억 · 6개월, 어디에 쓸 것인가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01-3 예산 운용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대형 모델 플레이 · 대규모 OOH로 넓고 얕은 노출을 만들지 않는다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구매 판단에 영향을 주는 시딩 콘텐츠 자산 + 전환형 소재 + 퍼포먼스 부스팅에 집중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‘알리는 캠페인’이 아니라 ‘올영/올영세일에서 선택받는 구조를 만드는 캠페인’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[과제 재정의] 올더베러를 올리브영/올리브베러 1등 브랜드로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01-4 캠페인 과제 재정의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지금 확보할 자산 = 추상적 인지·호감 X → 제품 각인 + 명확한 선택 근거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콘텐츠 인지 + 사용 후기 + 올리브영 내 랭킹 + 반복 노출 = “많이 사는 / 선택해도 되는 제품” 신호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올더베러는 인지가 쌓여 1등이 되는 게 아니라, ‘1등이라는 선택 신호’를 먼저 만들어 인지를 쌓는다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캠페인 구조: SEED → PROVE → BOOST → RETAIN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01-5 4-STEP 프레임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STEP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STEP 1 · SEED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제품 경험량·후기량을 만든다 — 챌린저스, 마이크로/나노 시딩, KOL 시딩으로 구매 판단 근거 확보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STEP 2 · 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구매 이유를 증명한다 — 리뷰·해시태그·UGC를 축적해 선택할 이유를 만든다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STEP 3 · BOOST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시딩 성과를 퍼포먼스로 증폭 — PA·올영 인앱광고·LMF 테스트로 세일 유입·전환 집중 견인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STEP 4 · RETAIN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9월 성과를 12월까지 — 위닝 소재·후기·CRM(플친)으로 재구매·쟁임 구매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87A3C"/>
                </a:solidFill>
                <a:latin typeface="맑은 고딕"/>
              </a:rPr>
              <a:t>* 9월·12월 올영세일 &amp; 11월 블프 이슈 고려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올리브영 1등 달성 케이스  [대표 레퍼런스 추가 예정]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01-6 우리는 이미 1위를 만들어 봤다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45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브랜드 / 카테고리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[추가 예정]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당시 문제·니즈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[추가 예정]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적용 방법론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시딩 + 퍼포먼스(PA) + 챌린저스 랭킹 견인 + 콘텐츠 절대량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랭킹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○위 → 1위 [추가 예정]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매출·성과 / 인사이트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[추가 예정] — 올영세일/랭킹 캡처·그래프 첨부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463040" cy="73152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7A3C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Product &amp; Message</a:t>
            </a:r>
          </a:p>
          <a:p>
            <a:r>
              <a:rPr sz="1800" b="0">
                <a:solidFill>
                  <a:srgbClr val="F2ECE3"/>
                </a:solidFill>
                <a:latin typeface="맑은 고딕"/>
              </a:rPr>
              <a:t>제품 우선순위 · 유형별 메시지 · 타겟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올더베러는 웰니스 브랜드이지만, 제품마다 다른 언어가 필요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02-1 제품 유형별 언어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제품에 따라 적용되는 규제·심의 정도에 차이가 존재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효능을 말할 수 있는 제품(건기식)과, 상황·루틴으로 풀어야 하는 제품(일반식품)이 다르다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심의 난이도/기간 ↔ 크리에이터 풀:  뷰티·패션·식품  &lt;  건기식  &lt;  …  &lt;  금융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제품 포트폴리오 우선순위 — 선발대 &amp; 본대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02-2 7월 선발대 → 심의 후 본대 합류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선발대 (7월~)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엑스트라버진 올리브오일 · 멜라나잇 구미 · 콜라겐 구미 (일반/가공식품)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심의 부담↓ · TPO 콘텐츠화 쉬움 → 시장 언어 테스트·시딩 자산 선확보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본대 (심의 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철분 · 올인원 · 루테인 · 비타민C · 바나바잎 · 비오틴 (건기식 구미)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기능성 메시지로 구매 이유 강화 · 12월 세일 라인업 규모감·쟁임 구매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확장 효과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“하나 사보고 여러 개 담는” PB 라인 확장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히어로 1종 → 라인 전체 매출 견인(낙수)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제품 유형별 메시지 설계 — RTB를 소비자 언어로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02-3 공급자 언어 → 소비자 언어 (심의 분리)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45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제품(유형)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공급자 언어(버림)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소비자 언어(가져감)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올리브오일 (일반식품)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폴리페놀 542mg/kg 고함량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공복에 한 캡슐, 비린내 없이 끝까지 먹는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멜라나잇 (일반식품)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식물성 멜라토닌 1mg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잠 못 드는 밤이 아니라 ‘자기 전 리추얼’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콜라겐 (일반식품)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피부 탄력 콜라겐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디저트 대신 챙기는 한 알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루테인 (건기식)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눈이 좋아지는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루테인, 눈 건강에 도움을 줄 수 있음(인정문구)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바나바잎 (건기식)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혈당 낮춰주는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식후 혈당상승 억제에 도움을 줄 수 있음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타겟 전략 — 30 · 20 · 40 + 방한 외국인 (+부모)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02-4 키워드는 공통(‘채움’), 훅·채널·크리에이터는 분리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45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트랙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타겟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역할 / TPO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각인 (1순위)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30대 직장인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웰니스 루틴 형성 — 브랜드명+키워드 회상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입문·재미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웰니스 입문템 — 밈·확산·해시태그 점유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전환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40대 여성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실질 구매 전환 — 올리브오일 검색 주도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K-웰니스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방한 외국인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중장기 브랜드 자산 — 실제 웰니스 씬 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가족 확대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자녀를 둔 부모(3040)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자녀 챙김 → 본인·가족 루틴, 객단가↑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463040" cy="73152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7A3C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Seeding Content</a:t>
            </a:r>
          </a:p>
          <a:p>
            <a:r>
              <a:rPr sz="1800" b="0">
                <a:solidFill>
                  <a:srgbClr val="F2ECE3"/>
                </a:solidFill>
                <a:latin typeface="맑은 고딕"/>
              </a:rPr>
              <a:t>시딩 1순위 · 크리에이터 · 콘텐츠 앵글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왜 시딩이 1순위인가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03-1 Seeding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올더베러는 아직 브랜드 이름 자체로 소비자를 끌어당기는 힘이 약하다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선택을 망설이지 않도록 후기·리뷰·해시태그·콘텐츠 볼륨을 우선 확보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시딩 = 노출 수량이 아니라 ‘구매 판단 근거’를 먼저 만드는 일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VOC 근거: 전체 재구매율 15.5% · 구매이유 1위가 ‘가격·할인’(160건) → 가격 외 명확한 선택 근거 자산 필요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크리에이터 전략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03-2 역할 구분 · 리스트업 · 관계 빌드업(KOL 무가시딩)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관계 빌드업 방식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슈퍼스타급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연 4회+ 정기 접촉 · 커스텀 키트(개인 이벤트 연계) · 행보 모니터링 → 자연스러운 연결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메가/매크로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무가 시딩 + 커스텀 레터/키트로 차별화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마이크로/나노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제품 제공 · 동일 메시지 동시다발 게시(반복 노출)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전문가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약사·영양사 우선 편성 — 신뢰 + 심의 통과율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크리에이터 콘텐츠 기획 — 제품별 콘텐츠 앵글 (VOC 기반)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성공 훅 = 명확한 타겟 × 구체적 상황/에피소드 × 반전 또는 팩트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4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컨셉 / 훅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길이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VOC 근거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캡슐 A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생올리브오일 챌린지 → 캡슐 반전 (Before/After)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섭취 편의 55.1%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캡슐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‘알약 잘 못 먹는 사람용’ 목넘김 실연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목넘김 단점 32.6% 정면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구미·루테인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모니터 앞 직장인의 눈 챙기기 (인정문구)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건기식 인정 기능성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구미·바나바잎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식후 디저트처럼 (식후 혈당상승 억제 도움)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식후 상황 연출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구미·멜라나잇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자기 전 무드 리추얼 (수면효능 배제·무드만)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일반식품 — 효능 금지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구미·콜라겐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디저트 대신 한 알 (피부효능 배제)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일반식품 — 효능 금지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스틱 A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가방에 쏙, 출근길 한 포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12s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섭취 편의 48.3%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04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스틱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오일 맛 솔직 리뷰 (선제 인정→섭취팁)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맛 불호 69.8% 방어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87A3C"/>
                </a:solidFill>
                <a:latin typeface="맑은 고딕"/>
              </a:rPr>
              <a:t>※ 각 컨셉은 VOC 키워드를 후킹으로 사용 · 식품 분류별 심의 가드 + 풀 대본/자막 타임코드 보유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오프라인 인증형 시딩 콘텐츠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03-3 매장 = 현장 인증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광화문 등 올리브영/올리브베러 오프라인 매장을 시딩 콘텐츠의 ‘현장 인증 접점’으로 활용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“올영에서 실제로 파는 제품”이라는 현장감 → 자연 발견형 바이럴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방문 동선 콘텐츠 + 방문 크리에이터 전용 콘텐츠로 온·오프 연결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시딩 프로그램 구조 — 점점 커지는 물량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03-4 단계별 물량 확대 (바이럴 파트 별도 분리 검토)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① 마이크로/나노 시딩 (EGC·전문가)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555555"/>
                </a:solidFill>
                <a:latin typeface="맑은 고딕"/>
              </a:rPr>
              <a:t>– ② + 챌린저스 / 체험단 / 어필리에이트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555555"/>
                </a:solidFill>
                <a:latin typeface="맑은 고딕"/>
              </a:rPr>
              <a:t>– ③ + KOL 무가시딩 / 파워페이지 / 바이럴 / GEO(AEO)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7월부터 시장 언어·콘텐츠 앵글을 테스트하고, 8월 말~9월 초 올영세일 직전에 콘텐츠가 충분히 적재되도록 물량 집중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챌린저스 / 체험단 / 어필리에이트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03-5 랭킹 견인 엔진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챌린저스 다수 동시 게시(실시간 랭킹 견인) 전략으로 올영세일 시즌 카테고리 랭킹 상위/1위 확보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올리브영 쇼핑 큐레이터 / 쿠팡 파트너스 연계로 전환 보강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KOL 무가시딩 / 파워페이지 / 바이럴 / GEO(AEO)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03-6 검색 풀(Pull) 자산화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인스타그램·블로그·X 마이크로 바이럴 + 뷰티 정보 플랫폼·대형 커뮤니티 체험단/파워페이지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PR = 검색 답변 시대의 전략 — 단순 푸시가 아니라 검색 풀(Pull) 자산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키워드 설계 → SEO / AEO / GEO 영역 구축 → 자연 유입(검색 풀) 증가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463040" cy="73152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7A3C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Performance Boost</a:t>
            </a:r>
          </a:p>
          <a:p>
            <a:r>
              <a:rPr sz="1800" b="0">
                <a:solidFill>
                  <a:srgbClr val="F2ECE3"/>
                </a:solidFill>
                <a:latin typeface="맑은 고딕"/>
              </a:rPr>
              <a:t>콘텐츠+퍼포 결합 · LMF · 올영 인앱 · CRM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시딩만으로는 1등 브랜드를 만들기 어렵다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04-1 시딩 → 전환 연결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콘텐츠와 후기를 확보하더라도, 세일 기간 구매 전환으로 연결하지 않으면 랭킹 견인력은 제한적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따라서 시딩 결과물은 반드시 퍼포먼스 소재 + 올영 인앱 유입·전환으로 활용되어야 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콘텐츠 + 퍼포 결합 구조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04-2 검증된 전환 프로세스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시딩 콘텐츠 수집  →  위닝 콘텐츠 선별  →  LMF 테스트  →  콘텐츠+배너 광고 집행  →  올영세일 집중 운영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뷰티 &amp; 타 카테고리에서 올영세일 성과를 기록한 프로세스를 그대로 적용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UGC + 퍼포 결합 레퍼런스 제시 (→ 대표 레퍼런스)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비주얼 가이드 · KV · 퍼포 소재 레이아웃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04-3 KV &amp; 소재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올더베러 톤앤무드를 적용한 올리브오일/웰니스 구미 제품별 KV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매장 디스플레이·POP 연계 + 퍼포 소재 레이아웃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히트 패턴 앵커링 — 검증된 히트 팩트를 전 채널에 반복 적용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LMF 테스트 — 위닝 메시지 발굴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04-4 Language-Market-Fit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어떤 문구·썸네일·후킹 구조가 실제 반응을 만드는지 먼저 확인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검증된 위닝 소재를 9월 올영세일과 12월 재부스팅에 활용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초개인화 메시지 / VOC 인사이트 기반 검증-활용-검증-활용 루프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퍼포 매체 활용 방안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04-5 매체 믹스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올영 인앱광고를 코어로, 메타·유튜브 등 전환 매체 믹스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위닝 소재 중심으로 세일 기간 유입·전환 집중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올영 인앱광고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04-6 In-App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올리브영 플랫폼 내 올더베러 제품 반복 노출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후기와 위닝 소재를 올영 인앱광고로 연결 → 세일 기간 유입과 랭킹 상승을 집중 견인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CRM — 카카오 플친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04-7 재구매·확장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올영세일 기간 재구매 연결 CRM 소재 기획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오프라인 샘플 증정 · 제품 조회자 대상 리타겟 · 재구매 · 라인 확장 구매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‘채움’ 루틴 리마인드로 재구매 고착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463040" cy="73152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7A3C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Operation</a:t>
            </a:r>
          </a:p>
          <a:p>
            <a:r>
              <a:rPr sz="1800" b="0">
                <a:solidFill>
                  <a:srgbClr val="F2ECE3"/>
                </a:solidFill>
                <a:latin typeface="맑은 고딕"/>
              </a:rPr>
              <a:t>로드맵 · KPI&amp;예산 · 심의 · 리포팅 · TF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6개월 운영 로드맵 — 9월에 만들고, 11~12월에 다시 키운다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05-1 1·2차 웨이브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0173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월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핵심 활동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1017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콘텐츠 설계/테스트 — 제품별 위닝 앵글·메시지 확보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017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시딩 본격화 — 올영세일 전 콘텐츠·후기 축적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1차 부스팅 — 올영세일 집중, 퍼포 연계 유입 증대 및 1위 확보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017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낙수효과 유지 — 후기 확산, 콘텐츠 보강, 위닝 소재 지속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11월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세일 준비 — 위닝 소재 테스트, 콘텐츠 확보 (블프)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017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12월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2차 부스팅 — 올영세일 집중 집행, 확장·재구매 활성화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KPI &amp; Budget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05-2 성과 지표 &amp; 예산 배분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KPI · 검색량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브랜드 월 검색량 3,000 → 10,000 (연말) + 익년 1Q 추가 상승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KPI · 랭킹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올영세일 카테고리 랭킹 상위 진입/1위 · 시그니처 키워드 노출률 90%+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예산 원칙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2.5억 — 퍼포 광고 운영 비용 확보 필수 (콘텐츠·시딩·증폭 집중)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월별 배분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7–8월 25% / 9–10월 40% / 11–12월 35% — 세일 2개월에 약 53% 집중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심의 대응 체계 + AI 심의 가이드 검증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05-3 차별화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올더베러는 일반식품·일반/가공식품·건강기능식품이 함께 존재 → ‘선제작 후검수’는 리스크가 크다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제품 유형별 표현 가능 범위·금지 표현·크리에이터 발화 가이드를 사전 정리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AI 기반 심의 가이드라인 검증 봇 → 콘텐츠 사전 필터링으로 반려↓·심의 기간 단축 (삼성증권 사례)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657600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45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제품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❌ 위험 표현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✅ 안전 표현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올리브오일(일반)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혈관에 좋은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엑스트라 버진 올리브오일을 한 포로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멜라나잇(일반)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숙면 / 잠 잘 오는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자기 전 리추얼 / 하루 마무리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콜라겐(일반)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피부·주름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디저트 대신 챙기는 젤리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루테인(건기식)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눈이 좋아지는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눈 건강에 도움을 줄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바나바잎(건기식)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혈당 낮춰주는 / 당뇨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식후 혈당상승 억제에 도움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C87A3C"/>
                </a:solidFill>
                <a:latin typeface="맑은 고딕"/>
              </a:rPr>
              <a:t>※ 일반식품은 건강·기능 효능 일체 금지 · 건기식은 인정 기능성 문구 그대로 · 표시광고 표기 필수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성과 리포팅 솔루션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05-4 데이터 리포팅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정성·정량 데이터 종합 분석 + 경쟁사 동향 → 후속 캠페인 방향 제안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실시간 대시보드 기반 리포팅 (시딩·랭킹·전환·검색량 추이)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VOC 딥다이브 대시보드를 캠페인 중에도 갱신해 메시지·앵글 최적화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올영 PB TF 인력 구성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05-5 총괄 PM급 시니어 1인 외 실무 리소스 필수 편성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45920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45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R&amp;R</a:t>
                      </a:r>
                    </a:p>
                  </a:txBody>
                  <a:tcPr>
                    <a:solidFill>
                      <a:srgbClr val="4A3526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디렉터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제안 전략·크리에이티브 방향성 검토, 최종 구조 의사결정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PM(총괄 시니어)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전체 구조 설계, 산출물 취합/정리, 일정·결정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콘텐츠 / IMC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제품별 메시지·RTB, TPO 앵글, 바이럴/시딩 운영안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디자인 /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KV·소재 배너·오프라인 비주얼 / 제품·크리에이터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5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4A3526"/>
                          </a:solidFill>
                          <a:latin typeface="맑은 고딕"/>
                        </a:rPr>
                        <a:t>퍼포먼스 마케터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555555"/>
                          </a:solidFill>
                          <a:latin typeface="맑은 고딕"/>
                        </a:rPr>
                        <a:t>PA 집행 / 올영 인앱광고 / CRM</a:t>
                      </a:r>
                    </a:p>
                  </a:txBody>
                  <a:tcPr>
                    <a:solidFill>
                      <a:srgbClr val="F2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1463040" cy="73152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87A3C"/>
                </a:solidFill>
                <a:latin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Why Us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올더베러 캠페인 구조 — 한판 요약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06-1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문제: 팔리는데 기억되지 않는 브랜드 (검색량 월 3천, 시그니처 키워드 0)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전략: ‘우연 → 의도’ 각인 / 시그니처 키워드 「채움」 선점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구조: SEED → PROVE → BOOST → RETAIN (시딩-콘텐츠-퍼포 연결)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목표: 올영세일 카테고리 랭킹 1위 → 검색·후기·CRM 자산으로 반복 전환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4A3526"/>
                </a:solidFill>
                <a:latin typeface="맑은 고딕"/>
              </a:rPr>
              <a:t>BAT가 잘할 수 있는 이유</a:t>
            </a:r>
          </a:p>
          <a:p>
            <a:r>
              <a:rPr sz="1300" b="0">
                <a:solidFill>
                  <a:srgbClr val="C87A3C"/>
                </a:solidFill>
                <a:latin typeface="맑은 고딕"/>
              </a:rPr>
              <a:t>06-2 Why 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71600"/>
            <a:ext cx="1280160" cy="54864"/>
          </a:xfrm>
          <a:prstGeom prst="rect">
            <a:avLst/>
          </a:prstGeom>
          <a:solidFill>
            <a:srgbClr val="C8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브랜드 콘텐츠 전략과 퍼포먼스 운영을 분리하지 않고, 하나의 구매 흐름 안에서 설계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웰니스 카테고리의 심의/표현 리스크를 이해 (금융 등 다양한 카테고리 마이크로 IMC 경험)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감도 높은 영상 크리에이티브를 세일즈로 연결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4A3526"/>
                </a:solidFill>
                <a:latin typeface="맑은 고딕"/>
              </a:rPr>
              <a:t>■ 우리는 이미 올리브영에서 1위를 만들어 봤다 (→ 추가 레퍼런스 제시)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감사합니다.</a:t>
            </a:r>
          </a:p>
          <a:p>
            <a:r>
              <a:rPr sz="1600" b="0">
                <a:solidFill>
                  <a:srgbClr val="F2ECE3"/>
                </a:solidFill>
                <a:latin typeface="맑은 고딕"/>
              </a:rPr>
              <a:t>올더베러를 검색되고, 떠올려지고, 1위로 집어지는 브랜드로.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