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역량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CAPABILITY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올리브영 1등을 직접 만든 실행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매체·데이터·크리에이티브·시딩 — 성공 방식을 올더베러 캠페인에 그대로 이식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40487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40487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매체 · 퍼포먼스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48056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올영세일 운영·타겟·IP 매체로 ROAS를 만들고, 고CPM 위기를 구매잠재·어드밴티지로 재구성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14884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92824" y="240487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40487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017520"/>
            <a:ext cx="448056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파이썬 크롤러·R 분석으로 리뷰·VOC를 직접 수집 — 올더베러 VOC 1,104건 딥다이브 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033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95935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39593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크리에이티브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448056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감도×성과를 잇는 소재 시스템 — 목적 중심 분류 + 비주얼 키워드화로 컨펌·QC 효율화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370332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95935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395935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인플루언서 · 시딩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572000"/>
            <a:ext cx="448056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맞춤 크리에이터·시딩으로 바이럴·전환 — 역발상 훅·실시간 QC로 ROAS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349240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9582F"/>
                </a:solidFill>
                <a:latin typeface="Pretendard"/>
                <a:ea typeface="Pretendard"/>
              </a:rPr>
              <a:t>ROAS 324→515%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025896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올영세일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5349240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9582F"/>
                </a:solidFill>
                <a:latin typeface="Pretendard"/>
                <a:ea typeface="Pretendard"/>
              </a:rPr>
              <a:t>검색 9K→140K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6025896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브링그린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5349240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9582F"/>
                </a:solidFill>
                <a:latin typeface="Pretendard"/>
                <a:ea typeface="Pretendard"/>
              </a:rPr>
              <a:t>CPM 21만→1.2만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6025896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바이오힐보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5349240"/>
            <a:ext cx="2615184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09582F"/>
                </a:solidFill>
                <a:latin typeface="Pretendard"/>
                <a:ea typeface="Pretendard"/>
              </a:rPr>
              <a:t>ROAS 127→589%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6025896"/>
            <a:ext cx="26151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산리오 파트너십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1097280" y="0"/>
            <a:ext cx="8961120" cy="6858000"/>
          </a:xfrm>
          <a:prstGeom prst="rtTriangl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300">
                <a:solidFill>
                  <a:srgbClr val="FEFFA1"/>
                </a:solidFill>
                <a:latin typeface="Pretendard"/>
                <a:ea typeface="Pretendard"/>
              </a:rPr>
              <a:t>PART 03   SEEDING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시딩 콘텐츠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9E5DD"/>
                </a:solidFill>
                <a:latin typeface="Pretendard"/>
                <a:ea typeface="Pretendard"/>
              </a:rPr>
              <a:t>플라이휠을 돌리는 첫 바퀴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7772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77724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9582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프레임워크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FRAMEWORK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채움 플라이휠 (Flywheel)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무겁지만 한번 돌면 멈추지 않는 성장 엔진 — 가장 무거운 ‘첫 바퀴’를 시딩으로 민다</a:t>
            </a:r>
          </a:p>
        </p:txBody>
      </p:sp>
      <p:sp>
        <p:nvSpPr>
          <p:cNvPr id="6" name="Oval 5"/>
          <p:cNvSpPr/>
          <p:nvPr/>
        </p:nvSpPr>
        <p:spPr>
          <a:xfrm>
            <a:off x="1727072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072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① 인플루언서 시딩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콘텐츠·후기 볼륨 (첫 바퀴)</a:t>
            </a:r>
          </a:p>
        </p:txBody>
      </p:sp>
      <p:sp>
        <p:nvSpPr>
          <p:cNvPr id="10" name="Chevron 9"/>
          <p:cNvSpPr/>
          <p:nvPr/>
        </p:nvSpPr>
        <p:spPr>
          <a:xfrm>
            <a:off x="3207258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1411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411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② 신뢰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018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다수 반복 노출 → 각인</a:t>
            </a:r>
          </a:p>
        </p:txBody>
      </p:sp>
      <p:sp>
        <p:nvSpPr>
          <p:cNvPr id="15" name="Chevron 14"/>
          <p:cNvSpPr/>
          <p:nvPr/>
        </p:nvSpPr>
        <p:spPr>
          <a:xfrm>
            <a:off x="5911596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5749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5749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③ 전환·랭킹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위닝소재·PA·올영세일</a:t>
            </a:r>
          </a:p>
        </p:txBody>
      </p:sp>
      <p:sp>
        <p:nvSpPr>
          <p:cNvPr id="20" name="Chevron 19"/>
          <p:cNvSpPr/>
          <p:nvPr/>
        </p:nvSpPr>
        <p:spPr>
          <a:xfrm>
            <a:off x="8615934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40087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0087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974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④ 재구매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1694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후기·CRM (다음 연료)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B050"/>
                </a:solidFill>
                <a:latin typeface="Pretendard"/>
                <a:ea typeface="Pretendard"/>
              </a:rPr>
              <a:t>↻  ④의 후기·CRM·재구매가 다시 ①의 연료가 되어 자가가속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343400"/>
            <a:ext cx="3346704" cy="15544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343400"/>
            <a:ext cx="82296" cy="155448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498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2"/>
                </a:solidFill>
                <a:latin typeface="Pretendard"/>
                <a:ea typeface="Pretendard"/>
              </a:rPr>
              <a:t>정지 마찰 돌파 · 7–8월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901184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다수 마이크로·나노 시딩으로 UGC 바이럴 점화 — ‘많이 보이는 제품’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4343400"/>
            <a:ext cx="3346704" cy="15544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2544" y="4343400"/>
            <a:ext cx="82296" cy="155448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4498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2"/>
                </a:solidFill>
                <a:latin typeface="Pretendard"/>
                <a:ea typeface="Pretendard"/>
              </a:rPr>
              <a:t>관성 · 복리 · 9–11월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4901184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후기·신뢰·전환·랭킹·재노출 고리가 스스로 돌고 위닝 소재 PA 재투입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82127" y="4343400"/>
            <a:ext cx="3346704" cy="15544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2127" y="4343400"/>
            <a:ext cx="82296" cy="155448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9" y="4498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2"/>
                </a:solidFill>
                <a:latin typeface="Pretendard"/>
                <a:ea typeface="Pretendard"/>
              </a:rPr>
              <a:t>자가가속 · 12월~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4901184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후기·CRM·재구매가 다음 시딩 연료 — 적은 힘으로 내년 1Q 견인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가장 무거운 ‘첫 바퀴’, 그 바퀴를 돌리는 ‘동력’ = BAT 인플루언서 캠페인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시딩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SEEDING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왜 인플루언서 시딩이 1순위인가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플라이휠의 첫 바퀴 — 가장 무겁지만 가장 먼저 밀어야 하는 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386584"/>
            <a:ext cx="548640" cy="54864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40487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‘올더베러’를 시장에 선보인다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다수 진성(나노·마이크로) UGC를 전략 일자에 노출해 ‘익숙함·신뢰’를 먼저 쌓는다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9582F"/>
                </a:solidFill>
                <a:latin typeface="Pretendard"/>
                <a:ea typeface="Pretendard"/>
              </a:rPr>
              <a:t>브랜드 검색 月 3,000 · #올더베러 100+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214884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92824" y="2386584"/>
            <a:ext cx="548640" cy="54864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3865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40487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소비자는 사기 전에 검증한다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가격 외 ‘선택 근거’(후기·리뷰·콘텐츠 볼륨)를 쌓아 잘 보이는 제품으로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38328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9582F"/>
                </a:solidFill>
                <a:latin typeface="Pretendard"/>
                <a:ea typeface="Pretendard"/>
              </a:rPr>
              <a:t>VOC 재구매율 15.5% · 검증형 구매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2336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992" y="4261104"/>
            <a:ext cx="548640" cy="54864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2611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427939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‘어떻게 먹는지’를 보여준다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3776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실제 사용 상황(아침 공복·야근·취침 전)을 일상으로 가져오는 CDJ 패턴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5780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9582F"/>
                </a:solidFill>
                <a:latin typeface="Pretendard"/>
                <a:ea typeface="Pretendard"/>
              </a:rPr>
              <a:t>올영 VOC + 인스타 릴스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4023360"/>
            <a:ext cx="5029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92824" y="4261104"/>
            <a:ext cx="548640" cy="54864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42611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279392"/>
            <a:ext cx="3931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올영 PB에서 검증된 방식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11112" y="493776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‘시딩→위닝 콘텐츠→PA 2차’ 성공 공식을 한정 비용 내 최고 효율로 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525780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9582F"/>
                </a:solidFill>
                <a:latin typeface="Pretendard"/>
                <a:ea typeface="Pretendard"/>
              </a:rPr>
              <a:t>검색 9K→140K · ROAS 324→515%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그래서 인플루언서 시딩이 1순위 — 플라이휠을 돌리는 현 시장 최고효율 캠페인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시딩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SEEDING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왜 마이크로·나노 중심인가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대형 1회 광고보다, 다수의 생활자가 루틴처럼 말하는 콘텐츠가 웰니스 신뢰를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30175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6.23%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25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나노 인게이지먼트 (전 티어 최고)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0175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2~3배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25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나노·마이크로 전환율 (vs 매크로)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148840"/>
            <a:ext cx="30175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8254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마이크로·미드 우선 선택 브랜드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334670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3346704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03320"/>
            <a:ext cx="33467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진성도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43484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광고가 아니라 ‘내 주변의 후기’ — 니치 생활자의 실제 루틴 콘텐츠가 신뢰를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3703320"/>
            <a:ext cx="334670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2544" y="3703320"/>
            <a:ext cx="3346704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3703320"/>
            <a:ext cx="33467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반복 노출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443484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다수가 같은 시점·다양한 TPO로 말할 때 ‘요즘 올영에서 많이 보이는 제품’ 인식 형성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3703320"/>
            <a:ext cx="334670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82127" y="3703320"/>
            <a:ext cx="3346704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703320"/>
            <a:ext cx="334670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자산화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43484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저단가·다수 콘텐츠가 후기·검색·퍼포먼스 소재로 이어지는 원천 자산이 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메가는 ‘광고’, 마이크로·나노는 ‘소문과 디토’ — 다수의 다양한 힘이 플라이휠을 굴린다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CREATOR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크리에이터 전략 — 역할 &amp; 채널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진성·다수의 나노·마이크로를 코어로, 대세감용 매크로 + 멀티 플랫폼 전략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① 역할별 구분 (3·4Q 합계 390건)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5394958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9724"/>
                <a:gridCol w="867047"/>
                <a:gridCol w="2312125"/>
                <a:gridCol w="115606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등급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ER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비중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4~6%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진성 후기·UGC 볼륨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225건 44%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2~4%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전문·전환 코어→PA 2차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150건 47%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1~2%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도달·화제성 점화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15건 9%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201168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② 채널별 구분 (인스타그램 절대 비중)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2377440"/>
          <a:ext cx="4846319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47471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채널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★ 인스타 릴스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시딩 코어·전환 허브 → 메타 파트너십 2차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유튜브·틱톡 쇼츠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숏폼 바이럴·확산 보조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X (트위터)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실시간 트렌드 + 바이럴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검색 후기·신뢰·정보 탐색 대응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07492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1412"/>
                </a:solidFill>
                <a:latin typeface="Pretendard"/>
                <a:ea typeface="Pretendard"/>
              </a:rPr>
              <a:t>크리에이터 풀 = 웰니스 접점 타겟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홈트·피트니스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요가·필라테스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러닝크루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544068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544068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헬시 레시피·식단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다이어트·바디프로필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9584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직장인 모닝루틴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헬시플레저 라이프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42832" y="598932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598932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러닝·자기관리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CREATOR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크리에이터 리스트업 — 기준 &amp; 매칭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‘많이’가 아닌 ‘맞는’ 크리에이터 — 웰니스 버티컬별로 제품·앵글 매칭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브랜드 적합도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7802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30대 직장인·웰니스 + 라이프스타일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1089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진성도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3814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팔로워 대비 ER 지수 체크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6908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콘텐츠 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9826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일상에 녹이는 톤앤무드 부합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29200"/>
            <a:ext cx="566928" cy="566928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02920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심의 안전성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35838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건기식 소개 심의 가이드 준수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212080" y="2148840"/>
          <a:ext cx="612648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1620"/>
                <a:gridCol w="1327404"/>
                <a:gridCol w="3267456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웰니스 버티컬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등급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매칭 제품 · 앵글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홈트·피트니스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구미(루테인·올인원) — 운동 루틴 챙김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요가·필라테스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멜라나잇·콜라겐 — 자기관리 리추얼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러닝크루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스틱·캡슐 — 휴대·아침 에너지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헬시 레시피·식단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올리브오일 — 요리·식단 자연 노출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다이어트·바디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마이크로·나노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구미·스틱 — 식단 간식 대체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헬시플레저 라이프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매크로·마이크로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전 라인 — ‘건강하게 즐기는’ 무드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프로세스 — 롱리스트 → 진성·심의 스크리닝 → 숏리스트 컨택 → 시즌별 배분(세일=매크로 가중)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ANGLE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제품·단계·타겟·TPO별 콘텐츠 앵글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성공 훅 = 명확한 타겟 × 구체적 상황·에피소드 × 반전 또는 팩트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615184" cy="84124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FEFFA1"/>
                </a:solidFill>
                <a:latin typeface="Pretendard"/>
                <a:ea typeface="Pretendard"/>
              </a:rPr>
              <a:t>SEED · 첫 바퀴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① 인지·발견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멜라나잇 · 취침 전
“불 끄기 전, 마무리 한 알”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웰니스 구미 · 오후 슬럼프
“11시 퇴근, 나른한 3시”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3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75303" y="2148840"/>
            <a:ext cx="2615184" cy="84124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3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FEFFA1"/>
                </a:solidFill>
                <a:latin typeface="Pretendard"/>
                <a:ea typeface="Pretendard"/>
              </a:rPr>
              <a:t>PROVE · 관성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3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② 검증·신뢰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올리브오일 캡슐 · 아침 공복
“공복에 올리브오일? 속쓰림?”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캡슐 · 정보 탐색
“생오일 vs 캡슐 가성비 팩트체크”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7648" y="2148840"/>
            <a:ext cx="2615184" cy="84124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FEFFA1"/>
                </a:solidFill>
                <a:latin typeface="Pretendard"/>
                <a:ea typeface="Pretendard"/>
              </a:rPr>
              <a:t>BOOST · 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③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스틱 · 재구매
“오일 무슨 맛인지 표현해볼게요”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히어로 라인 · 올영세일
“장바구니 템, 이번 세일 필수 이유”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9992" y="2148840"/>
            <a:ext cx="2615184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9992" y="2148840"/>
            <a:ext cx="2615184" cy="84124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2258568"/>
            <a:ext cx="26151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200">
                <a:solidFill>
                  <a:srgbClr val="FEFFA1"/>
                </a:solidFill>
                <a:latin typeface="Pretendard"/>
                <a:ea typeface="Pretendard"/>
              </a:rPr>
              <a:t>RETAIN · 자가가속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2532888"/>
            <a:ext cx="2615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④ 재구매·확장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72968"/>
            <a:ext cx="215798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구미·캡슐 · 완주 인증
“안 먹고 쌓인 통 vs 싹 비운 통”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·  스틱 · K-웰니스
“K-뷰티 다음은 K-웰니스”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앵글은 VOC 1,104건에서 도출 · 식품 분류별 심의 가드 + 풀 대본은 부록 참조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REELS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제품별 릴스 컨셉 8종 —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성공 훅 = 명확한 타겟 × 구체적 상황 × 반전/팩트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543031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6529"/>
                <a:gridCol w="3594215"/>
                <a:gridCol w="4792287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제품 (분류)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컨셉 / 훅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인트로 예시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캡슐 A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생올리브오일 챌린지 → 캡슐 반전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“몸에 좋다길래 생으로 먹어봤다 울었음 😵”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캡슐 B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‘알약 잘 못 먹는 사람용’ 목넘김 실연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“알약만 먹으면 목에 걸리는 사람… 저요 🙋”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구미·루테인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모니터 앞 직장인의 눈 챙기기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“내 눈 하루 종일 혹사 당하는데 괜찮으려나”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구미·바나바잎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식후 혈당 스파이크 공감 연출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“혈당 스파이크 뚜드려 맞는 당신!”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구미·멜라나잇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자기 전 무드 리추얼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“잠 들기 전 마지막으로… 할 일이 있어요”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구미·콜라겐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디저트 대신 한 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“단 거 당기는데 죄책감은 싫고”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스틱 A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가방에 쏙, 출근길 한 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“요즘 가방에 꼭 챙기는 거 하나”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스틱 B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오일 맛 솔직 리뷰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“오일에서는 역시 오일 맛이 나야죠”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영상 콘텐츠 유형 ① 일반식품 UGC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943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943600" cy="7772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486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Concept A · 일반식품 UGC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9582F"/>
                </a:solidFill>
                <a:latin typeface="Pretendard"/>
                <a:ea typeface="Pretendard"/>
              </a:rPr>
              <a:t>제품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004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멜라나잇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9582F"/>
                </a:solidFill>
                <a:latin typeface="Pretendard"/>
                <a:ea typeface="Pretendard"/>
              </a:rPr>
              <a:t>컨셉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06908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자기 전 리추얼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9582F"/>
                </a:solidFill>
                <a:latin typeface="Pretendard"/>
                <a:ea typeface="Pretendard"/>
              </a:rPr>
              <a:t>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93776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효능 대신 밤 TPO·루틴 중심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0644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심의-프리 일반식품 — TPO·무드 앵글로 안전하게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148840"/>
            <a:ext cx="4297680" cy="36576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95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5195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레퍼런스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영상 콘텐츠 유형 ② 건기식 Half-EGC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943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943600" cy="7772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486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Concept B · 건기식 Half-EGC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9582F"/>
                </a:solidFill>
                <a:latin typeface="Pretendard"/>
                <a:ea typeface="Pretendard"/>
              </a:rPr>
              <a:t>제품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0040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루테인 구미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9582F"/>
                </a:solidFill>
                <a:latin typeface="Pretendard"/>
                <a:ea typeface="Pretendard"/>
              </a:rPr>
              <a:t>컨셉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06908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모니터 앞 직장인 루틴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9582F"/>
                </a:solidFill>
                <a:latin typeface="Pretendard"/>
                <a:ea typeface="Pretendard"/>
              </a:rPr>
              <a:t>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93776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인정 기능성 문구 범위 내 Half-EGC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06440"/>
            <a:ext cx="5394960" cy="50292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건기식 — 인정 기능성 문구만, 심의 준수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148840"/>
            <a:ext cx="4297680" cy="36576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95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25195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레퍼런스 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CONTENT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영상 콘텐츠 유형 ③ 직원 피셜 EGC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“이 스펙을 이 가격에 가져온 이유” — 신뢰 기반 EGC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554480" cy="105156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86000"/>
            <a:ext cx="8412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“이 스펙을 이 가격에 가져온 이유”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1554480" cy="105156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520440"/>
            <a:ext cx="8412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스페인산 피쿠알 · 낮은 산도 · 폴리페놀 · 개별 포장 · 가격 접근성 설명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5488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754880"/>
            <a:ext cx="1554480" cy="105156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554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CTA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754880"/>
            <a:ext cx="84124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“파격가로 가볍게 시작하는 올리브오일 루틴”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콘텐츠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OFFLINE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오프라인 인증형 시딩 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올리브베러 광화문점 위주 방문형 — ‘현장 인증 접점’으로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7607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·  “올영에서 실제로 파는 제품”이라는 현장감 확보</a:t>
            </a:r>
          </a:p>
          <a:p>
            <a:pPr>
              <a:spcAft>
                <a:spcPts val="1032"/>
              </a:spcAft>
            </a:pPr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·  자연 발견형 바이럴 — 매장 방문·진열 인증</a:t>
            </a:r>
          </a:p>
          <a:p>
            <a:pPr>
              <a:spcAft>
                <a:spcPts val="1032"/>
              </a:spcAft>
            </a:pPr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·  전국 매장 입점 올더베러 소개 콘텐츠</a:t>
            </a:r>
          </a:p>
          <a:p>
            <a:pPr>
              <a:spcAft>
                <a:spcPts val="1032"/>
              </a:spcAft>
            </a:pPr>
            <a:r>
              <a:rPr sz="1300" b="0">
                <a:solidFill>
                  <a:srgbClr val="141412"/>
                </a:solidFill>
                <a:latin typeface="Pretendard"/>
                <a:ea typeface="Pretendard"/>
              </a:rPr>
              <a:t>·  +@ 내한 외국인 대상 K-웰니스 바이럴 유도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286000"/>
            <a:ext cx="4480560" cy="338328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95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5195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광화문점 방문형 레퍼런스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KOL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KOL 무가시딩 — 대상 ×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무가시딩 = 노출을 사는 게 아닌 ‘관계를 빌드업’ — 자발 게시 유도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97196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4997196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① 누구에게 —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웰니스 접점 크리에이터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마이크로~매크로 중 브랜드 캠페인 제안 가능 대상 우선 리스트업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2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타깃 결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70832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30대 직장인·웰니스 라이프와 겹치는 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75504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자생적 진성 계정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49824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이미 헬시플레저·자기관리 중인 진성 계정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8796" y="2240280"/>
            <a:ext cx="4997196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8796" y="2240280"/>
            <a:ext cx="4997196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3116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② 어떻게 — 운영 방식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3116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등급별 차등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3116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매크로=커스텀 키트+정기 접촉 / 마이크로·나노=제품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4096512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게시 의무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4370832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자발 게시 유도 — 관계로 지속 발화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116" y="5175504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관계 자산화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3116" y="5449824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향후 유가 캠페인 전환 풀로 축적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심의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COMPLIANCE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심의 리스크는 ‘앞단’에서 차단합니다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콘텐츠 송출 前 Claude AI가 먼저 읽고, 사람이 최종 검토합니다</a:t>
            </a:r>
          </a:p>
        </p:txBody>
      </p:sp>
      <p:sp>
        <p:nvSpPr>
          <p:cNvPr id="6" name="Oval 5"/>
          <p:cNvSpPr/>
          <p:nvPr/>
        </p:nvSpPr>
        <p:spPr>
          <a:xfrm>
            <a:off x="1727072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072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대본·자막·캡션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릴스/쇼츠 대본·자막·해시태그를 검수 큐 등록</a:t>
            </a:r>
          </a:p>
        </p:txBody>
      </p:sp>
      <p:sp>
        <p:nvSpPr>
          <p:cNvPr id="10" name="Chevron 9"/>
          <p:cNvSpPr/>
          <p:nvPr/>
        </p:nvSpPr>
        <p:spPr>
          <a:xfrm>
            <a:off x="3207258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1411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411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Claude AI 1차 스크리닝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018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분류 자동 분기 → 효능·과장·질병 표현 탐지·플래그</a:t>
            </a:r>
          </a:p>
        </p:txBody>
      </p:sp>
      <p:sp>
        <p:nvSpPr>
          <p:cNvPr id="15" name="Chevron 14"/>
          <p:cNvSpPr/>
          <p:nvPr/>
        </p:nvSpPr>
        <p:spPr>
          <a:xfrm>
            <a:off x="5911596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5749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5749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안전 표현 치환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위험 문구 → 안전 문구 대안 (근거 조항 동반)</a:t>
            </a:r>
          </a:p>
        </p:txBody>
      </p:sp>
      <p:sp>
        <p:nvSpPr>
          <p:cNvPr id="20" name="Chevron 19"/>
          <p:cNvSpPr/>
          <p:nvPr/>
        </p:nvSpPr>
        <p:spPr>
          <a:xfrm>
            <a:off x="8615934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40087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0087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974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법무·RA 최종 검토·송출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1694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건기식 자율심의·법무 확인 후 송출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심의 반려율 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4" y="470916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470916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검토 기간 단축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470916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470916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표현 일관성 확보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4709160"/>
            <a:ext cx="2542032" cy="4572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4709160"/>
            <a:ext cx="2542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✓  분류별 자동 분기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제품 분류별 원칙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7900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일반식품 (올리브오일·멜라나잇·콜라겐) — 질병·기능 표현 전면 금지, 원료·맛·편의·무드 앵글만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77900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건강기능식품 (루테인·바나바잎) — 인정 기능성 문구 그대로, 과장·체험 단정 금지·자율심의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심의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COMPLIANCE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표현 치환표 &amp; 송출 전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위험 표현(❌)을 안전 표현(✅)으로 — AI 1차, 사람 최종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640079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7200"/>
                <a:gridCol w="2031999"/>
                <a:gridCol w="264159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제품 (분류)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❌ 위험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✅ 안전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올리브오일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혈관·콜레스테롤에 좋은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엑스트라버진 올리브오일 한 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멜라나잇 (일반)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숙면 젤리/잠 잘 오는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자기 전 리추얼/하루 마무리 한 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콜라겐 (일반)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피부·주름·탄력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디저트 대신 챙기는 젤리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루테인 (건기식)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눈이 좋아지는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눈 건강에 도움을 줄 수 있음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바나바잎 (건기식)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혈당 낮추는/당뇨에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식후 혈당 상승 억제에 도움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210312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송출 전 체크리스트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14600"/>
            <a:ext cx="38404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60"/>
              </a:spcAft>
            </a:pPr>
            <a:r>
              <a:rPr sz="1050" b="0">
                <a:solidFill>
                  <a:srgbClr val="141412"/>
                </a:solidFill>
                <a:latin typeface="Pretendard"/>
                <a:ea typeface="Pretendard"/>
              </a:rPr>
              <a:t>☑  유료광고·협찬 표시 (자막+음성+캡션+파트너십 태그)</a:t>
            </a:r>
          </a:p>
          <a:p>
            <a:pPr>
              <a:spcAft>
                <a:spcPts val="960"/>
              </a:spcAft>
            </a:pPr>
            <a:r>
              <a:rPr sz="1050" b="0">
                <a:solidFill>
                  <a:srgbClr val="141412"/>
                </a:solidFill>
                <a:latin typeface="Pretendard"/>
                <a:ea typeface="Pretendard"/>
              </a:rPr>
              <a:t>☑  일반식품 — 질병·기능 효능 표현 전면 배제</a:t>
            </a:r>
          </a:p>
          <a:p>
            <a:pPr>
              <a:spcAft>
                <a:spcPts val="960"/>
              </a:spcAft>
            </a:pPr>
            <a:r>
              <a:rPr sz="1050" b="0">
                <a:solidFill>
                  <a:srgbClr val="141412"/>
                </a:solidFill>
                <a:latin typeface="Pretendard"/>
                <a:ea typeface="Pretendard"/>
              </a:rPr>
              <a:t>☑  건기식 — 인정 기능성 문구 그대로, 과장 없음</a:t>
            </a:r>
          </a:p>
          <a:p>
            <a:pPr>
              <a:spcAft>
                <a:spcPts val="960"/>
              </a:spcAft>
            </a:pPr>
            <a:r>
              <a:rPr sz="1050" b="0">
                <a:solidFill>
                  <a:srgbClr val="141412"/>
                </a:solidFill>
                <a:latin typeface="Pretendard"/>
                <a:ea typeface="Pretendard"/>
              </a:rPr>
              <a:t>☑  ‘효과 미체감’ 방어 — 보장·단정 금지</a:t>
            </a:r>
          </a:p>
          <a:p>
            <a:pPr>
              <a:spcAft>
                <a:spcPts val="960"/>
              </a:spcAft>
            </a:pPr>
            <a:r>
              <a:rPr sz="1050" b="0">
                <a:solidFill>
                  <a:srgbClr val="141412"/>
                </a:solidFill>
                <a:latin typeface="Pretendard"/>
                <a:ea typeface="Pretendard"/>
              </a:rPr>
              <a:t>☑  건기식 자율심의 + 법무·RA 검토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1097280" y="0"/>
            <a:ext cx="8961120" cy="6858000"/>
          </a:xfrm>
          <a:prstGeom prst="rtTriangl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300">
                <a:solidFill>
                  <a:srgbClr val="FEFFA1"/>
                </a:solidFill>
                <a:latin typeface="Pretendard"/>
                <a:ea typeface="Pretendard"/>
              </a:rPr>
              <a:t>PART 04   VIRAL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바이럴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9E5DD"/>
                </a:solidFill>
                <a:latin typeface="Pretendard"/>
                <a:ea typeface="Pretendard"/>
              </a:rPr>
              <a:t>구매 직전의 ‘확신’을 만든다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7772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77724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9582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VIRAL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바이럴의 역할은 구매 직전의 ‘확신’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소비자가 제품을 본 뒤 검색·비교하는 순간, 충분한 후기·추천 맥락이 보이도록 설계</a:t>
            </a:r>
          </a:p>
        </p:txBody>
      </p:sp>
      <p:sp>
        <p:nvSpPr>
          <p:cNvPr id="6" name="Oval 5"/>
          <p:cNvSpPr/>
          <p:nvPr/>
        </p:nvSpPr>
        <p:spPr>
          <a:xfrm>
            <a:off x="1727072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072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제품을 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시딩·광고로 첫 인지 발생</a:t>
            </a:r>
          </a:p>
        </p:txBody>
      </p:sp>
      <p:sp>
        <p:nvSpPr>
          <p:cNvPr id="10" name="Chevron 9"/>
          <p:cNvSpPr/>
          <p:nvPr/>
        </p:nvSpPr>
        <p:spPr>
          <a:xfrm>
            <a:off x="3207258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1411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411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검색·비교한다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018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제품명·카테고리·상황 키워드 탐색</a:t>
            </a:r>
          </a:p>
        </p:txBody>
      </p:sp>
      <p:sp>
        <p:nvSpPr>
          <p:cNvPr id="15" name="Chevron 14"/>
          <p:cNvSpPr/>
          <p:nvPr/>
        </p:nvSpPr>
        <p:spPr>
          <a:xfrm>
            <a:off x="5911596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5749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5749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‘선택해도 된다’ 확신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후기·장바구니·랭킹 맥락 확인</a:t>
            </a:r>
          </a:p>
        </p:txBody>
      </p:sp>
      <p:sp>
        <p:nvSpPr>
          <p:cNvPr id="20" name="Chevron 19"/>
          <p:cNvSpPr/>
          <p:nvPr/>
        </p:nvSpPr>
        <p:spPr>
          <a:xfrm>
            <a:off x="8615934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40087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0087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974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구매·전환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1694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진성 구매·리뷰·랭킹 행동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160520"/>
            <a:ext cx="334670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160520"/>
            <a:ext cx="3346704" cy="50292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33467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검색 시 ‘비어 있지 않게’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54880"/>
            <a:ext cx="28895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제품·상황 키워드 검색에 정보성 콘텐츠 노출·자산화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59552"/>
            <a:ext cx="28895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9582F"/>
                </a:solidFill>
                <a:latin typeface="Pretendard"/>
                <a:ea typeface="Pretendard"/>
              </a:rPr>
              <a:t>→ 네이버·언론보도 GEO·AEO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4160520"/>
            <a:ext cx="334670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2544" y="4160520"/>
            <a:ext cx="3346704" cy="50292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2544" y="4160520"/>
            <a:ext cx="33467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비교 시 ‘선택 근거’ 제공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4754880"/>
            <a:ext cx="28895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후기·장바구니·랭킹 맥락으로 ‘선택해도 되는 제품’ 확신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5559552"/>
            <a:ext cx="28895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9582F"/>
                </a:solidFill>
                <a:latin typeface="Pretendard"/>
                <a:ea typeface="Pretendard"/>
              </a:rPr>
              <a:t>→ 커뮤니티·파워페이지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4160520"/>
            <a:ext cx="3346704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82127" y="4160520"/>
            <a:ext cx="3346704" cy="50292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4160520"/>
            <a:ext cx="33467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구매 ‘전환’으로 연결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7" y="4754880"/>
            <a:ext cx="288950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8680"/>
                </a:solidFill>
                <a:latin typeface="Pretendard"/>
                <a:ea typeface="Pretendard"/>
              </a:rPr>
              <a:t>진성 구매·리뷰·랭킹 행동으로 전환, 위닝은 PA 2차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7" y="5559552"/>
            <a:ext cx="288950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9582F"/>
                </a:solidFill>
                <a:latin typeface="Pretendard"/>
                <a:ea typeface="Pretendard"/>
              </a:rPr>
              <a:t>→ 챌린저스·어필리에이트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챌린저스 — 올영 랭킹 1위 견인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실제 올영 액티브 유저의 구매·리뷰 미션 — ‘인증 기반 챌린지’</a:t>
            </a:r>
          </a:p>
        </p:txBody>
      </p:sp>
      <p:sp>
        <p:nvSpPr>
          <p:cNvPr id="6" name="Oval 5"/>
          <p:cNvSpPr/>
          <p:nvPr/>
        </p:nvSpPr>
        <p:spPr>
          <a:xfrm>
            <a:off x="1727072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27072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챌린지 참여 모집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습관 앱 챌린저스 내 미션 개설(실구매 의사 유저)</a:t>
            </a:r>
          </a:p>
        </p:txBody>
      </p:sp>
      <p:sp>
        <p:nvSpPr>
          <p:cNvPr id="10" name="Chevron 9"/>
          <p:cNvSpPr/>
          <p:nvPr/>
        </p:nvSpPr>
        <p:spPr>
          <a:xfrm>
            <a:off x="3207258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1411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1411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298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액티브 유저 실구매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018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올영을 활발히 쓰는 유저가 실제 구매</a:t>
            </a:r>
          </a:p>
        </p:txBody>
      </p:sp>
      <p:sp>
        <p:nvSpPr>
          <p:cNvPr id="15" name="Chevron 14"/>
          <p:cNvSpPr/>
          <p:nvPr/>
        </p:nvSpPr>
        <p:spPr>
          <a:xfrm>
            <a:off x="5911596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5749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5749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사용·리뷰 인증 미션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구매·사용·올영 리뷰 업로드를 ‘인증’</a:t>
            </a:r>
          </a:p>
        </p:txBody>
      </p:sp>
      <p:sp>
        <p:nvSpPr>
          <p:cNvPr id="20" name="Chevron 19"/>
          <p:cNvSpPr/>
          <p:nvPr/>
        </p:nvSpPr>
        <p:spPr>
          <a:xfrm>
            <a:off x="8615934" y="242316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40087" y="224028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0087" y="22402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974" y="2971800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랭킹 1위 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1694" y="344728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시간대 분산 운영으로 랭킹·후기 동시 점화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왜 효과적인가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·  올영이 만든 웰니스 PB로 올영 랭킹 1위 달성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·  ‘1위’ 키워드 플레이로 신뢰성 획득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634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·  진성 구매자 자발 리뷰 = 신뢰 자산 확보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·  동시 게시 = 랭킹·후기 볼륨 ‘동시 점화’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진성 구매·리뷰를 10–18시 시간대별로 분산 매니징 → 최저 비용 최대 효율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COMMUNITY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커뮤니티 · 파워페이지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‘추천템’ 검색·비교 맥락에 올더베러를 진입시키는 장치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97196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4997196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A. 뷰티앱 · 커뮤니티 체험단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타겟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화해 등 뷰티앱·대형 커뮤니티의 카테고리 관여 高 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2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70832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체험단·어워드·랭킹 참여로 ‘검증된 후기’ 볼륨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75504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49824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구매 시 64.2%가 어워드·랭킹 참고 / 핏·효율은 선별 필요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8796" y="2240280"/>
            <a:ext cx="4997196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8796" y="2240280"/>
            <a:ext cx="4997196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3116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B. 파워페이지 (SNS 정보성)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3116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타겟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3116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SNS 잠재고객·구매 고의도 + ‘올리브오일 효능’ 검색자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4096512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4370832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정보성 파워 블로그·전문 채널로 검색 상위·추천 점유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116" y="5175504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>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3116" y="5449824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인지·각인·전환 트리거를 퍼널 단계별로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세일 전 탐색이 곧장 장바구니로 이어지도록 ‘추천템’ 맥락을 선점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GEO·AEO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GEO/AEO — ‘검색 답변 시대’의 Pull 자산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제로 클릭 시대 : 언론보도·정보성 콘텐츠를 AI가 인용하기 좋은 구조로 발행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9719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4997196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GEO · 생성형 엔진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ChatGPT·Perplexity·Gemini가 답변을 만들 때 우리 콘텐츠를 ‘근거·출처’로 고르게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8796" y="2240280"/>
            <a:ext cx="499719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8796" y="2240280"/>
            <a:ext cx="4997196" cy="56692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3116" y="2240280"/>
            <a:ext cx="44485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AEO · 답변 엔진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3116" y="3017520"/>
            <a:ext cx="44485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9582F"/>
                </a:solidFill>
                <a:latin typeface="Pretendard"/>
                <a:ea typeface="Pretendard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3116" y="3291840"/>
            <a:ext cx="44485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구글 AI Overview·검색 요약 답변에 ‘정확한 출처’로 반영되도록 최적화</a:t>
            </a:r>
          </a:p>
        </p:txBody>
      </p:sp>
      <p:sp>
        <p:nvSpPr>
          <p:cNvPr id="16" name="Oval 15"/>
          <p:cNvSpPr/>
          <p:nvPr/>
        </p:nvSpPr>
        <p:spPr>
          <a:xfrm>
            <a:off x="1727072" y="443484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27072" y="443484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59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키워드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4184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검색 의도 직답 구조</a:t>
            </a:r>
          </a:p>
        </p:txBody>
      </p:sp>
      <p:sp>
        <p:nvSpPr>
          <p:cNvPr id="20" name="Chevron 19"/>
          <p:cNvSpPr/>
          <p:nvPr/>
        </p:nvSpPr>
        <p:spPr>
          <a:xfrm>
            <a:off x="3207258" y="461772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1411" y="443484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1411" y="443484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298" y="5166359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콘텐츠 발행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3018" y="564184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언론보도·정보성·인용형</a:t>
            </a:r>
          </a:p>
        </p:txBody>
      </p:sp>
      <p:sp>
        <p:nvSpPr>
          <p:cNvPr id="25" name="Chevron 24"/>
          <p:cNvSpPr/>
          <p:nvPr/>
        </p:nvSpPr>
        <p:spPr>
          <a:xfrm>
            <a:off x="5911596" y="461772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5749" y="443484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5749" y="443484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1636" y="5166359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검색·AI 답변 점유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7356" y="564184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출처·수치·정의 명시</a:t>
            </a:r>
          </a:p>
        </p:txBody>
      </p:sp>
      <p:sp>
        <p:nvSpPr>
          <p:cNvPr id="30" name="Chevron 29"/>
          <p:cNvSpPr/>
          <p:nvPr/>
        </p:nvSpPr>
        <p:spPr>
          <a:xfrm>
            <a:off x="8615934" y="4617720"/>
            <a:ext cx="365760" cy="256032"/>
          </a:xfrm>
          <a:prstGeom prst="chevron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40087" y="4434840"/>
            <a:ext cx="621792" cy="621792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0087" y="443484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5974" y="5166359"/>
            <a:ext cx="24300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41412"/>
                </a:solidFill>
                <a:latin typeface="Pretendard"/>
                <a:ea typeface="Pretendard"/>
              </a:rPr>
              <a:t>자연 유입 증가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1694" y="5641848"/>
            <a:ext cx="23385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Pull로 탐색 순간 선점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바이럴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AFFILIATE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어필리에이트 — 추천을 구매로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올영 쇼핑 큐레이터를 코어로 — 앱 내 발견·구매로 직결, 랭킹 견인에 기여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4303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9680"/>
                <a:gridCol w="4559148"/>
                <a:gridCol w="4274202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올리브영 쇼핑 큐레이터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쿠팡 파트너스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 고객 참여형 — 앱 내 전환 직결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외부 구매 링크로 연결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운영 방식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개인 URL·셔터, 인스타·블로그·틱톡·유튜브 추천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고유 추적 링크 기반 외부 트래픽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콘텐츠 주제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올영세일 장바구니·웰니스 추천템·구미 입문템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가격 비교·제품 후기·카테고리 추천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기대 효과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앱 내 발견→구매, 세일 랭킹/매출 견인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외부 유입 보강·전환 링크 확보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-1097280" y="0"/>
            <a:ext cx="8961120" cy="6858000"/>
          </a:xfrm>
          <a:prstGeom prst="rtTriangl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300">
                <a:solidFill>
                  <a:srgbClr val="FEFFA1"/>
                </a:solidFill>
                <a:latin typeface="Pretendard"/>
                <a:ea typeface="Pretendard"/>
              </a:rPr>
              <a:t>PART 05  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운영 · 액션플랜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9E5DD"/>
                </a:solidFill>
                <a:latin typeface="Pretendard"/>
                <a:ea typeface="Pretendard"/>
              </a:rPr>
              <a:t>6개월 로드맵과 견적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7772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777240"/>
            <a:ext cx="123444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09582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로드맵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6개월 캠페인 로드맵 한판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7월 시작 → 9월 증폭 → 12월 대표성으로 착지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834640"/>
            <a:ext cx="10241280" cy="0"/>
          </a:xfrm>
          <a:prstGeom prst="bentConnector3">
            <a:avLst/>
          </a:prstGeom>
          <a:ln w="19050">
            <a:solidFill>
              <a:srgbClr val="BDBD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27048" y="2670048"/>
            <a:ext cx="329184" cy="329184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First 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68680"/>
                </a:solidFill>
                <a:latin typeface="Pretendard"/>
                <a:ea typeface="Pretendard"/>
              </a:rPr>
              <a:t>메시지 테스트·초기 시딩·랭킹 도화선</a:t>
            </a:r>
          </a:p>
        </p:txBody>
      </p:sp>
      <p:sp>
        <p:nvSpPr>
          <p:cNvPr id="12" name="Oval 11"/>
          <p:cNvSpPr/>
          <p:nvPr/>
        </p:nvSpPr>
        <p:spPr>
          <a:xfrm>
            <a:off x="3319271" y="2670048"/>
            <a:ext cx="329184" cy="329184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5184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Proof Take-off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68680"/>
                </a:solidFill>
                <a:latin typeface="Pretendard"/>
                <a:ea typeface="Pretendard"/>
              </a:rPr>
              <a:t>후기·검색·랭킹 증거 확산</a:t>
            </a:r>
          </a:p>
        </p:txBody>
      </p:sp>
      <p:sp>
        <p:nvSpPr>
          <p:cNvPr id="17" name="Oval 16"/>
          <p:cNvSpPr/>
          <p:nvPr/>
        </p:nvSpPr>
        <p:spPr>
          <a:xfrm>
            <a:off x="5111496" y="2670048"/>
            <a:ext cx="329184" cy="329184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8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Acceleration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68680"/>
                </a:solidFill>
                <a:latin typeface="Pretendard"/>
                <a:ea typeface="Pretendard"/>
              </a:rPr>
              <a:t>올영세일 1차 전환 피크</a:t>
            </a:r>
          </a:p>
        </p:txBody>
      </p:sp>
      <p:sp>
        <p:nvSpPr>
          <p:cNvPr id="22" name="Oval 21"/>
          <p:cNvSpPr/>
          <p:nvPr/>
        </p:nvSpPr>
        <p:spPr>
          <a:xfrm>
            <a:off x="6903720" y="2670048"/>
            <a:ext cx="329184" cy="329184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Orbit 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68680"/>
                </a:solidFill>
                <a:latin typeface="Pretendard"/>
                <a:ea typeface="Pretendard"/>
              </a:rPr>
              <a:t>건기식 제품군 확장</a:t>
            </a:r>
          </a:p>
        </p:txBody>
      </p:sp>
      <p:sp>
        <p:nvSpPr>
          <p:cNvPr id="27" name="Oval 26"/>
          <p:cNvSpPr/>
          <p:nvPr/>
        </p:nvSpPr>
        <p:spPr>
          <a:xfrm>
            <a:off x="8695944" y="2670048"/>
            <a:ext cx="329184" cy="329184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91856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Boost-up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68680"/>
                </a:solidFill>
                <a:latin typeface="Pretendard"/>
                <a:ea typeface="Pretendard"/>
              </a:rPr>
              <a:t>블프·검색·관심 증폭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670048"/>
            <a:ext cx="329184" cy="329184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84080" y="3200400"/>
            <a:ext cx="1737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3832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8862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41412"/>
                </a:solidFill>
                <a:latin typeface="Pretendard"/>
                <a:ea typeface="Pretendard"/>
              </a:rPr>
              <a:t>Category Landing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526280"/>
            <a:ext cx="1463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868680"/>
                </a:solidFill>
                <a:latin typeface="Pretendard"/>
                <a:ea typeface="Pretendard"/>
              </a:rPr>
              <a:t>12월 세일·대표성 착지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Phase 1 (7–9월) 빠른 반응 확보 · Phase 2 (10–12월) 대표성 확장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월별 실행 타임라인 · 액션플랜 (견적 포함)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2.5억 / 6개월 — Phase 1 빠른 반응 → Phase 2 대표성 확장 (건당 비용 · 건수)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57400"/>
          <a:ext cx="10543027" cy="368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7439"/>
                <a:gridCol w="1033630"/>
                <a:gridCol w="1240356"/>
                <a:gridCol w="1136993"/>
                <a:gridCol w="1033630"/>
                <a:gridCol w="1136993"/>
                <a:gridCol w="1136993"/>
                <a:gridCol w="1136993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항목 (건당)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7월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8/9사전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9세일★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11블프★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12세일★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합계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 (80만)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 (40만)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 (25만)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 (10만)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X 시딩 (50만)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 (80만)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커뮤니티 체험단 (500만)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 블로그 (25만)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·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 (150만)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 (누적)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시딩 총건수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예산 비중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18%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22%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2.5억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견적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QUOTATION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견적서 (Quotation)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올리브영 PB 올더베러 브랜드 빌딩 · 단위 원 (VAT 별도)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2103120"/>
          <a:ext cx="9235438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2510"/>
                <a:gridCol w="1319348"/>
                <a:gridCol w="1623813"/>
                <a:gridCol w="202976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세부 항목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수량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단가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금액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KV·디자인·영상·콘텐츠 (EGC 제외)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1식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67,300,000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 콘텐츠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1,500,000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 (인스타·유튜브)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800,000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12,000,000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56,250,000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무가시딩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X (트위터) 시딩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7,500,000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 콘텐츠 바이럴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800,000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7,200,000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커뮤니티 체험단 (탑 3건)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 블로그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3,750,000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 (올영 쇼핑 큐레이터)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누적 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-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공급가액 소계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250,000,000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부가가치세 (10%)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25,000,000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합계 (VAT 포함)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275,000,000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3·4분기 월별 액션플랜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7월 착수 → 8·9월 1차 웨이브(올영세일) → 10월 유지 → 11·12월 2차 웨이브(블프·세일)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405745"/>
            <a:ext cx="1700784" cy="10806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9484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1412"/>
                </a:solidFill>
                <a:latin typeface="Pretendard"/>
                <a:ea typeface="Pretendard"/>
              </a:rPr>
              <a:t>7월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9582F"/>
                </a:solidFill>
                <a:latin typeface="Pretendard"/>
                <a:ea typeface="Pretendard"/>
              </a:rPr>
              <a:t>착수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3325090"/>
            <a:ext cx="1700784" cy="2161309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301419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1412"/>
                </a:solidFill>
                <a:latin typeface="Pretendard"/>
                <a:ea typeface="Pretendard"/>
              </a:rPr>
              <a:t>8월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9582F"/>
                </a:solidFill>
                <a:latin typeface="Pretendard"/>
                <a:ea typeface="Pretendard"/>
              </a:rPr>
              <a:t>★1차 웨이브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3325090"/>
            <a:ext cx="1700784" cy="2161309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01419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1412"/>
                </a:solidFill>
                <a:latin typeface="Pretendard"/>
                <a:ea typeface="Pretendard"/>
              </a:rPr>
              <a:t>9월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9582F"/>
                </a:solidFill>
                <a:latin typeface="Pretendard"/>
                <a:ea typeface="Pretendard"/>
              </a:rPr>
              <a:t>★1차 웨이브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4405745"/>
            <a:ext cx="1700784" cy="1080654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4094849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1412"/>
                </a:solidFill>
                <a:latin typeface="Pretendard"/>
                <a:ea typeface="Pretendard"/>
              </a:rPr>
              <a:t>10월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9582F"/>
                </a:solidFill>
                <a:latin typeface="Pretendard"/>
                <a:ea typeface="Pretendard"/>
              </a:rPr>
              <a:t>유지·확산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3541221"/>
            <a:ext cx="1700784" cy="1945178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3230325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1412"/>
                </a:solidFill>
                <a:latin typeface="Pretendard"/>
                <a:ea typeface="Pretendard"/>
              </a:rPr>
              <a:t>11월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9582F"/>
                </a:solidFill>
                <a:latin typeface="Pretendard"/>
                <a:ea typeface="Pretendard"/>
              </a:rPr>
              <a:t>★2차 웨이브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3108960"/>
            <a:ext cx="1700784" cy="23774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7980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55778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1412"/>
                </a:solidFill>
                <a:latin typeface="Pretendard"/>
                <a:ea typeface="Pretendard"/>
              </a:rPr>
              <a:t>12월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98932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9582F"/>
                </a:solidFill>
                <a:latin typeface="Pretendard"/>
                <a:ea typeface="Pretendard"/>
              </a:rPr>
              <a:t>★2차 웨이브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68680"/>
                </a:solidFill>
                <a:latin typeface="Pretendard"/>
                <a:ea typeface="Pretendard"/>
              </a:rPr>
              <a:t>Phase 1 (7–9월) — 빠른 반응 확보 : 일반식품·심의불필요 선행 + 8·9월 1차 웨이브로 올영세일 전환</a:t>
            </a:r>
          </a:p>
          <a:p>
            <a:pPr algn="l"/>
            <a:r>
              <a:rPr sz="1150" b="0">
                <a:solidFill>
                  <a:srgbClr val="868680"/>
                </a:solidFill>
                <a:latin typeface="Pretendard"/>
                <a:ea typeface="Pretendard"/>
              </a:rPr>
              <a:t>Phase 2 (10–12월) — 대표성 확장 : 11·12월 2차 웨이브(블프·올영세일)로 대표 브랜드 착지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7월  ·  First 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9582F"/>
                </a:solidFill>
                <a:latin typeface="Pretendard"/>
                <a:ea typeface="Pretendard"/>
              </a:rPr>
              <a:t>착수 · 콘텐츠/메시지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“위닝 메시지 발굴 · 시딩 도화선 점화”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콘텐츠·이미지 LMF 테스트 → 위닝 메시지 선별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일반식품 시딩 즉시 라이브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건기식 심의 파이프라인 착수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챌린저스 1차 가동 · 블로그 키워드 선점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어필리에이트 프로세스 확립·구동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7월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EFFA1"/>
                </a:solidFill>
                <a:latin typeface="Pretendard"/>
                <a:ea typeface="Pretendard"/>
              </a:rPr>
              <a:t>이 달 예산 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25,000,000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성과 목표 — 위닝 메시지 확정 · 후기·콘텐츠 1차 적재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8월  ·  Proof Take-off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9582F"/>
                </a:solidFill>
                <a:latin typeface="Pretendard"/>
                <a:ea typeface="Pretendard"/>
              </a:rPr>
              <a:t>올영세일 사전 부스팅 · ★1차 웨이브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“세일 전 인지·각인 확산 + 선택 증거 확보”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시딩 대량 릴리즈(110건) — 세일 1주 전 집중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매크로 합류·파워페이지·체험단·블로그 바이럴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건기식 심의 완료분 1차 업로드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‘올영 1위’ 키워드 플레이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어필리에이트 수량 누적 증대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8월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체험단(탑)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110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EFFA1"/>
                </a:solidFill>
                <a:latin typeface="Pretendard"/>
                <a:ea typeface="Pretendard"/>
              </a:rPr>
              <a:t>이 달 예산 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50,000,000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성과 목표 — 1차 웨이브 사전 부스팅 · 검색·후기 증거 확산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9월  · 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9582F"/>
                </a:solidFill>
                <a:latin typeface="Pretendard"/>
                <a:ea typeface="Pretendard"/>
              </a:rPr>
              <a:t>올영세일 구매 전환 · ★1차 피크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“확보한 증거로 올영세일 구매 전환 폭발”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올영세일 집중 — 일반+건기식 동시 투입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퍼포먼스 매체·어필리에이트 전환 유도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건기식 2차 업로드 세일 직전 라이브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랭킹·후기·혜택 결합 소재 운영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9월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65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EFFA1"/>
                </a:solidFill>
                <a:latin typeface="Pretendard"/>
                <a:ea typeface="Pretendard"/>
              </a:rPr>
              <a:t>이 달 예산 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50,000,000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성과 목표 — 1차 웨이브 매출 피크 · 카테고리 랭킹 1위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10월  ·  Orbit Expansion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9582F"/>
                </a:solidFill>
                <a:latin typeface="Pretendard"/>
                <a:ea typeface="Pretendard"/>
              </a:rPr>
              <a:t>유지 · 포트폴리오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“구매 증거 기반 건기식 라인업 확장”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건기식 6종 본격 콘텐츠·확장 메시지 테스트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9월 위닝 소재 낙수 운영(유지)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크로스셀 CRM·후기 자산 확산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10월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KOL 무가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EGC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어필리에이트(누적)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EFFA1"/>
                </a:solidFill>
                <a:latin typeface="Pretendard"/>
                <a:ea typeface="Pretendard"/>
              </a:rPr>
              <a:t>이 달 예산 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25,000,000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성과 목표 — 매출 유지 · 건기식 라인 인지 형성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11월  ·  Boost-up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9582F"/>
                </a:solidFill>
                <a:latin typeface="Pretendard"/>
                <a:ea typeface="Pretendard"/>
              </a:rPr>
              <a:t>블프 · 재점화 · ★2차 웨이브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“많이 보이고 많이 찾는 브랜드로 재점화”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시딩 재확대(90건)·매크로·체험단·파워페이지 재가동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블프 프로모션 퍼포먼스·건기식 RTB+혜택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챌린저스 2차·신뢰 자산 보강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11월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체험단(탑)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90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EFFA1"/>
                </a:solidFill>
                <a:latin typeface="Pretendard"/>
                <a:ea typeface="Pretendard"/>
              </a:rPr>
              <a:t>이 달 예산  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45,000,000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성과 목표 — 2차 웨이브 시작 · 탐색량·관심층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플랜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MONTHLY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12월  ·  Category Landing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54864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6858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9582F"/>
                </a:solidFill>
                <a:latin typeface="Pretendard"/>
                <a:ea typeface="Pretendard"/>
              </a:rPr>
              <a:t>올영세일 · 대표성 착지 · ★2차 피크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“웰니스 카테고리 대표 브랜드 착지”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이 달의 핵심 액션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12월 올영세일 집중 — 전 라인업 대표성 콘텐츠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세일 1주 전 시딩 대량 릴리즈(100건)·바이럴</a:t>
            </a:r>
          </a:p>
          <a:p>
            <a:pPr>
              <a:spcAft>
                <a:spcPts val="1032"/>
              </a:spcAft>
            </a:pPr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■  쟁임/재구매 CRM·퍼포먼스 2차 피크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560320"/>
          <a:ext cx="3840479" cy="1696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2512"/>
                <a:gridCol w="1037967"/>
              </a:tblGrid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진행 물량 (건)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12월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매크로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마이크로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35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나노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파워페이지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체험단(탑)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총건수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55321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9612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EFFA1"/>
                </a:solidFill>
                <a:latin typeface="Pretendard"/>
                <a:ea typeface="Pretendard"/>
              </a:rPr>
              <a:t>이 달 예산  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8978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55,000,000 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144768"/>
            <a:ext cx="10543032" cy="45720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82296" cy="457200"/>
          </a:xfrm>
          <a:prstGeom prst="rect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144768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41412"/>
                </a:solidFill>
                <a:latin typeface="Pretendard"/>
                <a:ea typeface="Pretendard"/>
              </a:rPr>
              <a:t>성과 목표 — 2차 웨이브 매출 피크 · 대표성 착지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성과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KPI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주요 KPI — 플라이휠 단계별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‘단순 노출’이 아닌 플라이휠이 도는지 — 선행지표 → 최종 ‘올영 랭킹 1위’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54302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7171"/>
                <a:gridCol w="3514343"/>
                <a:gridCol w="2928619"/>
                <a:gridCol w="234289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플라이휠 단계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핵심 KPI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목표 (6개월)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측정·근거</a:t>
                      </a:r>
                    </a:p>
                  </a:txBody>
                  <a:tcPr marL="63500" marR="63500" marT="25400" marB="25400" anchor="ctr">
                    <a:solidFill>
                      <a:srgbClr val="0958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① 인지·시딩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UGC·시딩 대량 릴리즈 · 해시태그 #오늘도배러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월 대량 시딩 · 해시태그 확대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인스타 해시태그·콘텐츠 집계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② 검증·신뢰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브랜드 버즈량·조회수·언급량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검색 3,000→10,000 · 버즈↑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네이버·구글·SNS 언급량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③ 전환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 카테고리 랭킹 · ROAS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7월 중 1위 · ROAS 개선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올영 랭킹·월간 리포트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④ 재구매·확장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재구매율 · CRM(플친) 유입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신규·재구매율 개선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2"/>
                          </a:solidFill>
                          <a:latin typeface="Pretendard"/>
                          <a:ea typeface="Pretendard"/>
                        </a:rPr>
                        <a:t>VOC 딥다이브·CRM</a:t>
                      </a:r>
                    </a:p>
                  </a:txBody>
                  <a:tcPr marL="63500" marR="63500" marT="25400" marB="25400" anchor="ctr">
                    <a:solidFill>
                      <a:srgbClr val="F3F2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074920"/>
            <a:ext cx="25603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465건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5157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크리에이터 시딩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074920"/>
            <a:ext cx="25603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1,000만+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75157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시딩 전체 조회수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074920"/>
            <a:ext cx="25603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3천→1만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75157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브랜드 버즈량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074920"/>
            <a:ext cx="25603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09582F"/>
                </a:solidFill>
                <a:latin typeface="Pretendard"/>
                <a:ea typeface="Pretendard"/>
              </a:rPr>
              <a:t>1,000+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75157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141412"/>
                </a:solidFill>
                <a:latin typeface="Pretendard"/>
                <a:ea typeface="Pretendard"/>
              </a:rPr>
              <a:t>올영 리뷰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REPORTING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성과 리포팅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시딩·UGC 현황을 일·주·월간 단위로 투명하게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7607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76"/>
              </a:spcAft>
            </a:pPr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·  시딩·UGC 진행 현황 실시간 트래킹</a:t>
            </a:r>
          </a:p>
          <a:p>
            <a:pPr>
              <a:spcAft>
                <a:spcPts val="1176"/>
              </a:spcAft>
            </a:pPr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·  일간 — 라이브/인증/이슈 모니터링</a:t>
            </a:r>
          </a:p>
          <a:p>
            <a:pPr>
              <a:spcAft>
                <a:spcPts val="1176"/>
              </a:spcAft>
            </a:pPr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·  주간 — 조회수·후기·랭킹 추이 리포트</a:t>
            </a:r>
          </a:p>
          <a:p>
            <a:pPr>
              <a:spcAft>
                <a:spcPts val="1176"/>
              </a:spcAft>
            </a:pPr>
            <a:r>
              <a:rPr sz="1250" b="0">
                <a:solidFill>
                  <a:srgbClr val="141412"/>
                </a:solidFill>
                <a:latin typeface="Pretendard"/>
                <a:ea typeface="Pretendard"/>
              </a:rPr>
              <a:t>·  월간 — KPI 달성·예산 집행·인사이트 종합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377440"/>
            <a:ext cx="4480560" cy="3200400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0" y="352043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958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3520439"/>
            <a:ext cx="3291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9582F"/>
                </a:solidFill>
                <a:latin typeface="Pretendard"/>
                <a:ea typeface="Pretendard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5195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리포팅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조직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TEAM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올영 PB TF 인력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총괄 PM급 시니어 1인 + 실무 리소스 필수 편성</a:t>
            </a:r>
          </a:p>
        </p:txBody>
      </p:sp>
      <p:sp>
        <p:nvSpPr>
          <p:cNvPr id="6" name="Oval 5"/>
          <p:cNvSpPr/>
          <p:nvPr/>
        </p:nvSpPr>
        <p:spPr>
          <a:xfrm>
            <a:off x="5454396" y="2286000"/>
            <a:ext cx="1280160" cy="128016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4396" y="228600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총괄
PM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4476" y="3566160"/>
            <a:ext cx="914" cy="0"/>
          </a:xfrm>
          <a:prstGeom prst="bentConnector3">
            <a:avLst/>
          </a:prstGeom>
          <a:ln w="12700">
            <a:solidFill>
              <a:srgbClr val="BDBD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023360"/>
            <a:ext cx="2560320" cy="5029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마IMC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시딩·인플루언서 운영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4023360"/>
            <a:ext cx="2560320" cy="5029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크리에이티브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KV·영상·EGC 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2560320" cy="5029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퍼포먼스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매체·전환·ROAS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023360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4023360"/>
            <a:ext cx="2560320" cy="5029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40233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데이터·RA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6634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68680"/>
                </a:solidFill>
                <a:latin typeface="Pretendard"/>
                <a:ea typeface="Pretendard"/>
              </a:rPr>
              <a:t>VOC·리포팅·심의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09582F"/>
                </a:solidFill>
                <a:latin typeface="Pretendard"/>
                <a:ea typeface="Pretendard"/>
              </a:rPr>
              <a:t>운영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09582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024128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141412"/>
                </a:solidFill>
                <a:latin typeface="Pretendard"/>
                <a:ea typeface="Pretendard"/>
              </a:rPr>
              <a:t>위기 대응 · 바이럴/인플루언서 캠페인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27632"/>
            <a:ext cx="9628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868680"/>
                </a:solidFill>
                <a:latin typeface="Pretendard"/>
                <a:ea typeface="Pretendard"/>
              </a:rPr>
              <a:t>부정 이슈·심의 리스크를 사전 모니터링하고 신속 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63347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63347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실시간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부정 댓글·이슈 키워드 상시 감지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37744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92824" y="263347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263347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심의 사전 차단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2461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Claude AI 1차 + 법무·RA 최종 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432511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32511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신속 대응 프로토콜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이슈 등급별 에스컬레이션·대응 매뉴얼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406908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DB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4325112"/>
            <a:ext cx="457200" cy="457200"/>
          </a:xfrm>
          <a:prstGeom prst="ellipse">
            <a:avLst/>
          </a:prstGeom>
          <a:solidFill>
            <a:srgbClr val="095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4325112"/>
            <a:ext cx="4023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1412"/>
                </a:solidFill>
                <a:latin typeface="Pretendard"/>
                <a:ea typeface="Pretendard"/>
              </a:rPr>
              <a:t>크리에이터 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9377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8680"/>
                </a:solidFill>
                <a:latin typeface="Pretendard"/>
                <a:ea typeface="Pretendard"/>
              </a:rPr>
              <a:t>콘텐츠 사전 검수·실시간 가이드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7276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DBDB6"/>
                </a:solidFill>
                <a:latin typeface="Pretendard"/>
                <a:ea typeface="Pretendard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