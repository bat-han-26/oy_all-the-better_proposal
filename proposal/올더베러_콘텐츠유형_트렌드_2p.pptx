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UGC vs EGC vs Half 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27632" y="1755648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27632" y="1755648"/>
            <a:ext cx="3063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UGC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2395728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+ 리얼함 · 현장감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834640"/>
            <a:ext cx="3063240" cy="2057400"/>
          </a:xfrm>
          <a:prstGeom prst="rect">
            <a:avLst/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27632" y="2834640"/>
            <a:ext cx="3063240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627632" y="2834640"/>
            <a:ext cx="3063240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775204" y="3479291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5204" y="3479291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4562855"/>
            <a:ext cx="3063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영상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1755648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755648"/>
            <a:ext cx="3063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EGC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395728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+ 미디어 커머스 (정보·전문성)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834640"/>
            <a:ext cx="3063240" cy="2057400"/>
          </a:xfrm>
          <a:prstGeom prst="rect">
            <a:avLst/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892040" y="2834640"/>
            <a:ext cx="3063239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892040" y="2834640"/>
            <a:ext cx="3063239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9612" y="3479291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9612" y="3479291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562855"/>
            <a:ext cx="3063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영상 예시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6448" y="1755648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755648"/>
            <a:ext cx="3063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Half EGC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2395728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+ 소셜 에비던스 (소비자 신뢰 형성)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56448" y="2834640"/>
            <a:ext cx="3063240" cy="2057400"/>
          </a:xfrm>
          <a:prstGeom prst="rect">
            <a:avLst/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156448" y="2834640"/>
            <a:ext cx="3063240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156448" y="2834640"/>
            <a:ext cx="3063240" cy="2057400"/>
          </a:xfrm>
          <a:prstGeom prst="line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304020" y="3479291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04020" y="3479291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4562855"/>
            <a:ext cx="3063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영상 예시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029200"/>
            <a:ext cx="960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제작기간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623560"/>
            <a:ext cx="960120" cy="566928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FFFFFF"/>
                </a:solidFill>
                <a:latin typeface="Pretendard"/>
                <a:ea typeface="Pretendard"/>
              </a:rPr>
              <a:t>제작비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27632" y="5029200"/>
            <a:ext cx="3063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029200"/>
            <a:ext cx="3063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141412"/>
                </a:solidFill>
                <a:latin typeface="Pretendard"/>
                <a:ea typeface="Pretendard"/>
              </a:rPr>
              <a:t>3~4주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627632" y="56235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7632" y="5623560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50만원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2040" y="5029200"/>
            <a:ext cx="3063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92040" y="5029200"/>
            <a:ext cx="3063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141412"/>
                </a:solidFill>
                <a:latin typeface="Pretendard"/>
                <a:ea typeface="Pretendard"/>
              </a:rPr>
              <a:t>1주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56235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5623560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100만원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6448" y="5029200"/>
            <a:ext cx="3063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5029200"/>
            <a:ext cx="3063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141412"/>
                </a:solidFill>
                <a:latin typeface="Pretendard"/>
                <a:ea typeface="Pretendard"/>
              </a:rPr>
              <a:t>2주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56448" y="56235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56448" y="5623560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spc="-100">
                <a:solidFill>
                  <a:srgbClr val="3D2B1B"/>
                </a:solidFill>
                <a:latin typeface="Pretendard"/>
                <a:ea typeface="Pretendard"/>
              </a:rPr>
              <a:t>150만원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56448" y="6217920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제작 100만 + 출연 섭외 50만(기본)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제작비·제작기간은 콘텐츠 난이도·출연자 섭외에 따라 상이하며, 본 표는 예상 금액 기준입니다.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7276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트렌드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TREND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리테일 마케팅 트렌드 변천사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2697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레퍼런스 그로스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66543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자사몰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1783080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콘텐츠 그로스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066543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B2C 광고·콘텐츠 중심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783080"/>
            <a:ext cx="28620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2026.06  What’s Next?</a:t>
            </a:r>
          </a:p>
        </p:txBody>
      </p:sp>
      <p:sp>
        <p:nvSpPr>
          <p:cNvPr id="10" name="Chevron 9"/>
          <p:cNvSpPr/>
          <p:nvPr/>
        </p:nvSpPr>
        <p:spPr>
          <a:xfrm>
            <a:off x="3218688" y="1874519"/>
            <a:ext cx="256032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8522208" y="1874519"/>
            <a:ext cx="256032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395728"/>
            <a:ext cx="269748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2560320"/>
            <a:ext cx="2331720" cy="54864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레퍼런스 마케팅 Era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51660" y="3172968"/>
            <a:ext cx="0" cy="822960"/>
          </a:xfrm>
          <a:prstGeom prst="line">
            <a:avLst/>
          </a:prstGeom>
          <a:ln w="15240">
            <a:solidFill>
              <a:srgbClr val="8686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" y="3995928"/>
            <a:ext cx="2057400" cy="65836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95928"/>
            <a:ext cx="2057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미디어 커머스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64608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자사몰·리테일 레퍼런스
중심으로 성장하던 시기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2395728"/>
            <a:ext cx="50749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0" y="2560320"/>
            <a:ext cx="4617720" cy="50292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256032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FFFFFF"/>
                </a:solidFill>
                <a:latin typeface="Pretendard"/>
                <a:ea typeface="Pretendard"/>
              </a:rPr>
              <a:t>인플루언서 마케팅 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331012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33101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① MCN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89120" y="3785616"/>
            <a:ext cx="0" cy="484632"/>
          </a:xfrm>
          <a:prstGeom prst="line">
            <a:avLst/>
          </a:prstGeom>
          <a:ln w="15240">
            <a:solidFill>
              <a:srgbClr val="8686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03320" y="427024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427024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공동구매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11496" y="3538728"/>
            <a:ext cx="182880" cy="0"/>
          </a:xfrm>
          <a:prstGeom prst="line">
            <a:avLst/>
          </a:prstGeom>
          <a:ln w="16510">
            <a:solidFill>
              <a:srgbClr val="0E5A3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30952" y="331012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0952" y="33101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② UGC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785616"/>
            <a:ext cx="0" cy="484632"/>
          </a:xfrm>
          <a:prstGeom prst="line">
            <a:avLst/>
          </a:prstGeom>
          <a:ln w="15240">
            <a:solidFill>
              <a:srgbClr val="8686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330952" y="427024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0952" y="427024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어필리에이트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39128" y="3538728"/>
            <a:ext cx="182879" cy="0"/>
          </a:xfrm>
          <a:prstGeom prst="line">
            <a:avLst/>
          </a:prstGeom>
          <a:ln w="16510">
            <a:solidFill>
              <a:srgbClr val="0E5A3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958583" y="331012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8583" y="33101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③ EGC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44383" y="3785616"/>
            <a:ext cx="0" cy="484632"/>
          </a:xfrm>
          <a:prstGeom prst="line">
            <a:avLst/>
          </a:prstGeom>
          <a:ln w="15240">
            <a:solidFill>
              <a:srgbClr val="86868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58583" y="4270248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58583" y="427024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Half EGC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4910328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141412"/>
                </a:solidFill>
                <a:latin typeface="Pretendard"/>
                <a:ea typeface="Pretendard"/>
              </a:rPr>
              <a:t>협업 플랫폼 사례</a:t>
            </a:r>
          </a:p>
        </p:txBody>
      </p:sp>
      <p:sp>
        <p:nvSpPr>
          <p:cNvPr id="40" name="Oval 39"/>
          <p:cNvSpPr/>
          <p:nvPr/>
        </p:nvSpPr>
        <p:spPr>
          <a:xfrm>
            <a:off x="4914900" y="5230368"/>
            <a:ext cx="566928" cy="56692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0580" y="523036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Meta</a:t>
            </a:r>
          </a:p>
        </p:txBody>
      </p:sp>
      <p:sp>
        <p:nvSpPr>
          <p:cNvPr id="42" name="Oval 41"/>
          <p:cNvSpPr/>
          <p:nvPr/>
        </p:nvSpPr>
        <p:spPr>
          <a:xfrm>
            <a:off x="6103620" y="5230368"/>
            <a:ext cx="566928" cy="56692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29300" y="523036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TikTok</a:t>
            </a:r>
          </a:p>
        </p:txBody>
      </p:sp>
      <p:sp>
        <p:nvSpPr>
          <p:cNvPr id="44" name="Chevron 43"/>
          <p:cNvSpPr/>
          <p:nvPr/>
        </p:nvSpPr>
        <p:spPr>
          <a:xfrm>
            <a:off x="8540496" y="3950208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2395728"/>
            <a:ext cx="2862072" cy="361188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23960" y="2578608"/>
            <a:ext cx="2862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spc="-100">
                <a:solidFill>
                  <a:srgbClr val="FFFFFF"/>
                </a:solidFill>
                <a:latin typeface="Pretendard"/>
                <a:ea typeface="Pretendard"/>
              </a:rPr>
              <a:t>Micro-IMC</a:t>
            </a:r>
          </a:p>
        </p:txBody>
      </p:sp>
      <p:sp>
        <p:nvSpPr>
          <p:cNvPr id="47" name="Oval 46"/>
          <p:cNvSpPr/>
          <p:nvPr/>
        </p:nvSpPr>
        <p:spPr>
          <a:xfrm>
            <a:off x="9235440" y="3264408"/>
            <a:ext cx="1188720" cy="1188720"/>
          </a:xfrm>
          <a:prstGeom prst="ellipse">
            <a:avLst/>
          </a:prstGeom>
          <a:noFill/>
          <a:ln w="25400">
            <a:solidFill>
              <a:srgbClr val="C7C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085832" y="3264408"/>
            <a:ext cx="1188720" cy="118872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372160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spc="-100">
                <a:solidFill>
                  <a:srgbClr val="FFFFFF"/>
                </a:solidFill>
                <a:latin typeface="Pretendard"/>
                <a:ea typeface="Pretendard"/>
              </a:rPr>
              <a:t>인플루언서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94392" y="372160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4498848"/>
            <a:ext cx="2862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C7CE3E"/>
                </a:solidFill>
                <a:latin typeface="Pretendard"/>
                <a:ea typeface="Pretendard"/>
              </a:rPr>
              <a:t>교집합 = 우리의 해답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910328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+ 퍼포먼스 광고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5221224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+ 히어로컷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532120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+ 미디어커머스 (EGC/UGC)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37276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