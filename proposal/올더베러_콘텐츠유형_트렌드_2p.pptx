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콘텐츠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CONTENT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UGC vs EGC vs Half EGC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콘텐츠 유형별 특징 · 제작기간 · 제작비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3346704" cy="36758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3346704" cy="603504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33467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UGC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2907792"/>
            <a:ext cx="2944368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443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spc="-100">
                <a:solidFill>
                  <a:srgbClr val="3D2B1B"/>
                </a:solidFill>
                <a:latin typeface="Pretendard"/>
                <a:ea typeface="Pretendard"/>
              </a:rPr>
              <a:t>+ 리얼함 · 현장감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511296"/>
            <a:ext cx="2798064" cy="132588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21992" y="3790187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2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0008" y="3790187"/>
            <a:ext cx="2926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spc="-100">
                <a:solidFill>
                  <a:srgbClr val="3D2B1B"/>
                </a:solidFill>
                <a:latin typeface="Pretendard"/>
                <a:ea typeface="Pretendard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30268"/>
            <a:ext cx="2798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영상 예시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5604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-100">
                <a:solidFill>
                  <a:srgbClr val="868680"/>
                </a:solidFill>
                <a:latin typeface="Pretendard"/>
                <a:ea typeface="Pretendard"/>
              </a:rPr>
              <a:t>제작기간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956048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spc="-100">
                <a:solidFill>
                  <a:srgbClr val="141412"/>
                </a:solidFill>
                <a:latin typeface="Pretendard"/>
                <a:ea typeface="Pretendard"/>
              </a:rPr>
              <a:t>3~4주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303520"/>
            <a:ext cx="2798064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30352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spc="-100">
                <a:solidFill>
                  <a:srgbClr val="868680"/>
                </a:solidFill>
                <a:latin typeface="Pretendard"/>
                <a:ea typeface="Pretendard"/>
              </a:rPr>
              <a:t>제작비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03520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spc="-100">
                <a:solidFill>
                  <a:srgbClr val="3D2B1B"/>
                </a:solidFill>
                <a:latin typeface="Pretendard"/>
                <a:ea typeface="Pretendard"/>
              </a:rPr>
              <a:t>50만원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2194560"/>
            <a:ext cx="3346704" cy="36758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16552" y="2194560"/>
            <a:ext cx="3346704" cy="603504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2194560"/>
            <a:ext cx="33467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EGC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2907792"/>
            <a:ext cx="2944368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2907792"/>
            <a:ext cx="29443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spc="-100">
                <a:solidFill>
                  <a:srgbClr val="3D2B1B"/>
                </a:solidFill>
                <a:latin typeface="Pretendard"/>
                <a:ea typeface="Pretendard"/>
              </a:rPr>
              <a:t>+ 미디어 커머스 (정보·전문성)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90872" y="3511296"/>
            <a:ext cx="2798064" cy="132588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15584" y="3790187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2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3790187"/>
            <a:ext cx="2926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spc="-100">
                <a:solidFill>
                  <a:srgbClr val="3D2B1B"/>
                </a:solidFill>
                <a:latin typeface="Pretendard"/>
                <a:ea typeface="Pretendard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4430268"/>
            <a:ext cx="2798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영상 예시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495604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-100">
                <a:solidFill>
                  <a:srgbClr val="868680"/>
                </a:solidFill>
                <a:latin typeface="Pretendard"/>
                <a:ea typeface="Pretendard"/>
              </a:rPr>
              <a:t>제작기간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4956048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spc="-100">
                <a:solidFill>
                  <a:srgbClr val="141412"/>
                </a:solidFill>
                <a:latin typeface="Pretendard"/>
                <a:ea typeface="Pretendard"/>
              </a:rPr>
              <a:t>1주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90872" y="5303520"/>
            <a:ext cx="2798064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3752" y="530352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spc="-100">
                <a:solidFill>
                  <a:srgbClr val="868680"/>
                </a:solidFill>
                <a:latin typeface="Pretendard"/>
                <a:ea typeface="Pretendard"/>
              </a:rPr>
              <a:t>제작비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0872" y="5303520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spc="-100">
                <a:solidFill>
                  <a:srgbClr val="3D2B1B"/>
                </a:solidFill>
                <a:latin typeface="Pretendard"/>
                <a:ea typeface="Pretendard"/>
              </a:rPr>
              <a:t>100만원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0144" y="2194560"/>
            <a:ext cx="3346704" cy="36758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10144" y="2194560"/>
            <a:ext cx="3346704" cy="603504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2194560"/>
            <a:ext cx="33467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Half EGC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11312" y="2907792"/>
            <a:ext cx="2944368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2907792"/>
            <a:ext cx="29443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spc="-100">
                <a:solidFill>
                  <a:srgbClr val="3D2B1B"/>
                </a:solidFill>
                <a:latin typeface="Pretendard"/>
                <a:ea typeface="Pretendard"/>
              </a:rPr>
              <a:t>+ 소셜 에비던스 (소비자 신뢰 형성)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84464" y="3511296"/>
            <a:ext cx="2798064" cy="132588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409176" y="3790187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2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37192" y="3790187"/>
            <a:ext cx="29260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spc="-100">
                <a:solidFill>
                  <a:srgbClr val="3D2B1B"/>
                </a:solidFill>
                <a:latin typeface="Pretendard"/>
                <a:ea typeface="Pretendard"/>
              </a:rPr>
              <a:t>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4464" y="4430268"/>
            <a:ext cx="2798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영상 예시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495604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-100">
                <a:solidFill>
                  <a:srgbClr val="868680"/>
                </a:solidFill>
                <a:latin typeface="Pretendard"/>
                <a:ea typeface="Pretendard"/>
              </a:rPr>
              <a:t>제작기간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4464" y="4956048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spc="-100">
                <a:solidFill>
                  <a:srgbClr val="141412"/>
                </a:solidFill>
                <a:latin typeface="Pretendard"/>
                <a:ea typeface="Pretendard"/>
              </a:rPr>
              <a:t>2주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84464" y="5303520"/>
            <a:ext cx="2798064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67344" y="530352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spc="-100">
                <a:solidFill>
                  <a:srgbClr val="868680"/>
                </a:solidFill>
                <a:latin typeface="Pretendard"/>
                <a:ea typeface="Pretendard"/>
              </a:rPr>
              <a:t>제작비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4464" y="5303520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spc="-100">
                <a:solidFill>
                  <a:srgbClr val="3D2B1B"/>
                </a:solidFill>
                <a:latin typeface="Pretendard"/>
                <a:ea typeface="Pretendard"/>
              </a:rPr>
              <a:t>150만원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02752" y="5779008"/>
            <a:ext cx="27980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spc="-100">
                <a:solidFill>
                  <a:srgbClr val="868680"/>
                </a:solidFill>
                <a:latin typeface="Pretendard"/>
                <a:ea typeface="Pretendard"/>
              </a:rPr>
              <a:t>제작 100만 + 출연 섭외 50만(기본)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419088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-100">
                <a:solidFill>
                  <a:srgbClr val="868680"/>
                </a:solidFill>
                <a:latin typeface="Pretendard"/>
                <a:ea typeface="Pretendard"/>
              </a:rPr>
              <a:t>※ 제작비·제작기간은 콘텐츠 난이도·출연자 섭외에 따라 상이하며, 본 표는 예상 금액 기준입니다.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트렌드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TREND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리테일 마케팅 트렌드 변천사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레퍼런스 → 인플루언서 → Micro-IMC : 2026, 그 다음은?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292608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2926080" cy="566928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2926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C7CE3E"/>
                </a:solidFill>
                <a:latin typeface="Pretendard"/>
                <a:ea typeface="Pretendard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3580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레퍼런스 마케팅 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11296"/>
            <a:ext cx="2560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spc="-100">
                <a:solidFill>
                  <a:srgbClr val="3D2B1B"/>
                </a:solidFill>
                <a:latin typeface="Pretendard"/>
                <a:ea typeface="Pretendard"/>
              </a:rPr>
              <a:t>자사몰 중심</a:t>
            </a:r>
          </a:p>
        </p:txBody>
      </p:sp>
      <p:sp>
        <p:nvSpPr>
          <p:cNvPr id="11" name="Oval 10"/>
          <p:cNvSpPr/>
          <p:nvPr/>
        </p:nvSpPr>
        <p:spPr>
          <a:xfrm>
            <a:off x="1874519" y="3977639"/>
            <a:ext cx="822960" cy="822960"/>
          </a:xfrm>
          <a:prstGeom prst="ellipse">
            <a:avLst/>
          </a:prstGeom>
          <a:solidFill>
            <a:srgbClr val="F3F2E7"/>
          </a:solidFill>
          <a:ln w="19050">
            <a:solidFill>
              <a:srgbClr val="3D2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3977639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미디어
커머스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983480"/>
            <a:ext cx="2468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0" spc="-100">
                <a:solidFill>
                  <a:srgbClr val="868680"/>
                </a:solidFill>
                <a:latin typeface="Pretendard"/>
                <a:ea typeface="Pretendard"/>
              </a:rPr>
              <a:t>자사몰·리테일 레퍼런스 중심으로 성장하던 시기</a:t>
            </a:r>
          </a:p>
        </p:txBody>
      </p:sp>
      <p:sp>
        <p:nvSpPr>
          <p:cNvPr id="14" name="Chevron 13"/>
          <p:cNvSpPr/>
          <p:nvPr/>
        </p:nvSpPr>
        <p:spPr>
          <a:xfrm>
            <a:off x="3785616" y="3840480"/>
            <a:ext cx="310896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0" y="2331720"/>
            <a:ext cx="356616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2331720"/>
            <a:ext cx="3566160" cy="566928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33172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C7CE3E"/>
                </a:solidFill>
                <a:latin typeface="Pretendard"/>
                <a:ea typeface="Pretendard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0358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인플루언서 마케팅 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511296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spc="-100">
                <a:solidFill>
                  <a:srgbClr val="3D2B1B"/>
                </a:solidFill>
                <a:latin typeface="Pretendard"/>
                <a:ea typeface="Pretendard"/>
              </a:rPr>
              <a:t>B2C 광고·콘텐츠 그로스 중심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3931920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7" y="3931920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MCN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931920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0E5A30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3931920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공동구매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389120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7" y="4389120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UGC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389120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0E5A30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4389120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어필리에이트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846320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7" y="4846320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EGC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4846320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0E5A30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79" y="4846320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Half EGC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59" y="5358384"/>
            <a:ext cx="3017520" cy="384048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59" y="5358384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spc="-100">
                <a:solidFill>
                  <a:srgbClr val="141412"/>
                </a:solidFill>
                <a:latin typeface="Pretendard"/>
                <a:ea typeface="Pretendard"/>
              </a:rPr>
              <a:t>협업 플랫폼 ·  Meta  ·  TikTok</a:t>
            </a:r>
          </a:p>
        </p:txBody>
      </p:sp>
      <p:sp>
        <p:nvSpPr>
          <p:cNvPr id="34" name="Chevron 33"/>
          <p:cNvSpPr/>
          <p:nvPr/>
        </p:nvSpPr>
        <p:spPr>
          <a:xfrm>
            <a:off x="7808975" y="3840480"/>
            <a:ext cx="310896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38160" y="2331720"/>
            <a:ext cx="3227832" cy="3520440"/>
          </a:xfrm>
          <a:prstGeom prst="roundRect">
            <a:avLst>
              <a:gd name="adj" fmla="val 8000"/>
            </a:avLst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2468880"/>
            <a:ext cx="32278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spc="100">
                <a:solidFill>
                  <a:srgbClr val="C7CE3E"/>
                </a:solidFill>
                <a:latin typeface="Pretendard"/>
                <a:ea typeface="Pretendard"/>
              </a:rPr>
              <a:t>2026.06 · WHAT’S NEXT?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2798064"/>
            <a:ext cx="3227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spc="-100">
                <a:solidFill>
                  <a:srgbClr val="FFFFFF"/>
                </a:solidFill>
                <a:latin typeface="Pretendard"/>
                <a:ea typeface="Pretendard"/>
              </a:rPr>
              <a:t>Micro-IMC</a:t>
            </a:r>
          </a:p>
        </p:txBody>
      </p:sp>
      <p:sp>
        <p:nvSpPr>
          <p:cNvPr id="38" name="Oval 37"/>
          <p:cNvSpPr/>
          <p:nvPr/>
        </p:nvSpPr>
        <p:spPr>
          <a:xfrm>
            <a:off x="8595360" y="3429000"/>
            <a:ext cx="1234440" cy="1234440"/>
          </a:xfrm>
          <a:prstGeom prst="ellipse">
            <a:avLst/>
          </a:prstGeom>
          <a:noFill/>
          <a:ln w="25400">
            <a:solidFill>
              <a:srgbClr val="C7C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555480" y="3429000"/>
            <a:ext cx="1234440" cy="123444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3822191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FFFFFF"/>
                </a:solidFill>
                <a:latin typeface="Pretendard"/>
                <a:ea typeface="Pretendard"/>
              </a:rPr>
              <a:t>인플루언서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3822191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FFFFFF"/>
                </a:solidFill>
                <a:latin typeface="Pretendard"/>
                <a:ea typeface="Pretendard"/>
              </a:rPr>
              <a:t>퍼포먼스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6" y="4937760"/>
            <a:ext cx="26791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-100">
                <a:solidFill>
                  <a:srgbClr val="C7CE3E"/>
                </a:solidFill>
                <a:latin typeface="Pretendard"/>
                <a:ea typeface="Pretendard"/>
              </a:rPr>
              <a:t>+ 퍼포먼스 광고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9056" y="5239512"/>
            <a:ext cx="26791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-100">
                <a:solidFill>
                  <a:srgbClr val="C7CE3E"/>
                </a:solidFill>
                <a:latin typeface="Pretendard"/>
                <a:ea typeface="Pretendard"/>
              </a:rPr>
              <a:t>+ 히어로컷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49056" y="5541264"/>
            <a:ext cx="26791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-100">
                <a:solidFill>
                  <a:srgbClr val="C7CE3E"/>
                </a:solidFill>
                <a:latin typeface="Pretendard"/>
                <a:ea typeface="Pretendard"/>
              </a:rPr>
              <a:t>+ 미디어커머스 (EGC/UGC)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인플루언서 × 퍼포먼스의 교집합 — Micro-IMC가 올더베러의 다음 해답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