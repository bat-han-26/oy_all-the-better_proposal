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41412"/>
                </a:solidFill>
                <a:latin typeface="맑은 고딕"/>
              </a:rPr>
              <a:t>올더베러 캠페인 — 도화선에 불을 붙이는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1274552" cy="32004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5156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87872"/>
                </a:solidFill>
                <a:latin typeface="맑은 고딕"/>
              </a:rPr>
              <a:t>Moonshot Rocket Launch · 토대조차 세워지지 않은 지금, 7월 First Shot으로 점화하여 단계적으로 쌓아 정상으로 발사합니다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79" y="1371600"/>
            <a:ext cx="4297680" cy="457200"/>
          </a:xfrm>
          <a:prstGeom prst="roundRect">
            <a:avLst>
              <a:gd name="adj" fmla="val 4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79" y="1426464"/>
            <a:ext cx="429768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▲  발사 — 올영세일 랭킹 1위 · 웰니스 대표 PB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3557015" y="1874519"/>
            <a:ext cx="292608" cy="201168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139696"/>
            <a:ext cx="2834640" cy="804672"/>
          </a:xfrm>
          <a:prstGeom prst="roundRect">
            <a:avLst>
              <a:gd name="adj" fmla="val 8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31136"/>
            <a:ext cx="192024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BOOST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   · 전환 증폭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메타 PA · 올영 인앱광고 · LMF 위닝소재 · 미디어커머스 · 어필리에이트 · 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231136"/>
            <a:ext cx="640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39" y="3035808"/>
            <a:ext cx="4023360" cy="804672"/>
          </a:xfrm>
          <a:prstGeom prst="roundRect">
            <a:avLst>
              <a:gd name="adj" fmla="val 8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3127248"/>
            <a:ext cx="31089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PROVE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   · 사회적 증거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후기·리뷰·해시태그 · 커뮤니티 체험단 · 파워페이지 · 챌린저스 랭킹 견인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127248"/>
            <a:ext cx="640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과제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79" y="3931920"/>
            <a:ext cx="5212080" cy="804672"/>
          </a:xfrm>
          <a:prstGeom prst="roundRect">
            <a:avLst>
              <a:gd name="adj" fmla="val 8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7" y="4023359"/>
            <a:ext cx="429768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SEED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   · 콘텐츠·시딩 볼륨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나노/마이크로 시딩 · UGC·EGC·Half-EGC · 인스타/유튜브/틱톡/X/블로그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023359"/>
            <a:ext cx="640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과제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828031"/>
            <a:ext cx="6400800" cy="804672"/>
          </a:xfrm>
          <a:prstGeom prst="roundRect">
            <a:avLst>
              <a:gd name="adj" fmla="val 8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" y="4919471"/>
            <a:ext cx="54864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토대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   · 브랜드 인지·각인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시그니처 키워드 「채움」 · KV · 상품단 메시지 체계 — 현재 미구축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919471"/>
            <a:ext cx="640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과제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59" y="576072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603503" y="5907024"/>
            <a:ext cx="237744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815583"/>
            <a:ext cx="594360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도화선 점화 · First Shot (7월)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ECECDF"/>
                </a:solidFill>
                <a:latin typeface="맑은 고딕"/>
              </a:rPr>
              <a:t>제품 경쟁력·올리브영 채널이라는 ‘연료’에 불을 붙입니다 — 위닝 메시지 점화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920240"/>
            <a:ext cx="45720" cy="41148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329184" y="1700784"/>
            <a:ext cx="201168" cy="21945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9184" y="5925312"/>
            <a:ext cx="201168" cy="237744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" y="3566160"/>
            <a:ext cx="320040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B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A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T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87872"/>
                </a:solidFill>
                <a:latin typeface="맑은 고딕"/>
              </a:rPr>
              <a:t>쌓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87872"/>
                </a:solidFill>
                <a:latin typeface="맑은 고딕"/>
              </a:rPr>
              <a:t>아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87872"/>
                </a:solidFill>
                <a:latin typeface="맑은 고딕"/>
              </a:rPr>
              <a:t>올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87872"/>
                </a:solidFill>
                <a:latin typeface="맑은 고딕"/>
              </a:rPr>
              <a:t>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417320"/>
            <a:ext cx="4370832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787872"/>
                </a:solidFill>
                <a:latin typeface="맑은 고딕"/>
              </a:rPr>
              <a:t>제안의 출발점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1783080"/>
            <a:ext cx="437083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911095"/>
            <a:ext cx="4005072" cy="1143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01  현재 진단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올더베러는 제품 경쟁력과 올리브영 채널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이라는 ‘연료’를 갖추었으나, 브랜드 토대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(인지·각인)는 아직 세워지지 않았습니다.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246120"/>
            <a:ext cx="437083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374136"/>
            <a:ext cx="4005072" cy="1143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02  핵심 과제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토대·SEED·PROVE·BOOST 전 단계가 비어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있으며, 이를 순차적으로 축적해 정상에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3734"/>
                </a:solidFill>
                <a:latin typeface="맑은 고딕"/>
              </a:rPr>
              <a:t>도달해야 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4709160"/>
            <a:ext cx="4370832" cy="1554480"/>
          </a:xfrm>
          <a:prstGeom prst="roundRect">
            <a:avLst>
              <a:gd name="adj" fmla="val 8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837176"/>
            <a:ext cx="4005072" cy="1371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03  우리가 하는 일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ECECDF"/>
                </a:solidFill>
                <a:latin typeface="맑은 고딕"/>
              </a:rPr>
              <a:t>본 캠페인은 그 도화선에 불을 붙이는 일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ECECDF"/>
                </a:solidFill>
                <a:latin typeface="맑은 고딕"/>
              </a:rPr>
              <a:t>입니다. 7월 First Shot으로 점화하여 단계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ECECDF"/>
                </a:solidFill>
                <a:latin typeface="맑은 고딕"/>
              </a:rPr>
              <a:t>를 쌓고, 올영세일 시점에 정상으로 발사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ECECDF"/>
                </a:solidFill>
                <a:latin typeface="맑은 고딕"/>
              </a:rPr>
              <a:t>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87872"/>
                </a:solidFill>
                <a:latin typeface="맑은 고딕"/>
              </a:rPr>
              <a:t>※ 현재 활동 = 클라이언트 확인 기준 · 제품·채널 외 시딩·바이럴·퍼포·CRM 및 브랜드 토대 모두 미구축 → 본 제안의 실행 범위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515600" cy="6400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41412"/>
                </a:solidFill>
                <a:latin typeface="맑은 고딕"/>
              </a:rPr>
              <a:t>왜 인플루언서 시딩 콘텐츠가 1순위인가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1274552" cy="32004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4552" cy="530352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3035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광고로 ‘알리기’ 전에, 먼저 ‘선택받는 증거’를 쌓습니다 — 그 출발점이 인플루언서 시딩입니다.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66543"/>
            <a:ext cx="2706624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2340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0B0A8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9463"/>
            <a:ext cx="2340864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이름만으론 끌리지 않습니다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09544"/>
            <a:ext cx="2340864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브랜드 검색 월 약 3,000 · 해시태그 #올더베러 +100여 건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80" b="0">
                <a:solidFill>
                  <a:srgbClr val="787872"/>
                </a:solidFill>
                <a:latin typeface="맑은 고딕"/>
              </a:rPr>
              <a:t>네이버·구글 검색량 + 인스타그램 해시태그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53712"/>
            <a:ext cx="2706624" cy="1225296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53712"/>
            <a:ext cx="64008" cy="1225296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26864"/>
            <a:ext cx="2340864" cy="107899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2"/>
                </a:solidFill>
                <a:latin typeface="맑은 고딕"/>
              </a:rPr>
              <a:t>→ 시딩이 1순위인 이유</a:t>
            </a:r>
          </a:p>
          <a:p>
            <a:pPr algn="l">
              <a:spcAft>
                <a:spcPts val="200"/>
              </a:spcAft>
            </a:pPr>
            <a:r>
              <a:rPr sz="1019" b="1">
                <a:solidFill>
                  <a:srgbClr val="141412"/>
                </a:solidFill>
                <a:latin typeface="맑은 고딕"/>
              </a:rPr>
              <a:t>다수 진성(나노·마이크로)이 동시다발로 노출해 ‘익숙함 → 신뢰’를 먼저 만듭니다. (나노 ER 4~6% 최고 · 브랜드 44%가 나노 선호)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2066543"/>
            <a:ext cx="2706624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340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0B0A8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9463"/>
            <a:ext cx="2340864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소비자는 사기 전에 검증합니다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9544"/>
            <a:ext cx="2340864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‘구미 영양제’ 검색 → 올영 이동 → 후기·매장 확인 후 구매(검증형) · VOC 재구매율 15.5% · 구매이유 1위 ‘가격·할인’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80" b="0">
                <a:solidFill>
                  <a:srgbClr val="787872"/>
                </a:solidFill>
                <a:latin typeface="맑은 고딕"/>
              </a:rPr>
              <a:t>리스닝마인드 검색 경로(path) 분석 + 올더베러 리뷰 1,104건 VOC 딥다이브(자체 크롤링)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4553712"/>
            <a:ext cx="2706624" cy="1225296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4553712"/>
            <a:ext cx="64008" cy="1225296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626864"/>
            <a:ext cx="2340864" cy="107899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2"/>
                </a:solidFill>
                <a:latin typeface="맑은 고딕"/>
              </a:rPr>
              <a:t>→ 시딩이 1순위인 이유</a:t>
            </a:r>
          </a:p>
          <a:p>
            <a:pPr algn="l">
              <a:spcAft>
                <a:spcPts val="200"/>
              </a:spcAft>
            </a:pPr>
            <a:r>
              <a:rPr sz="1019" b="1">
                <a:solidFill>
                  <a:srgbClr val="141412"/>
                </a:solidFill>
                <a:latin typeface="맑은 고딕"/>
              </a:rPr>
              <a:t>가격 외 ‘선택 근거’(후기·리뷰·해시태그·콘텐츠 볼륨)를 먼저 쌓아야 전환됩니다.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2066543"/>
            <a:ext cx="2706624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194560"/>
            <a:ext cx="2340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0B0A8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69463"/>
            <a:ext cx="2340864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‘어떻게 먹는지’는 인플루언서가 보여줍니다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209544"/>
            <a:ext cx="2340864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RFP 요구 ‘언제·왜·어떻게 먹는지 생활 맥락’ · VOC ‘효과 미체감’ 상위 단점 · 올리브오일 릴스는 ‘공복 루틴+성분’ 조합이 최고 참여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80" b="0">
                <a:solidFill>
                  <a:srgbClr val="787872"/>
                </a:solidFill>
                <a:latin typeface="맑은 고딕"/>
              </a:rPr>
              <a:t>올리브영 RFP + VOC 딥다이브 + 인스타 릴스 콘텐츠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4553712"/>
            <a:ext cx="2706624" cy="1225296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4553712"/>
            <a:ext cx="64008" cy="1225296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626864"/>
            <a:ext cx="2340864" cy="107899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2"/>
                </a:solidFill>
                <a:latin typeface="맑은 고딕"/>
              </a:rPr>
              <a:t>→ 시딩이 1순위인 이유</a:t>
            </a:r>
          </a:p>
          <a:p>
            <a:pPr algn="l">
              <a:spcAft>
                <a:spcPts val="200"/>
              </a:spcAft>
            </a:pPr>
            <a:r>
              <a:rPr sz="1019" b="1">
                <a:solidFill>
                  <a:srgbClr val="141412"/>
                </a:solidFill>
                <a:latin typeface="맑은 고딕"/>
              </a:rPr>
              <a:t>SNS 인플루언서가 실제 사용 상황(아침 공복·야근·취침 전)을 자기 일상으로 보여줘야 소비자가 ‘나도’라고 느낍니다 — 기능 나열로는 안 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2066543"/>
            <a:ext cx="2706624" cy="3712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194560"/>
            <a:ext cx="2340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0B0A8"/>
                </a:solidFill>
                <a:latin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569463"/>
            <a:ext cx="2340864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이미 올영 PB에서 고성과로 검증된 방식입니다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3209544"/>
            <a:ext cx="2340864" cy="1828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373734"/>
                </a:solidFill>
                <a:latin typeface="맑은 고딕"/>
              </a:rPr>
              <a:t>우리가 운영 중인 올영 PB 시딩+PA가 고성과: 브링그린 검색 9K→140K(15배) · 산리오 파트너십 ROAS 127→356→589% · 올영세일 ROAS 324→515%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787872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출처 </a:t>
            </a:r>
            <a:r>
              <a:rPr sz="880" b="0">
                <a:solidFill>
                  <a:srgbClr val="787872"/>
                </a:solidFill>
                <a:latin typeface="맑은 고딕"/>
              </a:rPr>
              <a:t>BAT 올리브영 PB 운영 캠페인 실적(레퍼런스)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4553712"/>
            <a:ext cx="2706624" cy="1225296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4553712"/>
            <a:ext cx="64008" cy="1225296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4626864"/>
            <a:ext cx="2340864" cy="107899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2"/>
                </a:solidFill>
                <a:latin typeface="맑은 고딕"/>
              </a:rPr>
              <a:t>→ 시딩이 1순위인 이유</a:t>
            </a:r>
          </a:p>
          <a:p>
            <a:pPr algn="l">
              <a:spcAft>
                <a:spcPts val="200"/>
              </a:spcAft>
            </a:pPr>
            <a:r>
              <a:rPr sz="1019" b="1">
                <a:solidFill>
                  <a:srgbClr val="141412"/>
                </a:solidFill>
                <a:latin typeface="맑은 고딕"/>
              </a:rPr>
              <a:t>동일한 ‘시딩 → 위닝 콘텐츠 → PA 2차’ 방법론을 올더베러에 그대로 적용합니다. (한정 2.5억 내 최고 효율)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74552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그래서 인플루언서 시딩이 1순위입니다 — Moonshot Rocket Launch의 ‘도화선’, 가장 먼저 불을 붙이는 일.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87872"/>
                </a:solidFill>
                <a:latin typeface="맑은 고딕"/>
              </a:rPr>
              <a:t>※ 근거: 검색량·해시태그 집계 / 리스닝마인드 경로분석 / VOC 1,104건 딥다이브 / 인스타 릴스 분석 / BAT 올영 PB 운영 실적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